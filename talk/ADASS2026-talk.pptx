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bbfc2275-2e20-d8b6-1036-5d5284289936}">
          <p14:sldIdLst>
            <p14:sldId id="256"/>
            <p14:sldId id="257"/>
            <p14:sldId id="258"/>
            <p14:sldId id="259"/>
          </p14:sldIdLst>
        </p14:section>
        <p14:section name="Results" id="{6695373a-86c9-a6e5-f0a5-5289a04c8e6f}">
          <p14:sldIdLst>
            <p14:sldId id="260"/>
            <p14:sldId id="261"/>
            <p14:sldId id="262"/>
            <p14:sldId id="263"/>
            <p14:sldId id="264"/>
          </p14:sldIdLst>
        </p14:section>
        <p14:section name="The LLM" id="{c3e69814-5e19-62b3-f14a-4b19fe6ccbc1}">
          <p14:sldIdLst>
            <p14:sldId id="265"/>
            <p14:sldId id="266"/>
            <p14:sldId id="267"/>
            <p14:sldId id="268"/>
          </p14:sldIdLst>
        </p14:section>
        <p14:section name="Backup" id="{69e8e3a8-a7ec-8d09-722f-60607255de71}">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loop</c:v>
                  </c:pt>
                  <c:pt idx="1">
                    <c:v>CPython, plain lists</c:v>
                  </c:pt>
                  <c:pt idx="2">
                    <c:v>PyPy, plain lists</c:v>
                  </c:pt>
                  <c:pt idx="3">
                    <c:v>numpy, vectorised (rewrite)</c:v>
                  </c:pt>
                  <c:pt idx="4">
                    <c:v>numba @njit,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104 tests passing on this Mac. By day five, 29 families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29 families, 131 variants, all passing in run22, the frozen reference. The range is 4.8e5 rather than Keith's million, partly from the new reference and partly the PDL correction. Most compiled languages pile up in tier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@njit decorator: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pick one. 2 (keep it brief): the PDL raw test now uses PDL's element-access primitives. 103,570 was the 2019 code run on this machine (run19); 9,207 in run22. Keith himself flagged -&gt;slice in 2019. The LLM didn't spot it. 3: SBCL,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a second LLM as critic, about seven rounds. It generates; the author curates. INTERCAL is the joke, not evidence: C-INTERCAL's arm64 va_arg bug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@numba.njit before Cython or C. PyPy only for pure Python. Don't iterate over numpy elements. In PDL, use -&gt;at and -&gt;set. Apple Silicon is settled.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 it times how a language reaches an element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965960"/>
          </a:xfrm>
          <a:prstGeom prst="roundRect">
            <a:avLst>
              <a:gd name="adj" fmla="val 4651"/>
            </a:avLst>
          </a:prstGeom>
          <a:solidFill>
            <a:schemeClr val="bg2"/>
          </a:solidFill>
          <a:ln w="12700">
            <a:solidFill>
              <a:schemeClr val="bg2"/>
            </a:solidFill>
            <a:prstDash val="solid"/>
          </a:ln>
        </p:spPr>
      </p:sp>
      <p:sp>
        <p:nvSpPr>
          <p:cNvPr id="7" name="Text 5"/>
          <p:cNvSpPr txBox="1"/>
          <p:nvPr/>
        </p:nvSpPr>
        <p:spPr>
          <a:xfrm>
            <a:off x="731520" y="2468880"/>
            <a:ext cx="3088538" cy="173736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the one-line “arrays” forms for PDL and numpy; he credits both in his write-up. He already doubted his PDL raw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965960"/>
          </a:xfrm>
          <a:prstGeom prst="roundRect">
            <a:avLst>
              <a:gd name="adj" fmla="val 4651"/>
            </a:avLst>
          </a:prstGeom>
          <a:solidFill>
            <a:schemeClr val="bg2"/>
          </a:solidFill>
          <a:ln w="12700">
            <a:solidFill>
              <a:schemeClr val="bg2"/>
            </a:solidFill>
            <a:prstDash val="solid"/>
          </a:ln>
        </p:spPr>
      </p:sp>
      <p:sp>
        <p:nvSpPr>
          <p:cNvPr id="11" name="Text 9"/>
          <p:cNvSpPr txBox="1"/>
          <p:nvPr/>
        </p:nvSpPr>
        <p:spPr>
          <a:xfrm>
            <a:off x="4551578" y="2468880"/>
            <a:ext cx="3088538" cy="173736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965960"/>
          </a:xfrm>
          <a:prstGeom prst="roundRect">
            <a:avLst>
              <a:gd name="adj" fmla="val 4651"/>
            </a:avLst>
          </a:prstGeom>
          <a:solidFill>
            <a:schemeClr val="bg2"/>
          </a:solidFill>
          <a:ln w="12700">
            <a:solidFill>
              <a:schemeClr val="bg2"/>
            </a:solidFill>
            <a:prstDash val="solid"/>
          </a:ln>
        </p:spPr>
      </p:sp>
      <p:sp>
        <p:nvSpPr>
          <p:cNvPr id="15" name="Text 13"/>
          <p:cNvSpPr txBox="1"/>
          <p:nvPr/>
        </p:nvSpPr>
        <p:spPr>
          <a:xfrm>
            <a:off x="8371637" y="2468880"/>
            <a:ext cx="3088538" cy="173736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PDL one-liner card"/>
          <p:cNvSpPr/>
          <p:nvPr/>
        </p:nvSpPr>
        <p:spPr>
          <a:xfrm>
            <a:off x="548640" y="4526280"/>
            <a:ext cx="6583680" cy="1600200"/>
          </a:xfrm>
          <a:prstGeom prst="roundRect">
            <a:avLst>
              <a:gd name="adj" fmla="val 5714"/>
            </a:avLst>
          </a:prstGeom>
          <a:solidFill>
            <a:schemeClr val="tx2"/>
          </a:solidFill>
          <a:ln w="12700">
            <a:solidFill>
              <a:schemeClr val="tx2"/>
            </a:solidFill>
            <a:prstDash val="solid"/>
          </a:ln>
        </p:spPr>
      </p:sp>
      <p:sp>
        <p:nvSpPr>
          <p:cNvPr id="17" name="Text 15"/>
          <p:cNvSpPr txBox="1"/>
          <p:nvPr/>
        </p:nvSpPr>
        <p:spPr>
          <a:xfrm>
            <a:off x="777240" y="4526280"/>
            <a:ext cx="6217920" cy="1600200"/>
          </a:xfrm>
          <a:prstGeom prst="rect">
            <a:avLst/>
          </a:prstGeom>
          <a:noFill/>
          <a:ln/>
        </p:spPr>
        <p:txBody>
          <a:bodyPr wrap="square" lIns="0" tIns="0" rIns="0" bIns="0" rtlCol="0" anchor="ctr"/>
          <a:lstStyle/>
          <a:p>
            <a:pPr indent="0" marL="0">
              <a:buNone/>
            </a:pPr>
            <a:r>
              <a:rPr lang="en-US" sz="1500" dirty="0">
                <a:solidFill>
                  <a:srgbClr val="AEB8CC"/>
                </a:solidFill>
                <a:latin typeface="Courier New" pitchFamily="34" charset="0"/>
                <a:ea typeface="Courier New" pitchFamily="34" charset="-122"/>
                <a:cs typeface="Courier New" pitchFamily="34" charset="-120"/>
              </a:rPr>
              <a:t># PDL “arrays”, 2019</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$Out .= $In + sequence($Nx)</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sequence($Ny)-&gt;dummy(0,1);</a:t>
            </a:r>
            <a:endParaRPr lang="en-US" sz="1500" dirty="0"/>
          </a:p>
        </p:txBody>
      </p:sp>
      <p:sp>
        <p:nvSpPr>
          <p:cNvPr id="18" name="Text 16"/>
          <p:cNvSpPr txBox="1"/>
          <p:nvPr/>
        </p:nvSpPr>
        <p:spPr>
          <a:xfrm>
            <a:off x="7498080" y="4526280"/>
            <a:ext cx="4144975" cy="1188720"/>
          </a:xfrm>
          <a:prstGeom prst="rect">
            <a:avLst/>
          </a:prstGeom>
          <a:noFill/>
          <a:ln/>
        </p:spPr>
        <p:txBody>
          <a:bodyPr wrap="square" lIns="0" tIns="0" rIns="0" bIns="0" rtlCol="0" anchor="t"/>
          <a:lstStyle/>
          <a:p>
            <a:pPr indent="0" marL="0">
              <a:spcAft>
                <a:spcPts val="400"/>
              </a:spcAft>
              <a:buNone/>
            </a:pPr>
            <a:r>
              <a:rPr lang="en-US" sz="1800" i="1" dirty="0">
                <a:solidFill>
                  <a:schemeClr val="tx2"/>
                </a:solidFill>
              </a:rPr>
              <a:t>“The improvements you get over C are marginal and not worth the effort.”</a:t>
            </a:r>
            <a:endParaRPr lang="en-US" sz="1800" dirty="0"/>
          </a:p>
          <a:p>
            <a:pPr indent="0" marL="0">
              <a:spcAft>
                <a:spcPts val="400"/>
              </a:spcAft>
              <a:buNone/>
            </a:pPr>
            <a:r>
              <a:rPr lang="en-US" sz="1200" dirty="0">
                <a:solidFill>
                  <a:srgbClr val="5A6275"/>
                </a:solidFill>
              </a:rPr>
              <a:t>Keith, on his assembler kernel (email, Jan 2024)</a:t>
            </a:r>
            <a:endParaRPr lang="en-US" sz="1800" dirty="0"/>
          </a:p>
        </p:txBody>
      </p:sp>
      <p:sp>
        <p:nvSpPr>
          <p:cNvPr id="19" name="Text 17"/>
          <p:cNvSpPr txBox="1"/>
          <p:nvPr/>
        </p:nvSpPr>
        <p:spPr>
          <a:xfrm>
            <a:off x="7498080" y="5806440"/>
            <a:ext cx="414497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4"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5" name="Text 2"/>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6" name="Text 3"/>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7"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8" name="Text 5"/>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9" name="Text 6"/>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0"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1" name="Text 8"/>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2" name="Text 9"/>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3" name="stat language famili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4" name="Text 11"/>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29</a:t>
            </a:r>
            <a:endParaRPr lang="en-US" sz="3000" dirty="0"/>
          </a:p>
        </p:txBody>
      </p:sp>
      <p:sp>
        <p:nvSpPr>
          <p:cNvPr id="15" name="Text 12"/>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 families</a:t>
            </a:r>
            <a:endParaRPr lang="en-US" sz="1200" dirty="0"/>
          </a:p>
        </p:txBody>
      </p:sp>
      <p:sp>
        <p:nvSpPr>
          <p:cNvPr id="16" name="Text 13"/>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104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SBCL, Haskell… INTERCAL: “PROGRAMMER IS OVERLY POLITE”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29</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 families</a:t>
            </a:r>
            <a:endParaRPr lang="en-US" sz="1600" dirty="0"/>
          </a:p>
          <a:p>
            <a:pPr indent="0" marL="0">
              <a:buNone/>
            </a:pPr>
            <a:r>
              <a:rPr lang="en-US" sz="1400" dirty="0">
                <a:solidFill>
                  <a:srgbClr val="5A6275"/>
                </a:solidFill>
              </a:rPr>
              <a:t>16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fig6 histogram" descr="Histogram of all 131 relative times on a log scale, coloured by the eight tiers">    </p:cNvPr>
          <p:cNvPicPr>
            <a:picLocks noChangeAspect="1"/>
          </p:cNvPicPr>
          <p:nvPr/>
        </p:nvPicPr>
        <p:blipFill>
          <a:blip r:embed="rId1"/>
          <a:stretch>
            <a:fillRect/>
          </a:stretch>
        </p:blipFill>
        <p:spPr>
          <a:xfrm>
            <a:off x="4754880" y="1234440"/>
            <a:ext cx="6888175" cy="3733087"/>
          </a:xfrm>
          <a:prstGeom prst="rect">
            <a:avLst/>
          </a:prstGeom>
        </p:spPr>
      </p:pic>
      <p:sp>
        <p:nvSpPr>
          <p:cNvPr id="10" name="Text 7"/>
          <p:cNvSpPr txBox="1"/>
          <p:nvPr/>
        </p:nvSpPr>
        <p:spPr>
          <a:xfrm>
            <a:off x="4754880" y="5058967"/>
            <a:ext cx="6888175" cy="548640"/>
          </a:xfrm>
          <a:prstGeom prst="rect">
            <a:avLst/>
          </a:prstGeom>
          <a:noFill/>
          <a:ln/>
        </p:spPr>
        <p:txBody>
          <a:bodyPr wrap="square" lIns="0" tIns="0" rIns="0" bIns="0" rtlCol="0" anchor="t"/>
          <a:lstStyle/>
          <a:p>
            <a:pPr indent="0" marL="0">
              <a:buNone/>
            </a:pPr>
            <a:r>
              <a:rPr lang="en-US" sz="1400" i="1" dirty="0">
                <a:solidFill>
                  <a:srgbClr val="5A6275"/>
                </a:solidFill>
              </a:rPr>
              <a:t>1.00 = Keith's hand-written arm64 NEON kernel. Tier 3 (2.5–7×) is the crowd: 41 of 131.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4937760"/>
        </p:xfrm>
        <a:graphic xmlns:a="http://schemas.openxmlformats.org/drawingml/2006/main">
          <a:graphicData uri="http://schemas.openxmlformats.org/drawingml/2006/chart">
            <c:chart xmlns:c="http://schemas.openxmlformats.org/drawingml/2006/chart" r:id="rId1"/>
          </a:graphicData>
        </a:graphic>
      </p:graphicFrame>
      <p:sp>
        <p:nvSpPr>
          <p:cNvPr id="4"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5" name="Text 2"/>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6" name="Text 3"/>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7"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9" name="Text 6"/>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raw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raw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4526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393192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2011680"/>
            <a:ext cx="3058058" cy="822960"/>
          </a:xfrm>
          <a:prstGeom prst="roundRect">
            <a:avLst>
              <a:gd name="adj" fmla="val 8889"/>
            </a:avLst>
          </a:prstGeom>
          <a:solidFill>
            <a:srgbClr val="7A0177"/>
          </a:solidFill>
          <a:ln w="12700">
            <a:solidFill>
              <a:srgbClr val="7A0177"/>
            </a:solidFill>
            <a:prstDash val="solid"/>
          </a:ln>
        </p:spPr>
      </p:sp>
      <p:sp>
        <p:nvSpPr>
          <p:cNvPr id="6" name="Text 4"/>
          <p:cNvSpPr txBox="1"/>
          <p:nvPr/>
        </p:nvSpPr>
        <p:spPr>
          <a:xfrm>
            <a:off x="777240"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22,015</a:t>
            </a:r>
            <a:endParaRPr lang="en-US" sz="2600" dirty="0"/>
          </a:p>
        </p:txBody>
      </p:sp>
      <p:sp>
        <p:nvSpPr>
          <p:cNvPr id="7" name="Text 5"/>
          <p:cNvSpPr txBox="1"/>
          <p:nvPr/>
        </p:nvSpPr>
        <p:spPr>
          <a:xfrm>
            <a:off x="777240" y="3063240"/>
            <a:ext cx="3058058" cy="1920240"/>
          </a:xfrm>
          <a:prstGeom prst="rect">
            <a:avLst/>
          </a:prstGeom>
          <a:noFill/>
          <a:ln/>
        </p:spPr>
        <p:txBody>
          <a:bodyPr wrap="square" lIns="0" tIns="0" rIns="0" bIns="0" rtlCol="0" anchor="t"/>
          <a:lstStyle/>
          <a:p>
            <a:pPr indent="0" marL="0">
              <a:buNone/>
            </a:pPr>
            <a:r>
              <a:rPr lang="en-US" sz="1800" dirty="0">
                <a:solidFill>
                  <a:schemeClr val="tx1"/>
                </a:solidFill>
              </a:rPr>
              <a:t>609× slower than PyPy on plain lists, and 7.6× slower than CPython + numpy. Every numpy call crosses PyPy's C-extension layer. Use one or the other.</a:t>
            </a:r>
            <a:endParaRPr lang="en-US" sz="1800" dirty="0"/>
          </a:p>
        </p:txBody>
      </p:sp>
      <p:sp>
        <p:nvSpPr>
          <p:cNvPr id="8" name="surprise PDL raw, done properly"/>
          <p:cNvSpPr/>
          <p:nvPr/>
        </p:nvSpPr>
        <p:spPr>
          <a:xfrm>
            <a:off x="4338218" y="1234440"/>
            <a:ext cx="3515258" cy="3931920"/>
          </a:xfrm>
          <a:prstGeom prst="roundRect">
            <a:avLst>
              <a:gd name="adj" fmla="val 2601"/>
            </a:avLst>
          </a:prstGeom>
          <a:solidFill>
            <a:schemeClr val="bg2"/>
          </a:solidFill>
          <a:ln w="12700">
            <a:solidFill>
              <a:schemeClr val="bg2"/>
            </a:solidFill>
            <a:prstDash val="solid"/>
          </a:ln>
        </p:spPr>
      </p:sp>
      <p:sp>
        <p:nvSpPr>
          <p:cNvPr id="9" name="Text 7"/>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raw, done properly</a:t>
            </a:r>
            <a:endParaRPr lang="en-US" sz="2000" dirty="0"/>
          </a:p>
        </p:txBody>
      </p:sp>
      <p:sp>
        <p:nvSpPr>
          <p:cNvPr id="10" name="chip 103,570 → 9,207"/>
          <p:cNvSpPr/>
          <p:nvPr/>
        </p:nvSpPr>
        <p:spPr>
          <a:xfrm>
            <a:off x="4566818" y="2011680"/>
            <a:ext cx="3058058" cy="822960"/>
          </a:xfrm>
          <a:prstGeom prst="roundRect">
            <a:avLst>
              <a:gd name="adj" fmla="val 8889"/>
            </a:avLst>
          </a:prstGeom>
          <a:solidFill>
            <a:srgbClr val="D73027"/>
          </a:solidFill>
          <a:ln w="12700">
            <a:solidFill>
              <a:srgbClr val="D73027"/>
            </a:solidFill>
            <a:prstDash val="solid"/>
          </a:ln>
        </p:spPr>
      </p:sp>
      <p:sp>
        <p:nvSpPr>
          <p:cNvPr id="11" name="Text 9"/>
          <p:cNvSpPr txBox="1"/>
          <p:nvPr/>
        </p:nvSpPr>
        <p:spPr>
          <a:xfrm>
            <a:off x="4566818"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103,570 → 9,207</a:t>
            </a:r>
            <a:endParaRPr lang="en-US" sz="2600" dirty="0"/>
          </a:p>
        </p:txBody>
      </p:sp>
      <p:sp>
        <p:nvSpPr>
          <p:cNvPr id="12" name="Text 10"/>
          <p:cNvSpPr txBox="1"/>
          <p:nvPr/>
        </p:nvSpPr>
        <p:spPr>
          <a:xfrm>
            <a:off x="4566818" y="3063240"/>
            <a:ext cx="3058058" cy="1920240"/>
          </a:xfrm>
          <a:prstGeom prst="rect">
            <a:avLst/>
          </a:prstGeom>
          <a:noFill/>
          <a:ln/>
        </p:spPr>
        <p:txBody>
          <a:bodyPr wrap="square" lIns="0" tIns="0" rIns="0" bIns="0" rtlCol="0" anchor="t"/>
          <a:lstStyle/>
          <a:p>
            <a:pPr indent="0" marL="0">
              <a:buNone/>
            </a:pPr>
            <a:r>
              <a:rPr lang="en-US" sz="1800" dirty="0">
                <a:solidFill>
                  <a:schemeClr val="tx1"/>
                </a:solidFill>
              </a:rPr>
              <a:t>-&gt;at / -&gt;set instead of -&gt;slice: about 11× faster. Flagged by Keith in 2019, fixed in 2026. The LLM ran the old code and reported “PDL is just slow”.</a:t>
            </a:r>
            <a:endParaRPr lang="en-US" sz="1800" dirty="0"/>
          </a:p>
        </p:txBody>
      </p:sp>
      <p:sp>
        <p:nvSpPr>
          <p:cNvPr id="13" name="surprise SBCL type declarations"/>
          <p:cNvSpPr/>
          <p:nvPr/>
        </p:nvSpPr>
        <p:spPr>
          <a:xfrm>
            <a:off x="8127797" y="1234440"/>
            <a:ext cx="3515258" cy="3931920"/>
          </a:xfrm>
          <a:prstGeom prst="roundRect">
            <a:avLst>
              <a:gd name="adj" fmla="val 2601"/>
            </a:avLst>
          </a:prstGeom>
          <a:solidFill>
            <a:schemeClr val="bg2"/>
          </a:solidFill>
          <a:ln w="12700">
            <a:solidFill>
              <a:schemeClr val="bg2"/>
            </a:solidFill>
            <a:prstDash val="solid"/>
          </a:ln>
        </p:spPr>
      </p:sp>
      <p:sp>
        <p:nvSpPr>
          <p:cNvPr id="14" name="Text 12"/>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SBCL type declarations</a:t>
            </a:r>
            <a:endParaRPr lang="en-US" sz="2000" dirty="0"/>
          </a:p>
        </p:txBody>
      </p:sp>
      <p:sp>
        <p:nvSpPr>
          <p:cNvPr id="15" name="chip 167 → 10.6"/>
          <p:cNvSpPr/>
          <p:nvPr/>
        </p:nvSpPr>
        <p:spPr>
          <a:xfrm>
            <a:off x="8356397" y="2011680"/>
            <a:ext cx="3058058" cy="822960"/>
          </a:xfrm>
          <a:prstGeom prst="roundRect">
            <a:avLst>
              <a:gd name="adj" fmla="val 8889"/>
            </a:avLst>
          </a:prstGeom>
          <a:solidFill>
            <a:srgbClr val="FEE08B"/>
          </a:solidFill>
          <a:ln w="12700">
            <a:solidFill>
              <a:srgbClr val="FEE08B"/>
            </a:solidFill>
            <a:prstDash val="solid"/>
          </a:ln>
        </p:spPr>
      </p:sp>
      <p:sp>
        <p:nvSpPr>
          <p:cNvPr id="16" name="Text 14"/>
          <p:cNvSpPr txBox="1"/>
          <p:nvPr/>
        </p:nvSpPr>
        <p:spPr>
          <a:xfrm>
            <a:off x="8356397" y="2011680"/>
            <a:ext cx="3058058" cy="822960"/>
          </a:xfrm>
          <a:prstGeom prst="rect">
            <a:avLst/>
          </a:prstGeom>
          <a:noFill/>
          <a:ln/>
        </p:spPr>
        <p:txBody>
          <a:bodyPr wrap="square" lIns="0" tIns="0" rIns="0" bIns="0" rtlCol="0" anchor="ctr"/>
          <a:lstStyle/>
          <a:p>
            <a:pPr algn="ctr" indent="0" marL="0">
              <a:buNone/>
            </a:pPr>
            <a:r>
              <a:rPr lang="en-US" sz="2600" b="1" dirty="0">
                <a:solidFill>
                  <a:srgbClr val="1B1F2B"/>
                </a:solidFill>
              </a:rPr>
              <a:t>167 → 10.6</a:t>
            </a:r>
            <a:endParaRPr lang="en-US" sz="2600" dirty="0"/>
          </a:p>
        </p:txBody>
      </p:sp>
      <p:sp>
        <p:nvSpPr>
          <p:cNvPr id="17" name="Text 15"/>
          <p:cNvSpPr txBox="1"/>
          <p:nvPr/>
        </p:nvSpPr>
        <p:spPr>
          <a:xfrm>
            <a:off x="8356397" y="3063240"/>
            <a:ext cx="3058058" cy="1920240"/>
          </a:xfrm>
          <a:prstGeom prst="rect">
            <a:avLst/>
          </a:prstGeom>
          <a:noFill/>
          <a:ln/>
        </p:spPr>
        <p:txBody>
          <a:bodyPr wrap="square" lIns="0" tIns="0" rIns="0" bIns="0" rtlCol="0" anchor="t"/>
          <a:lstStyle/>
          <a:p>
            <a:pPr indent="0" marL="0">
              <a:buNone/>
            </a:pPr>
            <a:r>
              <a:rPr lang="en-US" sz="1800" dirty="0">
                <a:solidFill>
                  <a:schemeClr val="tx1"/>
                </a:solidFill>
              </a:rPr>
              <a:t>15.7× from type declarations alone. Same lesson as numba: give the compiler the types.</a:t>
            </a:r>
            <a:endParaRPr lang="en-US" sz="1800" dirty="0"/>
          </a:p>
        </p:txBody>
      </p:sp>
      <p:sp>
        <p:nvSpPr>
          <p:cNvPr id="18" name="Text 16"/>
          <p:cNvSpPr txBox="1"/>
          <p:nvPr/>
        </p:nvSpPr>
        <p:spPr>
          <a:xfrm>
            <a:off x="548640" y="5486400"/>
            <a:ext cx="11094415"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32588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508760"/>
            <a:ext cx="365760" cy="365760"/>
          </a:xfrm>
          <a:prstGeom prst="rect">
            <a:avLst/>
          </a:prstGeom>
        </p:spPr>
      </p:pic>
      <p:sp>
        <p:nvSpPr>
          <p:cNvPr id="5" name="Text 2"/>
          <p:cNvSpPr txBox="1"/>
          <p:nvPr/>
        </p:nvSpPr>
        <p:spPr>
          <a:xfrm>
            <a:off x="1554480" y="128016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16 new families in about four days, each kernel adapted to the language's idioms. J came out in 9 lines, with no hints from me.</a:t>
            </a:r>
            <a:endParaRPr lang="en-US" sz="1900" dirty="0"/>
          </a:p>
        </p:txBody>
      </p:sp>
      <p:sp>
        <p:nvSpPr>
          <p:cNvPr id="6" name="icon circle Environment wrangling"/>
          <p:cNvSpPr/>
          <p:nvPr/>
        </p:nvSpPr>
        <p:spPr>
          <a:xfrm>
            <a:off x="548640" y="2560320"/>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743200"/>
            <a:ext cx="365760" cy="365760"/>
          </a:xfrm>
          <a:prstGeom prst="rect">
            <a:avLst/>
          </a:prstGeom>
        </p:spPr>
      </p:pic>
      <p:sp>
        <p:nvSpPr>
          <p:cNvPr id="8" name="Text 4"/>
          <p:cNvSpPr txBox="1"/>
          <p:nvPr/>
        </p:nvSpPr>
        <p:spPr>
          <a:xfrm>
            <a:off x="1554480" y="251460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794760"/>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977640"/>
            <a:ext cx="365760" cy="365760"/>
          </a:xfrm>
          <a:prstGeom prst="rect">
            <a:avLst/>
          </a:prstGeom>
        </p:spPr>
      </p:pic>
      <p:sp>
        <p:nvSpPr>
          <p:cNvPr id="11" name="Text 6"/>
          <p:cNvSpPr txBox="1"/>
          <p:nvPr/>
        </p:nvSpPr>
        <p:spPr>
          <a:xfrm>
            <a:off x="1554480" y="374904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the 131-row appendix and a 20-page report, all regenerated from one frozen log.</a:t>
            </a:r>
            <a:endParaRPr lang="en-US" sz="1900" dirty="0"/>
          </a:p>
        </p:txBody>
      </p:sp>
      <p:sp>
        <p:nvSpPr>
          <p:cNvPr id="12" name="icon circle Reproducibility"/>
          <p:cNvSpPr/>
          <p:nvPr/>
        </p:nvSpPr>
        <p:spPr>
          <a:xfrm>
            <a:off x="548640" y="5029200"/>
            <a:ext cx="731520" cy="731520"/>
          </a:xfrm>
          <a:prstGeom prst="ellipse">
            <a:avLst/>
          </a:prstGeom>
          <a:solidFill>
            <a:schemeClr val="tx2"/>
          </a:solidFill>
          <a:ln w="12700">
            <a:solidFill>
              <a:schemeClr val="tx2"/>
            </a:solidFill>
            <a:prstDash val="solid"/>
          </a:ln>
        </p:spPr>
      </p:sp>
      <p:pic>
        <p:nvPicPr>
          <p:cNvPr id="13" name="icon Reproducibility" descr="Reproducibility">    </p:cNvPr>
          <p:cNvPicPr>
            <a:picLocks noChangeAspect="1"/>
          </p:cNvPicPr>
          <p:nvPr/>
        </p:nvPicPr>
        <p:blipFill>
          <a:blip r:embed="rId4"/>
          <a:stretch>
            <a:fillRect/>
          </a:stretch>
        </p:blipFill>
        <p:spPr>
          <a:xfrm>
            <a:off x="731520" y="5212080"/>
            <a:ext cx="365760" cy="365760"/>
          </a:xfrm>
          <a:prstGeom prst="rect">
            <a:avLst/>
          </a:prstGeom>
        </p:spPr>
      </p:pic>
      <p:sp>
        <p:nvSpPr>
          <p:cNvPr id="14" name="Text 8"/>
          <p:cNvSpPr txBox="1"/>
          <p:nvPr/>
        </p:nvSpPr>
        <p:spPr>
          <a:xfrm>
            <a:off x="1554480" y="498348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a second LLM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234440"/>
            <a:ext cx="5973775" cy="1371600"/>
          </a:xfrm>
          <a:prstGeom prst="roundRect">
            <a:avLst>
              <a:gd name="adj" fmla="val 6667"/>
            </a:avLst>
          </a:prstGeom>
          <a:solidFill>
            <a:schemeClr val="bg2"/>
          </a:solidFill>
          <a:ln w="12700">
            <a:solidFill>
              <a:schemeClr val="bg2"/>
            </a:solidFill>
            <a:prstDash val="solid"/>
          </a:ln>
        </p:spPr>
      </p:sp>
      <p:sp>
        <p:nvSpPr>
          <p:cNvPr id="13" name="Text 11"/>
          <p:cNvSpPr txBox="1"/>
          <p:nvPr/>
        </p:nvSpPr>
        <p:spPr>
          <a:xfrm>
            <a:off x="5897880" y="134416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Missed the PDL problem</a:t>
            </a:r>
            <a:endParaRPr lang="en-US" sz="1700" dirty="0"/>
          </a:p>
          <a:p>
            <a:pPr indent="0" marL="0">
              <a:spcAft>
                <a:spcPts val="300"/>
              </a:spcAft>
              <a:buNone/>
            </a:pPr>
            <a:r>
              <a:rPr lang="en-US" sz="1400" dirty="0">
                <a:solidFill>
                  <a:schemeClr val="tx1"/>
                </a:solidFill>
              </a:rPr>
              <a:t>Ran the 2019 code faithfully and accepted 103,570 as “PDL is just slow”.</a:t>
            </a:r>
            <a:endParaRPr lang="en-US" sz="1700" dirty="0"/>
          </a:p>
        </p:txBody>
      </p:sp>
      <p:sp>
        <p:nvSpPr>
          <p:cNvPr id="14" name="failure Silent drift"/>
          <p:cNvSpPr/>
          <p:nvPr/>
        </p:nvSpPr>
        <p:spPr>
          <a:xfrm>
            <a:off x="5669280" y="2743200"/>
            <a:ext cx="5973775" cy="1371600"/>
          </a:xfrm>
          <a:prstGeom prst="roundRect">
            <a:avLst>
              <a:gd name="adj" fmla="val 6667"/>
            </a:avLst>
          </a:prstGeom>
          <a:solidFill>
            <a:schemeClr val="bg2"/>
          </a:solidFill>
          <a:ln w="12700">
            <a:solidFill>
              <a:schemeClr val="bg2"/>
            </a:solidFill>
            <a:prstDash val="solid"/>
          </a:ln>
        </p:spPr>
      </p:sp>
      <p:sp>
        <p:nvSpPr>
          <p:cNvPr id="15" name="Text 13"/>
          <p:cNvSpPr txBox="1"/>
          <p:nvPr/>
        </p:nvSpPr>
        <p:spPr>
          <a:xfrm>
            <a:off x="5897880" y="285292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Silent drift</a:t>
            </a:r>
            <a:endParaRPr lang="en-US" sz="1700" dirty="0"/>
          </a:p>
          <a:p>
            <a:pPr indent="0" marL="0">
              <a:spcAft>
                <a:spcPts val="300"/>
              </a:spcAft>
              <a:buNone/>
            </a:pPr>
            <a:r>
              <a:rPr lang="en-US" sz="1400" dirty="0">
                <a:solidFill>
                  <a:schemeClr val="tx1"/>
                </a:solidFill>
              </a:rPr>
              <a:t>Fixed the prose but not the table, or the reverse. The audits caught 14 errors in the first four rounds: Crystal 3.21 → 3.67, F# 6.85 → 7.21, an OCaml ratio of “18×” that was 13×.</a:t>
            </a:r>
            <a:endParaRPr lang="en-US" sz="1700" dirty="0"/>
          </a:p>
        </p:txBody>
      </p:sp>
      <p:sp>
        <p:nvSpPr>
          <p:cNvPr id="16" name="failure No sense of what's interesting"/>
          <p:cNvSpPr/>
          <p:nvPr/>
        </p:nvSpPr>
        <p:spPr>
          <a:xfrm>
            <a:off x="5669280" y="4251960"/>
            <a:ext cx="5973775" cy="1371600"/>
          </a:xfrm>
          <a:prstGeom prst="roundRect">
            <a:avLst>
              <a:gd name="adj" fmla="val 6667"/>
            </a:avLst>
          </a:prstGeom>
          <a:solidFill>
            <a:schemeClr val="bg2"/>
          </a:solidFill>
          <a:ln w="12700">
            <a:solidFill>
              <a:schemeClr val="bg2"/>
            </a:solidFill>
            <a:prstDash val="solid"/>
          </a:ln>
        </p:spPr>
      </p:sp>
      <p:sp>
        <p:nvSpPr>
          <p:cNvPr id="17" name="Text 15"/>
          <p:cNvSpPr txBox="1"/>
          <p:nvPr/>
        </p:nvSpPr>
        <p:spPr>
          <a:xfrm>
            <a:off x="5897880" y="436168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No sense of what's interesting</a:t>
            </a:r>
            <a:endParaRPr lang="en-US" sz="1700" dirty="0"/>
          </a:p>
          <a:p>
            <a:pPr indent="0" marL="0">
              <a:spcAft>
                <a:spcPts val="300"/>
              </a:spcAft>
              <a:buNone/>
            </a:pPr>
            <a:r>
              <a:rPr lang="en-US" sz="1400" dirty="0">
                <a:solidFill>
                  <a:schemeClr val="tx1"/>
                </a:solidFill>
              </a:rPr>
              <a:t>Asked what to add, it gave a long, flat list; choosing was my job. My verdict on one abstract draft: it “would appeal only to an LLM not a human”.</a:t>
            </a:r>
            <a:endParaRPr lang="en-US" sz="1700" dirty="0"/>
          </a:p>
        </p:txBody>
      </p:sp>
      <p:sp>
        <p:nvSpPr>
          <p:cNvPr id="18" name="Text 16"/>
          <p:cNvSpPr txBox="1"/>
          <p:nvPr/>
        </p:nvSpPr>
        <p:spPr>
          <a:xfrm>
            <a:off x="5669280" y="5806440"/>
            <a:ext cx="5973775" cy="365760"/>
          </a:xfrm>
          <a:prstGeom prst="rect">
            <a:avLst/>
          </a:prstGeom>
          <a:noFill/>
          <a:ln/>
        </p:spPr>
        <p:txBody>
          <a:bodyPr wrap="square" lIns="0" tIns="0" rIns="0" bIns="0" rtlCol="0" anchor="t"/>
          <a:lstStyle/>
          <a:p>
            <a:pPr indent="0" marL="0">
              <a:buNone/>
            </a:pPr>
            <a:r>
              <a:rPr lang="en-US" sz="1200" i="1" dirty="0">
                <a:solidFill>
                  <a:srgbClr val="5A6275"/>
                </a:solidFill>
              </a:rPr>
              <a:t>INTERCAL died of an arm64 bug in its own runtime: a toolchain failure, not the LLM's.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@njit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numba decorator.</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No language here pays an arm64 penalty.</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plus your own domain expertise.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2019 vs 2026, and caveats</a:t>
            </a:r>
            <a:endParaRPr lang="en-US" sz="3200" dirty="0"/>
          </a:p>
        </p:txBody>
      </p:sp>
      <p:pic>
        <p:nvPicPr>
          <p:cNvPr id="3" name="fig5 2019 vs 2026" descr="Relative times in Shortridge 2019 against the 2026 reprise">    </p:cNvPr>
          <p:cNvPicPr>
            <a:picLocks noChangeAspect="1"/>
          </p:cNvPicPr>
          <p:nvPr/>
        </p:nvPicPr>
        <p:blipFill>
          <a:blip r:embed="rId1"/>
          <a:stretch>
            <a:fillRect/>
          </a:stretch>
        </p:blipFill>
        <p:spPr>
          <a:xfrm>
            <a:off x="548640" y="1188720"/>
            <a:ext cx="6126837" cy="4937760"/>
          </a:xfrm>
          <a:prstGeom prst="rect">
            <a:avLst/>
          </a:prstGeom>
        </p:spPr>
      </p:pic>
      <p:sp>
        <p:nvSpPr>
          <p:cNvPr id="4" name="Text 1"/>
          <p:cNvSpPr txBox="1"/>
          <p:nvPr/>
        </p:nvSpPr>
        <p:spPr>
          <a:xfrm>
            <a:off x="7041237" y="1280160"/>
            <a:ext cx="4601818" cy="47548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Different hardware: x86 with AVX in 2019, arm64 with NEON now</a:t>
            </a:r>
            <a:endParaRPr lang="en-US" sz="1600" dirty="0"/>
          </a:p>
          <a:p>
            <a:pPr marL="342900" indent="-342900">
              <a:spcAft>
                <a:spcPts val="1000"/>
              </a:spcAft>
              <a:buSzPct val="100000"/>
              <a:buChar char="•"/>
            </a:pPr>
            <a:r>
              <a:rPr lang="en-US" sz="1600" dirty="0">
                <a:solidFill>
                  <a:schemeClr val="tx1"/>
                </a:solidFill>
              </a:rPr>
              <a:t>The assembler reference drifts about 10% between runs, rescaling everything</a:t>
            </a:r>
            <a:endParaRPr lang="en-US" sz="1600" dirty="0"/>
          </a:p>
          <a:p>
            <a:pPr marL="342900" indent="-342900">
              <a:spcAft>
                <a:spcPts val="1000"/>
              </a:spcAft>
              <a:buSzPct val="100000"/>
              <a:buChar char="•"/>
            </a:pPr>
            <a:r>
              <a:rPr lang="en-US" sz="1600" dirty="0">
                <a:solidFill>
                  <a:schemeClr val="tx1"/>
                </a:solidFill>
              </a:rPr>
              <a:t>Python 2.7 runs under Rosetta (x86_64 conda build)</a:t>
            </a:r>
            <a:endParaRPr lang="en-US" sz="1600" dirty="0"/>
          </a:p>
          <a:p>
            <a:pPr marL="342900" indent="-342900">
              <a:spcAft>
                <a:spcPts val="1000"/>
              </a:spcAft>
              <a:buSzPct val="100000"/>
              <a:buChar char="•"/>
            </a:pPr>
            <a:r>
              <a:rPr lang="en-US" sz="1600" dirty="0">
                <a:solidFill>
                  <a:schemeClr val="tx1"/>
                </a:solidFill>
              </a:rPr>
              <a:t>All numbers from one frozen run: run22, 30 April 2026</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2026-10-30T04:50:27Z</dcterms:created>
  <dcterms:modified xsi:type="dcterms:W3CDTF">2026-10-30T04:50:27Z</dcterms:modified>
</cp:coreProperties>
</file>