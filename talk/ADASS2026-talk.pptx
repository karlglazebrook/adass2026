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9f98d1a0-7e3e-df30-6d2c-5f0d8f7b3157}">
          <p14:sldIdLst>
            <p14:sldId id="256"/>
            <p14:sldId id="257"/>
            <p14:sldId id="258"/>
            <p14:sldId id="259"/>
          </p14:sldIdLst>
        </p14:section>
        <p14:section name="Results" id="{3017ef03-1eba-6848-a5c6-c3b858176d5b}">
          <p14:sldIdLst>
            <p14:sldId id="260"/>
            <p14:sldId id="261"/>
            <p14:sldId id="262"/>
            <p14:sldId id="263"/>
            <p14:sldId id="264"/>
            <p14:sldId id="265"/>
          </p14:sldIdLst>
        </p14:section>
        <p14:section name="The LLM" id="{58e1a49e-02f6-5152-fe7e-d067abed7583}">
          <p14:sldIdLst>
            <p14:sldId id="266"/>
            <p14:sldId id="267"/>
            <p14:sldId id="268"/>
          </p14:sldIdLst>
        </p14:section>
        <p14:section name="Backup" id="{c8f0506b-d435-e527-8788-a2aac3b92dc2}">
          <p14:sldIdLst>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7A017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7A0177"/>
              </a:solidFill>
              <a:effectLst/>
            </c:spPr>
          </c:dPt>
          <c:dPt>
            <c:idx val="1"/>
            <c:invertIfNegative val="0"/>
            <c:bubble3D val="0"/>
            <c:spPr>
              <a:solidFill>
                <a:srgbClr val="D73027"/>
              </a:solidFill>
              <a:effectLst/>
            </c:spPr>
          </c:dPt>
          <c:dPt>
            <c:idx val="2"/>
            <c:invertIfNegative val="0"/>
            <c:bubble3D val="0"/>
            <c:spPr>
              <a:solidFill>
                <a:srgbClr val="D73027"/>
              </a:solidFill>
              <a:effectLst/>
            </c:spPr>
          </c:dPt>
          <c:dPt>
            <c:idx val="3"/>
            <c:invertIfNegative val="0"/>
            <c:bubble3D val="0"/>
            <c:spPr>
              <a:solidFill>
                <a:srgbClr val="FDAE61"/>
              </a:solidFill>
              <a:effectLst/>
            </c:spPr>
          </c:dPt>
          <c:dPt>
            <c:idx val="4"/>
            <c:invertIfNegative val="0"/>
            <c:bubble3D val="0"/>
            <c:spPr>
              <a:solidFill>
                <a:srgbClr val="9AA3B2"/>
              </a:solidFill>
              <a:effectLst/>
            </c:spPr>
          </c:dPt>
          <c:dPt>
            <c:idx val="5"/>
            <c:invertIfNegative val="0"/>
            <c:bubble3D val="0"/>
            <c:spPr>
              <a:solidFill>
                <a:srgbClr val="A6D96A"/>
              </a:solidFill>
              <a:effectLst/>
            </c:spPr>
          </c:dPt>
          <c:cat>
            <c:multiLvlStrRef>
              <c:f>Sheet1!$A$2:$A$7</c:f>
              <c:multiLvlStrCache>
                <c:ptCount val="6"/>
                <c:lvl>
                  <c:pt idx="0">
                    <c:v>PyPy + numpy, element lookup</c:v>
                  </c:pt>
                  <c:pt idx="1">
                    <c:v>CPython + numpy, element lookup</c:v>
                  </c:pt>
                  <c:pt idx="2">
                    <c:v>CPython, plain lists</c:v>
                  </c:pt>
                  <c:pt idx="3">
                    <c:v>PyPy, plain lists</c:v>
                  </c:pt>
                  <c:pt idx="4">
                    <c:v>numpy one-liner (rewrite)</c:v>
                  </c:pt>
                  <c:pt idx="5">
                    <c:v>numba @jit, element loop</c:v>
                  </c:pt>
                </c:lvl>
              </c:multiLvlStrCache>
            </c:multiLvlStrRef>
          </c:cat>
          <c:val>
            <c:numRef>
              <c:f>Sheet1!$B$2:$B$7</c:f>
              <c:numCache>
                <c:formatCode>General</c:formatCode>
                <c:ptCount val="6"/>
                <c:pt idx="0">
                  <c:v>22015.37</c:v>
                </c:pt>
                <c:pt idx="1">
                  <c:v>2882.58</c:v>
                </c:pt>
                <c:pt idx="2">
                  <c:v>644.02</c:v>
                </c:pt>
                <c:pt idx="3">
                  <c:v>36.17</c:v>
                </c:pt>
                <c:pt idx="4">
                  <c:v>17.8</c:v>
                </c:pt>
                <c:pt idx="5">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on the poster: 'a deliberately attention-grabbing headline claim'.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and I got nerd-sniped (xkcd 356).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don't read the timeline out.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Reference first: 1.00 is Keith's hand-written NEON assembler; the best C is 1.19, so a good C compiler gets within 20% of hand-written assembler (the 1.19 test is labelled g++ in Run.py, but g++ on macOS is Apple clang; the clang-named run is 1.20).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and the last arrow, pathological, beyond 20,000x, where every element crosses a library boundary: PyPy + numpy, the Octave loop, R reference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Two pairs share source: the list loop (CPython 644, PyPy 36) and the numpy element loop (CPython 2,883, PyPy 22,015, numba 3.15); the grey bar is my whole-array one-liner from slide 3, for comparison. Credit Keith: numba was his 2019 finding (over 2,500x on x86); what 2026 adds is PyPy, and the PyPy + numpy trap. The default pattern for someone told 'use numpy' — looping over numpy elements — is 4.5x slower than plain lists. Worse still, the top bar: the same numpy loop under PyPy, 22,015, because every element access crosses PyPy's C-extension emulation layer (more on that in the surprises).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If asked why the Octave loop is so slow (measured 1 Nov, Octave 11.1, ns per element): empty nested loop 32; two scalar adds about 460; read ina(i,j) alone about 1,370; indexed write out(i,j)=0 alone about 1,250; full kernel about 2,700. So each A(i,j) read or write costs about a microsecond, roughly 90% of the total, and Octave's profiler puts 93% inside the kernel rather than in the 600,000 'binary +' calls. Wrapping it in a function, 1-based loop variables or linear indexing each change it by under 10%. No JIT: MATLAB fixed this with its R2015b execution engine. The loop number is also noisy: run23 had 25,920 against run22's 46,705.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Takeaways: a good JIT is what separates fast dynamic languages from slow ones (LuaJIT, PyPy, V8, Bun), but YJIT shows not every JIT gets there on this kernel (Ruby 755 to 284). The oldest runtime here is the fastest. And C#'s JIT and native AOT are within 2%: for a hot loop, warm JIT code is as good as compiled. Bun is about 2x Node.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 partner, not a search bar. Weeks of porting done in days. The unglamorous bulk was the environment: tools hijacking each other's python, perl and gfortran. It kept the report tied to one log and made the toolchain reproducible. Its first drafts of the report and of these slides were decent; its abstract was not, and I rewrote it. Then the limits. It did not catch the PDL problem: domain expertise did. Its worst habit is silent numerical drift, which is why we ran an audit loop with ChatGPT as critic, about seven rounds (the exact ChatGPT model wasn't recorded); the errors were transcriptions from the logs, not bugs in the kernels, each of which checks its own output. The big caveat: unlike Keith, I did not write the ported code; I trusted it. Keith's 53-page write-up is full of language-specific gotchas an expert would spot. One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Keith's 2019 conclusions, all of which still hold: the range is the result; optimisation flags are the cheapest win; compilers make hand-written assembler not worth it; element-at-a-time numpy or PDL is pathological; and 'the solution to long execution times is very rarely to change the implementation language'. Points 2 and 4 are Keith's, confirmed; Keith also said 'JIT compilers (Javascript, Python/Numba) can be very efficient'. What 2026 adds: PyPy, LuaJIT, YJIT and Bun, the PyPy + numpy trap, the PDL correction, and the LLM lesson. 1: numba is the one decorator on the Python ladder slide; never PyPy with numpy (22,015). 2: caveat, Keith's C and the assembler are 32-bit floats, the 2026 ports are 64-bit doubles, so part of this spread is precision. Swift's 17.9 is its arrays of arrays: each row a separate copy-on-write object; bounds checks are not the cost (-Ounchecked 17.9). 3: element-by-element numpy is 4.5x slower than plain Python lists; in PDL use -&gt;at/-&gt;set or, better, broadcast or PP; Octave vectorised builds its index vectors outside the timed loop, so flag it. 4: Keith's 2019 point, still true on arm64. Boost without asserts, unoptimised 878 to 3.2 at -O3. 5: as far as we know the LLM's kernels are correct (each one verifies its output); the errors the ChatGPT audits caught were numbers mis-transcribed from the logs into the report prose and tables. This is the weakest-supported point: one project, and the kernels have not been reviewed by people expert in each language. If asked about Apple Silicon: every toolchain ran natively on arm64 except Python 2.7, an x86_64 conda build running under Rosetta 2. If asked about reproducibility: fast tiers agree within a few percent between runs, slow entries move 25-45%: trust the tier, not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cartoon: consider yourself nerd-sniped. Pull requests welcome, and INTERCAL is still waiting for someone. 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image" Target="../media/image-13-1.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4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4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400" dirty="0">
                <a:solidFill>
                  <a:schemeClr val="tx1"/>
                </a:solidFill>
              </a:rPr>
              <a:t>Setting the C flags on PDL::PP's compiled kernel: 9.3 s at -O0 → 2.2 s at -O2 on my M1. Keith replies with his assembler: “the improvements you get over C are marginal and not worth the effort.”</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a:p>
            <a:pPr indent="0" marL="0">
              <a:spcAft>
                <a:spcPts val="500"/>
              </a:spcAft>
              <a:buNone/>
            </a:pPr>
            <a:r>
              <a:rPr lang="en-US" sz="1400" i="1" dirty="0">
                <a:solidFill>
                  <a:srgbClr val="5A6275"/>
                </a:solidFill>
              </a:rPr>
              <a:t>Declared bias: I wrote it, in 1996.</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pic>
        <p:nvPicPr>
          <p:cNvPr id="20" name="xkcd nerd sniping" descr="xkcd 356 first panel: there's a certain type of brain that's easily disabled; if you show it an interesting problem, it involuntarily drops everything else to work on it">    </p:cNvPr>
          <p:cNvPicPr>
            <a:picLocks noChangeAspect="1"/>
          </p:cNvPicPr>
          <p:nvPr/>
        </p:nvPicPr>
        <p:blipFill>
          <a:blip r:embed="rId1"/>
          <a:stretch>
            <a:fillRect/>
          </a:stretch>
        </p:blipFill>
        <p:spPr>
          <a:xfrm>
            <a:off x="9494523" y="4160520"/>
            <a:ext cx="1843729" cy="1737360"/>
          </a:xfrm>
          <a:prstGeom prst="rect">
            <a:avLst/>
          </a:prstGeom>
        </p:spPr>
      </p:pic>
      <p:sp>
        <p:nvSpPr>
          <p:cNvPr id="21" name="Text 18"/>
          <p:cNvSpPr txBox="1"/>
          <p:nvPr/>
        </p:nvSpPr>
        <p:spPr>
          <a:xfrm>
            <a:off x="9189720" y="5943600"/>
            <a:ext cx="2453335" cy="384048"/>
          </a:xfrm>
          <a:prstGeom prst="rect">
            <a:avLst/>
          </a:prstGeom>
          <a:noFill/>
          <a:ln/>
        </p:spPr>
        <p:txBody>
          <a:bodyPr wrap="square" lIns="0" tIns="0" rIns="0" bIns="0" rtlCol="0" anchor="t"/>
          <a:lstStyle/>
          <a:p>
            <a:pPr algn="ctr" indent="0" marL="0">
              <a:buNone/>
            </a:pPr>
            <a:r>
              <a:rPr lang="en-US" sz="1300" b="1" dirty="0">
                <a:solidFill>
                  <a:schemeClr val="tx2"/>
                </a:solidFill>
              </a:rPr>
              <a:t>I got nerd-sniped.</a:t>
            </a:r>
            <a:endParaRPr lang="en-US" sz="1300" dirty="0"/>
          </a:p>
          <a:p>
            <a:pPr algn="ctr" indent="0" marL="0">
              <a:buNone/>
            </a:pPr>
            <a:r>
              <a:rPr lang="en-US" sz="900" dirty="0">
                <a:solidFill>
                  <a:srgbClr val="5A6275"/>
                </a:solidFill>
              </a:rPr>
              <a:t>xkcd.com/356 · Randall Munroe · CC BY-NC 2.5</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18872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05740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(the abstract's 29 splits C/C++, Perl/PDL)</a:t>
            </a:r>
            <a:endParaRPr lang="en-US" sz="1600" dirty="0"/>
          </a:p>
        </p:txBody>
      </p:sp>
      <p:sp>
        <p:nvSpPr>
          <p:cNvPr id="5" name="Text 3"/>
          <p:cNvSpPr txBox="1"/>
          <p:nvPr/>
        </p:nvSpPr>
        <p:spPr>
          <a:xfrm>
            <a:off x="548640" y="26517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5204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11480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498348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sp>
        <p:nvSpPr>
          <p:cNvPr id="9" name="reference card"/>
          <p:cNvSpPr/>
          <p:nvPr/>
        </p:nvSpPr>
        <p:spPr>
          <a:xfrm>
            <a:off x="548640" y="5577840"/>
            <a:ext cx="3840480" cy="713232"/>
          </a:xfrm>
          <a:prstGeom prst="roundRect">
            <a:avLst>
              <a:gd name="adj" fmla="val 12821"/>
            </a:avLst>
          </a:prstGeom>
          <a:solidFill>
            <a:schemeClr val="bg2"/>
          </a:solidFill>
          <a:ln w="12700">
            <a:solidFill>
              <a:schemeClr val="bg2"/>
            </a:solidFill>
            <a:prstDash val="solid"/>
          </a:ln>
        </p:spPr>
      </p:sp>
      <p:sp>
        <p:nvSpPr>
          <p:cNvPr id="10" name="Text 8"/>
          <p:cNvSpPr txBox="1"/>
          <p:nvPr/>
        </p:nvSpPr>
        <p:spPr>
          <a:xfrm>
            <a:off x="685800" y="5641848"/>
            <a:ext cx="3566160" cy="585216"/>
          </a:xfrm>
          <a:prstGeom prst="rect">
            <a:avLst/>
          </a:prstGeom>
          <a:noFill/>
          <a:ln/>
        </p:spPr>
        <p:txBody>
          <a:bodyPr wrap="square" lIns="0" tIns="0" rIns="0" bIns="0" rtlCol="0" anchor="ctr"/>
          <a:lstStyle/>
          <a:p>
            <a:pPr indent="0" marL="0">
              <a:buNone/>
            </a:pPr>
            <a:r>
              <a:rPr lang="en-US" sz="1300" b="1" dirty="0">
                <a:solidFill>
                  <a:schemeClr val="tx2"/>
                </a:solidFill>
              </a:rPr>
              <a:t>Reference: </a:t>
            </a:r>
            <a:pPr indent="0" marL="0">
              <a:buNone/>
            </a:pPr>
            <a:r>
              <a:rPr lang="en-US" sz="1300" dirty="0">
                <a:solidFill>
                  <a:schemeClr val="tx1"/>
                </a:solidFill>
              </a:rPr>
              <a:t>1.00 = Keith's hand-written arm64 NEON assembler. Best C: 1.19 (clang -O3 -march=native).</a:t>
            </a:r>
            <a:endParaRPr lang="en-US" sz="1300" dirty="0"/>
          </a:p>
        </p:txBody>
      </p:sp>
      <p:pic>
        <p:nvPicPr>
          <p:cNvPr id="11"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2" name="group arrow 1"/>
          <p:cNvSpPr/>
          <p:nvPr/>
        </p:nvSpPr>
        <p:spPr>
          <a:xfrm>
            <a:off x="5387034" y="1234440"/>
            <a:ext cx="1199272" cy="502920"/>
          </a:xfrm>
          <a:prstGeom prst="leftRightArrow">
            <a:avLst/>
          </a:prstGeom>
          <a:gradFill rotWithShape="1">
            <a:gsLst>
              <a:gs pos="0">
                <a:srgbClr val="1A9850"/>
              </a:gs>
              <a:gs pos="3520">
                <a:srgbClr val="1A9850"/>
              </a:gs>
              <a:gs pos="3520">
                <a:srgbClr val="66BD63"/>
              </a:gs>
              <a:gs pos="33836">
                <a:srgbClr val="66BD63"/>
              </a:gs>
              <a:gs pos="33836">
                <a:srgbClr val="A6D96A"/>
              </a:gs>
              <a:gs pos="71857">
                <a:srgbClr val="A6D96A"/>
              </a:gs>
              <a:gs pos="71857">
                <a:srgbClr val="FEE08B"/>
              </a:gs>
              <a:gs pos="100000">
                <a:srgbClr val="FEE08B"/>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native</a:t>
            </a:r>
            <a:endParaRPr lang="en-US" sz="1300" dirty="0"/>
          </a:p>
        </p:txBody>
      </p:sp>
      <p:sp>
        <p:nvSpPr>
          <p:cNvPr id="13"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LuaJIT, Haskell. Also numba and PDL::PP, which compile the loop for Python and Perl.</a:t>
            </a:r>
            <a:endParaRPr lang="en-US" sz="1400" dirty="0"/>
          </a:p>
        </p:txBody>
      </p:sp>
      <p:sp>
        <p:nvSpPr>
          <p:cNvPr id="14" name="group arrow 2"/>
          <p:cNvSpPr/>
          <p:nvPr/>
        </p:nvSpPr>
        <p:spPr>
          <a:xfrm>
            <a:off x="6586306" y="1234440"/>
            <a:ext cx="840148" cy="502920"/>
          </a:xfrm>
          <a:prstGeom prst="leftRightArrow">
            <a:avLst/>
          </a:prstGeom>
          <a:gradFill rotWithShape="1">
            <a:gsLst>
              <a:gs pos="0">
                <a:srgbClr val="FDAE61"/>
              </a:gs>
              <a:gs pos="100000">
                <a:srgbClr val="FDAE61"/>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5"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6" name="group arrow 3"/>
          <p:cNvSpPr/>
          <p:nvPr/>
        </p:nvSpPr>
        <p:spPr>
          <a:xfrm>
            <a:off x="7426453" y="1234440"/>
            <a:ext cx="2346382" cy="502920"/>
          </a:xfrm>
          <a:prstGeom prst="leftRightArrow">
            <a:avLst/>
          </a:prstGeom>
          <a:gradFill rotWithShape="1">
            <a:gsLst>
              <a:gs pos="0">
                <a:srgbClr val="F46D43"/>
              </a:gs>
              <a:gs pos="33818">
                <a:srgbClr val="F46D43"/>
              </a:gs>
              <a:gs pos="33818">
                <a:srgbClr val="D73027"/>
              </a:gs>
              <a:gs pos="100000">
                <a:srgbClr val="D7302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7"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100–20,000×</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per-element cost explodes.</a:t>
            </a:r>
            <a:endParaRPr lang="en-US" sz="1400" dirty="0"/>
          </a:p>
        </p:txBody>
      </p:sp>
      <p:sp>
        <p:nvSpPr>
          <p:cNvPr id="18" name="group arrow 4"/>
          <p:cNvSpPr/>
          <p:nvPr/>
        </p:nvSpPr>
        <p:spPr>
          <a:xfrm>
            <a:off x="9772836" y="1234440"/>
            <a:ext cx="1732456" cy="502920"/>
          </a:xfrm>
          <a:prstGeom prst="leftRightArrow">
            <a:avLst/>
          </a:prstGeom>
          <a:gradFill rotWithShape="1">
            <a:gsLst>
              <a:gs pos="0">
                <a:srgbClr val="7A0177"/>
              </a:gs>
              <a:gs pos="100000">
                <a:srgbClr val="7A017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pathological</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Python variants, almost four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286000"/>
            <a:ext cx="2681935" cy="114300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a:p>
            <a:pPr indent="0" marL="0">
              <a:buNone/>
            </a:pPr>
            <a:r>
              <a:rPr lang="en-US" sz="1300" i="1" dirty="0">
                <a:solidFill>
                  <a:srgbClr val="5A6275"/>
                </a:solidFill>
              </a:rPr>
              <a:t>Keith found this in 2019: over 2,500× on x86.</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Compiled languages: mostly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Not shown: F# 7.2, Rust 6.8 (iterators), Haskell 9.2, OCaml 9.4, Swift 17.9. Caveat: Keith's C, Fortran, Julia and Java are 32-bit floats; the 2026 ports are 64-bit, half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(2022)</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runtime takeaways"/>
          <p:cNvSpPr txBox="1"/>
          <p:nvPr/>
        </p:nvSpPr>
        <p:spPr>
          <a:xfrm>
            <a:off x="548640" y="5120640"/>
            <a:ext cx="11094415" cy="114300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good JIT turns a dynamic language into a compiled one: </a:t>
            </a:r>
            <a:pPr indent="0" marL="0">
              <a:spcAft>
                <a:spcPts val="400"/>
              </a:spcAft>
              <a:buNone/>
            </a:pPr>
            <a:r>
              <a:rPr lang="en-US" sz="1500" dirty="0">
                <a:solidFill>
                  <a:schemeClr val="tx1"/>
                </a:solidFill>
              </a:rPr>
              <a:t>LuaJIT 7.59 beats safe Rust -O3 (12.0); PyPy is 18× CPython. Not all JITs are equal: YJIT gives Ruby only 2.7×.</a:t>
            </a:r>
            <a:endParaRPr lang="en-US" sz="1500" dirty="0"/>
          </a:p>
          <a:p>
            <a:pPr indent="0" marL="0">
              <a:spcAft>
                <a:spcPts val="400"/>
              </a:spcAft>
              <a:buNone/>
            </a:pPr>
            <a:r>
              <a:rPr lang="en-US" sz="1500" b="1" dirty="0">
                <a:solidFill>
                  <a:schemeClr val="tx2"/>
                </a:solidFill>
              </a:rPr>
              <a:t>Age doesn't predict speed: </a:t>
            </a:r>
            <a:pPr indent="0" marL="0">
              <a:spcAft>
                <a:spcPts val="400"/>
              </a:spcAft>
              <a:buNone/>
            </a:pPr>
            <a:r>
              <a:rPr lang="en-US" sz="1500" dirty="0">
                <a:solidFill>
                  <a:schemeClr val="tx1"/>
                </a:solidFill>
              </a:rPr>
              <a:t>LuaJIT (2005) beats Deno, Bun and YJIT, all newer than 2019.</a:t>
            </a:r>
            <a:endParaRPr lang="en-US" sz="1500" dirty="0"/>
          </a:p>
          <a:p>
            <a:pPr indent="0" marL="0">
              <a:spcAft>
                <a:spcPts val="400"/>
              </a:spcAft>
              <a:buNone/>
            </a:pPr>
            <a:r>
              <a:rPr lang="en-US" sz="1500" b="1" dirty="0">
                <a:solidFill>
                  <a:schemeClr val="tx2"/>
                </a:solidFill>
              </a:rPr>
              <a:t>For C#'s hot loop, JIT versus ahead-of-time makes no difference: </a:t>
            </a:r>
            <a:pPr indent="0" marL="0">
              <a:spcAft>
                <a:spcPts val="400"/>
              </a:spcAft>
              <a:buNone/>
            </a:pPr>
            <a:r>
              <a:rPr lang="en-US" sz="1500" dirty="0">
                <a:solidFill>
                  <a:schemeClr val="tx1"/>
                </a:solidFill>
              </a:rPr>
              <a:t>5.31 JIT, 5.39 AOT.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In 2019 Keith distrusted -&gt;slice; -&gt;at and -&gt;set are the 2026 change.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and what it didn't</a:t>
            </a:r>
            <a:endParaRPr lang="en-US" sz="3200" dirty="0"/>
          </a:p>
        </p:txBody>
      </p:sp>
      <p:sp>
        <p:nvSpPr>
          <p:cNvPr id="3" name="Text 1"/>
          <p:cNvSpPr txBox="1"/>
          <p:nvPr/>
        </p:nvSpPr>
        <p:spPr>
          <a:xfrm>
            <a:off x="548640" y="114300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Did well</a:t>
            </a:r>
            <a:endParaRPr lang="en-US" sz="2000" dirty="0"/>
          </a:p>
        </p:txBody>
      </p:sp>
      <p:sp>
        <p:nvSpPr>
          <p:cNvPr id="4" name="icon circle Porting at scale"/>
          <p:cNvSpPr/>
          <p:nvPr/>
        </p:nvSpPr>
        <p:spPr>
          <a:xfrm>
            <a:off x="548640" y="1764792"/>
            <a:ext cx="566928" cy="566928"/>
          </a:xfrm>
          <a:prstGeom prst="ellipse">
            <a:avLst/>
          </a:prstGeom>
          <a:solidFill>
            <a:schemeClr val="tx2"/>
          </a:solidFill>
          <a:ln w="12700">
            <a:solidFill>
              <a:schemeClr val="tx2"/>
            </a:solidFill>
            <a:prstDash val="solid"/>
          </a:ln>
        </p:spPr>
      </p:sp>
      <p:pic>
        <p:nvPicPr>
          <p:cNvPr id="5" name="icon Porting at scale" descr="Porting at scale">    </p:cNvPr>
          <p:cNvPicPr>
            <a:picLocks noChangeAspect="1"/>
          </p:cNvPicPr>
          <p:nvPr/>
        </p:nvPicPr>
        <p:blipFill>
          <a:blip r:embed="rId1"/>
          <a:stretch>
            <a:fillRect/>
          </a:stretch>
        </p:blipFill>
        <p:spPr>
          <a:xfrm>
            <a:off x="694944" y="1911096"/>
            <a:ext cx="274320" cy="274320"/>
          </a:xfrm>
          <a:prstGeom prst="rect">
            <a:avLst/>
          </a:prstGeom>
        </p:spPr>
      </p:pic>
      <p:sp>
        <p:nvSpPr>
          <p:cNvPr id="6" name="Text 3"/>
          <p:cNvSpPr txBox="1"/>
          <p:nvPr/>
        </p:nvSpPr>
        <p:spPr>
          <a:xfrm>
            <a:off x="1325880" y="16916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Porting at scale</a:t>
            </a:r>
            <a:endParaRPr lang="en-US" sz="1600" dirty="0"/>
          </a:p>
          <a:p>
            <a:pPr indent="0" marL="0">
              <a:spcAft>
                <a:spcPts val="200"/>
              </a:spcAft>
              <a:buNone/>
            </a:pPr>
            <a:r>
              <a:rPr lang="en-US" sz="1300" dirty="0">
                <a:solidFill>
                  <a:schemeClr val="tx1"/>
                </a:solidFill>
              </a:rPr>
              <a:t>15 new languages in about four days; J in 9 lines, unprompted.</a:t>
            </a:r>
            <a:endParaRPr lang="en-US" sz="1600" dirty="0"/>
          </a:p>
        </p:txBody>
      </p:sp>
      <p:sp>
        <p:nvSpPr>
          <p:cNvPr id="7" name="icon circle Environment wrangling"/>
          <p:cNvSpPr/>
          <p:nvPr/>
        </p:nvSpPr>
        <p:spPr>
          <a:xfrm>
            <a:off x="548640" y="2679192"/>
            <a:ext cx="566928" cy="566928"/>
          </a:xfrm>
          <a:prstGeom prst="ellipse">
            <a:avLst/>
          </a:prstGeom>
          <a:solidFill>
            <a:schemeClr val="tx2"/>
          </a:solidFill>
          <a:ln w="12700">
            <a:solidFill>
              <a:schemeClr val="tx2"/>
            </a:solidFill>
            <a:prstDash val="solid"/>
          </a:ln>
        </p:spPr>
      </p:sp>
      <p:pic>
        <p:nvPicPr>
          <p:cNvPr id="8" name="icon Environment wrangling" descr="Environment wrangling">    </p:cNvPr>
          <p:cNvPicPr>
            <a:picLocks noChangeAspect="1"/>
          </p:cNvPicPr>
          <p:nvPr/>
        </p:nvPicPr>
        <p:blipFill>
          <a:blip r:embed="rId2"/>
          <a:stretch>
            <a:fillRect/>
          </a:stretch>
        </p:blipFill>
        <p:spPr>
          <a:xfrm>
            <a:off x="694944" y="2825496"/>
            <a:ext cx="274320" cy="274320"/>
          </a:xfrm>
          <a:prstGeom prst="rect">
            <a:avLst/>
          </a:prstGeom>
        </p:spPr>
      </p:pic>
      <p:sp>
        <p:nvSpPr>
          <p:cNvPr id="9" name="Text 5"/>
          <p:cNvSpPr txBox="1"/>
          <p:nvPr/>
        </p:nvSpPr>
        <p:spPr>
          <a:xfrm>
            <a:off x="1325880" y="26060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Environment wrangling</a:t>
            </a:r>
            <a:endParaRPr lang="en-US" sz="1600" dirty="0"/>
          </a:p>
          <a:p>
            <a:pPr indent="0" marL="0">
              <a:spcAft>
                <a:spcPts val="200"/>
              </a:spcAft>
              <a:buNone/>
            </a:pPr>
            <a:r>
              <a:rPr lang="en-US" sz="1300" dirty="0">
                <a:solidFill>
                  <a:schemeClr val="tx1"/>
                </a:solidFill>
              </a:rPr>
              <a:t>PyPy's python3 hijacked 7 numpy tests; GHC and Ruby baked paths into 235 files.</a:t>
            </a:r>
            <a:endParaRPr lang="en-US" sz="1600" dirty="0"/>
          </a:p>
        </p:txBody>
      </p:sp>
      <p:sp>
        <p:nvSpPr>
          <p:cNvPr id="10" name="icon circle The whole pipeline"/>
          <p:cNvSpPr/>
          <p:nvPr/>
        </p:nvSpPr>
        <p:spPr>
          <a:xfrm>
            <a:off x="548640" y="3593592"/>
            <a:ext cx="566928" cy="566928"/>
          </a:xfrm>
          <a:prstGeom prst="ellipse">
            <a:avLst/>
          </a:prstGeom>
          <a:solidFill>
            <a:schemeClr val="tx2"/>
          </a:solidFill>
          <a:ln w="12700">
            <a:solidFill>
              <a:schemeClr val="tx2"/>
            </a:solidFill>
            <a:prstDash val="solid"/>
          </a:ln>
        </p:spPr>
      </p:sp>
      <p:pic>
        <p:nvPicPr>
          <p:cNvPr id="11" name="icon The whole pipeline" descr="The whole pipeline">    </p:cNvPr>
          <p:cNvPicPr>
            <a:picLocks noChangeAspect="1"/>
          </p:cNvPicPr>
          <p:nvPr/>
        </p:nvPicPr>
        <p:blipFill>
          <a:blip r:embed="rId3"/>
          <a:stretch>
            <a:fillRect/>
          </a:stretch>
        </p:blipFill>
        <p:spPr>
          <a:xfrm>
            <a:off x="694944" y="3739896"/>
            <a:ext cx="274320" cy="274320"/>
          </a:xfrm>
          <a:prstGeom prst="rect">
            <a:avLst/>
          </a:prstGeom>
        </p:spPr>
      </p:pic>
      <p:sp>
        <p:nvSpPr>
          <p:cNvPr id="12" name="Text 7"/>
          <p:cNvSpPr txBox="1"/>
          <p:nvPr/>
        </p:nvSpPr>
        <p:spPr>
          <a:xfrm>
            <a:off x="1325880" y="35204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The whole pipeline</a:t>
            </a:r>
            <a:endParaRPr lang="en-US" sz="1600" dirty="0"/>
          </a:p>
          <a:p>
            <a:pPr indent="0" marL="0">
              <a:spcAft>
                <a:spcPts val="200"/>
              </a:spcAft>
              <a:buNone/>
            </a:pPr>
            <a:r>
              <a:rPr lang="en-US" sz="1300" dirty="0">
                <a:solidFill>
                  <a:schemeClr val="tx1"/>
                </a:solidFill>
              </a:rPr>
              <a:t>Figures and the 131-row appendix, regenerated from one frozen log.</a:t>
            </a:r>
            <a:endParaRPr lang="en-US" sz="1600" dirty="0"/>
          </a:p>
        </p:txBody>
      </p:sp>
      <p:sp>
        <p:nvSpPr>
          <p:cNvPr id="13" name="icon circle Decent first drafts"/>
          <p:cNvSpPr/>
          <p:nvPr/>
        </p:nvSpPr>
        <p:spPr>
          <a:xfrm>
            <a:off x="548640" y="4507992"/>
            <a:ext cx="566928" cy="566928"/>
          </a:xfrm>
          <a:prstGeom prst="ellipse">
            <a:avLst/>
          </a:prstGeom>
          <a:solidFill>
            <a:schemeClr val="tx2"/>
          </a:solidFill>
          <a:ln w="12700">
            <a:solidFill>
              <a:schemeClr val="tx2"/>
            </a:solidFill>
            <a:prstDash val="solid"/>
          </a:ln>
        </p:spPr>
      </p:sp>
      <p:pic>
        <p:nvPicPr>
          <p:cNvPr id="14" name="icon Decent first drafts" descr="Decent first drafts">    </p:cNvPr>
          <p:cNvPicPr>
            <a:picLocks noChangeAspect="1"/>
          </p:cNvPicPr>
          <p:nvPr/>
        </p:nvPicPr>
        <p:blipFill>
          <a:blip r:embed="rId4"/>
          <a:stretch>
            <a:fillRect/>
          </a:stretch>
        </p:blipFill>
        <p:spPr>
          <a:xfrm>
            <a:off x="694944" y="4654296"/>
            <a:ext cx="274320" cy="274320"/>
          </a:xfrm>
          <a:prstGeom prst="rect">
            <a:avLst/>
          </a:prstGeom>
        </p:spPr>
      </p:pic>
      <p:sp>
        <p:nvSpPr>
          <p:cNvPr id="15" name="Text 9"/>
          <p:cNvSpPr txBox="1"/>
          <p:nvPr/>
        </p:nvSpPr>
        <p:spPr>
          <a:xfrm>
            <a:off x="1325880" y="44348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Decent first drafts</a:t>
            </a:r>
            <a:endParaRPr lang="en-US" sz="1600" dirty="0"/>
          </a:p>
          <a:p>
            <a:pPr indent="0" marL="0">
              <a:spcAft>
                <a:spcPts val="200"/>
              </a:spcAft>
              <a:buNone/>
            </a:pPr>
            <a:r>
              <a:rPr lang="en-US" sz="1300" dirty="0">
                <a:solidFill>
                  <a:schemeClr val="tx1"/>
                </a:solidFill>
              </a:rPr>
              <a:t>Of the 21-page report and this deck. Not the abstract: it “would appeal only to an LLM not a human”.</a:t>
            </a:r>
            <a:endParaRPr lang="en-US" sz="1600" dirty="0"/>
          </a:p>
        </p:txBody>
      </p:sp>
      <p:sp>
        <p:nvSpPr>
          <p:cNvPr id="16" name="icon circle Reproducibility"/>
          <p:cNvSpPr/>
          <p:nvPr/>
        </p:nvSpPr>
        <p:spPr>
          <a:xfrm>
            <a:off x="548640" y="5422392"/>
            <a:ext cx="566928" cy="566928"/>
          </a:xfrm>
          <a:prstGeom prst="ellipse">
            <a:avLst/>
          </a:prstGeom>
          <a:solidFill>
            <a:schemeClr val="tx2"/>
          </a:solidFill>
          <a:ln w="12700">
            <a:solidFill>
              <a:schemeClr val="tx2"/>
            </a:solidFill>
            <a:prstDash val="solid"/>
          </a:ln>
        </p:spPr>
      </p:sp>
      <p:pic>
        <p:nvPicPr>
          <p:cNvPr id="17" name="icon Reproducibility" descr="Reproducibility">    </p:cNvPr>
          <p:cNvPicPr>
            <a:picLocks noChangeAspect="1"/>
          </p:cNvPicPr>
          <p:nvPr/>
        </p:nvPicPr>
        <p:blipFill>
          <a:blip r:embed="rId5"/>
          <a:stretch>
            <a:fillRect/>
          </a:stretch>
        </p:blipFill>
        <p:spPr>
          <a:xfrm>
            <a:off x="694944" y="5568696"/>
            <a:ext cx="274320" cy="274320"/>
          </a:xfrm>
          <a:prstGeom prst="rect">
            <a:avLst/>
          </a:prstGeom>
        </p:spPr>
      </p:pic>
      <p:sp>
        <p:nvSpPr>
          <p:cNvPr id="18" name="Text 11"/>
          <p:cNvSpPr txBox="1"/>
          <p:nvPr/>
        </p:nvSpPr>
        <p:spPr>
          <a:xfrm>
            <a:off x="1325880" y="5349240"/>
            <a:ext cx="4709160" cy="841248"/>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Reproducibility</a:t>
            </a:r>
            <a:endParaRPr lang="en-US" sz="1600" dirty="0"/>
          </a:p>
          <a:p>
            <a:pPr indent="0" marL="0">
              <a:spcAft>
                <a:spcPts val="200"/>
              </a:spcAft>
              <a:buNone/>
            </a:pPr>
            <a:r>
              <a:rPr lang="en-US" sz="1300" dirty="0">
                <a:solidFill>
                  <a:schemeClr val="tx1"/>
                </a:solidFill>
              </a:rPr>
              <a:t>One script rebuilds every toolchain; a fresh re-run passed 131/131.</a:t>
            </a:r>
            <a:endParaRPr lang="en-US" sz="1600" dirty="0"/>
          </a:p>
        </p:txBody>
      </p:sp>
      <p:sp>
        <p:nvSpPr>
          <p:cNvPr id="19" name="Text 12"/>
          <p:cNvSpPr txBox="1"/>
          <p:nvPr/>
        </p:nvSpPr>
        <p:spPr>
          <a:xfrm>
            <a:off x="6400800" y="1143000"/>
            <a:ext cx="524225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Didn't do</a:t>
            </a:r>
            <a:endParaRPr lang="en-US" sz="2000" dirty="0"/>
          </a:p>
        </p:txBody>
      </p:sp>
      <p:sp>
        <p:nvSpPr>
          <p:cNvPr id="20" name="failure Missed the PDL problem"/>
          <p:cNvSpPr/>
          <p:nvPr/>
        </p:nvSpPr>
        <p:spPr>
          <a:xfrm>
            <a:off x="6400800" y="1691640"/>
            <a:ext cx="5242255" cy="914400"/>
          </a:xfrm>
          <a:prstGeom prst="roundRect">
            <a:avLst>
              <a:gd name="adj" fmla="val 10000"/>
            </a:avLst>
          </a:prstGeom>
          <a:solidFill>
            <a:schemeClr val="bg2"/>
          </a:solidFill>
          <a:ln w="12700">
            <a:solidFill>
              <a:schemeClr val="bg2"/>
            </a:solidFill>
            <a:prstDash val="solid"/>
          </a:ln>
        </p:spPr>
      </p:sp>
      <p:sp>
        <p:nvSpPr>
          <p:cNvPr id="21" name="Text 14"/>
          <p:cNvSpPr txBox="1"/>
          <p:nvPr/>
        </p:nvSpPr>
        <p:spPr>
          <a:xfrm>
            <a:off x="6583680" y="1764792"/>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22" name="failure Silent drift"/>
          <p:cNvSpPr/>
          <p:nvPr/>
        </p:nvSpPr>
        <p:spPr>
          <a:xfrm>
            <a:off x="6400800" y="2715768"/>
            <a:ext cx="5242255" cy="914400"/>
          </a:xfrm>
          <a:prstGeom prst="roundRect">
            <a:avLst>
              <a:gd name="adj" fmla="val 10000"/>
            </a:avLst>
          </a:prstGeom>
          <a:solidFill>
            <a:schemeClr val="bg2"/>
          </a:solidFill>
          <a:ln w="12700">
            <a:solidFill>
              <a:schemeClr val="bg2"/>
            </a:solidFill>
            <a:prstDash val="solid"/>
          </a:ln>
        </p:spPr>
      </p:sp>
      <p:sp>
        <p:nvSpPr>
          <p:cNvPr id="23" name="Text 16"/>
          <p:cNvSpPr txBox="1"/>
          <p:nvPr/>
        </p:nvSpPr>
        <p:spPr>
          <a:xfrm>
            <a:off x="6583680" y="2788920"/>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Mis-copied numbers from the logs into the prose and tables. About seven rounds of ChatGPT audits caught them (backup slides).</a:t>
            </a:r>
            <a:endParaRPr lang="en-US" sz="1600" dirty="0"/>
          </a:p>
        </p:txBody>
      </p:sp>
      <p:sp>
        <p:nvSpPr>
          <p:cNvPr id="24" name="failure No sense of what's interesting"/>
          <p:cNvSpPr/>
          <p:nvPr/>
        </p:nvSpPr>
        <p:spPr>
          <a:xfrm>
            <a:off x="6400800" y="3739896"/>
            <a:ext cx="5242255" cy="914400"/>
          </a:xfrm>
          <a:prstGeom prst="roundRect">
            <a:avLst>
              <a:gd name="adj" fmla="val 10000"/>
            </a:avLst>
          </a:prstGeom>
          <a:solidFill>
            <a:schemeClr val="bg2"/>
          </a:solidFill>
          <a:ln w="12700">
            <a:solidFill>
              <a:schemeClr val="bg2"/>
            </a:solidFill>
            <a:prstDash val="solid"/>
          </a:ln>
        </p:spPr>
      </p:sp>
      <p:sp>
        <p:nvSpPr>
          <p:cNvPr id="25" name="Text 18"/>
          <p:cNvSpPr txBox="1"/>
          <p:nvPr/>
        </p:nvSpPr>
        <p:spPr>
          <a:xfrm>
            <a:off x="6583680" y="3813048"/>
            <a:ext cx="4876495" cy="804672"/>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26" name="failure I didn't write the ports"/>
          <p:cNvSpPr/>
          <p:nvPr/>
        </p:nvSpPr>
        <p:spPr>
          <a:xfrm>
            <a:off x="6400800" y="4764024"/>
            <a:ext cx="5242255" cy="914400"/>
          </a:xfrm>
          <a:prstGeom prst="roundRect">
            <a:avLst>
              <a:gd name="adj" fmla="val 10000"/>
            </a:avLst>
          </a:prstGeom>
          <a:solidFill>
            <a:srgbClr val="FDE7E4"/>
          </a:solidFill>
          <a:ln w="12700">
            <a:solidFill>
              <a:srgbClr val="FDE7E4"/>
            </a:solidFill>
            <a:prstDash val="solid"/>
          </a:ln>
        </p:spPr>
      </p:sp>
      <p:sp>
        <p:nvSpPr>
          <p:cNvPr id="27" name="Text 20"/>
          <p:cNvSpPr txBox="1"/>
          <p:nvPr/>
        </p:nvSpPr>
        <p:spPr>
          <a:xfrm>
            <a:off x="6583680" y="4837176"/>
            <a:ext cx="4876495" cy="80467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I can't vouch that each port is what an expert would write.</a:t>
            </a:r>
            <a:endParaRPr lang="en-US" sz="1600" dirty="0"/>
          </a:p>
        </p:txBody>
      </p:sp>
      <p:sp>
        <p:nvSpPr>
          <p:cNvPr id="28" name="Text 21"/>
          <p:cNvSpPr txBox="1"/>
          <p:nvPr/>
        </p:nvSpPr>
        <p:spPr>
          <a:xfrm>
            <a:off x="6400800" y="5852160"/>
            <a:ext cx="5242255" cy="36576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take home</a:t>
            </a:r>
            <a:endParaRPr lang="en-US" sz="3200" dirty="0"/>
          </a:p>
        </p:txBody>
      </p:sp>
      <p:sp>
        <p:nvSpPr>
          <p:cNvPr id="3" name="conclusion 1"/>
          <p:cNvSpPr/>
          <p:nvPr/>
        </p:nvSpPr>
        <p:spPr>
          <a:xfrm>
            <a:off x="548640" y="1188720"/>
            <a:ext cx="11094415" cy="841248"/>
          </a:xfrm>
          <a:prstGeom prst="roundRect">
            <a:avLst>
              <a:gd name="adj" fmla="val 10870"/>
            </a:avLst>
          </a:prstGeom>
          <a:solidFill>
            <a:schemeClr val="bg2"/>
          </a:solidFill>
          <a:ln w="12700">
            <a:solidFill>
              <a:schemeClr val="bg2"/>
            </a:solidFill>
            <a:prstDash val="solid"/>
          </a:ln>
        </p:spPr>
      </p:sp>
      <p:sp>
        <p:nvSpPr>
          <p:cNvPr id="4" name="number 1"/>
          <p:cNvSpPr/>
          <p:nvPr/>
        </p:nvSpPr>
        <p:spPr>
          <a:xfrm>
            <a:off x="731520" y="1344168"/>
            <a:ext cx="530352" cy="530352"/>
          </a:xfrm>
          <a:prstGeom prst="ellipse">
            <a:avLst/>
          </a:prstGeom>
          <a:solidFill>
            <a:schemeClr val="tx2"/>
          </a:solidFill>
          <a:ln w="12700">
            <a:solidFill>
              <a:schemeClr val="tx2"/>
            </a:solidFill>
            <a:prstDash val="solid"/>
          </a:ln>
        </p:spPr>
      </p:sp>
      <p:sp>
        <p:nvSpPr>
          <p:cNvPr id="5" name="Text 3"/>
          <p:cNvSpPr txBox="1"/>
          <p:nvPr/>
        </p:nvSpPr>
        <p:spPr>
          <a:xfrm>
            <a:off x="731520" y="13441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1463040" y="12435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Runtime, not language, sets your speed</a:t>
            </a:r>
            <a:endParaRPr lang="en-US" sz="1900" dirty="0"/>
          </a:p>
          <a:p>
            <a:pPr indent="0" marL="0">
              <a:spcAft>
                <a:spcPts val="200"/>
              </a:spcAft>
              <a:buNone/>
            </a:pPr>
            <a:r>
              <a:rPr lang="en-US" sz="1400" dirty="0">
                <a:solidFill>
                  <a:schemeClr val="tx1"/>
                </a:solidFill>
              </a:rPr>
              <a:t>Python: reach for @njit before C (2,883 → 3.15); never PyPy with numpy; don't loop over numpy elements. Lists: CPython 644 → PyPy 36.</a:t>
            </a:r>
            <a:endParaRPr lang="en-US" sz="1900" dirty="0"/>
          </a:p>
        </p:txBody>
      </p:sp>
      <p:sp>
        <p:nvSpPr>
          <p:cNvPr id="7" name="conclusion 2"/>
          <p:cNvSpPr/>
          <p:nvPr/>
        </p:nvSpPr>
        <p:spPr>
          <a:xfrm>
            <a:off x="548640" y="2103120"/>
            <a:ext cx="11094415" cy="841248"/>
          </a:xfrm>
          <a:prstGeom prst="roundRect">
            <a:avLst>
              <a:gd name="adj" fmla="val 10870"/>
            </a:avLst>
          </a:prstGeom>
          <a:solidFill>
            <a:schemeClr val="bg2"/>
          </a:solidFill>
          <a:ln w="12700">
            <a:solidFill>
              <a:schemeClr val="bg2"/>
            </a:solidFill>
            <a:prstDash val="solid"/>
          </a:ln>
        </p:spPr>
      </p:sp>
      <p:sp>
        <p:nvSpPr>
          <p:cNvPr id="8" name="number 2"/>
          <p:cNvSpPr/>
          <p:nvPr/>
        </p:nvSpPr>
        <p:spPr>
          <a:xfrm>
            <a:off x="731520" y="2258568"/>
            <a:ext cx="530352" cy="530352"/>
          </a:xfrm>
          <a:prstGeom prst="ellipse">
            <a:avLst/>
          </a:prstGeom>
          <a:solidFill>
            <a:schemeClr val="tx2"/>
          </a:solidFill>
          <a:ln w="12700">
            <a:solidFill>
              <a:schemeClr val="tx2"/>
            </a:solidFill>
            <a:prstDash val="solid"/>
          </a:ln>
        </p:spPr>
      </p:sp>
      <p:sp>
        <p:nvSpPr>
          <p:cNvPr id="9" name="Text 7"/>
          <p:cNvSpPr txBox="1"/>
          <p:nvPr/>
        </p:nvSpPr>
        <p:spPr>
          <a:xfrm>
            <a:off x="731520" y="22585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0" name="Text 8"/>
          <p:cNvSpPr txBox="1"/>
          <p:nvPr/>
        </p:nvSpPr>
        <p:spPr>
          <a:xfrm>
            <a:off x="1463040" y="21579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Compiled languages are close: choose for ergonomics</a:t>
            </a:r>
            <a:endParaRPr lang="en-US" sz="1900" dirty="0"/>
          </a:p>
          <a:p>
            <a:pPr indent="0" marL="0">
              <a:spcAft>
                <a:spcPts val="200"/>
              </a:spcAft>
              <a:buNone/>
            </a:pPr>
            <a:r>
              <a:rPr lang="en-US" sz="1400" dirty="0">
                <a:solidFill>
                  <a:schemeClr val="tx1"/>
                </a:solidFill>
              </a:rPr>
              <a:t>Keith said it in 2019; 15 more languages agree. Best variants: D 2.8, Zig 2.8, Java 3.7, C# 5.3, Go 6.9, Rust 6.8; Swift the outlier at 17.9.</a:t>
            </a:r>
            <a:endParaRPr lang="en-US" sz="1900" dirty="0"/>
          </a:p>
        </p:txBody>
      </p:sp>
      <p:sp>
        <p:nvSpPr>
          <p:cNvPr id="11" name="conclusion 3"/>
          <p:cNvSpPr/>
          <p:nvPr/>
        </p:nvSpPr>
        <p:spPr>
          <a:xfrm>
            <a:off x="548640" y="3017520"/>
            <a:ext cx="11094415" cy="841248"/>
          </a:xfrm>
          <a:prstGeom prst="roundRect">
            <a:avLst>
              <a:gd name="adj" fmla="val 10870"/>
            </a:avLst>
          </a:prstGeom>
          <a:solidFill>
            <a:schemeClr val="bg2"/>
          </a:solidFill>
          <a:ln w="12700">
            <a:solidFill>
              <a:schemeClr val="bg2"/>
            </a:solidFill>
            <a:prstDash val="solid"/>
          </a:ln>
        </p:spPr>
      </p:sp>
      <p:sp>
        <p:nvSpPr>
          <p:cNvPr id="12" name="number 3"/>
          <p:cNvSpPr/>
          <p:nvPr/>
        </p:nvSpPr>
        <p:spPr>
          <a:xfrm>
            <a:off x="731520" y="3172968"/>
            <a:ext cx="530352" cy="530352"/>
          </a:xfrm>
          <a:prstGeom prst="ellipse">
            <a:avLst/>
          </a:prstGeom>
          <a:solidFill>
            <a:schemeClr val="tx2"/>
          </a:solidFill>
          <a:ln w="12700">
            <a:solidFill>
              <a:schemeClr val="tx2"/>
            </a:solidFill>
            <a:prstDash val="solid"/>
          </a:ln>
        </p:spPr>
      </p:sp>
      <p:sp>
        <p:nvSpPr>
          <p:cNvPr id="13" name="Text 11"/>
          <p:cNvSpPr txBox="1"/>
          <p:nvPr/>
        </p:nvSpPr>
        <p:spPr>
          <a:xfrm>
            <a:off x="731520" y="31729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4" name="Text 12"/>
          <p:cNvSpPr txBox="1"/>
          <p:nvPr/>
        </p:nvSpPr>
        <p:spPr>
          <a:xfrm>
            <a:off x="1463040" y="30723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Cross the interpreter boundary once, not per element</a:t>
            </a:r>
            <a:endParaRPr lang="en-US" sz="1900" dirty="0"/>
          </a:p>
          <a:p>
            <a:pPr indent="0" marL="0">
              <a:spcAft>
                <a:spcPts val="200"/>
              </a:spcAft>
              <a:buNone/>
            </a:pPr>
            <a:r>
              <a:rPr lang="en-US" sz="1400" dirty="0">
                <a:solidFill>
                  <a:schemeClr val="tx1"/>
                </a:solidFill>
              </a:rPr>
              <a:t>numpy element lookup 2,883 → vectorised 16. PDL 9,207 → PDL::PP 5.5. Octave loop 46,705 → vectorised 57.</a:t>
            </a:r>
            <a:endParaRPr lang="en-US" sz="1900" dirty="0"/>
          </a:p>
        </p:txBody>
      </p:sp>
      <p:sp>
        <p:nvSpPr>
          <p:cNvPr id="15" name="conclusion 4"/>
          <p:cNvSpPr/>
          <p:nvPr/>
        </p:nvSpPr>
        <p:spPr>
          <a:xfrm>
            <a:off x="548640" y="3931920"/>
            <a:ext cx="11094415" cy="841248"/>
          </a:xfrm>
          <a:prstGeom prst="roundRect">
            <a:avLst>
              <a:gd name="adj" fmla="val 10870"/>
            </a:avLst>
          </a:prstGeom>
          <a:solidFill>
            <a:schemeClr val="bg2"/>
          </a:solidFill>
          <a:ln w="12700">
            <a:solidFill>
              <a:schemeClr val="bg2"/>
            </a:solidFill>
            <a:prstDash val="solid"/>
          </a:ln>
        </p:spPr>
      </p:sp>
      <p:sp>
        <p:nvSpPr>
          <p:cNvPr id="16" name="number 4"/>
          <p:cNvSpPr/>
          <p:nvPr/>
        </p:nvSpPr>
        <p:spPr>
          <a:xfrm>
            <a:off x="731520" y="4087368"/>
            <a:ext cx="530352" cy="530352"/>
          </a:xfrm>
          <a:prstGeom prst="ellipse">
            <a:avLst/>
          </a:prstGeom>
          <a:solidFill>
            <a:schemeClr val="tx2"/>
          </a:solidFill>
          <a:ln w="12700">
            <a:solidFill>
              <a:schemeClr val="tx2"/>
            </a:solidFill>
            <a:prstDash val="solid"/>
          </a:ln>
        </p:spPr>
      </p:sp>
      <p:sp>
        <p:nvSpPr>
          <p:cNvPr id="17" name="Text 15"/>
          <p:cNvSpPr txBox="1"/>
          <p:nvPr/>
        </p:nvSpPr>
        <p:spPr>
          <a:xfrm>
            <a:off x="731520" y="40873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8" name="Text 16"/>
          <p:cNvSpPr txBox="1"/>
          <p:nvPr/>
        </p:nvSpPr>
        <p:spPr>
          <a:xfrm>
            <a:off x="1463040" y="39867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Flags, types and idiom are free orders of magnitude</a:t>
            </a:r>
            <a:endParaRPr lang="en-US" sz="1900" dirty="0"/>
          </a:p>
          <a:p>
            <a:pPr indent="0" marL="0">
              <a:spcAft>
                <a:spcPts val="200"/>
              </a:spcAft>
              <a:buNone/>
            </a:pPr>
            <a:r>
              <a:rPr lang="en-US" sz="1400" dirty="0">
                <a:solidFill>
                  <a:schemeClr val="tx1"/>
                </a:solidFill>
              </a:rPr>
              <a:t>Swift -Onone → -O: about 200×. Lisp type declarations: 16×. Rust iterators 6.8 against indexed loops 12.0.</a:t>
            </a:r>
            <a:endParaRPr lang="en-US" sz="1900" dirty="0"/>
          </a:p>
        </p:txBody>
      </p:sp>
      <p:sp>
        <p:nvSpPr>
          <p:cNvPr id="19" name="conclusion 5"/>
          <p:cNvSpPr/>
          <p:nvPr/>
        </p:nvSpPr>
        <p:spPr>
          <a:xfrm>
            <a:off x="548640" y="4846320"/>
            <a:ext cx="11094415" cy="841248"/>
          </a:xfrm>
          <a:prstGeom prst="roundRect">
            <a:avLst>
              <a:gd name="adj" fmla="val 10870"/>
            </a:avLst>
          </a:prstGeom>
          <a:solidFill>
            <a:schemeClr val="bg2"/>
          </a:solidFill>
          <a:ln w="12700">
            <a:solidFill>
              <a:schemeClr val="bg2"/>
            </a:solidFill>
            <a:prstDash val="solid"/>
          </a:ln>
        </p:spPr>
      </p:sp>
      <p:sp>
        <p:nvSpPr>
          <p:cNvPr id="20" name="number 5"/>
          <p:cNvSpPr/>
          <p:nvPr/>
        </p:nvSpPr>
        <p:spPr>
          <a:xfrm>
            <a:off x="731520" y="5001768"/>
            <a:ext cx="530352" cy="530352"/>
          </a:xfrm>
          <a:prstGeom prst="ellipse">
            <a:avLst/>
          </a:prstGeom>
          <a:solidFill>
            <a:schemeClr val="tx2"/>
          </a:solidFill>
          <a:ln w="12700">
            <a:solidFill>
              <a:schemeClr val="tx2"/>
            </a:solidFill>
            <a:prstDash val="solid"/>
          </a:ln>
        </p:spPr>
      </p:sp>
      <p:sp>
        <p:nvSpPr>
          <p:cNvPr id="21" name="Text 19"/>
          <p:cNvSpPr txBox="1"/>
          <p:nvPr/>
        </p:nvSpPr>
        <p:spPr>
          <a:xfrm>
            <a:off x="731520" y="500176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2" name="Text 20"/>
          <p:cNvSpPr txBox="1"/>
          <p:nvPr/>
        </p:nvSpPr>
        <p:spPr>
          <a:xfrm>
            <a:off x="1463040" y="4901184"/>
            <a:ext cx="9997135" cy="731520"/>
          </a:xfrm>
          <a:prstGeom prst="rect">
            <a:avLst/>
          </a:prstGeom>
          <a:noFill/>
          <a:ln/>
        </p:spPr>
        <p:txBody>
          <a:bodyPr wrap="square" lIns="0" tIns="0" rIns="0" bIns="0" rtlCol="0" anchor="ctr"/>
          <a:lstStyle/>
          <a:p>
            <a:pPr indent="0" marL="0">
              <a:spcAft>
                <a:spcPts val="200"/>
              </a:spcAft>
              <a:buNone/>
            </a:pPr>
            <a:r>
              <a:rPr lang="en-US" sz="1900" b="1" dirty="0">
                <a:solidFill>
                  <a:schemeClr val="tx2"/>
                </a:solidFill>
                <a:latin typeface="+mj-lt" pitchFamily="34" charset="0"/>
                <a:ea typeface="+mj-lt" pitchFamily="34" charset="-122"/>
                <a:cs typeface="+mj-lt" pitchFamily="34" charset="-120"/>
              </a:rPr>
              <a:t>LLMs port fast; humans must audit the numbers and own the code</a:t>
            </a:r>
            <a:endParaRPr lang="en-US" sz="1900" dirty="0"/>
          </a:p>
          <a:p>
            <a:pPr indent="0" marL="0">
              <a:spcAft>
                <a:spcPts val="200"/>
              </a:spcAft>
              <a:buNone/>
            </a:pPr>
            <a:r>
              <a:rPr lang="en-US" sz="1400" dirty="0">
                <a:solidFill>
                  <a:schemeClr val="tx1"/>
                </a:solidFill>
              </a:rPr>
              <a:t>15 languages in 4 days, no bugs found in the ports; but 14 numbers mis-copied into the prose, and no expert has reviewed the kernels.</a:t>
            </a:r>
            <a:endParaRPr lang="en-US" sz="1900" dirty="0"/>
          </a:p>
        </p:txBody>
      </p:sp>
      <p:sp>
        <p:nvSpPr>
          <p:cNvPr id="23" name="closing line"/>
          <p:cNvSpPr txBox="1"/>
          <p:nvPr/>
        </p:nvSpPr>
        <p:spPr>
          <a:xfrm>
            <a:off x="548640" y="5779008"/>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2019: flags, idiom and JITs beat language. 2026: </a:t>
            </a:r>
            <a:pPr algn="ctr" indent="0" marL="0">
              <a:buNone/>
            </a:pPr>
            <a:r>
              <a:rPr lang="en-US" sz="1700" b="1" i="1" dirty="0">
                <a:solidFill>
                  <a:schemeClr val="tx2"/>
                </a:solidFill>
                <a:latin typeface="+mj-lt" pitchFamily="34" charset="0"/>
                <a:ea typeface="+mj-lt" pitchFamily="34" charset="-122"/>
                <a:cs typeface="+mj-lt" pitchFamily="34" charset="-120"/>
              </a:rPr>
              <a:t>15 more languages agree</a:t>
            </a:r>
            <a:pPr algn="ctr" indent="0" marL="0">
              <a:buNone/>
            </a:pPr>
            <a:r>
              <a:rPr lang="en-US" sz="1700" b="1" dirty="0">
                <a:solidFill>
                  <a:schemeClr val="tx2"/>
                </a:solidFill>
                <a:latin typeface="+mj-lt" pitchFamily="34" charset="0"/>
                <a:ea typeface="+mj-lt" pitchFamily="34" charset="-122"/>
                <a:cs typeface="+mj-lt" pitchFamily="34" charset="-120"/>
              </a:rPr>
              <a:t>. Check every number against the log.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pic>
        <p:nvPicPr>
          <p:cNvPr id="4" name="nerd-snipe cartoon" descr="Hand-drawn style chart of languages benchmarked: 12 in 2019 by Keith, 27 in 2026, a red dashed line to 'YOU?', and INTERCAL marked 'still undefeated'">    </p:cNvPr>
          <p:cNvPicPr>
            <a:picLocks noChangeAspect="1"/>
          </p:cNvPicPr>
          <p:nvPr/>
        </p:nvPicPr>
        <p:blipFill>
          <a:blip r:embed="rId3"/>
          <a:stretch>
            <a:fillRect/>
          </a:stretch>
        </p:blipFill>
        <p:spPr>
          <a:xfrm>
            <a:off x="7071055" y="3568446"/>
            <a:ext cx="4572000" cy="31432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labels: the 15 languages new in 2026, mostly one variant each. </a:t>
            </a:r>
            <a:pPr indent="0" marL="0">
              <a:buNone/>
            </a:pPr>
            <a:r>
              <a:rPr lang="en-US" sz="1500" dirty="0">
                <a:solidFill>
                  <a:schemeClr val="tx1"/>
                </a:solidFill>
              </a:rPr>
              <a:t>The long bars are Keith's option sweeps (C/C++ alone has 60 variants) and changes of idiom: Python, PDL, Octave, R. Bars and dots are coloured by tier,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families new in 2026 labelled in red">    </p:cNvPr>
          <p:cNvPicPr>
            <a:picLocks noChangeAspect="1"/>
          </p:cNvPicPr>
          <p:nvPr/>
        </p:nvPicPr>
        <p:blipFill>
          <a:blip r:embed="rId1"/>
          <a:stretch>
            <a:fillRect/>
          </a:stretch>
        </p:blipFill>
        <p:spPr>
          <a:xfrm>
            <a:off x="548640" y="1188720"/>
            <a:ext cx="5067650" cy="5029200"/>
          </a:xfrm>
          <a:prstGeom prst="rect">
            <a:avLst/>
          </a:prstGeom>
        </p:spPr>
      </p:pic>
      <p:sp>
        <p:nvSpPr>
          <p:cNvPr id="4" name="Text 1"/>
          <p:cNvSpPr txBox="1"/>
          <p:nvPr/>
        </p:nvSpPr>
        <p:spPr>
          <a:xfrm>
            <a:off x="5982050" y="1280160"/>
            <a:ext cx="5661006"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 Red labels: languages new in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2026-11-01T03:40:52Z</dcterms:created>
  <dcterms:modified xsi:type="dcterms:W3CDTF">2026-11-01T03:40:52Z</dcterms:modified>
</cp:coreProperties>
</file>