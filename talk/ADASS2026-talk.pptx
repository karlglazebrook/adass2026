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story" id="{c18bd106-5da8-ef06-ad40-dd7fbaa058aa}">
          <p14:sldIdLst>
            <p14:sldId id="256"/>
            <p14:sldId id="257"/>
            <p14:sldId id="258"/>
            <p14:sldId id="259"/>
          </p14:sldIdLst>
        </p14:section>
        <p14:section name="Results" id="{4f4d3b7b-de2f-8a65-d18c-613eea09b6eb}">
          <p14:sldIdLst>
            <p14:sldId id="260"/>
            <p14:sldId id="261"/>
            <p14:sldId id="262"/>
            <p14:sldId id="263"/>
            <p14:sldId id="264"/>
            <p14:sldId id="265"/>
            <p14:sldId id="266"/>
          </p14:sldIdLst>
        </p14:section>
        <p14:section name="The LLM" id="{b673c47b-dbb4-7272-a0ea-5e0f5b7ac9cd}">
          <p14:sldIdLst>
            <p14:sldId id="267"/>
            <p14:sldId id="268"/>
            <p14:sldId id="269"/>
            <p14:sldId id="270"/>
          </p14:sldIdLst>
        </p14:section>
        <p14:section name="Backup" id="{2f8a3853-9c5e-a16b-e858-05855c41a881}">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Tests passing in the suite</a:t>
            </a:r>
          </a:p>
        </c:rich>
      </c:tx>
      <c:layout/>
      <c:overlay val="0"/>
    </c:title>
    <c:autoTitleDeleted val="0"/>
    <c:plotArea>
      <c:layout/>
      <c:barChart>
        <c:barDir val="col"/>
        <c:grouping val="clustered"/>
        <c:varyColors val="0"/>
        <c:ser>
          <c:idx val="0"/>
          <c:order val="0"/>
          <c:tx>
            <c:strRef>
              <c:f>Sheet1!$B$1</c:f>
              <c:strCache>
                <c:ptCount val="1"/>
                <c:pt idx="0">
                  <c:v>Tests passing</c:v>
                </c:pt>
              </c:strCache>
            </c:strRef>
          </c:tx>
          <c:spPr>
            <a:solidFill>
              <a:srgbClr val="3B6FB6"/>
            </a:solidFill>
            <a:effectLst/>
          </c:spPr>
          <c:invertIfNegative val="0"/>
          <c:dLbls>
            <c:numFmt formatCode="#,##0" sourceLinked="0"/>
            <c:txPr>
              <a:bodyPr/>
              <a:lstStyle/>
              <a:p>
                <a:pPr>
                  <a:defRPr b="0" i="0" strike="noStrike" sz="1400" u="none">
                    <a:solidFill>
                      <a:srgbClr val="1B1F2B"/>
                    </a:solidFill>
                    <a:latin typeface="+mn-lt"/>
                  </a:defRPr>
                </a:pPr>
              </a:p>
            </c:txPr>
            <c:showLegendKey val="0"/>
            <c:showVal val="1"/>
            <c:showCatName val="0"/>
            <c:showSerName val="0"/>
            <c:showPercent val="0"/>
            <c:showBubbleSize val="0"/>
            <c:showLeaderLines val="0"/>
          </c:dLbls>
          <c:cat>
            <c:multiLvlStrRef>
              <c:f>Sheet1!$A$2:$A$6</c:f>
              <c:multiLvlStrCache>
                <c:ptCount val="5"/>
                <c:lvl>
                  <c:pt idx="0">
                    <c:v>25 Apr</c:v>
                  </c:pt>
                  <c:pt idx="1">
                    <c:v>26 Apr</c:v>
                  </c:pt>
                  <c:pt idx="2">
                    <c:v>27 Apr</c:v>
                  </c:pt>
                  <c:pt idx="3">
                    <c:v>28–29 Apr</c:v>
                  </c:pt>
                  <c:pt idx="4">
                    <c:v>+ Octave</c:v>
                  </c:pt>
                </c:lvl>
              </c:multiLvlStrCache>
            </c:multiLvlStrRef>
          </c:cat>
          <c:val>
            <c:numRef>
              <c:f>Sheet1!$B$2:$B$6</c:f>
              <c:numCache>
                <c:formatCode>General</c:formatCode>
                <c:ptCount val="5"/>
                <c:pt idx="0">
                  <c:v>58</c:v>
                </c:pt>
                <c:pt idx="1">
                  <c:v>103</c:v>
                </c:pt>
                <c:pt idx="2">
                  <c:v>111</c:v>
                </c:pt>
                <c:pt idx="3">
                  <c:v>123</c:v>
                </c:pt>
                <c:pt idx="4">
                  <c:v>131</c:v>
                </c:pt>
              </c:numCache>
            </c:numRef>
          </c:val>
        </c:ser>
        <c:dLbls>
          <c:numFmt formatCode="#,##0" sourceLinked="0"/>
          <c:txPr>
            <a:bodyPr/>
            <a:lstStyle/>
            <a:p>
              <a:pPr>
                <a:defRPr b="0" i="0" strike="noStrike" sz="1400" u="none">
                  <a:solidFill>
                    <a:srgbClr val="1B1F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275"/>
                </a:solidFill>
                <a:latin typeface="+mn-lt"/>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6350" cap="flat">
              <a:solidFill>
                <a:srgbClr val="D9DE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275"/>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275"/>
                </a:solidFill>
                <a:latin typeface="+mn-lt"/>
              </a:defRPr>
            </a:pPr>
            <a:r>
              <a:rPr sz="1300" b="0" i="0" u="none" strike="noStrike">
                <a:solidFill>
                  <a:srgbClr val="5A6275"/>
                </a:solidFill>
                <a:latin typeface="+mn-lt"/>
              </a:rPr>
              <a:t>Time relative to assembler (log scale)</a:t>
            </a:r>
          </a:p>
        </c:rich>
      </c:tx>
      <c:layout/>
      <c:overlay val="0"/>
    </c:title>
    <c:autoTitleDeleted val="0"/>
    <c:plotArea>
      <c:layout/>
      <c:barChart>
        <c:barDir val="bar"/>
        <c:grouping val="clustered"/>
        <c:varyColors val="0"/>
        <c:ser>
          <c:idx val="0"/>
          <c:order val="0"/>
          <c:tx>
            <c:strRef>
              <c:f>Sheet1!$B$1</c:f>
              <c:strCache>
                <c:ptCount val="1"/>
                <c:pt idx="0">
                  <c:v>Relative time</c:v>
                </c:pt>
              </c:strCache>
            </c:strRef>
          </c:tx>
          <c:spPr>
            <a:solidFill>
              <a:srgbClr val="D73027"/>
            </a:solidFill>
            <a:effectLst/>
          </c:spPr>
          <c:invertIfNegative val="0"/>
          <c:dLbls>
            <c:numFmt formatCode="[&gt;=100]#,##0;0.0#" sourceLinked="0"/>
            <c:txPr>
              <a:bodyPr/>
              <a:lstStyle/>
              <a:p>
                <a:pPr>
                  <a:defRPr b="1" i="0" strike="noStrike" sz="1400" u="none">
                    <a:solidFill>
                      <a:srgbClr val="1B1F2B"/>
                    </a:solidFill>
                    <a:latin typeface="+mn-lt"/>
                  </a:defRPr>
                </a:pPr>
              </a:p>
            </c:txPr>
            <c:showLegendKey val="0"/>
            <c:showVal val="1"/>
            <c:showCatName val="0"/>
            <c:showSerName val="0"/>
            <c:showPercent val="0"/>
            <c:showBubbleSize val="0"/>
            <c:showLeaderLines val="0"/>
          </c:dLbls>
          <c:dPt>
            <c:idx val="0"/>
            <c:invertIfNegative val="0"/>
            <c:bubble3D val="0"/>
            <c:spPr>
              <a:solidFill>
                <a:srgbClr val="D73027"/>
              </a:solidFill>
              <a:effectLst/>
            </c:spPr>
          </c:dPt>
          <c:dPt>
            <c:idx val="1"/>
            <c:invertIfNegative val="0"/>
            <c:bubble3D val="0"/>
            <c:spPr>
              <a:solidFill>
                <a:srgbClr val="D73027"/>
              </a:solidFill>
              <a:effectLst/>
            </c:spPr>
          </c:dPt>
          <c:dPt>
            <c:idx val="2"/>
            <c:invertIfNegative val="0"/>
            <c:bubble3D val="0"/>
            <c:spPr>
              <a:solidFill>
                <a:srgbClr val="FDAE61"/>
              </a:solidFill>
              <a:effectLst/>
            </c:spPr>
          </c:dPt>
          <c:dPt>
            <c:idx val="3"/>
            <c:invertIfNegative val="0"/>
            <c:bubble3D val="0"/>
            <c:spPr>
              <a:solidFill>
                <a:srgbClr val="9AA3B2"/>
              </a:solidFill>
              <a:effectLst/>
            </c:spPr>
          </c:dPt>
          <c:dPt>
            <c:idx val="4"/>
            <c:invertIfNegative val="0"/>
            <c:bubble3D val="0"/>
            <c:spPr>
              <a:solidFill>
                <a:srgbClr val="A6D96A"/>
              </a:solidFill>
              <a:effectLst/>
            </c:spPr>
          </c:dPt>
          <c:cat>
            <c:multiLvlStrRef>
              <c:f>Sheet1!$A$2:$A$6</c:f>
              <c:multiLvlStrCache>
                <c:ptCount val="5"/>
                <c:lvl>
                  <c:pt idx="0">
                    <c:v>CPython + numpy, element lookup</c:v>
                  </c:pt>
                  <c:pt idx="1">
                    <c:v>CPython, plain lists</c:v>
                  </c:pt>
                  <c:pt idx="2">
                    <c:v>PyPy, plain lists</c:v>
                  </c:pt>
                  <c:pt idx="3">
                    <c:v>numpy, vectorised (rewrite)</c:v>
                  </c:pt>
                  <c:pt idx="4">
                    <c:v>numba @jit, element loop</c:v>
                  </c:pt>
                </c:lvl>
              </c:multiLvlStrCache>
            </c:multiLvlStrRef>
          </c:cat>
          <c:val>
            <c:numRef>
              <c:f>Sheet1!$B$2:$B$6</c:f>
              <c:numCache>
                <c:formatCode>General</c:formatCode>
                <c:ptCount val="5"/>
                <c:pt idx="0">
                  <c:v>2882.58</c:v>
                </c:pt>
                <c:pt idx="1">
                  <c:v>644.02</c:v>
                </c:pt>
                <c:pt idx="2">
                  <c:v>36.17</c:v>
                </c:pt>
                <c:pt idx="3">
                  <c:v>16.1</c:v>
                </c:pt>
                <c:pt idx="4">
                  <c:v>3.15</c:v>
                </c:pt>
              </c:numCache>
            </c:numRef>
          </c:val>
        </c:ser>
        <c:dLbls>
          <c:numFmt formatCode="[&gt;=100]#,##0;0.0#" sourceLinked="0"/>
          <c:txPr>
            <a:bodyPr/>
            <a:lstStyle/>
            <a:p>
              <a:pPr>
                <a:defRPr b="1" i="0" strike="noStrike" sz="1400" u="none">
                  <a:solidFill>
                    <a:srgbClr val="1B1F2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1F2B"/>
                </a:solidFill>
                <a:latin typeface="+mn-lt"/>
              </a:defRPr>
            </a:pPr>
            <a:endParaRPr lang="en-US"/>
          </a:p>
        </c:txPr>
        <c:crossAx val="2094734552"/>
        <c:crosses val="autoZero"/>
        <c:auto val="1"/>
        <c:lblAlgn val="ctr"/>
        <c:noMultiLvlLbl val="1"/>
      </c:catAx>
      <c:valAx>
        <c:axId val="2094734552"/>
        <c:scaling>
          <c:logBase val="10"/>
          <c:orientation val="minMax"/>
          <c:max val="10000"/>
          <c:min val="1"/>
        </c:scaling>
        <c:delete val="0"/>
        <c:axPos val="b"/>
        <c:majorGridlines>
          <c:spPr>
            <a:ln w="6350" cap="flat">
              <a:solidFill>
                <a:srgbClr val="D9DEE7"/>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2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Relative time</c:v>
                </c:pt>
              </c:strCache>
            </c:strRef>
          </c:tx>
          <c:spPr>
            <a:solidFill>
              <a:srgbClr val="66BD63"/>
            </a:solidFill>
            <a:effectLst/>
          </c:spPr>
          <c:invertIfNegative val="0"/>
          <c:dLbls>
            <c:numFmt formatCode="0.00" sourceLinked="0"/>
            <c:txPr>
              <a:bodyPr/>
              <a:lstStyle/>
              <a:p>
                <a:pPr>
                  <a:defRPr b="0" i="0" strike="noStrike" sz="1300" u="none">
                    <a:solidFill>
                      <a:srgbClr val="1B1F2B"/>
                    </a:solidFill>
                    <a:latin typeface="+mn-lt"/>
                  </a:defRPr>
                </a:pPr>
              </a:p>
            </c:txPr>
            <c:showLegendKey val="0"/>
            <c:showVal val="1"/>
            <c:showCatName val="0"/>
            <c:showSerName val="0"/>
            <c:showPercent val="0"/>
            <c:showBubbleSize val="0"/>
            <c:showLeaderLines val="0"/>
          </c:dLbls>
          <c:dPt>
            <c:idx val="0"/>
            <c:invertIfNegative val="0"/>
            <c:bubble3D val="0"/>
            <c:spPr>
              <a:solidFill>
                <a:srgbClr val="66BD63"/>
              </a:solidFill>
              <a:effectLst/>
            </c:spPr>
          </c:dPt>
          <c:dPt>
            <c:idx val="1"/>
            <c:invertIfNegative val="0"/>
            <c:bubble3D val="0"/>
            <c:spPr>
              <a:solidFill>
                <a:srgbClr val="66BD63"/>
              </a:solidFill>
              <a:effectLst/>
            </c:spPr>
          </c:dPt>
          <c:dPt>
            <c:idx val="2"/>
            <c:invertIfNegative val="0"/>
            <c:bubble3D val="0"/>
            <c:spPr>
              <a:solidFill>
                <a:srgbClr val="66BD63"/>
              </a:solidFill>
              <a:effectLst/>
            </c:spPr>
          </c:dPt>
          <c:dPt>
            <c:idx val="3"/>
            <c:invertIfNegative val="0"/>
            <c:bubble3D val="0"/>
            <c:spPr>
              <a:solidFill>
                <a:srgbClr val="A6D96A"/>
              </a:solidFill>
              <a:effectLst/>
            </c:spPr>
          </c:dPt>
          <c:dPt>
            <c:idx val="4"/>
            <c:invertIfNegative val="0"/>
            <c:bubble3D val="0"/>
            <c:spPr>
              <a:solidFill>
                <a:srgbClr val="A6D96A"/>
              </a:solidFill>
              <a:effectLst/>
            </c:spPr>
          </c:dPt>
          <c:dPt>
            <c:idx val="5"/>
            <c:invertIfNegative val="0"/>
            <c:bubble3D val="0"/>
            <c:spPr>
              <a:solidFill>
                <a:srgbClr val="A6D96A"/>
              </a:solidFill>
              <a:effectLst/>
            </c:spPr>
          </c:dPt>
          <c:dPt>
            <c:idx val="6"/>
            <c:invertIfNegative val="0"/>
            <c:bubble3D val="0"/>
            <c:spPr>
              <a:solidFill>
                <a:srgbClr val="A6D96A"/>
              </a:solidFill>
              <a:effectLst/>
            </c:spPr>
          </c:dPt>
          <c:dPt>
            <c:idx val="7"/>
            <c:invertIfNegative val="0"/>
            <c:bubble3D val="0"/>
            <c:spPr>
              <a:solidFill>
                <a:srgbClr val="A6D96A"/>
              </a:solidFill>
              <a:effectLst/>
            </c:spPr>
          </c:dPt>
          <c:dPt>
            <c:idx val="8"/>
            <c:invertIfNegative val="0"/>
            <c:bubble3D val="0"/>
            <c:spPr>
              <a:solidFill>
                <a:srgbClr val="A6D96A"/>
              </a:solidFill>
              <a:effectLst/>
            </c:spPr>
          </c:dPt>
          <c:cat>
            <c:multiLvlStrRef>
              <c:f>Sheet1!$A$2:$A$10</c:f>
              <c:multiLvlStrCache>
                <c:ptCount val="9"/>
                <c:lvl>
                  <c:pt idx="0">
                    <c:v>Julia (int32)</c:v>
                  </c:pt>
                  <c:pt idx="1">
                    <c:v>C (best)</c:v>
                  </c:pt>
                  <c:pt idx="2">
                    <c:v>Fortran -O3 native</c:v>
                  </c:pt>
                  <c:pt idx="3">
                    <c:v>D</c:v>
                  </c:pt>
                  <c:pt idx="4">
                    <c:v>Zig</c:v>
                  </c:pt>
                  <c:pt idx="5">
                    <c:v>Nim</c:v>
                  </c:pt>
                  <c:pt idx="6">
                    <c:v>Crystal</c:v>
                  </c:pt>
                  <c:pt idx="7">
                    <c:v>Java</c:v>
                  </c:pt>
                  <c:pt idx="8">
                    <c:v>Go</c:v>
                  </c:pt>
                </c:lvl>
              </c:multiLvlStrCache>
            </c:multiLvlStrRef>
          </c:cat>
          <c:val>
            <c:numRef>
              <c:f>Sheet1!$B$2:$B$10</c:f>
              <c:numCache>
                <c:formatCode>General</c:formatCode>
                <c:ptCount val="9"/>
                <c:pt idx="0">
                  <c:v>1.17</c:v>
                </c:pt>
                <c:pt idx="1">
                  <c:v>1.19</c:v>
                </c:pt>
                <c:pt idx="2">
                  <c:v>2.05</c:v>
                </c:pt>
                <c:pt idx="3">
                  <c:v>2.76</c:v>
                </c:pt>
                <c:pt idx="4">
                  <c:v>2.84</c:v>
                </c:pt>
                <c:pt idx="5">
                  <c:v>3.31</c:v>
                </c:pt>
                <c:pt idx="6">
                  <c:v>3.67</c:v>
                </c:pt>
                <c:pt idx="7">
                  <c:v>3.7</c:v>
                </c:pt>
                <c:pt idx="8">
                  <c:v>6.91</c:v>
                </c:pt>
              </c:numCache>
            </c:numRef>
          </c:val>
        </c:ser>
        <c:dLbls>
          <c:numFmt formatCode="0.00" sourceLinked="0"/>
          <c:txPr>
            <a:bodyPr/>
            <a:lstStyle/>
            <a:p>
              <a:pPr>
                <a:defRPr b="0" i="0" strike="noStrike" sz="1300" u="none">
                  <a:solidFill>
                    <a:srgbClr val="1B1F2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1F2B"/>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b"/>
        <c:majorGridlines>
          <c:spPr>
            <a:ln w="6350" cap="flat">
              <a:solidFill>
                <a:srgbClr val="D9DE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275"/>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Same code, 2019 and 2026 (101 tests)</c:v>
                </c:pt>
              </c:strCache>
            </c:strRef>
          </c:tx>
          <c:spPr>
            <a:solidFill>
              <a:srgbClr val="3B6FB6"/>
            </a:solidFill>
            <a:ln>
              <a:noFill/>
            </a:ln>
            <a:effectLst/>
          </c:spPr>
          <c:marker>
            <c:symbol val="circle"/>
            <c:size val="7"/>
            <c:spPr>
              <a:solidFill>
                <a:srgbClr val="3B6FB6"/>
              </a:solidFill>
              <a:ln w="9525" cap="flat">
                <a:solidFill>
                  <a:srgbClr val="3B6FB6"/>
                </a:solidFill>
                <a:prstDash val="solid"/>
                <a:round/>
              </a:ln>
              <a:effectLst/>
            </c:spPr>
          </c:marker>
          <c:xVal>
            <c:numRef>
              <c:f>Sheet1!$A$2:$A$139</c:f>
              <c:numCache>
                <c:formatCode>General</c:formatCode>
                <c:ptCount val="138"/>
                <c:pt idx="0">
                  <c:v>3323.6534653465346</c:v>
                </c:pt>
                <c:pt idx="1">
                  <c:v>3319.811881188119</c:v>
                </c:pt>
                <c:pt idx="2">
                  <c:v>14.801980198019802</c:v>
                </c:pt>
                <c:pt idx="3">
                  <c:v>7.0495049504950495</c:v>
                </c:pt>
                <c:pt idx="4">
                  <c:v>40.31683168316832</c:v>
                </c:pt>
                <c:pt idx="5">
                  <c:v>6.584158415841585</c:v>
                </c:pt>
                <c:pt idx="6">
                  <c:v>6.623762376237624</c:v>
                </c:pt>
                <c:pt idx="7">
                  <c:v>6.594059405940594</c:v>
                </c:pt>
                <c:pt idx="8">
                  <c:v>2.396039603960396</c:v>
                </c:pt>
                <c:pt idx="9">
                  <c:v>1.0495049504950495</c:v>
                </c:pt>
                <c:pt idx="10">
                  <c:v>946.3762376237624</c:v>
                </c:pt>
                <c:pt idx="11">
                  <c:v>1558651.396039604</c:v>
                </c:pt>
                <c:pt idx="12">
                  <c:v>240.32673267326732</c:v>
                </c:pt>
                <c:pt idx="13">
                  <c:v>1262.8712871287128</c:v>
                </c:pt>
                <c:pt idx="14">
                  <c:v>121.9108910891089</c:v>
                </c:pt>
                <c:pt idx="15">
                  <c:v>50.28712871287129</c:v>
                </c:pt>
                <c:pt idx="16">
                  <c:v>3356.0792079207918</c:v>
                </c:pt>
                <c:pt idx="17">
                  <c:v>23396.49504950495</c:v>
                </c:pt>
                <c:pt idx="18">
                  <c:v>58.603960396039604</c:v>
                </c:pt>
                <c:pt idx="19">
                  <c:v>34.0990099009901</c:v>
                </c:pt>
                <c:pt idx="20">
                  <c:v>1784.277227722772</c:v>
                </c:pt>
                <c:pt idx="21">
                  <c:v>9357.168316831683</c:v>
                </c:pt>
                <c:pt idx="22">
                  <c:v>42.83168316831683</c:v>
                </c:pt>
                <c:pt idx="23">
                  <c:v>46.29702970297029</c:v>
                </c:pt>
                <c:pt idx="24">
                  <c:v>8.722772277227723</c:v>
                </c:pt>
                <c:pt idx="25">
                  <c:v>1690.0099009900991</c:v>
                </c:pt>
                <c:pt idx="26">
                  <c:v>20.05940594059406</c:v>
                </c:pt>
                <c:pt idx="27">
                  <c:v>17.93069306930693</c:v>
                </c:pt>
                <c:pt idx="28">
                  <c:v>17.227722772277225</c:v>
                </c:pt>
                <c:pt idx="29">
                  <c:v>12.277227722772277</c:v>
                </c:pt>
                <c:pt idx="30">
                  <c:v>8.247524752475247</c:v>
                </c:pt>
                <c:pt idx="31">
                  <c:v>7.5049504950495045</c:v>
                </c:pt>
                <c:pt idx="32">
                  <c:v>19500.742574257427</c:v>
                </c:pt>
                <c:pt idx="33">
                  <c:v>9.99009900990099</c:v>
                </c:pt>
                <c:pt idx="34">
                  <c:v>87.63366336633663</c:v>
                </c:pt>
                <c:pt idx="35">
                  <c:v>23.11881188118812</c:v>
                </c:pt>
                <c:pt idx="36">
                  <c:v>9.98019801980198</c:v>
                </c:pt>
                <c:pt idx="37">
                  <c:v>10</c:v>
                </c:pt>
                <c:pt idx="38">
                  <c:v>1.0297029702970297</c:v>
                </c:pt>
                <c:pt idx="39">
                  <c:v>28.455445544554454</c:v>
                </c:pt>
                <c:pt idx="40">
                  <c:v>618.6930693069307</c:v>
                </c:pt>
                <c:pt idx="41">
                  <c:v>28.03960396039604</c:v>
                </c:pt>
                <c:pt idx="42">
                  <c:v>1.6138613861386137</c:v>
                </c:pt>
                <c:pt idx="43">
                  <c:v>6.6138613861386135</c:v>
                </c:pt>
                <c:pt idx="44">
                  <c:v>1.603960396039604</c:v>
                </c:pt>
                <c:pt idx="45">
                  <c:v>1.603960396039604</c:v>
                </c:pt>
                <c:pt idx="46">
                  <c:v>1</c:v>
                </c:pt>
                <c:pt idx="47">
                  <c:v>40.24752475247524</c:v>
                </c:pt>
                <c:pt idx="48">
                  <c:v>7.405940594059406</c:v>
                </c:pt>
                <c:pt idx="49">
                  <c:v>7.415841584158416</c:v>
                </c:pt>
                <c:pt idx="50">
                  <c:v>7.415841584158416</c:v>
                </c:pt>
                <c:pt idx="51">
                  <c:v>2.495049504950495</c:v>
                </c:pt>
                <c:pt idx="52">
                  <c:v>1.0495049504950495</c:v>
                </c:pt>
                <c:pt idx="53">
                  <c:v>54.831683168316836</c:v>
                </c:pt>
                <c:pt idx="54">
                  <c:v>1.5841584158415842</c:v>
                </c:pt>
                <c:pt idx="55">
                  <c:v>6.603960396039604</c:v>
                </c:pt>
                <c:pt idx="56">
                  <c:v>1.5742574257425743</c:v>
                </c:pt>
                <c:pt idx="57">
                  <c:v>1.5742574257425743</c:v>
                </c:pt>
                <c:pt idx="58">
                  <c:v>1.00990099009901</c:v>
                </c:pt>
                <c:pt idx="59">
                  <c:v>102.92079207920793</c:v>
                </c:pt>
                <c:pt idx="60">
                  <c:v>11</c:v>
                </c:pt>
                <c:pt idx="61">
                  <c:v>10.950495049504951</c:v>
                </c:pt>
                <c:pt idx="62">
                  <c:v>7.415841584158416</c:v>
                </c:pt>
                <c:pt idx="63">
                  <c:v>2.405940594059406</c:v>
                </c:pt>
                <c:pt idx="64">
                  <c:v>1.0693069306930694</c:v>
                </c:pt>
                <c:pt idx="65">
                  <c:v>1165.4257425742574</c:v>
                </c:pt>
                <c:pt idx="66">
                  <c:v>18.04950495049505</c:v>
                </c:pt>
                <c:pt idx="67">
                  <c:v>618.1881188118812</c:v>
                </c:pt>
                <c:pt idx="68">
                  <c:v>18.059405940594058</c:v>
                </c:pt>
                <c:pt idx="69">
                  <c:v>15.623762376237623</c:v>
                </c:pt>
                <c:pt idx="70">
                  <c:v>14.782178217821782</c:v>
                </c:pt>
                <c:pt idx="71">
                  <c:v>1335.4554455445543</c:v>
                </c:pt>
                <c:pt idx="72">
                  <c:v>38.603960396039604</c:v>
                </c:pt>
                <c:pt idx="73">
                  <c:v>39.02970297029703</c:v>
                </c:pt>
                <c:pt idx="74">
                  <c:v>36.23762376237624</c:v>
                </c:pt>
                <c:pt idx="75">
                  <c:v>36.16831683168317</c:v>
                </c:pt>
                <c:pt idx="76">
                  <c:v>34.554455445544555</c:v>
                </c:pt>
                <c:pt idx="77">
                  <c:v>1146.3465346534654</c:v>
                </c:pt>
                <c:pt idx="78">
                  <c:v>7.8316831683168315</c:v>
                </c:pt>
                <c:pt idx="79">
                  <c:v>609.4059405940594</c:v>
                </c:pt>
                <c:pt idx="80">
                  <c:v>7.841584158415841</c:v>
                </c:pt>
                <c:pt idx="81">
                  <c:v>7.8316831683168315</c:v>
                </c:pt>
                <c:pt idx="82">
                  <c:v>11.881188118811881</c:v>
                </c:pt>
                <c:pt idx="83">
                  <c:v>1303.9900990099009</c:v>
                </c:pt>
                <c:pt idx="84">
                  <c:v>19.04950495049505</c:v>
                </c:pt>
                <c:pt idx="85">
                  <c:v>19.07920792079208</c:v>
                </c:pt>
                <c:pt idx="86">
                  <c:v>9.881188118811881</c:v>
                </c:pt>
                <c:pt idx="87">
                  <c:v>7.435643564356435</c:v>
                </c:pt>
                <c:pt idx="88">
                  <c:v>7.7227722772277225</c:v>
                </c:pt>
                <c:pt idx="89">
                  <c:v>28.22772277227723</c:v>
                </c:pt>
                <c:pt idx="90">
                  <c:v>1.5742574257425743</c:v>
                </c:pt>
                <c:pt idx="91">
                  <c:v>6.584158415841585</c:v>
                </c:pt>
                <c:pt idx="92">
                  <c:v>1.5643564356435644</c:v>
                </c:pt>
                <c:pt idx="93">
                  <c:v>1.5742574257425743</c:v>
                </c:pt>
                <c:pt idx="94">
                  <c:v>0.9900990099009901</c:v>
                </c:pt>
                <c:pt idx="95">
                  <c:v>40.336633663366335</c:v>
                </c:pt>
                <c:pt idx="96">
                  <c:v>9.099009900990099</c:v>
                </c:pt>
                <c:pt idx="97">
                  <c:v>9.108910891089108</c:v>
                </c:pt>
                <c:pt idx="98">
                  <c:v>7.415841584158416</c:v>
                </c:pt>
                <c:pt idx="99">
                  <c:v>2.396039603960396</c:v>
                </c:pt>
                <c:pt idx="100">
                  <c:v>1.0495049504950495</c:v>
                </c:pt>
                <c:pt idx="101">
                  <c:v>181386.9108910891</c:v>
                </c:pt>
                <c:pt idx="102">
                  <c:v>0.1</c:v>
                </c:pt>
                <c:pt idx="103">
                  <c:v>0.16926666150378758</c:v>
                </c:pt>
                <c:pt idx="104">
                  <c:v>0.286512026966378</c:v>
                </c:pt>
                <c:pt idx="105">
                  <c:v>0.4849693428528198</c:v>
                </c:pt>
                <c:pt idx="106">
                  <c:v>0.8208914159638255</c:v>
                </c:pt>
                <c:pt idx="107">
                  <c:v>1.3894954943731375</c:v>
                </c:pt>
                <c:pt idx="108">
                  <c:v>2.3519526350709588</c:v>
                </c:pt>
                <c:pt idx="109">
                  <c:v>3.981071705534973</c:v>
                </c:pt>
                <c:pt idx="110">
                  <c:v>6.738627168030945</c:v>
                </c:pt>
                <c:pt idx="111">
                  <c:v>11.406249238513203</c:v>
                </c:pt>
                <c:pt idx="112">
                  <c:v>19.306977288832496</c:v>
                </c:pt>
                <c:pt idx="113">
                  <c:v>32.68027589410125</c:v>
                </c:pt>
                <c:pt idx="114">
                  <c:v>55.316811976172275</c:v>
                </c:pt>
                <c:pt idx="115">
                  <c:v>93.63292088239417</c:v>
                </c:pt>
                <c:pt idx="116">
                  <c:v>158.48931924611142</c:v>
                </c:pt>
                <c:pt idx="117">
                  <c:v>268.26957952797244</c:v>
                </c:pt>
                <c:pt idx="118">
                  <c:v>454.0909610972475</c:v>
                </c:pt>
                <c:pt idx="119">
                  <c:v>768.6246100397738</c:v>
                </c:pt>
                <c:pt idx="120">
                  <c:v>1301.0252169108303</c:v>
                </c:pt>
                <c:pt idx="121">
                  <c:v>2202.2019499873736</c:v>
                </c:pt>
                <c:pt idx="122">
                  <c:v>3727.593720314938</c:v>
                </c:pt>
                <c:pt idx="123">
                  <c:v>6309.57344480193</c:v>
                </c:pt>
                <c:pt idx="124">
                  <c:v>10680.004325145756</c:v>
                </c:pt>
                <c:pt idx="125">
                  <c:v>18077.686769634343</c:v>
                </c:pt>
                <c:pt idx="126">
                  <c:v>30599.49687207196</c:v>
                </c:pt>
                <c:pt idx="127">
                  <c:v>51794.74679231213</c:v>
                </c:pt>
                <c:pt idx="128">
                  <c:v>87671.23872968687</c:v>
                </c:pt>
                <c:pt idx="129">
                  <c:v>148398.1788967566</c:v>
                </c:pt>
                <c:pt idx="130">
                  <c:v>251188.6431509582</c:v>
                </c:pt>
                <c:pt idx="131">
                  <c:v>425178.6303382894</c:v>
                </c:pt>
                <c:pt idx="132">
                  <c:v>719685.6730011514</c:v>
                </c:pt>
                <c:pt idx="133">
                  <c:v>1218187.9120101149</c:v>
                </c:pt>
                <c:pt idx="134">
                  <c:v>2061986.009502219</c:v>
                </c:pt>
                <c:pt idx="135">
                  <c:v>3490254.8789595794</c:v>
                </c:pt>
                <c:pt idx="136">
                  <c:v>5907837.911587943</c:v>
                </c:pt>
                <c:pt idx="137">
                  <c:v>10000000</c:v>
                </c:pt>
              </c:numCache>
            </c:numRef>
          </c:xVal>
          <c:yVal>
            <c:numRef>
              <c:f>Sheet1!$B$2:$B$139</c:f>
              <c:numCache>
                <c:formatCode>General</c:formatCode>
                <c:ptCount val="138"/>
                <c:pt idx="0">
                  <c:v>2999.2333333333336</c:v>
                </c:pt>
                <c:pt idx="1">
                  <c:v>3066.6583333333333</c:v>
                </c:pt>
                <c:pt idx="2">
                  <c:v>15.116666666666667</c:v>
                </c:pt>
                <c:pt idx="3">
                  <c:v>14.925</c:v>
                </c:pt>
                <c:pt idx="4">
                  <c:v>17.7</c:v>
                </c:pt>
                <c:pt idx="5">
                  <c:v>4.058333333333334</c:v>
                </c:pt>
                <c:pt idx="6">
                  <c:v>3.8666666666666667</c:v>
                </c:pt>
                <c:pt idx="7">
                  <c:v>2.091666666666667</c:v>
                </c:pt>
                <c:pt idx="8">
                  <c:v>2.0833333333333335</c:v>
                </c:pt>
                <c:pt idx="9">
                  <c:v>1.7083333333333333</c:v>
                </c:pt>
                <c:pt idx="10">
                  <c:v>661.3916666666667</c:v>
                </c:pt>
                <c:pt idx="11">
                  <c:v>400840.50833333336</c:v>
                </c:pt>
                <c:pt idx="12">
                  <c:v>124.725</c:v>
                </c:pt>
                <c:pt idx="13">
                  <c:v>596.3583333333333</c:v>
                </c:pt>
                <c:pt idx="14">
                  <c:v>55.70833333333333</c:v>
                </c:pt>
                <c:pt idx="15">
                  <c:v>20.9</c:v>
                </c:pt>
                <c:pt idx="16">
                  <c:v>765.2166666666667</c:v>
                </c:pt>
                <c:pt idx="17">
                  <c:v>5967.458333333333</c:v>
                </c:pt>
                <c:pt idx="18">
                  <c:v>26.125000000000004</c:v>
                </c:pt>
                <c:pt idx="19">
                  <c:v>32.541666666666664</c:v>
                </c:pt>
                <c:pt idx="20">
                  <c:v>536.6833333333334</c:v>
                </c:pt>
                <c:pt idx="21">
                  <c:v>2402.15</c:v>
                </c:pt>
                <c:pt idx="22">
                  <c:v>13.416666666666668</c:v>
                </c:pt>
                <c:pt idx="23">
                  <c:v>14.833333333333334</c:v>
                </c:pt>
                <c:pt idx="24">
                  <c:v>2.625</c:v>
                </c:pt>
                <c:pt idx="25">
                  <c:v>348.7416666666667</c:v>
                </c:pt>
                <c:pt idx="26">
                  <c:v>11.058333333333334</c:v>
                </c:pt>
                <c:pt idx="27">
                  <c:v>10.033333333333333</c:v>
                </c:pt>
                <c:pt idx="28">
                  <c:v>10.066666666666666</c:v>
                </c:pt>
                <c:pt idx="29">
                  <c:v>5.633333333333334</c:v>
                </c:pt>
                <c:pt idx="30">
                  <c:v>7.066666666666667</c:v>
                </c:pt>
                <c:pt idx="31">
                  <c:v>3.0833333333333335</c:v>
                </c:pt>
                <c:pt idx="32">
                  <c:v>11213.216666666667</c:v>
                </c:pt>
                <c:pt idx="33">
                  <c:v>2.8333333333333335</c:v>
                </c:pt>
                <c:pt idx="34">
                  <c:v>71.30833333333334</c:v>
                </c:pt>
                <c:pt idx="35">
                  <c:v>38.93333333333334</c:v>
                </c:pt>
                <c:pt idx="36">
                  <c:v>2.158333333333333</c:v>
                </c:pt>
                <c:pt idx="37">
                  <c:v>2.166666666666667</c:v>
                </c:pt>
                <c:pt idx="38">
                  <c:v>0.975</c:v>
                </c:pt>
                <c:pt idx="39">
                  <c:v>21.566666666666666</c:v>
                </c:pt>
                <c:pt idx="40">
                  <c:v>22.116666666666667</c:v>
                </c:pt>
                <c:pt idx="41">
                  <c:v>19.833333333333336</c:v>
                </c:pt>
                <c:pt idx="42">
                  <c:v>3.933333333333333</c:v>
                </c:pt>
                <c:pt idx="43">
                  <c:v>3.833333333333333</c:v>
                </c:pt>
                <c:pt idx="44">
                  <c:v>1.175</c:v>
                </c:pt>
                <c:pt idx="45">
                  <c:v>1.2416666666666667</c:v>
                </c:pt>
                <c:pt idx="46">
                  <c:v>1</c:v>
                </c:pt>
                <c:pt idx="47">
                  <c:v>18.75</c:v>
                </c:pt>
                <c:pt idx="48">
                  <c:v>3.825</c:v>
                </c:pt>
                <c:pt idx="49">
                  <c:v>3.825</c:v>
                </c:pt>
                <c:pt idx="50">
                  <c:v>1.0666666666666667</c:v>
                </c:pt>
                <c:pt idx="51">
                  <c:v>1.0666666666666667</c:v>
                </c:pt>
                <c:pt idx="52">
                  <c:v>0.9916666666666667</c:v>
                </c:pt>
                <c:pt idx="53">
                  <c:v>46.43333333333334</c:v>
                </c:pt>
                <c:pt idx="54">
                  <c:v>3.983333333333334</c:v>
                </c:pt>
                <c:pt idx="55">
                  <c:v>3.8750000000000004</c:v>
                </c:pt>
                <c:pt idx="56">
                  <c:v>1.2583333333333333</c:v>
                </c:pt>
                <c:pt idx="57">
                  <c:v>1.2416666666666667</c:v>
                </c:pt>
                <c:pt idx="58">
                  <c:v>1.0833333333333335</c:v>
                </c:pt>
                <c:pt idx="59">
                  <c:v>45.5</c:v>
                </c:pt>
                <c:pt idx="60">
                  <c:v>3.8750000000000004</c:v>
                </c:pt>
                <c:pt idx="61">
                  <c:v>3.8833333333333337</c:v>
                </c:pt>
                <c:pt idx="62">
                  <c:v>1.1666666666666667</c:v>
                </c:pt>
                <c:pt idx="63">
                  <c:v>1.1416666666666668</c:v>
                </c:pt>
                <c:pt idx="64">
                  <c:v>1.0833333333333335</c:v>
                </c:pt>
                <c:pt idx="65">
                  <c:v>843.2666666666667</c:v>
                </c:pt>
                <c:pt idx="66">
                  <c:v>13.316666666666668</c:v>
                </c:pt>
                <c:pt idx="67">
                  <c:v>28.224999999999998</c:v>
                </c:pt>
                <c:pt idx="68">
                  <c:v>13.166666666666668</c:v>
                </c:pt>
                <c:pt idx="69">
                  <c:v>10.408333333333333</c:v>
                </c:pt>
                <c:pt idx="70">
                  <c:v>8.525</c:v>
                </c:pt>
                <c:pt idx="71">
                  <c:v>767.4</c:v>
                </c:pt>
                <c:pt idx="72">
                  <c:v>12.525</c:v>
                </c:pt>
                <c:pt idx="73">
                  <c:v>39.30833333333334</c:v>
                </c:pt>
                <c:pt idx="74">
                  <c:v>12.166666666666666</c:v>
                </c:pt>
                <c:pt idx="75">
                  <c:v>9.491666666666667</c:v>
                </c:pt>
                <c:pt idx="76">
                  <c:v>9.033333333333333</c:v>
                </c:pt>
                <c:pt idx="77">
                  <c:v>754.4333333333334</c:v>
                </c:pt>
                <c:pt idx="78">
                  <c:v>5.65</c:v>
                </c:pt>
                <c:pt idx="79">
                  <c:v>31.683333333333337</c:v>
                </c:pt>
                <c:pt idx="80">
                  <c:v>3.85</c:v>
                </c:pt>
                <c:pt idx="81">
                  <c:v>3.825</c:v>
                </c:pt>
                <c:pt idx="82">
                  <c:v>2.7</c:v>
                </c:pt>
                <c:pt idx="83">
                  <c:v>731.6916666666667</c:v>
                </c:pt>
                <c:pt idx="84">
                  <c:v>4.666666666666667</c:v>
                </c:pt>
                <c:pt idx="85">
                  <c:v>4.625</c:v>
                </c:pt>
                <c:pt idx="86">
                  <c:v>2.7083333333333335</c:v>
                </c:pt>
                <c:pt idx="87">
                  <c:v>2.7083333333333335</c:v>
                </c:pt>
                <c:pt idx="88">
                  <c:v>2.691666666666667</c:v>
                </c:pt>
                <c:pt idx="89">
                  <c:v>19.908333333333335</c:v>
                </c:pt>
                <c:pt idx="90">
                  <c:v>3.9416666666666673</c:v>
                </c:pt>
                <c:pt idx="91">
                  <c:v>3.825</c:v>
                </c:pt>
                <c:pt idx="92">
                  <c:v>1.2833333333333334</c:v>
                </c:pt>
                <c:pt idx="93">
                  <c:v>1.175</c:v>
                </c:pt>
                <c:pt idx="94">
                  <c:v>1.0166666666666666</c:v>
                </c:pt>
                <c:pt idx="95">
                  <c:v>18.8</c:v>
                </c:pt>
                <c:pt idx="96">
                  <c:v>3.916666666666667</c:v>
                </c:pt>
                <c:pt idx="97">
                  <c:v>3.9083333333333337</c:v>
                </c:pt>
                <c:pt idx="98">
                  <c:v>1.0750000000000002</c:v>
                </c:pt>
                <c:pt idx="99">
                  <c:v>1.0833333333333335</c:v>
                </c:pt>
                <c:pt idx="100">
                  <c:v>1.0083333333333333</c:v>
                </c:pt>
              </c:numCache>
            </c:numRef>
          </c:yVal>
          <c:smooth val="0"/>
        </c:ser>
        <c:ser>
          <c:idx val="1"/>
          <c:order val="1"/>
          <c:tx>
            <c:strRef>
              <c:f>Sheet1!$C$1</c:f>
              <c:strCache>
                <c:ptCount val="1"/>
                <c:pt idx="0">
                  <c:v>PDL element lookup: -&gt;slice in 2019, -&gt;at/-&gt;set in 2026</c:v>
                </c:pt>
              </c:strCache>
            </c:strRef>
          </c:tx>
          <c:spPr>
            <a:solidFill>
              <a:srgbClr val="D73027"/>
            </a:solidFill>
            <a:ln>
              <a:noFill/>
            </a:ln>
            <a:effectLst/>
          </c:spPr>
          <c:marker>
            <c:symbol val="circle"/>
            <c:size val="7"/>
            <c:spPr>
              <a:solidFill>
                <a:srgbClr val="D73027"/>
              </a:solidFill>
              <a:ln w="9525" cap="flat">
                <a:solidFill>
                  <a:srgbClr val="D73027"/>
                </a:solidFill>
                <a:prstDash val="solid"/>
                <a:round/>
              </a:ln>
              <a:effectLst/>
            </c:spPr>
          </c:marker>
          <c:xVal>
            <c:numRef>
              <c:f>Sheet1!$A$2:$A$139</c:f>
              <c:numCache>
                <c:formatCode>General</c:formatCode>
                <c:ptCount val="138"/>
                <c:pt idx="0">
                  <c:v>3323.6534653465346</c:v>
                </c:pt>
                <c:pt idx="1">
                  <c:v>3319.811881188119</c:v>
                </c:pt>
                <c:pt idx="2">
                  <c:v>14.801980198019802</c:v>
                </c:pt>
                <c:pt idx="3">
                  <c:v>7.0495049504950495</c:v>
                </c:pt>
                <c:pt idx="4">
                  <c:v>40.31683168316832</c:v>
                </c:pt>
                <c:pt idx="5">
                  <c:v>6.584158415841585</c:v>
                </c:pt>
                <c:pt idx="6">
                  <c:v>6.623762376237624</c:v>
                </c:pt>
                <c:pt idx="7">
                  <c:v>6.594059405940594</c:v>
                </c:pt>
                <c:pt idx="8">
                  <c:v>2.396039603960396</c:v>
                </c:pt>
                <c:pt idx="9">
                  <c:v>1.0495049504950495</c:v>
                </c:pt>
                <c:pt idx="10">
                  <c:v>946.3762376237624</c:v>
                </c:pt>
                <c:pt idx="11">
                  <c:v>1558651.396039604</c:v>
                </c:pt>
                <c:pt idx="12">
                  <c:v>240.32673267326732</c:v>
                </c:pt>
                <c:pt idx="13">
                  <c:v>1262.8712871287128</c:v>
                </c:pt>
                <c:pt idx="14">
                  <c:v>121.9108910891089</c:v>
                </c:pt>
                <c:pt idx="15">
                  <c:v>50.28712871287129</c:v>
                </c:pt>
                <c:pt idx="16">
                  <c:v>3356.0792079207918</c:v>
                </c:pt>
                <c:pt idx="17">
                  <c:v>23396.49504950495</c:v>
                </c:pt>
                <c:pt idx="18">
                  <c:v>58.603960396039604</c:v>
                </c:pt>
                <c:pt idx="19">
                  <c:v>34.0990099009901</c:v>
                </c:pt>
                <c:pt idx="20">
                  <c:v>1784.277227722772</c:v>
                </c:pt>
                <c:pt idx="21">
                  <c:v>9357.168316831683</c:v>
                </c:pt>
                <c:pt idx="22">
                  <c:v>42.83168316831683</c:v>
                </c:pt>
                <c:pt idx="23">
                  <c:v>46.29702970297029</c:v>
                </c:pt>
                <c:pt idx="24">
                  <c:v>8.722772277227723</c:v>
                </c:pt>
                <c:pt idx="25">
                  <c:v>1690.0099009900991</c:v>
                </c:pt>
                <c:pt idx="26">
                  <c:v>20.05940594059406</c:v>
                </c:pt>
                <c:pt idx="27">
                  <c:v>17.93069306930693</c:v>
                </c:pt>
                <c:pt idx="28">
                  <c:v>17.227722772277225</c:v>
                </c:pt>
                <c:pt idx="29">
                  <c:v>12.277227722772277</c:v>
                </c:pt>
                <c:pt idx="30">
                  <c:v>8.247524752475247</c:v>
                </c:pt>
                <c:pt idx="31">
                  <c:v>7.5049504950495045</c:v>
                </c:pt>
                <c:pt idx="32">
                  <c:v>19500.742574257427</c:v>
                </c:pt>
                <c:pt idx="33">
                  <c:v>9.99009900990099</c:v>
                </c:pt>
                <c:pt idx="34">
                  <c:v>87.63366336633663</c:v>
                </c:pt>
                <c:pt idx="35">
                  <c:v>23.11881188118812</c:v>
                </c:pt>
                <c:pt idx="36">
                  <c:v>9.98019801980198</c:v>
                </c:pt>
                <c:pt idx="37">
                  <c:v>10</c:v>
                </c:pt>
                <c:pt idx="38">
                  <c:v>1.0297029702970297</c:v>
                </c:pt>
                <c:pt idx="39">
                  <c:v>28.455445544554454</c:v>
                </c:pt>
                <c:pt idx="40">
                  <c:v>618.6930693069307</c:v>
                </c:pt>
                <c:pt idx="41">
                  <c:v>28.03960396039604</c:v>
                </c:pt>
                <c:pt idx="42">
                  <c:v>1.6138613861386137</c:v>
                </c:pt>
                <c:pt idx="43">
                  <c:v>6.6138613861386135</c:v>
                </c:pt>
                <c:pt idx="44">
                  <c:v>1.603960396039604</c:v>
                </c:pt>
                <c:pt idx="45">
                  <c:v>1.603960396039604</c:v>
                </c:pt>
                <c:pt idx="46">
                  <c:v>1</c:v>
                </c:pt>
                <c:pt idx="47">
                  <c:v>40.24752475247524</c:v>
                </c:pt>
                <c:pt idx="48">
                  <c:v>7.405940594059406</c:v>
                </c:pt>
                <c:pt idx="49">
                  <c:v>7.415841584158416</c:v>
                </c:pt>
                <c:pt idx="50">
                  <c:v>7.415841584158416</c:v>
                </c:pt>
                <c:pt idx="51">
                  <c:v>2.495049504950495</c:v>
                </c:pt>
                <c:pt idx="52">
                  <c:v>1.0495049504950495</c:v>
                </c:pt>
                <c:pt idx="53">
                  <c:v>54.831683168316836</c:v>
                </c:pt>
                <c:pt idx="54">
                  <c:v>1.5841584158415842</c:v>
                </c:pt>
                <c:pt idx="55">
                  <c:v>6.603960396039604</c:v>
                </c:pt>
                <c:pt idx="56">
                  <c:v>1.5742574257425743</c:v>
                </c:pt>
                <c:pt idx="57">
                  <c:v>1.5742574257425743</c:v>
                </c:pt>
                <c:pt idx="58">
                  <c:v>1.00990099009901</c:v>
                </c:pt>
                <c:pt idx="59">
                  <c:v>102.92079207920793</c:v>
                </c:pt>
                <c:pt idx="60">
                  <c:v>11</c:v>
                </c:pt>
                <c:pt idx="61">
                  <c:v>10.950495049504951</c:v>
                </c:pt>
                <c:pt idx="62">
                  <c:v>7.415841584158416</c:v>
                </c:pt>
                <c:pt idx="63">
                  <c:v>2.405940594059406</c:v>
                </c:pt>
                <c:pt idx="64">
                  <c:v>1.0693069306930694</c:v>
                </c:pt>
                <c:pt idx="65">
                  <c:v>1165.4257425742574</c:v>
                </c:pt>
                <c:pt idx="66">
                  <c:v>18.04950495049505</c:v>
                </c:pt>
                <c:pt idx="67">
                  <c:v>618.1881188118812</c:v>
                </c:pt>
                <c:pt idx="68">
                  <c:v>18.059405940594058</c:v>
                </c:pt>
                <c:pt idx="69">
                  <c:v>15.623762376237623</c:v>
                </c:pt>
                <c:pt idx="70">
                  <c:v>14.782178217821782</c:v>
                </c:pt>
                <c:pt idx="71">
                  <c:v>1335.4554455445543</c:v>
                </c:pt>
                <c:pt idx="72">
                  <c:v>38.603960396039604</c:v>
                </c:pt>
                <c:pt idx="73">
                  <c:v>39.02970297029703</c:v>
                </c:pt>
                <c:pt idx="74">
                  <c:v>36.23762376237624</c:v>
                </c:pt>
                <c:pt idx="75">
                  <c:v>36.16831683168317</c:v>
                </c:pt>
                <c:pt idx="76">
                  <c:v>34.554455445544555</c:v>
                </c:pt>
                <c:pt idx="77">
                  <c:v>1146.3465346534654</c:v>
                </c:pt>
                <c:pt idx="78">
                  <c:v>7.8316831683168315</c:v>
                </c:pt>
                <c:pt idx="79">
                  <c:v>609.4059405940594</c:v>
                </c:pt>
                <c:pt idx="80">
                  <c:v>7.841584158415841</c:v>
                </c:pt>
                <c:pt idx="81">
                  <c:v>7.8316831683168315</c:v>
                </c:pt>
                <c:pt idx="82">
                  <c:v>11.881188118811881</c:v>
                </c:pt>
                <c:pt idx="83">
                  <c:v>1303.9900990099009</c:v>
                </c:pt>
                <c:pt idx="84">
                  <c:v>19.04950495049505</c:v>
                </c:pt>
                <c:pt idx="85">
                  <c:v>19.07920792079208</c:v>
                </c:pt>
                <c:pt idx="86">
                  <c:v>9.881188118811881</c:v>
                </c:pt>
                <c:pt idx="87">
                  <c:v>7.435643564356435</c:v>
                </c:pt>
                <c:pt idx="88">
                  <c:v>7.7227722772277225</c:v>
                </c:pt>
                <c:pt idx="89">
                  <c:v>28.22772277227723</c:v>
                </c:pt>
                <c:pt idx="90">
                  <c:v>1.5742574257425743</c:v>
                </c:pt>
                <c:pt idx="91">
                  <c:v>6.584158415841585</c:v>
                </c:pt>
                <c:pt idx="92">
                  <c:v>1.5643564356435644</c:v>
                </c:pt>
                <c:pt idx="93">
                  <c:v>1.5742574257425743</c:v>
                </c:pt>
                <c:pt idx="94">
                  <c:v>0.9900990099009901</c:v>
                </c:pt>
                <c:pt idx="95">
                  <c:v>40.336633663366335</c:v>
                </c:pt>
                <c:pt idx="96">
                  <c:v>9.099009900990099</c:v>
                </c:pt>
                <c:pt idx="97">
                  <c:v>9.108910891089108</c:v>
                </c:pt>
                <c:pt idx="98">
                  <c:v>7.415841584158416</c:v>
                </c:pt>
                <c:pt idx="99">
                  <c:v>2.396039603960396</c:v>
                </c:pt>
                <c:pt idx="100">
                  <c:v>1.0495049504950495</c:v>
                </c:pt>
                <c:pt idx="101">
                  <c:v>181386.9108910891</c:v>
                </c:pt>
                <c:pt idx="102">
                  <c:v>0.1</c:v>
                </c:pt>
                <c:pt idx="103">
                  <c:v>0.16926666150378758</c:v>
                </c:pt>
                <c:pt idx="104">
                  <c:v>0.286512026966378</c:v>
                </c:pt>
                <c:pt idx="105">
                  <c:v>0.4849693428528198</c:v>
                </c:pt>
                <c:pt idx="106">
                  <c:v>0.8208914159638255</c:v>
                </c:pt>
                <c:pt idx="107">
                  <c:v>1.3894954943731375</c:v>
                </c:pt>
                <c:pt idx="108">
                  <c:v>2.3519526350709588</c:v>
                </c:pt>
                <c:pt idx="109">
                  <c:v>3.981071705534973</c:v>
                </c:pt>
                <c:pt idx="110">
                  <c:v>6.738627168030945</c:v>
                </c:pt>
                <c:pt idx="111">
                  <c:v>11.406249238513203</c:v>
                </c:pt>
                <c:pt idx="112">
                  <c:v>19.306977288832496</c:v>
                </c:pt>
                <c:pt idx="113">
                  <c:v>32.68027589410125</c:v>
                </c:pt>
                <c:pt idx="114">
                  <c:v>55.316811976172275</c:v>
                </c:pt>
                <c:pt idx="115">
                  <c:v>93.63292088239417</c:v>
                </c:pt>
                <c:pt idx="116">
                  <c:v>158.48931924611142</c:v>
                </c:pt>
                <c:pt idx="117">
                  <c:v>268.26957952797244</c:v>
                </c:pt>
                <c:pt idx="118">
                  <c:v>454.0909610972475</c:v>
                </c:pt>
                <c:pt idx="119">
                  <c:v>768.6246100397738</c:v>
                </c:pt>
                <c:pt idx="120">
                  <c:v>1301.0252169108303</c:v>
                </c:pt>
                <c:pt idx="121">
                  <c:v>2202.2019499873736</c:v>
                </c:pt>
                <c:pt idx="122">
                  <c:v>3727.593720314938</c:v>
                </c:pt>
                <c:pt idx="123">
                  <c:v>6309.57344480193</c:v>
                </c:pt>
                <c:pt idx="124">
                  <c:v>10680.004325145756</c:v>
                </c:pt>
                <c:pt idx="125">
                  <c:v>18077.686769634343</c:v>
                </c:pt>
                <c:pt idx="126">
                  <c:v>30599.49687207196</c:v>
                </c:pt>
                <c:pt idx="127">
                  <c:v>51794.74679231213</c:v>
                </c:pt>
                <c:pt idx="128">
                  <c:v>87671.23872968687</c:v>
                </c:pt>
                <c:pt idx="129">
                  <c:v>148398.1788967566</c:v>
                </c:pt>
                <c:pt idx="130">
                  <c:v>251188.6431509582</c:v>
                </c:pt>
                <c:pt idx="131">
                  <c:v>425178.6303382894</c:v>
                </c:pt>
                <c:pt idx="132">
                  <c:v>719685.6730011514</c:v>
                </c:pt>
                <c:pt idx="133">
                  <c:v>1218187.9120101149</c:v>
                </c:pt>
                <c:pt idx="134">
                  <c:v>2061986.009502219</c:v>
                </c:pt>
                <c:pt idx="135">
                  <c:v>3490254.8789595794</c:v>
                </c:pt>
                <c:pt idx="136">
                  <c:v>5907837.911587943</c:v>
                </c:pt>
                <c:pt idx="137">
                  <c:v>10000000</c:v>
                </c:pt>
              </c:numCache>
            </c:numRef>
          </c:xVal>
          <c:yVal>
            <c:numRef>
              <c:f>Sheet1!$C$2:$C$139</c:f>
              <c:numCache>
                <c:formatCode>General</c:formatCode>
                <c:ptCount val="138"/>
                <c:pt idx="101">
                  <c:v>7672.091666666667</c:v>
                </c:pt>
              </c:numCache>
            </c:numRef>
          </c:yVal>
          <c:smooth val="0"/>
        </c:ser>
        <c:ser>
          <c:idx val="2"/>
          <c:order val="2"/>
          <c:tx>
            <c:strRef>
              <c:f>Sheet1!$D$1</c:f>
              <c:strCache>
                <c:ptCount val="1"/>
                <c:pt idx="0">
                  <c:v>Equal relative time</c:v>
                </c:pt>
              </c:strCache>
            </c:strRef>
          </c:tx>
          <c:spPr>
            <a:solidFill>
              <a:srgbClr val="B0B7C3"/>
            </a:solidFill>
            <a:ln>
              <a:noFill/>
            </a:ln>
            <a:effectLst/>
          </c:spPr>
          <c:marker>
            <c:symbol val="circle"/>
            <c:size val="7"/>
            <c:spPr>
              <a:solidFill>
                <a:srgbClr val="B0B7C3"/>
              </a:solidFill>
              <a:ln w="9525" cap="flat">
                <a:solidFill>
                  <a:srgbClr val="B0B7C3"/>
                </a:solidFill>
                <a:prstDash val="solid"/>
                <a:round/>
              </a:ln>
              <a:effectLst/>
            </c:spPr>
          </c:marker>
          <c:xVal>
            <c:numRef>
              <c:f>Sheet1!$A$2:$A$139</c:f>
              <c:numCache>
                <c:formatCode>General</c:formatCode>
                <c:ptCount val="138"/>
                <c:pt idx="0">
                  <c:v>3323.6534653465346</c:v>
                </c:pt>
                <c:pt idx="1">
                  <c:v>3319.811881188119</c:v>
                </c:pt>
                <c:pt idx="2">
                  <c:v>14.801980198019802</c:v>
                </c:pt>
                <c:pt idx="3">
                  <c:v>7.0495049504950495</c:v>
                </c:pt>
                <c:pt idx="4">
                  <c:v>40.31683168316832</c:v>
                </c:pt>
                <c:pt idx="5">
                  <c:v>6.584158415841585</c:v>
                </c:pt>
                <c:pt idx="6">
                  <c:v>6.623762376237624</c:v>
                </c:pt>
                <c:pt idx="7">
                  <c:v>6.594059405940594</c:v>
                </c:pt>
                <c:pt idx="8">
                  <c:v>2.396039603960396</c:v>
                </c:pt>
                <c:pt idx="9">
                  <c:v>1.0495049504950495</c:v>
                </c:pt>
                <c:pt idx="10">
                  <c:v>946.3762376237624</c:v>
                </c:pt>
                <c:pt idx="11">
                  <c:v>1558651.396039604</c:v>
                </c:pt>
                <c:pt idx="12">
                  <c:v>240.32673267326732</c:v>
                </c:pt>
                <c:pt idx="13">
                  <c:v>1262.8712871287128</c:v>
                </c:pt>
                <c:pt idx="14">
                  <c:v>121.9108910891089</c:v>
                </c:pt>
                <c:pt idx="15">
                  <c:v>50.28712871287129</c:v>
                </c:pt>
                <c:pt idx="16">
                  <c:v>3356.0792079207918</c:v>
                </c:pt>
                <c:pt idx="17">
                  <c:v>23396.49504950495</c:v>
                </c:pt>
                <c:pt idx="18">
                  <c:v>58.603960396039604</c:v>
                </c:pt>
                <c:pt idx="19">
                  <c:v>34.0990099009901</c:v>
                </c:pt>
                <c:pt idx="20">
                  <c:v>1784.277227722772</c:v>
                </c:pt>
                <c:pt idx="21">
                  <c:v>9357.168316831683</c:v>
                </c:pt>
                <c:pt idx="22">
                  <c:v>42.83168316831683</c:v>
                </c:pt>
                <c:pt idx="23">
                  <c:v>46.29702970297029</c:v>
                </c:pt>
                <c:pt idx="24">
                  <c:v>8.722772277227723</c:v>
                </c:pt>
                <c:pt idx="25">
                  <c:v>1690.0099009900991</c:v>
                </c:pt>
                <c:pt idx="26">
                  <c:v>20.05940594059406</c:v>
                </c:pt>
                <c:pt idx="27">
                  <c:v>17.93069306930693</c:v>
                </c:pt>
                <c:pt idx="28">
                  <c:v>17.227722772277225</c:v>
                </c:pt>
                <c:pt idx="29">
                  <c:v>12.277227722772277</c:v>
                </c:pt>
                <c:pt idx="30">
                  <c:v>8.247524752475247</c:v>
                </c:pt>
                <c:pt idx="31">
                  <c:v>7.5049504950495045</c:v>
                </c:pt>
                <c:pt idx="32">
                  <c:v>19500.742574257427</c:v>
                </c:pt>
                <c:pt idx="33">
                  <c:v>9.99009900990099</c:v>
                </c:pt>
                <c:pt idx="34">
                  <c:v>87.63366336633663</c:v>
                </c:pt>
                <c:pt idx="35">
                  <c:v>23.11881188118812</c:v>
                </c:pt>
                <c:pt idx="36">
                  <c:v>9.98019801980198</c:v>
                </c:pt>
                <c:pt idx="37">
                  <c:v>10</c:v>
                </c:pt>
                <c:pt idx="38">
                  <c:v>1.0297029702970297</c:v>
                </c:pt>
                <c:pt idx="39">
                  <c:v>28.455445544554454</c:v>
                </c:pt>
                <c:pt idx="40">
                  <c:v>618.6930693069307</c:v>
                </c:pt>
                <c:pt idx="41">
                  <c:v>28.03960396039604</c:v>
                </c:pt>
                <c:pt idx="42">
                  <c:v>1.6138613861386137</c:v>
                </c:pt>
                <c:pt idx="43">
                  <c:v>6.6138613861386135</c:v>
                </c:pt>
                <c:pt idx="44">
                  <c:v>1.603960396039604</c:v>
                </c:pt>
                <c:pt idx="45">
                  <c:v>1.603960396039604</c:v>
                </c:pt>
                <c:pt idx="46">
                  <c:v>1</c:v>
                </c:pt>
                <c:pt idx="47">
                  <c:v>40.24752475247524</c:v>
                </c:pt>
                <c:pt idx="48">
                  <c:v>7.405940594059406</c:v>
                </c:pt>
                <c:pt idx="49">
                  <c:v>7.415841584158416</c:v>
                </c:pt>
                <c:pt idx="50">
                  <c:v>7.415841584158416</c:v>
                </c:pt>
                <c:pt idx="51">
                  <c:v>2.495049504950495</c:v>
                </c:pt>
                <c:pt idx="52">
                  <c:v>1.0495049504950495</c:v>
                </c:pt>
                <c:pt idx="53">
                  <c:v>54.831683168316836</c:v>
                </c:pt>
                <c:pt idx="54">
                  <c:v>1.5841584158415842</c:v>
                </c:pt>
                <c:pt idx="55">
                  <c:v>6.603960396039604</c:v>
                </c:pt>
                <c:pt idx="56">
                  <c:v>1.5742574257425743</c:v>
                </c:pt>
                <c:pt idx="57">
                  <c:v>1.5742574257425743</c:v>
                </c:pt>
                <c:pt idx="58">
                  <c:v>1.00990099009901</c:v>
                </c:pt>
                <c:pt idx="59">
                  <c:v>102.92079207920793</c:v>
                </c:pt>
                <c:pt idx="60">
                  <c:v>11</c:v>
                </c:pt>
                <c:pt idx="61">
                  <c:v>10.950495049504951</c:v>
                </c:pt>
                <c:pt idx="62">
                  <c:v>7.415841584158416</c:v>
                </c:pt>
                <c:pt idx="63">
                  <c:v>2.405940594059406</c:v>
                </c:pt>
                <c:pt idx="64">
                  <c:v>1.0693069306930694</c:v>
                </c:pt>
                <c:pt idx="65">
                  <c:v>1165.4257425742574</c:v>
                </c:pt>
                <c:pt idx="66">
                  <c:v>18.04950495049505</c:v>
                </c:pt>
                <c:pt idx="67">
                  <c:v>618.1881188118812</c:v>
                </c:pt>
                <c:pt idx="68">
                  <c:v>18.059405940594058</c:v>
                </c:pt>
                <c:pt idx="69">
                  <c:v>15.623762376237623</c:v>
                </c:pt>
                <c:pt idx="70">
                  <c:v>14.782178217821782</c:v>
                </c:pt>
                <c:pt idx="71">
                  <c:v>1335.4554455445543</c:v>
                </c:pt>
                <c:pt idx="72">
                  <c:v>38.603960396039604</c:v>
                </c:pt>
                <c:pt idx="73">
                  <c:v>39.02970297029703</c:v>
                </c:pt>
                <c:pt idx="74">
                  <c:v>36.23762376237624</c:v>
                </c:pt>
                <c:pt idx="75">
                  <c:v>36.16831683168317</c:v>
                </c:pt>
                <c:pt idx="76">
                  <c:v>34.554455445544555</c:v>
                </c:pt>
                <c:pt idx="77">
                  <c:v>1146.3465346534654</c:v>
                </c:pt>
                <c:pt idx="78">
                  <c:v>7.8316831683168315</c:v>
                </c:pt>
                <c:pt idx="79">
                  <c:v>609.4059405940594</c:v>
                </c:pt>
                <c:pt idx="80">
                  <c:v>7.841584158415841</c:v>
                </c:pt>
                <c:pt idx="81">
                  <c:v>7.8316831683168315</c:v>
                </c:pt>
                <c:pt idx="82">
                  <c:v>11.881188118811881</c:v>
                </c:pt>
                <c:pt idx="83">
                  <c:v>1303.9900990099009</c:v>
                </c:pt>
                <c:pt idx="84">
                  <c:v>19.04950495049505</c:v>
                </c:pt>
                <c:pt idx="85">
                  <c:v>19.07920792079208</c:v>
                </c:pt>
                <c:pt idx="86">
                  <c:v>9.881188118811881</c:v>
                </c:pt>
                <c:pt idx="87">
                  <c:v>7.435643564356435</c:v>
                </c:pt>
                <c:pt idx="88">
                  <c:v>7.7227722772277225</c:v>
                </c:pt>
                <c:pt idx="89">
                  <c:v>28.22772277227723</c:v>
                </c:pt>
                <c:pt idx="90">
                  <c:v>1.5742574257425743</c:v>
                </c:pt>
                <c:pt idx="91">
                  <c:v>6.584158415841585</c:v>
                </c:pt>
                <c:pt idx="92">
                  <c:v>1.5643564356435644</c:v>
                </c:pt>
                <c:pt idx="93">
                  <c:v>1.5742574257425743</c:v>
                </c:pt>
                <c:pt idx="94">
                  <c:v>0.9900990099009901</c:v>
                </c:pt>
                <c:pt idx="95">
                  <c:v>40.336633663366335</c:v>
                </c:pt>
                <c:pt idx="96">
                  <c:v>9.099009900990099</c:v>
                </c:pt>
                <c:pt idx="97">
                  <c:v>9.108910891089108</c:v>
                </c:pt>
                <c:pt idx="98">
                  <c:v>7.415841584158416</c:v>
                </c:pt>
                <c:pt idx="99">
                  <c:v>2.396039603960396</c:v>
                </c:pt>
                <c:pt idx="100">
                  <c:v>1.0495049504950495</c:v>
                </c:pt>
                <c:pt idx="101">
                  <c:v>181386.9108910891</c:v>
                </c:pt>
                <c:pt idx="102">
                  <c:v>0.1</c:v>
                </c:pt>
                <c:pt idx="103">
                  <c:v>0.16926666150378758</c:v>
                </c:pt>
                <c:pt idx="104">
                  <c:v>0.286512026966378</c:v>
                </c:pt>
                <c:pt idx="105">
                  <c:v>0.4849693428528198</c:v>
                </c:pt>
                <c:pt idx="106">
                  <c:v>0.8208914159638255</c:v>
                </c:pt>
                <c:pt idx="107">
                  <c:v>1.3894954943731375</c:v>
                </c:pt>
                <c:pt idx="108">
                  <c:v>2.3519526350709588</c:v>
                </c:pt>
                <c:pt idx="109">
                  <c:v>3.981071705534973</c:v>
                </c:pt>
                <c:pt idx="110">
                  <c:v>6.738627168030945</c:v>
                </c:pt>
                <c:pt idx="111">
                  <c:v>11.406249238513203</c:v>
                </c:pt>
                <c:pt idx="112">
                  <c:v>19.306977288832496</c:v>
                </c:pt>
                <c:pt idx="113">
                  <c:v>32.68027589410125</c:v>
                </c:pt>
                <c:pt idx="114">
                  <c:v>55.316811976172275</c:v>
                </c:pt>
                <c:pt idx="115">
                  <c:v>93.63292088239417</c:v>
                </c:pt>
                <c:pt idx="116">
                  <c:v>158.48931924611142</c:v>
                </c:pt>
                <c:pt idx="117">
                  <c:v>268.26957952797244</c:v>
                </c:pt>
                <c:pt idx="118">
                  <c:v>454.0909610972475</c:v>
                </c:pt>
                <c:pt idx="119">
                  <c:v>768.6246100397738</c:v>
                </c:pt>
                <c:pt idx="120">
                  <c:v>1301.0252169108303</c:v>
                </c:pt>
                <c:pt idx="121">
                  <c:v>2202.2019499873736</c:v>
                </c:pt>
                <c:pt idx="122">
                  <c:v>3727.593720314938</c:v>
                </c:pt>
                <c:pt idx="123">
                  <c:v>6309.57344480193</c:v>
                </c:pt>
                <c:pt idx="124">
                  <c:v>10680.004325145756</c:v>
                </c:pt>
                <c:pt idx="125">
                  <c:v>18077.686769634343</c:v>
                </c:pt>
                <c:pt idx="126">
                  <c:v>30599.49687207196</c:v>
                </c:pt>
                <c:pt idx="127">
                  <c:v>51794.74679231213</c:v>
                </c:pt>
                <c:pt idx="128">
                  <c:v>87671.23872968687</c:v>
                </c:pt>
                <c:pt idx="129">
                  <c:v>148398.1788967566</c:v>
                </c:pt>
                <c:pt idx="130">
                  <c:v>251188.6431509582</c:v>
                </c:pt>
                <c:pt idx="131">
                  <c:v>425178.6303382894</c:v>
                </c:pt>
                <c:pt idx="132">
                  <c:v>719685.6730011514</c:v>
                </c:pt>
                <c:pt idx="133">
                  <c:v>1218187.9120101149</c:v>
                </c:pt>
                <c:pt idx="134">
                  <c:v>2061986.009502219</c:v>
                </c:pt>
                <c:pt idx="135">
                  <c:v>3490254.8789595794</c:v>
                </c:pt>
                <c:pt idx="136">
                  <c:v>5907837.911587943</c:v>
                </c:pt>
                <c:pt idx="137">
                  <c:v>10000000</c:v>
                </c:pt>
              </c:numCache>
            </c:numRef>
          </c:xVal>
          <c:yVal>
            <c:numRef>
              <c:f>Sheet1!$D$2:$D$139</c:f>
              <c:numCache>
                <c:formatCode>General</c:formatCode>
                <c:ptCount val="138"/>
                <c:pt idx="102">
                  <c:v>0.1</c:v>
                </c:pt>
                <c:pt idx="103">
                  <c:v>0.16926666150378758</c:v>
                </c:pt>
                <c:pt idx="104">
                  <c:v>0.286512026966378</c:v>
                </c:pt>
                <c:pt idx="105">
                  <c:v>0.4849693428528198</c:v>
                </c:pt>
                <c:pt idx="106">
                  <c:v>0.8208914159638255</c:v>
                </c:pt>
                <c:pt idx="107">
                  <c:v>1.3894954943731375</c:v>
                </c:pt>
                <c:pt idx="108">
                  <c:v>2.3519526350709588</c:v>
                </c:pt>
                <c:pt idx="109">
                  <c:v>3.981071705534973</c:v>
                </c:pt>
                <c:pt idx="110">
                  <c:v>6.738627168030945</c:v>
                </c:pt>
                <c:pt idx="111">
                  <c:v>11.406249238513203</c:v>
                </c:pt>
                <c:pt idx="112">
                  <c:v>19.306977288832496</c:v>
                </c:pt>
                <c:pt idx="113">
                  <c:v>32.68027589410125</c:v>
                </c:pt>
                <c:pt idx="114">
                  <c:v>55.316811976172275</c:v>
                </c:pt>
                <c:pt idx="115">
                  <c:v>93.63292088239417</c:v>
                </c:pt>
                <c:pt idx="116">
                  <c:v>158.48931924611142</c:v>
                </c:pt>
                <c:pt idx="117">
                  <c:v>268.26957952797244</c:v>
                </c:pt>
                <c:pt idx="118">
                  <c:v>454.0909610972475</c:v>
                </c:pt>
                <c:pt idx="119">
                  <c:v>768.6246100397738</c:v>
                </c:pt>
                <c:pt idx="120">
                  <c:v>1301.0252169108303</c:v>
                </c:pt>
                <c:pt idx="121">
                  <c:v>2202.2019499873736</c:v>
                </c:pt>
                <c:pt idx="122">
                  <c:v>3727.593720314938</c:v>
                </c:pt>
                <c:pt idx="123">
                  <c:v>6309.57344480193</c:v>
                </c:pt>
                <c:pt idx="124">
                  <c:v>10680.004325145756</c:v>
                </c:pt>
                <c:pt idx="125">
                  <c:v>18077.686769634343</c:v>
                </c:pt>
                <c:pt idx="126">
                  <c:v>30599.49687207196</c:v>
                </c:pt>
                <c:pt idx="127">
                  <c:v>51794.74679231213</c:v>
                </c:pt>
                <c:pt idx="128">
                  <c:v>87671.23872968687</c:v>
                </c:pt>
                <c:pt idx="129">
                  <c:v>148398.1788967566</c:v>
                </c:pt>
                <c:pt idx="130">
                  <c:v>251188.6431509582</c:v>
                </c:pt>
                <c:pt idx="131">
                  <c:v>425178.6303382894</c:v>
                </c:pt>
                <c:pt idx="132">
                  <c:v>719685.6730011514</c:v>
                </c:pt>
                <c:pt idx="133">
                  <c:v>1218187.9120101149</c:v>
                </c:pt>
                <c:pt idx="134">
                  <c:v>2061986.009502219</c:v>
                </c:pt>
                <c:pt idx="135">
                  <c:v>3490254.8789595794</c:v>
                </c:pt>
                <c:pt idx="136">
                  <c:v>5907837.911587943</c:v>
                </c:pt>
                <c:pt idx="137">
                  <c:v>10000000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logBase val="10"/>
          <c:orientation val="minMax"/>
          <c:max val="10000000"/>
          <c:min val="0.1"/>
        </c:scaling>
        <c:delete val="0"/>
        <c:axPos val="b"/>
        <c:majorGridlines>
          <c:spPr>
            <a:ln w="6350" cap="flat">
              <a:solidFill>
                <a:srgbClr val="E3E7EE"/>
              </a:solidFill>
              <a:prstDash val="solid"/>
              <a:round/>
            </a:ln>
          </c:spPr>
        </c:majorGridlines>
        <c:title>
          <c:tx>
            <c:rich>
              <a:bodyPr/>
              <a:lstStyle/>
              <a:p>
                <a:pPr>
                  <a:defRPr sz="1100" b="0" i="0" u="none" strike="noStrike">
                    <a:solidFill>
                      <a:srgbClr val="5A6275"/>
                    </a:solidFill>
                    <a:latin typeface="+mn-lt"/>
                  </a:defRPr>
                </a:pPr>
                <a:r>
                  <a:rPr sz="1100" b="0" i="0" u="none" strike="noStrike">
                    <a:solidFill>
                      <a:srgbClr val="5A6275"/>
                    </a:solidFill>
                    <a:latin typeface="+mn-lt"/>
                  </a:rPr>
                  <a:t>Shortridge 2019 (x86), relative to C element lookup, clang -O3 native</a:t>
                </a:r>
              </a:p>
            </c:rich>
          </c:tx>
          <c:layout/>
          <c:overlay val="0"/>
        </c:title>
        <c:numFmt formatCode="[&lt;1]0.0;#,##0"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A6275"/>
                </a:solidFill>
                <a:latin typeface="+mn-lt"/>
              </a:defRPr>
            </a:pPr>
            <a:endParaRPr lang="en-US"/>
          </a:p>
        </c:txPr>
        <c:crossAx val="2094734552"/>
        <c:crossesAt val="0.1"/>
        <c:auto val="1"/>
        <c:lblAlgn val="ctr"/>
        <c:noMultiLvlLbl val="1"/>
      </c:valAx>
      <c:valAx>
        <c:axId val="2094734552"/>
        <c:scaling>
          <c:logBase val="10"/>
          <c:orientation val="minMax"/>
          <c:max val="10000000"/>
          <c:min val="0.1"/>
        </c:scaling>
        <c:delete val="0"/>
        <c:axPos val="l"/>
        <c:majorGridlines>
          <c:spPr>
            <a:ln w="6350" cap="flat">
              <a:solidFill>
                <a:srgbClr val="E3E7EE"/>
              </a:solidFill>
              <a:prstDash val="solid"/>
              <a:round/>
            </a:ln>
          </c:spPr>
        </c:majorGridlines>
        <c:title>
          <c:tx>
            <c:rich>
              <a:bodyPr/>
              <a:lstStyle/>
              <a:p>
                <a:pPr>
                  <a:defRPr sz="1100" b="0" i="0" u="none" strike="noStrike">
                    <a:solidFill>
                      <a:srgbClr val="5A6275"/>
                    </a:solidFill>
                    <a:latin typeface="+mn-lt"/>
                  </a:defRPr>
                </a:pPr>
                <a:r>
                  <a:rPr sz="1100" b="0" i="0" u="none" strike="noStrike">
                    <a:solidFill>
                      <a:srgbClr val="5A6275"/>
                    </a:solidFill>
                    <a:latin typeface="+mn-lt"/>
                  </a:rPr>
                  <a:t>run22 (arm64), relative to C element lookup, clang -O3 native</a:t>
                </a:r>
              </a:p>
            </c:rich>
          </c:tx>
          <c:layout/>
          <c:overlay val="0"/>
        </c:title>
        <c:numFmt formatCode="[&lt;1]0.0;#,##0"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A6275"/>
                </a:solidFill>
                <a:latin typeface="+mn-lt"/>
              </a:defRPr>
            </a:pPr>
            <a:endParaRPr lang="en-US"/>
          </a:p>
        </c:txPr>
        <c:crossAx val="2094734554"/>
        <c:crossesAt val="0.1"/>
        <c:crossBetween val="midCat"/>
      </c:valAx>
      <c:spPr>
        <a:noFill/>
        <a:ln>
          <a:noFill/>
        </a:ln>
        <a:effectLst/>
      </c:spPr>
    </c:plotArea>
    <c:legend>
      <c:legendPos val="b"/>
      <c:overlay val="0"/>
      <c:txPr>
        <a:bodyPr/>
        <a:lstStyle/>
        <a:p>
          <a:pPr>
            <a:defRPr sz="1100">
              <a:solidFill>
                <a:srgbClr val="1B1F2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Title. Each dot on this slide is one of the 131 benchmark variants, coloured by tier, on a log axis — the whole talk is about why they spread across five and a half decades.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Keith's poster and paper (P9-17). The million-fold headline, with his own asterisk: 'deliberately attention-grabbing'. One trivial kernel, so what you measure is how each language reaches an array element. Note how ADASS feedback improved his own study within weeks. Say thanks to Keith here,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personal thread. PDL in one breath: the Perl Data Language, n-dimensional arrays for Perl with the loops in C — what numpy is to Python, started in 1996. 2019: the one-line arrays tricks Keith credits me for. He already wrote that -&gt;slice element access was 'emphatically not the way PDL should be used' (hold that for later). 2022: Keith's arm64 assembler. Jan 2024: our emails about PDL::PP optimisation flags; he sent me the assembler, which became the 1.00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Then Claude Code arrived and I used it to port the suite to a few more languages, for fun. Day one: 58 of Keith's 103 tests passing on this Mac; all 103 by the next day (run2), none ever dropped. Only the x86 assembler had to be swapped for Keith's arm64 one. Then we extended it: 28 new tests. By day five, 27 languages and 131 tests. My own message: 'Do #1 to #7 please and then we will stop'. We did not stop. Then the report, audits, the PDL fix and a reproducible toolchain. Prompt count is from the transcript to 30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Reference first: 1.00 is Keith's hand-written NEON assembler; the best C is 1.19, so a good C compiler gets within 20% of hand-written assembler (the 1.19 test is labelled g++ in Run.py, but g++ on macOS is Apple clang; the clang-named run is 1.20). 27 languages, 15 of them new, counted the way Keith counted his 12 (C/C++ as one, Perl/PDL as one). 131 variants, all passing in run22, the frozen reference. The range is 4.8e5 rather than Keith's million, partly from the new reference and partly the PDL correction. Three peaks. CLICK: native code, 1 to 15x, where tier 3 (2.5 to 7x) is the crowd, 41 of 131. CLICK: whole-array expressions and half measures, 15 to 100x. CLICK: an interpreter doing element lookup, the spike near 600 to 1,000x, with a purple tail where every element crosses a library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One column per language, counted the way Keith counted his 12, sorted by each language's best variant. Dots are variants; the bar spans best to worst. The new languages mostly have a single, optimised variant, so they sit as single dots in tiers 3 and 4: D and Zig right behind C and Fortran. The tall bars are where the story is: the same language spanning three to five decades depending on compiler flags, runtime or idiom. Figure from talk/make_language_ranges.py, reading run22.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let it land. Each of the 15 languages new in 2026, plus Keith's own C kernel as the reference, pulled verbatim from its source file in the repo (file names on the cards) and highlighted; the chip is its run22 time relative to the assembler. The same element-lookup kernel throughout, except J, which says it as one whole-array expression. Ordered fastest first: D and Zig sit just behind C; Octave's loop is at the far end, 46,705. Most of the 2026 ports are 64-bit doubles against Keith's 32-bit floats (the precision caveat later). Keith's 12 languages are on a backup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headline slide. Same element-loop source throughout, except the grey bar, which is the vectorised rewrite for comparison. The default pattern for someone told 'use numpy' — looping over numpy elements — is the worst: 4.5x slower than plain lists. One @numba.jit decorator, the red line on the slide, from Keith's own csubnp-numba.py: 915x. Swapping the interpreter for PyPy: 17.8x. The choice that matters most is the runtime, not the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Precision caveat, say it briefly: Keith's compiled kernels and the assembler are single precision; the 2026 ports of D, Zig, Nim, Crystal and Go (and C#, F#, Kotlin, OCaml, Haskell, Lisp) are double. NEON holds 4 floats or 2 doubles per register, so part of the spread here may be precision, not language. To fix after the conference. Also: Octave vectorised builds its index vectors once, outside the timed loop; numpy and PDL arrays rebuild them per call. Left: inside one language, the runtime or idiom spans two to three orders of magnitude (Ruby's YJIT gain is the modest one). Right: across the compiled languages the whole spread is under 7x, on a linear axis. Pick your runtime and idiom carefully; the language matters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Why 'new'? New to this benchmark, not new technology. Java, V8, Julia and numba were all in Keith's 2019 study. LuaJIT and PyPy are old, just never measured here. Genuinely newer than 2019: Deno, Ruby YJIT, Bun, .NET native AOT. Don't claim V8's optimiser makes Node fast here: Node --no-opt is 26.5, almost the same. If asked: CPython 3.13's experimental JIT isn't tested; run22 used Python 3.12.7.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1: PyPy plus numpy is the slowest mainstream Python setup: 609x slower than PyPy on plain lists and 7.6x slower than CPython + numpy. Pick one. 2 (keep it brief): the PDL element-lookup test (Keith's 'raw') now uses PDL's element-access primitives. 103,570 was the 2019 code run on this machine (run19); 9,207 in run22. Keith himself flagged -&gt;slice in 2019. The LLM didn't spot it. 3: Common Lisp with the SBCL compiler (Steel Bank Common Lisp, the main open-source native-code Lisp), 15.7x from type declarations.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partner, not a search bar. Weeks of porting done in days. The unglamorous bulk was the environment: tools hijacking each other's python, perl and gfortran. It also kept the report tied to one log, and made the whole toolchain reproducible. Its first drafts of the report and of these slides were decent; its abstract was not, and I rewrote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Honesty about limits. It did not catch the PDL problem: domain expertise did. Its worst habit is silent numerical drift, which is why we ran an audit loop with ChatGPT as critic, about seven rounds (the exact ChatGPT model wasn't recorded). The big caveat: unlike Keith, I did not write the ported code; I trusted it. Keith's 53-page write-up is full of obscure gotchas and alternative ways to structure the same loop in one language, the kind of thing an expert in that language would spot. How expert is the LLM in Zig or OCaml or J? I don't know. One example we know about: the 2026 ports use 64-bit doubles where Keith's kernels use 32-bit floats. Future work: have experts, and other LLMs, review the kernels themselves. If asked about INTERCAL: it compiled, but C-INTERCAL's runtime has an arm64 va_arg bug that breaks even hello.i.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corridor version: if your inner loop is slow, try @numba.jit before Cython or C. PyPy only for pure Python. Don't iterate over numpy elements. In PDL, use -&gt;at and -&gt;set. Apple Silicon is settled. An 'arm64 penalty' would be a toolchain with no native arm64 build, running translated by Rosetta 2, or a compiler that generates weaker code for arm64 than for x86. Here only Python 2.7 (an x86_64 conda build) runs under Rosetta; INTERCAL's runtime failed outright on an arm64 calling-convention bug. An LLM co-author works with an audit loop and domain expertise.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Keith first and by name. The 2026 material is in the ADASS2026 folder of the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one test that exists in both studies, matched by its Run.py name. Caveats if asked: different hardware (x86 AVX in 2019, arm64 NEON now); the reference drifts about 10% between runs; Python 2.7 runs under Rosetta 2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pasted each draft of the report into ChatGPT (model not recorded) and asked it to attack it; Claude then fixed and re-checked every number against run22.log. Typical catches: numbers left over from older runs after the reference moved by ~10%, tier assignments that contradicted the tier table, ratios computed against the wrong baseline, and rhetorical overclaims. Some of these claims are from earlier runs and drafts; the numbers on this slide are what the audits flagged at the time. The pattern: the LLM is fluent and confident, and checking against the raw log is not optional. And the audits only checked claims against the log; nobody checked the kernels.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kernel from each of Keith's 12 languages (C/C++ and Perl/PDL as one each), pulled verbatim from the 2019 sources and timed in run22. The PDL element-lookup card is the corrected -&gt;at/-&gt;set form. R uses outer(), one whole-array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137160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r>
              <a:rPr lang="en-US" sz="4400" b="1" dirty="0">
                <a:solidFill>
                  <a:schemeClr val="bg1"/>
                </a:solidFill>
                <a:latin typeface="+mj-lt" pitchFamily="34" charset="0"/>
                <a:ea typeface="+mj-lt" pitchFamily="34" charset="-122"/>
                <a:cs typeface="+mj-lt" pitchFamily="34" charset="-120"/>
              </a:rPr>
              <a:t>Title</a:t>
            </a:r>
            <a:endParaRPr lang="en-US" sz="4400" dirty="0"/>
          </a:p>
        </p:txBody>
      </p:sp>
      <p:sp>
        <p:nvSpPr>
          <p:cNvPr id="3" name="Text 0"/>
          <p:cNvSpPr/>
          <p:nvPr>
            <p:ph idx="101" type="body" hasCustomPrompt="1"/>
          </p:nvPr>
        </p:nvSpPr>
        <p:spPr>
          <a:xfrm>
            <a:off x="548640" y="2286000"/>
            <a:ext cx="11094415"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r>
              <a:rPr lang="en-US" sz="2000" dirty="0">
                <a:solidFill>
                  <a:schemeClr val="bg2"/>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200" b="1" dirty="0">
                <a:solidFill>
                  <a:schemeClr val="tx2"/>
                </a:solidFill>
                <a:latin typeface="+mj-lt" pitchFamily="34" charset="0"/>
                <a:ea typeface="+mj-lt" pitchFamily="34" charset="-122"/>
                <a:cs typeface="+mj-lt" pitchFamily="34" charset="-120"/>
              </a:defRPr>
            </a:lvl1pPr>
          </a:lstStyle>
          <a:p>
            <a:pPr indent="0" marL="0">
              <a:buNone/>
            </a:pPr>
            <a:r>
              <a:rPr lang="en-US" sz="3200" b="1" dirty="0">
                <a:solidFill>
                  <a:schemeClr val="tx2"/>
                </a:solidFill>
                <a:latin typeface="+mj-lt" pitchFamily="34" charset="0"/>
                <a:ea typeface="+mj-lt" pitchFamily="34" charset="-122"/>
                <a:cs typeface="+mj-lt" pitchFamily="34" charset="-120"/>
              </a:rPr>
              <a:t>Title</a:t>
            </a: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A6275"/>
                </a:solidFill>
              </a:rPr>
              <a:t>Glazebrook · ADASS 2026 · Perth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11094415" cy="548640"/>
          </a:xfrm>
          <a:prstGeom prst="rect">
            <a:avLst/>
          </a:prstGeom>
          <a:noFill/>
          <a:ln/>
        </p:spPr>
        <p:txBody>
          <a:bodyPr wrap="square" rtlCol="0"/>
          <a:lstStyle>
            <a:lvl1pPr indent="0" marL="0">
              <a:buNone/>
              <a:defRPr lang="en-US" sz="2600" b="1" dirty="0">
                <a:solidFill>
                  <a:schemeClr val="bg1"/>
                </a:solidFill>
                <a:latin typeface="+mj-lt" pitchFamily="34" charset="0"/>
                <a:ea typeface="+mj-lt" pitchFamily="34" charset="-122"/>
                <a:cs typeface="+mj-lt" pitchFamily="34" charset="-120"/>
              </a:defRPr>
            </a:lvl1pPr>
          </a:lstStyle>
          <a:p>
            <a:pPr indent="0" marL="0">
              <a:buNone/>
            </a:pPr>
            <a:r>
              <a:rPr lang="en-US" sz="2600" b="1" dirty="0">
                <a:solidFill>
                  <a:schemeClr val="bg1"/>
                </a:solidFill>
                <a:latin typeface="+mj-lt" pitchFamily="34" charset="0"/>
                <a:ea typeface="+mj-lt" pitchFamily="34" charset="-122"/>
                <a:cs typeface="+mj-lt" pitchFamily="34" charset="-120"/>
              </a:rPr>
              <a:t>Title</a:t>
            </a:r>
            <a:endParaRPr lang="en-US" sz="2600" dirty="0"/>
          </a:p>
        </p:txBody>
      </p:sp>
      <p:sp>
        <p:nvSpPr>
          <p:cNvPr id="25" name="Slide Number Placeholder 0"/>
          <p:cNvSpPr>
            <a:spLocks noGrp="1"/>
          </p:cNvSpPr>
          <p:nvPr>
            <p:ph type="sldNum" sz="quarter" idx="4294967295"/>
          </p:nvPr>
        </p:nvSpPr>
        <p:spPr>
          <a:xfrm>
            <a:off x="11094415" y="658368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EB8C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KnaveAndVarlet/ADASS2019" TargetMode="External"/><Relationship Id="rId1"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KnaveAndVarlet/ADASS2019" TargetMode="External"/><Relationship Id="rId2" Type="http://schemas.openxmlformats.org/officeDocument/2006/relationships/hyperlink" Target="https://github.com/karlglazebrook/ADASS2026" TargetMode="External"/><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1371600"/>
          </a:xfrm>
          <a:prstGeom prst="rect">
            <a:avLst/>
          </a:prstGeom>
          <a:noFill/>
          <a:ln/>
        </p:spPr>
        <p:txBody>
          <a:bodyPr wrap="square" lIns="0" tIns="0" rIns="0" bIns="0" rtlCol="0" anchor="b"/>
          <a:lstStyle/>
          <a:p>
            <a:pPr algn="l" indent="0" marL="0">
              <a:buNone/>
            </a:pPr>
            <a:r>
              <a:rPr lang="en-US" sz="4400" b="1" dirty="0">
                <a:solidFill>
                  <a:schemeClr val="bg1"/>
                </a:solidFill>
                <a:latin typeface="+mj-lt" pitchFamily="34" charset="0"/>
                <a:ea typeface="+mj-lt" pitchFamily="34" charset="-122"/>
                <a:cs typeface="+mj-lt" pitchFamily="34" charset="-120"/>
              </a:rPr>
              <a:t>Same Source, Three Orders of Magnitude</a:t>
            </a:r>
            <a:endParaRPr lang="en-US" sz="4400" dirty="0"/>
          </a:p>
        </p:txBody>
      </p:sp>
      <p:sp>
        <p:nvSpPr>
          <p:cNvPr id="3" name="Text 0"/>
          <p:cNvSpPr/>
          <p:nvPr>
            <p:ph idx="101" type="body" hasCustomPrompt="1"/>
          </p:nvPr>
        </p:nvSpPr>
        <p:spPr>
          <a:xfrm>
            <a:off x="548640" y="2286000"/>
            <a:ext cx="11094415" cy="1463040"/>
          </a:xfrm>
          <a:prstGeom prst="rect">
            <a:avLst/>
          </a:prstGeom>
          <a:noFill/>
          <a:ln/>
        </p:spPr>
        <p:txBody>
          <a:bodyPr wrap="square" lIns="0" tIns="0" rIns="0" bIns="0" rtlCol="0" anchor="t"/>
          <a:lstStyle/>
          <a:p>
            <a:pPr indent="0" marL="0">
              <a:buNone/>
            </a:pPr>
            <a:r>
              <a:rPr lang="en-US" sz="2000" dirty="0">
                <a:solidFill>
                  <a:schemeClr val="bg2"/>
                </a:solidFill>
              </a:rPr>
              <a:t>A 2026 reprise of Shortridge's compiler benchmark, co-authored with an LLM</a:t>
            </a:r>
            <a:endParaRPr lang="en-US" sz="2000" dirty="0"/>
          </a:p>
          <a:p>
            <a:pPr indent="0" marL="0">
              <a:buNone/>
            </a:pPr>
            <a:r>
              <a:rPr lang="en-US" sz="1000" dirty="0">
                <a:solidFill>
                  <a:schemeClr val="bg2"/>
                </a:solidFill>
              </a:rPr>
              <a:t> </a:t>
            </a:r>
            <a:endParaRPr lang="en-US" sz="2000" dirty="0"/>
          </a:p>
          <a:p>
            <a:pPr indent="0" marL="0">
              <a:buNone/>
            </a:pPr>
            <a:r>
              <a:rPr lang="en-US" sz="2000" b="1" dirty="0">
                <a:solidFill>
                  <a:schemeClr val="bg1"/>
                </a:solidFill>
              </a:rPr>
              <a:t>Karl Glazebrook · Swinburne University of Technology</a:t>
            </a:r>
            <a:endParaRPr lang="en-US" sz="2000" dirty="0"/>
          </a:p>
          <a:p>
            <a:pPr indent="0" marL="0">
              <a:buNone/>
            </a:pPr>
            <a:r>
              <a:rPr lang="en-US" sz="1600" dirty="0">
                <a:solidFill>
                  <a:srgbClr val="AEB8CC"/>
                </a:solidFill>
              </a:rPr>
              <a:t>with analysis assistance from Claude Sonnet 4.7 (Anthropic) · ADASS 2026, Perth</a:t>
            </a:r>
            <a:endParaRPr lang="en-US" sz="2000" dirty="0"/>
          </a:p>
        </p:txBody>
      </p:sp>
      <p:sp>
        <p:nvSpPr>
          <p:cNvPr id="4" name="result 1"/>
          <p:cNvSpPr/>
          <p:nvPr/>
        </p:nvSpPr>
        <p:spPr>
          <a:xfrm>
            <a:off x="584846" y="5847588"/>
            <a:ext cx="118872" cy="118872"/>
          </a:xfrm>
          <a:prstGeom prst="ellipse">
            <a:avLst/>
          </a:prstGeom>
          <a:solidFill>
            <a:srgbClr val="1A9850"/>
          </a:solidFill>
          <a:ln w="6350">
            <a:solidFill>
              <a:srgbClr val="1A9850"/>
            </a:solidFill>
            <a:prstDash val="solid"/>
          </a:ln>
        </p:spPr>
      </p:sp>
      <p:sp>
        <p:nvSpPr>
          <p:cNvPr id="5" name="result 2"/>
          <p:cNvSpPr/>
          <p:nvPr/>
        </p:nvSpPr>
        <p:spPr>
          <a:xfrm>
            <a:off x="584846" y="5705856"/>
            <a:ext cx="118872" cy="118872"/>
          </a:xfrm>
          <a:prstGeom prst="ellipse">
            <a:avLst/>
          </a:prstGeom>
          <a:solidFill>
            <a:srgbClr val="66BD63"/>
          </a:solidFill>
          <a:ln w="6350">
            <a:solidFill>
              <a:srgbClr val="66BD63"/>
            </a:solidFill>
            <a:prstDash val="solid"/>
          </a:ln>
        </p:spPr>
      </p:sp>
      <p:sp>
        <p:nvSpPr>
          <p:cNvPr id="6" name="result 3"/>
          <p:cNvSpPr/>
          <p:nvPr/>
        </p:nvSpPr>
        <p:spPr>
          <a:xfrm>
            <a:off x="584846" y="5564124"/>
            <a:ext cx="118872" cy="118872"/>
          </a:xfrm>
          <a:prstGeom prst="ellipse">
            <a:avLst/>
          </a:prstGeom>
          <a:solidFill>
            <a:srgbClr val="66BD63"/>
          </a:solidFill>
          <a:ln w="6350">
            <a:solidFill>
              <a:srgbClr val="66BD63"/>
            </a:solidFill>
            <a:prstDash val="solid"/>
          </a:ln>
        </p:spPr>
      </p:sp>
      <p:sp>
        <p:nvSpPr>
          <p:cNvPr id="7" name="result 4"/>
          <p:cNvSpPr/>
          <p:nvPr/>
        </p:nvSpPr>
        <p:spPr>
          <a:xfrm>
            <a:off x="584846" y="5422392"/>
            <a:ext cx="118872" cy="118872"/>
          </a:xfrm>
          <a:prstGeom prst="ellipse">
            <a:avLst/>
          </a:prstGeom>
          <a:solidFill>
            <a:srgbClr val="66BD63"/>
          </a:solidFill>
          <a:ln w="6350">
            <a:solidFill>
              <a:srgbClr val="66BD63"/>
            </a:solidFill>
            <a:prstDash val="solid"/>
          </a:ln>
        </p:spPr>
      </p:sp>
      <p:sp>
        <p:nvSpPr>
          <p:cNvPr id="8" name="result 5"/>
          <p:cNvSpPr/>
          <p:nvPr/>
        </p:nvSpPr>
        <p:spPr>
          <a:xfrm>
            <a:off x="584846" y="5280660"/>
            <a:ext cx="118872" cy="118872"/>
          </a:xfrm>
          <a:prstGeom prst="ellipse">
            <a:avLst/>
          </a:prstGeom>
          <a:solidFill>
            <a:srgbClr val="66BD63"/>
          </a:solidFill>
          <a:ln w="6350">
            <a:solidFill>
              <a:srgbClr val="66BD63"/>
            </a:solidFill>
            <a:prstDash val="solid"/>
          </a:ln>
        </p:spPr>
      </p:sp>
      <p:sp>
        <p:nvSpPr>
          <p:cNvPr id="9" name="result 6"/>
          <p:cNvSpPr/>
          <p:nvPr/>
        </p:nvSpPr>
        <p:spPr>
          <a:xfrm>
            <a:off x="584846" y="5138928"/>
            <a:ext cx="118872" cy="118872"/>
          </a:xfrm>
          <a:prstGeom prst="ellipse">
            <a:avLst/>
          </a:prstGeom>
          <a:solidFill>
            <a:srgbClr val="66BD63"/>
          </a:solidFill>
          <a:ln w="6350">
            <a:solidFill>
              <a:srgbClr val="66BD63"/>
            </a:solidFill>
            <a:prstDash val="solid"/>
          </a:ln>
        </p:spPr>
      </p:sp>
      <p:sp>
        <p:nvSpPr>
          <p:cNvPr id="10" name="result 7"/>
          <p:cNvSpPr/>
          <p:nvPr/>
        </p:nvSpPr>
        <p:spPr>
          <a:xfrm>
            <a:off x="776129" y="5847588"/>
            <a:ext cx="118872" cy="118872"/>
          </a:xfrm>
          <a:prstGeom prst="ellipse">
            <a:avLst/>
          </a:prstGeom>
          <a:solidFill>
            <a:srgbClr val="66BD63"/>
          </a:solidFill>
          <a:ln w="6350">
            <a:solidFill>
              <a:srgbClr val="66BD63"/>
            </a:solidFill>
            <a:prstDash val="solid"/>
          </a:ln>
        </p:spPr>
      </p:sp>
      <p:sp>
        <p:nvSpPr>
          <p:cNvPr id="11" name="result 8"/>
          <p:cNvSpPr/>
          <p:nvPr/>
        </p:nvSpPr>
        <p:spPr>
          <a:xfrm>
            <a:off x="776129" y="5705856"/>
            <a:ext cx="118872" cy="118872"/>
          </a:xfrm>
          <a:prstGeom prst="ellipse">
            <a:avLst/>
          </a:prstGeom>
          <a:solidFill>
            <a:srgbClr val="66BD63"/>
          </a:solidFill>
          <a:ln w="6350">
            <a:solidFill>
              <a:srgbClr val="66BD63"/>
            </a:solidFill>
            <a:prstDash val="solid"/>
          </a:ln>
        </p:spPr>
      </p:sp>
      <p:sp>
        <p:nvSpPr>
          <p:cNvPr id="12" name="result 9"/>
          <p:cNvSpPr/>
          <p:nvPr/>
        </p:nvSpPr>
        <p:spPr>
          <a:xfrm>
            <a:off x="776129" y="5564124"/>
            <a:ext cx="118872" cy="118872"/>
          </a:xfrm>
          <a:prstGeom prst="ellipse">
            <a:avLst/>
          </a:prstGeom>
          <a:solidFill>
            <a:srgbClr val="66BD63"/>
          </a:solidFill>
          <a:ln w="6350">
            <a:solidFill>
              <a:srgbClr val="66BD63"/>
            </a:solidFill>
            <a:prstDash val="solid"/>
          </a:ln>
        </p:spPr>
      </p:sp>
      <p:sp>
        <p:nvSpPr>
          <p:cNvPr id="13" name="result 10"/>
          <p:cNvSpPr/>
          <p:nvPr/>
        </p:nvSpPr>
        <p:spPr>
          <a:xfrm>
            <a:off x="776129" y="5422392"/>
            <a:ext cx="118872" cy="118872"/>
          </a:xfrm>
          <a:prstGeom prst="ellipse">
            <a:avLst/>
          </a:prstGeom>
          <a:solidFill>
            <a:srgbClr val="66BD63"/>
          </a:solidFill>
          <a:ln w="6350">
            <a:solidFill>
              <a:srgbClr val="66BD63"/>
            </a:solidFill>
            <a:prstDash val="solid"/>
          </a:ln>
        </p:spPr>
      </p:sp>
      <p:sp>
        <p:nvSpPr>
          <p:cNvPr id="14" name="result 11"/>
          <p:cNvSpPr/>
          <p:nvPr/>
        </p:nvSpPr>
        <p:spPr>
          <a:xfrm>
            <a:off x="776129" y="5280660"/>
            <a:ext cx="118872" cy="118872"/>
          </a:xfrm>
          <a:prstGeom prst="ellipse">
            <a:avLst/>
          </a:prstGeom>
          <a:solidFill>
            <a:srgbClr val="66BD63"/>
          </a:solidFill>
          <a:ln w="6350">
            <a:solidFill>
              <a:srgbClr val="66BD63"/>
            </a:solidFill>
            <a:prstDash val="solid"/>
          </a:ln>
        </p:spPr>
      </p:sp>
      <p:sp>
        <p:nvSpPr>
          <p:cNvPr id="15" name="result 12"/>
          <p:cNvSpPr/>
          <p:nvPr/>
        </p:nvSpPr>
        <p:spPr>
          <a:xfrm>
            <a:off x="776129" y="5138928"/>
            <a:ext cx="118872" cy="118872"/>
          </a:xfrm>
          <a:prstGeom prst="ellipse">
            <a:avLst/>
          </a:prstGeom>
          <a:solidFill>
            <a:srgbClr val="66BD63"/>
          </a:solidFill>
          <a:ln w="6350">
            <a:solidFill>
              <a:srgbClr val="66BD63"/>
            </a:solidFill>
            <a:prstDash val="solid"/>
          </a:ln>
        </p:spPr>
      </p:sp>
      <p:sp>
        <p:nvSpPr>
          <p:cNvPr id="16" name="result 13"/>
          <p:cNvSpPr/>
          <p:nvPr/>
        </p:nvSpPr>
        <p:spPr>
          <a:xfrm>
            <a:off x="776129" y="4997196"/>
            <a:ext cx="118872" cy="118872"/>
          </a:xfrm>
          <a:prstGeom prst="ellipse">
            <a:avLst/>
          </a:prstGeom>
          <a:solidFill>
            <a:srgbClr val="66BD63"/>
          </a:solidFill>
          <a:ln w="6350">
            <a:solidFill>
              <a:srgbClr val="66BD63"/>
            </a:solidFill>
            <a:prstDash val="solid"/>
          </a:ln>
        </p:spPr>
      </p:sp>
      <p:sp>
        <p:nvSpPr>
          <p:cNvPr id="17" name="result 14"/>
          <p:cNvSpPr/>
          <p:nvPr/>
        </p:nvSpPr>
        <p:spPr>
          <a:xfrm>
            <a:off x="776129" y="4855464"/>
            <a:ext cx="118872" cy="118872"/>
          </a:xfrm>
          <a:prstGeom prst="ellipse">
            <a:avLst/>
          </a:prstGeom>
          <a:solidFill>
            <a:srgbClr val="66BD63"/>
          </a:solidFill>
          <a:ln w="6350">
            <a:solidFill>
              <a:srgbClr val="66BD63"/>
            </a:solidFill>
            <a:prstDash val="solid"/>
          </a:ln>
        </p:spPr>
      </p:sp>
      <p:sp>
        <p:nvSpPr>
          <p:cNvPr id="18" name="result 15"/>
          <p:cNvSpPr/>
          <p:nvPr/>
        </p:nvSpPr>
        <p:spPr>
          <a:xfrm>
            <a:off x="776129" y="4713732"/>
            <a:ext cx="118872" cy="118872"/>
          </a:xfrm>
          <a:prstGeom prst="ellipse">
            <a:avLst/>
          </a:prstGeom>
          <a:solidFill>
            <a:srgbClr val="66BD63"/>
          </a:solidFill>
          <a:ln w="6350">
            <a:solidFill>
              <a:srgbClr val="66BD63"/>
            </a:solidFill>
            <a:prstDash val="solid"/>
          </a:ln>
        </p:spPr>
      </p:sp>
      <p:sp>
        <p:nvSpPr>
          <p:cNvPr id="19" name="result 16"/>
          <p:cNvSpPr/>
          <p:nvPr/>
        </p:nvSpPr>
        <p:spPr>
          <a:xfrm>
            <a:off x="776129" y="4572000"/>
            <a:ext cx="118872" cy="118872"/>
          </a:xfrm>
          <a:prstGeom prst="ellipse">
            <a:avLst/>
          </a:prstGeom>
          <a:solidFill>
            <a:srgbClr val="66BD63"/>
          </a:solidFill>
          <a:ln w="6350">
            <a:solidFill>
              <a:srgbClr val="66BD63"/>
            </a:solidFill>
            <a:prstDash val="solid"/>
          </a:ln>
        </p:spPr>
      </p:sp>
      <p:sp>
        <p:nvSpPr>
          <p:cNvPr id="20" name="result 17"/>
          <p:cNvSpPr/>
          <p:nvPr/>
        </p:nvSpPr>
        <p:spPr>
          <a:xfrm>
            <a:off x="776129" y="4430268"/>
            <a:ext cx="118872" cy="118872"/>
          </a:xfrm>
          <a:prstGeom prst="ellipse">
            <a:avLst/>
          </a:prstGeom>
          <a:solidFill>
            <a:srgbClr val="66BD63"/>
          </a:solidFill>
          <a:ln w="6350">
            <a:solidFill>
              <a:srgbClr val="66BD63"/>
            </a:solidFill>
            <a:prstDash val="solid"/>
          </a:ln>
        </p:spPr>
      </p:sp>
      <p:sp>
        <p:nvSpPr>
          <p:cNvPr id="21" name="result 18"/>
          <p:cNvSpPr/>
          <p:nvPr/>
        </p:nvSpPr>
        <p:spPr>
          <a:xfrm>
            <a:off x="776129" y="4288536"/>
            <a:ext cx="118872" cy="118872"/>
          </a:xfrm>
          <a:prstGeom prst="ellipse">
            <a:avLst/>
          </a:prstGeom>
          <a:solidFill>
            <a:srgbClr val="66BD63"/>
          </a:solidFill>
          <a:ln w="6350">
            <a:solidFill>
              <a:srgbClr val="66BD63"/>
            </a:solidFill>
            <a:prstDash val="solid"/>
          </a:ln>
        </p:spPr>
      </p:sp>
      <p:sp>
        <p:nvSpPr>
          <p:cNvPr id="22" name="result 19"/>
          <p:cNvSpPr/>
          <p:nvPr/>
        </p:nvSpPr>
        <p:spPr>
          <a:xfrm>
            <a:off x="776129" y="4146804"/>
            <a:ext cx="118872" cy="118872"/>
          </a:xfrm>
          <a:prstGeom prst="ellipse">
            <a:avLst/>
          </a:prstGeom>
          <a:solidFill>
            <a:srgbClr val="66BD63"/>
          </a:solidFill>
          <a:ln w="6350">
            <a:solidFill>
              <a:srgbClr val="66BD63"/>
            </a:solidFill>
            <a:prstDash val="solid"/>
          </a:ln>
        </p:spPr>
      </p:sp>
      <p:sp>
        <p:nvSpPr>
          <p:cNvPr id="23" name="result 20"/>
          <p:cNvSpPr/>
          <p:nvPr/>
        </p:nvSpPr>
        <p:spPr>
          <a:xfrm>
            <a:off x="776129" y="4005072"/>
            <a:ext cx="118872" cy="118872"/>
          </a:xfrm>
          <a:prstGeom prst="ellipse">
            <a:avLst/>
          </a:prstGeom>
          <a:solidFill>
            <a:srgbClr val="66BD63"/>
          </a:solidFill>
          <a:ln w="6350">
            <a:solidFill>
              <a:srgbClr val="66BD63"/>
            </a:solidFill>
            <a:prstDash val="solid"/>
          </a:ln>
        </p:spPr>
      </p:sp>
      <p:sp>
        <p:nvSpPr>
          <p:cNvPr id="24" name="result 21"/>
          <p:cNvSpPr/>
          <p:nvPr/>
        </p:nvSpPr>
        <p:spPr>
          <a:xfrm>
            <a:off x="1158695" y="5847588"/>
            <a:ext cx="118872" cy="118872"/>
          </a:xfrm>
          <a:prstGeom prst="ellipse">
            <a:avLst/>
          </a:prstGeom>
          <a:solidFill>
            <a:srgbClr val="66BD63"/>
          </a:solidFill>
          <a:ln w="6350">
            <a:solidFill>
              <a:srgbClr val="66BD63"/>
            </a:solidFill>
            <a:prstDash val="solid"/>
          </a:ln>
        </p:spPr>
      </p:sp>
      <p:sp>
        <p:nvSpPr>
          <p:cNvPr id="25" name="result 22"/>
          <p:cNvSpPr/>
          <p:nvPr/>
        </p:nvSpPr>
        <p:spPr>
          <a:xfrm>
            <a:off x="1158695" y="5705856"/>
            <a:ext cx="118872" cy="118872"/>
          </a:xfrm>
          <a:prstGeom prst="ellipse">
            <a:avLst/>
          </a:prstGeom>
          <a:solidFill>
            <a:srgbClr val="A6D96A"/>
          </a:solidFill>
          <a:ln w="6350">
            <a:solidFill>
              <a:srgbClr val="A6D96A"/>
            </a:solidFill>
            <a:prstDash val="solid"/>
          </a:ln>
        </p:spPr>
      </p:sp>
      <p:sp>
        <p:nvSpPr>
          <p:cNvPr id="26" name="result 23"/>
          <p:cNvSpPr/>
          <p:nvPr/>
        </p:nvSpPr>
        <p:spPr>
          <a:xfrm>
            <a:off x="1158695" y="5564124"/>
            <a:ext cx="118872" cy="118872"/>
          </a:xfrm>
          <a:prstGeom prst="ellipse">
            <a:avLst/>
          </a:prstGeom>
          <a:solidFill>
            <a:srgbClr val="A6D96A"/>
          </a:solidFill>
          <a:ln w="6350">
            <a:solidFill>
              <a:srgbClr val="A6D96A"/>
            </a:solidFill>
            <a:prstDash val="solid"/>
          </a:ln>
        </p:spPr>
      </p:sp>
      <p:sp>
        <p:nvSpPr>
          <p:cNvPr id="27" name="result 24"/>
          <p:cNvSpPr/>
          <p:nvPr/>
        </p:nvSpPr>
        <p:spPr>
          <a:xfrm>
            <a:off x="1349978" y="5847588"/>
            <a:ext cx="118872" cy="118872"/>
          </a:xfrm>
          <a:prstGeom prst="ellipse">
            <a:avLst/>
          </a:prstGeom>
          <a:solidFill>
            <a:srgbClr val="A6D96A"/>
          </a:solidFill>
          <a:ln w="6350">
            <a:solidFill>
              <a:srgbClr val="A6D96A"/>
            </a:solidFill>
            <a:prstDash val="solid"/>
          </a:ln>
        </p:spPr>
      </p:sp>
      <p:sp>
        <p:nvSpPr>
          <p:cNvPr id="28" name="result 25"/>
          <p:cNvSpPr/>
          <p:nvPr/>
        </p:nvSpPr>
        <p:spPr>
          <a:xfrm>
            <a:off x="1349978" y="5705856"/>
            <a:ext cx="118872" cy="118872"/>
          </a:xfrm>
          <a:prstGeom prst="ellipse">
            <a:avLst/>
          </a:prstGeom>
          <a:solidFill>
            <a:srgbClr val="A6D96A"/>
          </a:solidFill>
          <a:ln w="6350">
            <a:solidFill>
              <a:srgbClr val="A6D96A"/>
            </a:solidFill>
            <a:prstDash val="solid"/>
          </a:ln>
        </p:spPr>
      </p:sp>
      <p:sp>
        <p:nvSpPr>
          <p:cNvPr id="29" name="result 26"/>
          <p:cNvSpPr/>
          <p:nvPr/>
        </p:nvSpPr>
        <p:spPr>
          <a:xfrm>
            <a:off x="1349978" y="5564124"/>
            <a:ext cx="118872" cy="118872"/>
          </a:xfrm>
          <a:prstGeom prst="ellipse">
            <a:avLst/>
          </a:prstGeom>
          <a:solidFill>
            <a:srgbClr val="A6D96A"/>
          </a:solidFill>
          <a:ln w="6350">
            <a:solidFill>
              <a:srgbClr val="A6D96A"/>
            </a:solidFill>
            <a:prstDash val="solid"/>
          </a:ln>
        </p:spPr>
      </p:sp>
      <p:sp>
        <p:nvSpPr>
          <p:cNvPr id="30" name="result 27"/>
          <p:cNvSpPr/>
          <p:nvPr/>
        </p:nvSpPr>
        <p:spPr>
          <a:xfrm>
            <a:off x="1349978" y="5422392"/>
            <a:ext cx="118872" cy="118872"/>
          </a:xfrm>
          <a:prstGeom prst="ellipse">
            <a:avLst/>
          </a:prstGeom>
          <a:solidFill>
            <a:srgbClr val="A6D96A"/>
          </a:solidFill>
          <a:ln w="6350">
            <a:solidFill>
              <a:srgbClr val="A6D96A"/>
            </a:solidFill>
            <a:prstDash val="solid"/>
          </a:ln>
        </p:spPr>
      </p:sp>
      <p:sp>
        <p:nvSpPr>
          <p:cNvPr id="31" name="result 28"/>
          <p:cNvSpPr/>
          <p:nvPr/>
        </p:nvSpPr>
        <p:spPr>
          <a:xfrm>
            <a:off x="1349978" y="5280660"/>
            <a:ext cx="118872" cy="118872"/>
          </a:xfrm>
          <a:prstGeom prst="ellipse">
            <a:avLst/>
          </a:prstGeom>
          <a:solidFill>
            <a:srgbClr val="A6D96A"/>
          </a:solidFill>
          <a:ln w="6350">
            <a:solidFill>
              <a:srgbClr val="A6D96A"/>
            </a:solidFill>
            <a:prstDash val="solid"/>
          </a:ln>
        </p:spPr>
      </p:sp>
      <p:sp>
        <p:nvSpPr>
          <p:cNvPr id="32" name="result 29"/>
          <p:cNvSpPr/>
          <p:nvPr/>
        </p:nvSpPr>
        <p:spPr>
          <a:xfrm>
            <a:off x="1541261" y="5847588"/>
            <a:ext cx="118872" cy="118872"/>
          </a:xfrm>
          <a:prstGeom prst="ellipse">
            <a:avLst/>
          </a:prstGeom>
          <a:solidFill>
            <a:srgbClr val="A6D96A"/>
          </a:solidFill>
          <a:ln w="6350">
            <a:solidFill>
              <a:srgbClr val="A6D96A"/>
            </a:solidFill>
            <a:prstDash val="solid"/>
          </a:ln>
        </p:spPr>
      </p:sp>
      <p:sp>
        <p:nvSpPr>
          <p:cNvPr id="33" name="result 30"/>
          <p:cNvSpPr/>
          <p:nvPr/>
        </p:nvSpPr>
        <p:spPr>
          <a:xfrm>
            <a:off x="1541261" y="5705856"/>
            <a:ext cx="118872" cy="118872"/>
          </a:xfrm>
          <a:prstGeom prst="ellipse">
            <a:avLst/>
          </a:prstGeom>
          <a:solidFill>
            <a:srgbClr val="A6D96A"/>
          </a:solidFill>
          <a:ln w="6350">
            <a:solidFill>
              <a:srgbClr val="A6D96A"/>
            </a:solidFill>
            <a:prstDash val="solid"/>
          </a:ln>
        </p:spPr>
      </p:sp>
      <p:sp>
        <p:nvSpPr>
          <p:cNvPr id="34" name="result 31"/>
          <p:cNvSpPr/>
          <p:nvPr/>
        </p:nvSpPr>
        <p:spPr>
          <a:xfrm>
            <a:off x="1541261" y="5564124"/>
            <a:ext cx="118872" cy="118872"/>
          </a:xfrm>
          <a:prstGeom prst="ellipse">
            <a:avLst/>
          </a:prstGeom>
          <a:solidFill>
            <a:srgbClr val="A6D96A"/>
          </a:solidFill>
          <a:ln w="6350">
            <a:solidFill>
              <a:srgbClr val="A6D96A"/>
            </a:solidFill>
            <a:prstDash val="solid"/>
          </a:ln>
        </p:spPr>
      </p:sp>
      <p:sp>
        <p:nvSpPr>
          <p:cNvPr id="35" name="result 32"/>
          <p:cNvSpPr/>
          <p:nvPr/>
        </p:nvSpPr>
        <p:spPr>
          <a:xfrm>
            <a:off x="1541261" y="5422392"/>
            <a:ext cx="118872" cy="118872"/>
          </a:xfrm>
          <a:prstGeom prst="ellipse">
            <a:avLst/>
          </a:prstGeom>
          <a:solidFill>
            <a:srgbClr val="A6D96A"/>
          </a:solidFill>
          <a:ln w="6350">
            <a:solidFill>
              <a:srgbClr val="A6D96A"/>
            </a:solidFill>
            <a:prstDash val="solid"/>
          </a:ln>
        </p:spPr>
      </p:sp>
      <p:sp>
        <p:nvSpPr>
          <p:cNvPr id="36" name="result 33"/>
          <p:cNvSpPr/>
          <p:nvPr/>
        </p:nvSpPr>
        <p:spPr>
          <a:xfrm>
            <a:off x="1541261" y="5280660"/>
            <a:ext cx="118872" cy="118872"/>
          </a:xfrm>
          <a:prstGeom prst="ellipse">
            <a:avLst/>
          </a:prstGeom>
          <a:solidFill>
            <a:srgbClr val="A6D96A"/>
          </a:solidFill>
          <a:ln w="6350">
            <a:solidFill>
              <a:srgbClr val="A6D96A"/>
            </a:solidFill>
            <a:prstDash val="solid"/>
          </a:ln>
        </p:spPr>
      </p:sp>
      <p:sp>
        <p:nvSpPr>
          <p:cNvPr id="37" name="result 34"/>
          <p:cNvSpPr/>
          <p:nvPr/>
        </p:nvSpPr>
        <p:spPr>
          <a:xfrm>
            <a:off x="1541261" y="5138928"/>
            <a:ext cx="118872" cy="118872"/>
          </a:xfrm>
          <a:prstGeom prst="ellipse">
            <a:avLst/>
          </a:prstGeom>
          <a:solidFill>
            <a:srgbClr val="A6D96A"/>
          </a:solidFill>
          <a:ln w="6350">
            <a:solidFill>
              <a:srgbClr val="A6D96A"/>
            </a:solidFill>
            <a:prstDash val="solid"/>
          </a:ln>
        </p:spPr>
      </p:sp>
      <p:sp>
        <p:nvSpPr>
          <p:cNvPr id="38" name="result 35"/>
          <p:cNvSpPr/>
          <p:nvPr/>
        </p:nvSpPr>
        <p:spPr>
          <a:xfrm>
            <a:off x="1541261" y="4997196"/>
            <a:ext cx="118872" cy="118872"/>
          </a:xfrm>
          <a:prstGeom prst="ellipse">
            <a:avLst/>
          </a:prstGeom>
          <a:solidFill>
            <a:srgbClr val="A6D96A"/>
          </a:solidFill>
          <a:ln w="6350">
            <a:solidFill>
              <a:srgbClr val="A6D96A"/>
            </a:solidFill>
            <a:prstDash val="solid"/>
          </a:ln>
        </p:spPr>
      </p:sp>
      <p:sp>
        <p:nvSpPr>
          <p:cNvPr id="39" name="result 36"/>
          <p:cNvSpPr/>
          <p:nvPr/>
        </p:nvSpPr>
        <p:spPr>
          <a:xfrm>
            <a:off x="1541261" y="4855464"/>
            <a:ext cx="118872" cy="118872"/>
          </a:xfrm>
          <a:prstGeom prst="ellipse">
            <a:avLst/>
          </a:prstGeom>
          <a:solidFill>
            <a:srgbClr val="A6D96A"/>
          </a:solidFill>
          <a:ln w="6350">
            <a:solidFill>
              <a:srgbClr val="A6D96A"/>
            </a:solidFill>
            <a:prstDash val="solid"/>
          </a:ln>
        </p:spPr>
      </p:sp>
      <p:sp>
        <p:nvSpPr>
          <p:cNvPr id="40" name="result 37"/>
          <p:cNvSpPr/>
          <p:nvPr/>
        </p:nvSpPr>
        <p:spPr>
          <a:xfrm>
            <a:off x="1732544" y="5847588"/>
            <a:ext cx="118872" cy="118872"/>
          </a:xfrm>
          <a:prstGeom prst="ellipse">
            <a:avLst/>
          </a:prstGeom>
          <a:solidFill>
            <a:srgbClr val="A6D96A"/>
          </a:solidFill>
          <a:ln w="6350">
            <a:solidFill>
              <a:srgbClr val="A6D96A"/>
            </a:solidFill>
            <a:prstDash val="solid"/>
          </a:ln>
        </p:spPr>
      </p:sp>
      <p:sp>
        <p:nvSpPr>
          <p:cNvPr id="41" name="result 38"/>
          <p:cNvSpPr/>
          <p:nvPr/>
        </p:nvSpPr>
        <p:spPr>
          <a:xfrm>
            <a:off x="1732544" y="5705856"/>
            <a:ext cx="118872" cy="118872"/>
          </a:xfrm>
          <a:prstGeom prst="ellipse">
            <a:avLst/>
          </a:prstGeom>
          <a:solidFill>
            <a:srgbClr val="A6D96A"/>
          </a:solidFill>
          <a:ln w="6350">
            <a:solidFill>
              <a:srgbClr val="A6D96A"/>
            </a:solidFill>
            <a:prstDash val="solid"/>
          </a:ln>
        </p:spPr>
      </p:sp>
      <p:sp>
        <p:nvSpPr>
          <p:cNvPr id="42" name="result 39"/>
          <p:cNvSpPr/>
          <p:nvPr/>
        </p:nvSpPr>
        <p:spPr>
          <a:xfrm>
            <a:off x="1732544" y="5564124"/>
            <a:ext cx="118872" cy="118872"/>
          </a:xfrm>
          <a:prstGeom prst="ellipse">
            <a:avLst/>
          </a:prstGeom>
          <a:solidFill>
            <a:srgbClr val="A6D96A"/>
          </a:solidFill>
          <a:ln w="6350">
            <a:solidFill>
              <a:srgbClr val="A6D96A"/>
            </a:solidFill>
            <a:prstDash val="solid"/>
          </a:ln>
        </p:spPr>
      </p:sp>
      <p:sp>
        <p:nvSpPr>
          <p:cNvPr id="43" name="result 40"/>
          <p:cNvSpPr/>
          <p:nvPr/>
        </p:nvSpPr>
        <p:spPr>
          <a:xfrm>
            <a:off x="1732544" y="5422392"/>
            <a:ext cx="118872" cy="118872"/>
          </a:xfrm>
          <a:prstGeom prst="ellipse">
            <a:avLst/>
          </a:prstGeom>
          <a:solidFill>
            <a:srgbClr val="A6D96A"/>
          </a:solidFill>
          <a:ln w="6350">
            <a:solidFill>
              <a:srgbClr val="A6D96A"/>
            </a:solidFill>
            <a:prstDash val="solid"/>
          </a:ln>
        </p:spPr>
      </p:sp>
      <p:sp>
        <p:nvSpPr>
          <p:cNvPr id="44" name="result 41"/>
          <p:cNvSpPr/>
          <p:nvPr/>
        </p:nvSpPr>
        <p:spPr>
          <a:xfrm>
            <a:off x="1732544" y="5280660"/>
            <a:ext cx="118872" cy="118872"/>
          </a:xfrm>
          <a:prstGeom prst="ellipse">
            <a:avLst/>
          </a:prstGeom>
          <a:solidFill>
            <a:srgbClr val="A6D96A"/>
          </a:solidFill>
          <a:ln w="6350">
            <a:solidFill>
              <a:srgbClr val="A6D96A"/>
            </a:solidFill>
            <a:prstDash val="solid"/>
          </a:ln>
        </p:spPr>
      </p:sp>
      <p:sp>
        <p:nvSpPr>
          <p:cNvPr id="45" name="result 42"/>
          <p:cNvSpPr/>
          <p:nvPr/>
        </p:nvSpPr>
        <p:spPr>
          <a:xfrm>
            <a:off x="1732544" y="5138928"/>
            <a:ext cx="118872" cy="118872"/>
          </a:xfrm>
          <a:prstGeom prst="ellipse">
            <a:avLst/>
          </a:prstGeom>
          <a:solidFill>
            <a:srgbClr val="A6D96A"/>
          </a:solidFill>
          <a:ln w="6350">
            <a:solidFill>
              <a:srgbClr val="A6D96A"/>
            </a:solidFill>
            <a:prstDash val="solid"/>
          </a:ln>
        </p:spPr>
      </p:sp>
      <p:sp>
        <p:nvSpPr>
          <p:cNvPr id="46" name="result 43"/>
          <p:cNvSpPr/>
          <p:nvPr/>
        </p:nvSpPr>
        <p:spPr>
          <a:xfrm>
            <a:off x="1732544" y="4997196"/>
            <a:ext cx="118872" cy="118872"/>
          </a:xfrm>
          <a:prstGeom prst="ellipse">
            <a:avLst/>
          </a:prstGeom>
          <a:solidFill>
            <a:srgbClr val="A6D96A"/>
          </a:solidFill>
          <a:ln w="6350">
            <a:solidFill>
              <a:srgbClr val="A6D96A"/>
            </a:solidFill>
            <a:prstDash val="solid"/>
          </a:ln>
        </p:spPr>
      </p:sp>
      <p:sp>
        <p:nvSpPr>
          <p:cNvPr id="47" name="result 44"/>
          <p:cNvSpPr/>
          <p:nvPr/>
        </p:nvSpPr>
        <p:spPr>
          <a:xfrm>
            <a:off x="1732544" y="4855464"/>
            <a:ext cx="118872" cy="118872"/>
          </a:xfrm>
          <a:prstGeom prst="ellipse">
            <a:avLst/>
          </a:prstGeom>
          <a:solidFill>
            <a:srgbClr val="A6D96A"/>
          </a:solidFill>
          <a:ln w="6350">
            <a:solidFill>
              <a:srgbClr val="A6D96A"/>
            </a:solidFill>
            <a:prstDash val="solid"/>
          </a:ln>
        </p:spPr>
      </p:sp>
      <p:sp>
        <p:nvSpPr>
          <p:cNvPr id="48" name="result 45"/>
          <p:cNvSpPr/>
          <p:nvPr/>
        </p:nvSpPr>
        <p:spPr>
          <a:xfrm>
            <a:off x="1732544" y="4713732"/>
            <a:ext cx="118872" cy="118872"/>
          </a:xfrm>
          <a:prstGeom prst="ellipse">
            <a:avLst/>
          </a:prstGeom>
          <a:solidFill>
            <a:srgbClr val="A6D96A"/>
          </a:solidFill>
          <a:ln w="6350">
            <a:solidFill>
              <a:srgbClr val="A6D96A"/>
            </a:solidFill>
            <a:prstDash val="solid"/>
          </a:ln>
        </p:spPr>
      </p:sp>
      <p:sp>
        <p:nvSpPr>
          <p:cNvPr id="49" name="result 46"/>
          <p:cNvSpPr/>
          <p:nvPr/>
        </p:nvSpPr>
        <p:spPr>
          <a:xfrm>
            <a:off x="1732544" y="4572000"/>
            <a:ext cx="118872" cy="118872"/>
          </a:xfrm>
          <a:prstGeom prst="ellipse">
            <a:avLst/>
          </a:prstGeom>
          <a:solidFill>
            <a:srgbClr val="A6D96A"/>
          </a:solidFill>
          <a:ln w="6350">
            <a:solidFill>
              <a:srgbClr val="A6D96A"/>
            </a:solidFill>
            <a:prstDash val="solid"/>
          </a:ln>
        </p:spPr>
      </p:sp>
      <p:sp>
        <p:nvSpPr>
          <p:cNvPr id="50" name="result 47"/>
          <p:cNvSpPr/>
          <p:nvPr/>
        </p:nvSpPr>
        <p:spPr>
          <a:xfrm>
            <a:off x="1732544" y="4430268"/>
            <a:ext cx="118872" cy="118872"/>
          </a:xfrm>
          <a:prstGeom prst="ellipse">
            <a:avLst/>
          </a:prstGeom>
          <a:solidFill>
            <a:srgbClr val="A6D96A"/>
          </a:solidFill>
          <a:ln w="6350">
            <a:solidFill>
              <a:srgbClr val="A6D96A"/>
            </a:solidFill>
            <a:prstDash val="solid"/>
          </a:ln>
        </p:spPr>
      </p:sp>
      <p:sp>
        <p:nvSpPr>
          <p:cNvPr id="51" name="result 48"/>
          <p:cNvSpPr/>
          <p:nvPr/>
        </p:nvSpPr>
        <p:spPr>
          <a:xfrm>
            <a:off x="1732544" y="4288536"/>
            <a:ext cx="118872" cy="118872"/>
          </a:xfrm>
          <a:prstGeom prst="ellipse">
            <a:avLst/>
          </a:prstGeom>
          <a:solidFill>
            <a:srgbClr val="A6D96A"/>
          </a:solidFill>
          <a:ln w="6350">
            <a:solidFill>
              <a:srgbClr val="A6D96A"/>
            </a:solidFill>
            <a:prstDash val="solid"/>
          </a:ln>
        </p:spPr>
      </p:sp>
      <p:sp>
        <p:nvSpPr>
          <p:cNvPr id="52" name="result 49"/>
          <p:cNvSpPr/>
          <p:nvPr/>
        </p:nvSpPr>
        <p:spPr>
          <a:xfrm>
            <a:off x="1732544" y="4146804"/>
            <a:ext cx="118872" cy="118872"/>
          </a:xfrm>
          <a:prstGeom prst="ellipse">
            <a:avLst/>
          </a:prstGeom>
          <a:solidFill>
            <a:srgbClr val="A6D96A"/>
          </a:solidFill>
          <a:ln w="6350">
            <a:solidFill>
              <a:srgbClr val="A6D96A"/>
            </a:solidFill>
            <a:prstDash val="solid"/>
          </a:ln>
        </p:spPr>
      </p:sp>
      <p:sp>
        <p:nvSpPr>
          <p:cNvPr id="53" name="result 50"/>
          <p:cNvSpPr/>
          <p:nvPr/>
        </p:nvSpPr>
        <p:spPr>
          <a:xfrm>
            <a:off x="1732544" y="4005072"/>
            <a:ext cx="118872" cy="118872"/>
          </a:xfrm>
          <a:prstGeom prst="ellipse">
            <a:avLst/>
          </a:prstGeom>
          <a:solidFill>
            <a:srgbClr val="A6D96A"/>
          </a:solidFill>
          <a:ln w="6350">
            <a:solidFill>
              <a:srgbClr val="A6D96A"/>
            </a:solidFill>
            <a:prstDash val="solid"/>
          </a:ln>
        </p:spPr>
      </p:sp>
      <p:sp>
        <p:nvSpPr>
          <p:cNvPr id="54" name="result 51"/>
          <p:cNvSpPr/>
          <p:nvPr/>
        </p:nvSpPr>
        <p:spPr>
          <a:xfrm>
            <a:off x="1732544" y="3863340"/>
            <a:ext cx="118872" cy="118872"/>
          </a:xfrm>
          <a:prstGeom prst="ellipse">
            <a:avLst/>
          </a:prstGeom>
          <a:solidFill>
            <a:srgbClr val="A6D96A"/>
          </a:solidFill>
          <a:ln w="6350">
            <a:solidFill>
              <a:srgbClr val="A6D96A"/>
            </a:solidFill>
            <a:prstDash val="solid"/>
          </a:ln>
        </p:spPr>
      </p:sp>
      <p:sp>
        <p:nvSpPr>
          <p:cNvPr id="55" name="result 52"/>
          <p:cNvSpPr/>
          <p:nvPr/>
        </p:nvSpPr>
        <p:spPr>
          <a:xfrm>
            <a:off x="1732544" y="3721608"/>
            <a:ext cx="118872" cy="118872"/>
          </a:xfrm>
          <a:prstGeom prst="ellipse">
            <a:avLst/>
          </a:prstGeom>
          <a:solidFill>
            <a:srgbClr val="A6D96A"/>
          </a:solidFill>
          <a:ln w="6350">
            <a:solidFill>
              <a:srgbClr val="A6D96A"/>
            </a:solidFill>
            <a:prstDash val="solid"/>
          </a:ln>
        </p:spPr>
      </p:sp>
      <p:sp>
        <p:nvSpPr>
          <p:cNvPr id="56" name="result 53"/>
          <p:cNvSpPr/>
          <p:nvPr/>
        </p:nvSpPr>
        <p:spPr>
          <a:xfrm>
            <a:off x="1732544" y="3579876"/>
            <a:ext cx="118872" cy="118872"/>
          </a:xfrm>
          <a:prstGeom prst="ellipse">
            <a:avLst/>
          </a:prstGeom>
          <a:solidFill>
            <a:srgbClr val="A6D96A"/>
          </a:solidFill>
          <a:ln w="6350">
            <a:solidFill>
              <a:srgbClr val="A6D96A"/>
            </a:solidFill>
            <a:prstDash val="solid"/>
          </a:ln>
        </p:spPr>
      </p:sp>
      <p:sp>
        <p:nvSpPr>
          <p:cNvPr id="57" name="result 54"/>
          <p:cNvSpPr/>
          <p:nvPr/>
        </p:nvSpPr>
        <p:spPr>
          <a:xfrm>
            <a:off x="1923827" y="5847588"/>
            <a:ext cx="118872" cy="118872"/>
          </a:xfrm>
          <a:prstGeom prst="ellipse">
            <a:avLst/>
          </a:prstGeom>
          <a:solidFill>
            <a:srgbClr val="A6D96A"/>
          </a:solidFill>
          <a:ln w="6350">
            <a:solidFill>
              <a:srgbClr val="A6D96A"/>
            </a:solidFill>
            <a:prstDash val="solid"/>
          </a:ln>
        </p:spPr>
      </p:sp>
      <p:sp>
        <p:nvSpPr>
          <p:cNvPr id="58" name="result 55"/>
          <p:cNvSpPr/>
          <p:nvPr/>
        </p:nvSpPr>
        <p:spPr>
          <a:xfrm>
            <a:off x="1923827" y="5705856"/>
            <a:ext cx="118872" cy="118872"/>
          </a:xfrm>
          <a:prstGeom prst="ellipse">
            <a:avLst/>
          </a:prstGeom>
          <a:solidFill>
            <a:srgbClr val="A6D96A"/>
          </a:solidFill>
          <a:ln w="6350">
            <a:solidFill>
              <a:srgbClr val="A6D96A"/>
            </a:solidFill>
            <a:prstDash val="solid"/>
          </a:ln>
        </p:spPr>
      </p:sp>
      <p:sp>
        <p:nvSpPr>
          <p:cNvPr id="59" name="result 56"/>
          <p:cNvSpPr/>
          <p:nvPr/>
        </p:nvSpPr>
        <p:spPr>
          <a:xfrm>
            <a:off x="1923827" y="5564124"/>
            <a:ext cx="118872" cy="118872"/>
          </a:xfrm>
          <a:prstGeom prst="ellipse">
            <a:avLst/>
          </a:prstGeom>
          <a:solidFill>
            <a:srgbClr val="A6D96A"/>
          </a:solidFill>
          <a:ln w="6350">
            <a:solidFill>
              <a:srgbClr val="A6D96A"/>
            </a:solidFill>
            <a:prstDash val="solid"/>
          </a:ln>
        </p:spPr>
      </p:sp>
      <p:sp>
        <p:nvSpPr>
          <p:cNvPr id="60" name="result 57"/>
          <p:cNvSpPr/>
          <p:nvPr/>
        </p:nvSpPr>
        <p:spPr>
          <a:xfrm>
            <a:off x="1923827" y="5422392"/>
            <a:ext cx="118872" cy="118872"/>
          </a:xfrm>
          <a:prstGeom prst="ellipse">
            <a:avLst/>
          </a:prstGeom>
          <a:solidFill>
            <a:srgbClr val="A6D96A"/>
          </a:solidFill>
          <a:ln w="6350">
            <a:solidFill>
              <a:srgbClr val="A6D96A"/>
            </a:solidFill>
            <a:prstDash val="solid"/>
          </a:ln>
        </p:spPr>
      </p:sp>
      <p:sp>
        <p:nvSpPr>
          <p:cNvPr id="61" name="result 58"/>
          <p:cNvSpPr/>
          <p:nvPr/>
        </p:nvSpPr>
        <p:spPr>
          <a:xfrm>
            <a:off x="1923827" y="5280660"/>
            <a:ext cx="118872" cy="118872"/>
          </a:xfrm>
          <a:prstGeom prst="ellipse">
            <a:avLst/>
          </a:prstGeom>
          <a:solidFill>
            <a:srgbClr val="A6D96A"/>
          </a:solidFill>
          <a:ln w="6350">
            <a:solidFill>
              <a:srgbClr val="A6D96A"/>
            </a:solidFill>
            <a:prstDash val="solid"/>
          </a:ln>
        </p:spPr>
      </p:sp>
      <p:sp>
        <p:nvSpPr>
          <p:cNvPr id="62" name="result 59"/>
          <p:cNvSpPr/>
          <p:nvPr/>
        </p:nvSpPr>
        <p:spPr>
          <a:xfrm>
            <a:off x="1923827" y="5138928"/>
            <a:ext cx="118872" cy="118872"/>
          </a:xfrm>
          <a:prstGeom prst="ellipse">
            <a:avLst/>
          </a:prstGeom>
          <a:solidFill>
            <a:srgbClr val="A6D96A"/>
          </a:solidFill>
          <a:ln w="6350">
            <a:solidFill>
              <a:srgbClr val="A6D96A"/>
            </a:solidFill>
            <a:prstDash val="solid"/>
          </a:ln>
        </p:spPr>
      </p:sp>
      <p:sp>
        <p:nvSpPr>
          <p:cNvPr id="63" name="result 60"/>
          <p:cNvSpPr/>
          <p:nvPr/>
        </p:nvSpPr>
        <p:spPr>
          <a:xfrm>
            <a:off x="2115110" y="5847588"/>
            <a:ext cx="118872" cy="118872"/>
          </a:xfrm>
          <a:prstGeom prst="ellipse">
            <a:avLst/>
          </a:prstGeom>
          <a:solidFill>
            <a:srgbClr val="A6D96A"/>
          </a:solidFill>
          <a:ln w="6350">
            <a:solidFill>
              <a:srgbClr val="A6D96A"/>
            </a:solidFill>
            <a:prstDash val="solid"/>
          </a:ln>
        </p:spPr>
      </p:sp>
      <p:sp>
        <p:nvSpPr>
          <p:cNvPr id="64" name="result 61"/>
          <p:cNvSpPr/>
          <p:nvPr/>
        </p:nvSpPr>
        <p:spPr>
          <a:xfrm>
            <a:off x="2115110" y="5705856"/>
            <a:ext cx="118872" cy="118872"/>
          </a:xfrm>
          <a:prstGeom prst="ellipse">
            <a:avLst/>
          </a:prstGeom>
          <a:solidFill>
            <a:srgbClr val="A6D96A"/>
          </a:solidFill>
          <a:ln w="6350">
            <a:solidFill>
              <a:srgbClr val="A6D96A"/>
            </a:solidFill>
            <a:prstDash val="solid"/>
          </a:ln>
        </p:spPr>
      </p:sp>
      <p:sp>
        <p:nvSpPr>
          <p:cNvPr id="65" name="result 62"/>
          <p:cNvSpPr/>
          <p:nvPr/>
        </p:nvSpPr>
        <p:spPr>
          <a:xfrm>
            <a:off x="2115110" y="5564124"/>
            <a:ext cx="118872" cy="118872"/>
          </a:xfrm>
          <a:prstGeom prst="ellipse">
            <a:avLst/>
          </a:prstGeom>
          <a:solidFill>
            <a:srgbClr val="A6D96A"/>
          </a:solidFill>
          <a:ln w="6350">
            <a:solidFill>
              <a:srgbClr val="A6D96A"/>
            </a:solidFill>
            <a:prstDash val="solid"/>
          </a:ln>
        </p:spPr>
      </p:sp>
      <p:sp>
        <p:nvSpPr>
          <p:cNvPr id="66" name="result 63"/>
          <p:cNvSpPr/>
          <p:nvPr/>
        </p:nvSpPr>
        <p:spPr>
          <a:xfrm>
            <a:off x="2115110" y="5422392"/>
            <a:ext cx="118872" cy="118872"/>
          </a:xfrm>
          <a:prstGeom prst="ellipse">
            <a:avLst/>
          </a:prstGeom>
          <a:solidFill>
            <a:srgbClr val="FEE08B"/>
          </a:solidFill>
          <a:ln w="6350">
            <a:solidFill>
              <a:srgbClr val="FEE08B"/>
            </a:solidFill>
            <a:prstDash val="solid"/>
          </a:ln>
        </p:spPr>
      </p:sp>
      <p:sp>
        <p:nvSpPr>
          <p:cNvPr id="67" name="result 64"/>
          <p:cNvSpPr/>
          <p:nvPr/>
        </p:nvSpPr>
        <p:spPr>
          <a:xfrm>
            <a:off x="2115110" y="5280660"/>
            <a:ext cx="118872" cy="118872"/>
          </a:xfrm>
          <a:prstGeom prst="ellipse">
            <a:avLst/>
          </a:prstGeom>
          <a:solidFill>
            <a:srgbClr val="FEE08B"/>
          </a:solidFill>
          <a:ln w="6350">
            <a:solidFill>
              <a:srgbClr val="FEE08B"/>
            </a:solidFill>
            <a:prstDash val="solid"/>
          </a:ln>
        </p:spPr>
      </p:sp>
      <p:sp>
        <p:nvSpPr>
          <p:cNvPr id="68" name="result 65"/>
          <p:cNvSpPr/>
          <p:nvPr/>
        </p:nvSpPr>
        <p:spPr>
          <a:xfrm>
            <a:off x="2306393" y="5847588"/>
            <a:ext cx="118872" cy="118872"/>
          </a:xfrm>
          <a:prstGeom prst="ellipse">
            <a:avLst/>
          </a:prstGeom>
          <a:solidFill>
            <a:srgbClr val="FEE08B"/>
          </a:solidFill>
          <a:ln w="6350">
            <a:solidFill>
              <a:srgbClr val="FEE08B"/>
            </a:solidFill>
            <a:prstDash val="solid"/>
          </a:ln>
        </p:spPr>
      </p:sp>
      <p:sp>
        <p:nvSpPr>
          <p:cNvPr id="69" name="result 66"/>
          <p:cNvSpPr/>
          <p:nvPr/>
        </p:nvSpPr>
        <p:spPr>
          <a:xfrm>
            <a:off x="2306393" y="5705856"/>
            <a:ext cx="118872" cy="118872"/>
          </a:xfrm>
          <a:prstGeom prst="ellipse">
            <a:avLst/>
          </a:prstGeom>
          <a:solidFill>
            <a:srgbClr val="FEE08B"/>
          </a:solidFill>
          <a:ln w="6350">
            <a:solidFill>
              <a:srgbClr val="FEE08B"/>
            </a:solidFill>
            <a:prstDash val="solid"/>
          </a:ln>
        </p:spPr>
      </p:sp>
      <p:sp>
        <p:nvSpPr>
          <p:cNvPr id="70" name="result 67"/>
          <p:cNvSpPr/>
          <p:nvPr/>
        </p:nvSpPr>
        <p:spPr>
          <a:xfrm>
            <a:off x="2306393" y="5564124"/>
            <a:ext cx="118872" cy="118872"/>
          </a:xfrm>
          <a:prstGeom prst="ellipse">
            <a:avLst/>
          </a:prstGeom>
          <a:solidFill>
            <a:srgbClr val="FEE08B"/>
          </a:solidFill>
          <a:ln w="6350">
            <a:solidFill>
              <a:srgbClr val="FEE08B"/>
            </a:solidFill>
            <a:prstDash val="solid"/>
          </a:ln>
        </p:spPr>
      </p:sp>
      <p:sp>
        <p:nvSpPr>
          <p:cNvPr id="71" name="result 68"/>
          <p:cNvSpPr/>
          <p:nvPr/>
        </p:nvSpPr>
        <p:spPr>
          <a:xfrm>
            <a:off x="2306393" y="5422392"/>
            <a:ext cx="118872" cy="118872"/>
          </a:xfrm>
          <a:prstGeom prst="ellipse">
            <a:avLst/>
          </a:prstGeom>
          <a:solidFill>
            <a:srgbClr val="FEE08B"/>
          </a:solidFill>
          <a:ln w="6350">
            <a:solidFill>
              <a:srgbClr val="FEE08B"/>
            </a:solidFill>
            <a:prstDash val="solid"/>
          </a:ln>
        </p:spPr>
      </p:sp>
      <p:sp>
        <p:nvSpPr>
          <p:cNvPr id="72" name="result 69"/>
          <p:cNvSpPr/>
          <p:nvPr/>
        </p:nvSpPr>
        <p:spPr>
          <a:xfrm>
            <a:off x="2497676" y="5847588"/>
            <a:ext cx="118872" cy="118872"/>
          </a:xfrm>
          <a:prstGeom prst="ellipse">
            <a:avLst/>
          </a:prstGeom>
          <a:solidFill>
            <a:srgbClr val="FEE08B"/>
          </a:solidFill>
          <a:ln w="6350">
            <a:solidFill>
              <a:srgbClr val="FEE08B"/>
            </a:solidFill>
            <a:prstDash val="solid"/>
          </a:ln>
        </p:spPr>
      </p:sp>
      <p:sp>
        <p:nvSpPr>
          <p:cNvPr id="73" name="result 70"/>
          <p:cNvSpPr/>
          <p:nvPr/>
        </p:nvSpPr>
        <p:spPr>
          <a:xfrm>
            <a:off x="2497676" y="5705856"/>
            <a:ext cx="118872" cy="118872"/>
          </a:xfrm>
          <a:prstGeom prst="ellipse">
            <a:avLst/>
          </a:prstGeom>
          <a:solidFill>
            <a:srgbClr val="FEE08B"/>
          </a:solidFill>
          <a:ln w="6350">
            <a:solidFill>
              <a:srgbClr val="FEE08B"/>
            </a:solidFill>
            <a:prstDash val="solid"/>
          </a:ln>
        </p:spPr>
      </p:sp>
      <p:sp>
        <p:nvSpPr>
          <p:cNvPr id="74" name="result 71"/>
          <p:cNvSpPr/>
          <p:nvPr/>
        </p:nvSpPr>
        <p:spPr>
          <a:xfrm>
            <a:off x="2497676" y="5564124"/>
            <a:ext cx="118872" cy="118872"/>
          </a:xfrm>
          <a:prstGeom prst="ellipse">
            <a:avLst/>
          </a:prstGeom>
          <a:solidFill>
            <a:srgbClr val="FEE08B"/>
          </a:solidFill>
          <a:ln w="6350">
            <a:solidFill>
              <a:srgbClr val="FEE08B"/>
            </a:solidFill>
            <a:prstDash val="solid"/>
          </a:ln>
        </p:spPr>
      </p:sp>
      <p:sp>
        <p:nvSpPr>
          <p:cNvPr id="75" name="result 72"/>
          <p:cNvSpPr/>
          <p:nvPr/>
        </p:nvSpPr>
        <p:spPr>
          <a:xfrm>
            <a:off x="2497676" y="5422392"/>
            <a:ext cx="118872" cy="118872"/>
          </a:xfrm>
          <a:prstGeom prst="ellipse">
            <a:avLst/>
          </a:prstGeom>
          <a:solidFill>
            <a:srgbClr val="FEE08B"/>
          </a:solidFill>
          <a:ln w="6350">
            <a:solidFill>
              <a:srgbClr val="FEE08B"/>
            </a:solidFill>
            <a:prstDash val="solid"/>
          </a:ln>
        </p:spPr>
      </p:sp>
      <p:sp>
        <p:nvSpPr>
          <p:cNvPr id="76" name="result 73"/>
          <p:cNvSpPr/>
          <p:nvPr/>
        </p:nvSpPr>
        <p:spPr>
          <a:xfrm>
            <a:off x="2497676" y="5280660"/>
            <a:ext cx="118872" cy="118872"/>
          </a:xfrm>
          <a:prstGeom prst="ellipse">
            <a:avLst/>
          </a:prstGeom>
          <a:solidFill>
            <a:srgbClr val="FEE08B"/>
          </a:solidFill>
          <a:ln w="6350">
            <a:solidFill>
              <a:srgbClr val="FEE08B"/>
            </a:solidFill>
            <a:prstDash val="solid"/>
          </a:ln>
        </p:spPr>
      </p:sp>
      <p:sp>
        <p:nvSpPr>
          <p:cNvPr id="77" name="result 74"/>
          <p:cNvSpPr/>
          <p:nvPr/>
        </p:nvSpPr>
        <p:spPr>
          <a:xfrm>
            <a:off x="2497676" y="5138928"/>
            <a:ext cx="118872" cy="118872"/>
          </a:xfrm>
          <a:prstGeom prst="ellipse">
            <a:avLst/>
          </a:prstGeom>
          <a:solidFill>
            <a:srgbClr val="FEE08B"/>
          </a:solidFill>
          <a:ln w="6350">
            <a:solidFill>
              <a:srgbClr val="FEE08B"/>
            </a:solidFill>
            <a:prstDash val="solid"/>
          </a:ln>
        </p:spPr>
      </p:sp>
      <p:sp>
        <p:nvSpPr>
          <p:cNvPr id="78" name="result 75"/>
          <p:cNvSpPr/>
          <p:nvPr/>
        </p:nvSpPr>
        <p:spPr>
          <a:xfrm>
            <a:off x="2497676" y="4997196"/>
            <a:ext cx="118872" cy="118872"/>
          </a:xfrm>
          <a:prstGeom prst="ellipse">
            <a:avLst/>
          </a:prstGeom>
          <a:solidFill>
            <a:srgbClr val="FEE08B"/>
          </a:solidFill>
          <a:ln w="6350">
            <a:solidFill>
              <a:srgbClr val="FEE08B"/>
            </a:solidFill>
            <a:prstDash val="solid"/>
          </a:ln>
        </p:spPr>
      </p:sp>
      <p:sp>
        <p:nvSpPr>
          <p:cNvPr id="79" name="result 76"/>
          <p:cNvSpPr/>
          <p:nvPr/>
        </p:nvSpPr>
        <p:spPr>
          <a:xfrm>
            <a:off x="2497676" y="4855464"/>
            <a:ext cx="118872" cy="118872"/>
          </a:xfrm>
          <a:prstGeom prst="ellipse">
            <a:avLst/>
          </a:prstGeom>
          <a:solidFill>
            <a:srgbClr val="FEE08B"/>
          </a:solidFill>
          <a:ln w="6350">
            <a:solidFill>
              <a:srgbClr val="FEE08B"/>
            </a:solidFill>
            <a:prstDash val="solid"/>
          </a:ln>
        </p:spPr>
      </p:sp>
      <p:sp>
        <p:nvSpPr>
          <p:cNvPr id="80" name="result 77"/>
          <p:cNvSpPr/>
          <p:nvPr/>
        </p:nvSpPr>
        <p:spPr>
          <a:xfrm>
            <a:off x="2688959" y="5847588"/>
            <a:ext cx="118872" cy="118872"/>
          </a:xfrm>
          <a:prstGeom prst="ellipse">
            <a:avLst/>
          </a:prstGeom>
          <a:solidFill>
            <a:srgbClr val="FEE08B"/>
          </a:solidFill>
          <a:ln w="6350">
            <a:solidFill>
              <a:srgbClr val="FEE08B"/>
            </a:solidFill>
            <a:prstDash val="solid"/>
          </a:ln>
        </p:spPr>
      </p:sp>
      <p:sp>
        <p:nvSpPr>
          <p:cNvPr id="81" name="result 78"/>
          <p:cNvSpPr/>
          <p:nvPr/>
        </p:nvSpPr>
        <p:spPr>
          <a:xfrm>
            <a:off x="2688959" y="5705856"/>
            <a:ext cx="118872" cy="118872"/>
          </a:xfrm>
          <a:prstGeom prst="ellipse">
            <a:avLst/>
          </a:prstGeom>
          <a:solidFill>
            <a:srgbClr val="FEE08B"/>
          </a:solidFill>
          <a:ln w="6350">
            <a:solidFill>
              <a:srgbClr val="FEE08B"/>
            </a:solidFill>
            <a:prstDash val="solid"/>
          </a:ln>
        </p:spPr>
      </p:sp>
      <p:sp>
        <p:nvSpPr>
          <p:cNvPr id="82" name="result 79"/>
          <p:cNvSpPr/>
          <p:nvPr/>
        </p:nvSpPr>
        <p:spPr>
          <a:xfrm>
            <a:off x="2688959" y="5564124"/>
            <a:ext cx="118872" cy="118872"/>
          </a:xfrm>
          <a:prstGeom prst="ellipse">
            <a:avLst/>
          </a:prstGeom>
          <a:solidFill>
            <a:srgbClr val="FDAE61"/>
          </a:solidFill>
          <a:ln w="6350">
            <a:solidFill>
              <a:srgbClr val="FDAE61"/>
            </a:solidFill>
            <a:prstDash val="solid"/>
          </a:ln>
        </p:spPr>
      </p:sp>
      <p:sp>
        <p:nvSpPr>
          <p:cNvPr id="83" name="result 80"/>
          <p:cNvSpPr/>
          <p:nvPr/>
        </p:nvSpPr>
        <p:spPr>
          <a:xfrm>
            <a:off x="2688959" y="5422392"/>
            <a:ext cx="118872" cy="118872"/>
          </a:xfrm>
          <a:prstGeom prst="ellipse">
            <a:avLst/>
          </a:prstGeom>
          <a:solidFill>
            <a:srgbClr val="FDAE61"/>
          </a:solidFill>
          <a:ln w="6350">
            <a:solidFill>
              <a:srgbClr val="FDAE61"/>
            </a:solidFill>
            <a:prstDash val="solid"/>
          </a:ln>
        </p:spPr>
      </p:sp>
      <p:sp>
        <p:nvSpPr>
          <p:cNvPr id="84" name="result 81"/>
          <p:cNvSpPr/>
          <p:nvPr/>
        </p:nvSpPr>
        <p:spPr>
          <a:xfrm>
            <a:off x="2880242" y="5847588"/>
            <a:ext cx="118872" cy="118872"/>
          </a:xfrm>
          <a:prstGeom prst="ellipse">
            <a:avLst/>
          </a:prstGeom>
          <a:solidFill>
            <a:srgbClr val="FDAE61"/>
          </a:solidFill>
          <a:ln w="6350">
            <a:solidFill>
              <a:srgbClr val="FDAE61"/>
            </a:solidFill>
            <a:prstDash val="solid"/>
          </a:ln>
        </p:spPr>
      </p:sp>
      <p:sp>
        <p:nvSpPr>
          <p:cNvPr id="85" name="result 82"/>
          <p:cNvSpPr/>
          <p:nvPr/>
        </p:nvSpPr>
        <p:spPr>
          <a:xfrm>
            <a:off x="2880242" y="5705856"/>
            <a:ext cx="118872" cy="118872"/>
          </a:xfrm>
          <a:prstGeom prst="ellipse">
            <a:avLst/>
          </a:prstGeom>
          <a:solidFill>
            <a:srgbClr val="FDAE61"/>
          </a:solidFill>
          <a:ln w="6350">
            <a:solidFill>
              <a:srgbClr val="FDAE61"/>
            </a:solidFill>
            <a:prstDash val="solid"/>
          </a:ln>
        </p:spPr>
      </p:sp>
      <p:sp>
        <p:nvSpPr>
          <p:cNvPr id="86" name="result 83"/>
          <p:cNvSpPr/>
          <p:nvPr/>
        </p:nvSpPr>
        <p:spPr>
          <a:xfrm>
            <a:off x="2880242" y="5564124"/>
            <a:ext cx="118872" cy="118872"/>
          </a:xfrm>
          <a:prstGeom prst="ellipse">
            <a:avLst/>
          </a:prstGeom>
          <a:solidFill>
            <a:srgbClr val="FDAE61"/>
          </a:solidFill>
          <a:ln w="6350">
            <a:solidFill>
              <a:srgbClr val="FDAE61"/>
            </a:solidFill>
            <a:prstDash val="solid"/>
          </a:ln>
        </p:spPr>
      </p:sp>
      <p:sp>
        <p:nvSpPr>
          <p:cNvPr id="87" name="result 84"/>
          <p:cNvSpPr/>
          <p:nvPr/>
        </p:nvSpPr>
        <p:spPr>
          <a:xfrm>
            <a:off x="2880242" y="5422392"/>
            <a:ext cx="118872" cy="118872"/>
          </a:xfrm>
          <a:prstGeom prst="ellipse">
            <a:avLst/>
          </a:prstGeom>
          <a:solidFill>
            <a:srgbClr val="FDAE61"/>
          </a:solidFill>
          <a:ln w="6350">
            <a:solidFill>
              <a:srgbClr val="FDAE61"/>
            </a:solidFill>
            <a:prstDash val="solid"/>
          </a:ln>
        </p:spPr>
      </p:sp>
      <p:sp>
        <p:nvSpPr>
          <p:cNvPr id="88" name="result 85"/>
          <p:cNvSpPr/>
          <p:nvPr/>
        </p:nvSpPr>
        <p:spPr>
          <a:xfrm>
            <a:off x="2880242" y="5280660"/>
            <a:ext cx="118872" cy="118872"/>
          </a:xfrm>
          <a:prstGeom prst="ellipse">
            <a:avLst/>
          </a:prstGeom>
          <a:solidFill>
            <a:srgbClr val="FDAE61"/>
          </a:solidFill>
          <a:ln w="6350">
            <a:solidFill>
              <a:srgbClr val="FDAE61"/>
            </a:solidFill>
            <a:prstDash val="solid"/>
          </a:ln>
        </p:spPr>
      </p:sp>
      <p:sp>
        <p:nvSpPr>
          <p:cNvPr id="89" name="result 86"/>
          <p:cNvSpPr/>
          <p:nvPr/>
        </p:nvSpPr>
        <p:spPr>
          <a:xfrm>
            <a:off x="3071525" y="5847588"/>
            <a:ext cx="118872" cy="118872"/>
          </a:xfrm>
          <a:prstGeom prst="ellipse">
            <a:avLst/>
          </a:prstGeom>
          <a:solidFill>
            <a:srgbClr val="FDAE61"/>
          </a:solidFill>
          <a:ln w="6350">
            <a:solidFill>
              <a:srgbClr val="FDAE61"/>
            </a:solidFill>
            <a:prstDash val="solid"/>
          </a:ln>
        </p:spPr>
      </p:sp>
      <p:sp>
        <p:nvSpPr>
          <p:cNvPr id="90" name="result 87"/>
          <p:cNvSpPr/>
          <p:nvPr/>
        </p:nvSpPr>
        <p:spPr>
          <a:xfrm>
            <a:off x="3071525" y="5705856"/>
            <a:ext cx="118872" cy="118872"/>
          </a:xfrm>
          <a:prstGeom prst="ellipse">
            <a:avLst/>
          </a:prstGeom>
          <a:solidFill>
            <a:srgbClr val="FDAE61"/>
          </a:solidFill>
          <a:ln w="6350">
            <a:solidFill>
              <a:srgbClr val="FDAE61"/>
            </a:solidFill>
            <a:prstDash val="solid"/>
          </a:ln>
        </p:spPr>
      </p:sp>
      <p:sp>
        <p:nvSpPr>
          <p:cNvPr id="91" name="result 88"/>
          <p:cNvSpPr/>
          <p:nvPr/>
        </p:nvSpPr>
        <p:spPr>
          <a:xfrm>
            <a:off x="3071525" y="5564124"/>
            <a:ext cx="118872" cy="118872"/>
          </a:xfrm>
          <a:prstGeom prst="ellipse">
            <a:avLst/>
          </a:prstGeom>
          <a:solidFill>
            <a:srgbClr val="FDAE61"/>
          </a:solidFill>
          <a:ln w="6350">
            <a:solidFill>
              <a:srgbClr val="FDAE61"/>
            </a:solidFill>
            <a:prstDash val="solid"/>
          </a:ln>
        </p:spPr>
      </p:sp>
      <p:sp>
        <p:nvSpPr>
          <p:cNvPr id="92" name="result 89"/>
          <p:cNvSpPr/>
          <p:nvPr/>
        </p:nvSpPr>
        <p:spPr>
          <a:xfrm>
            <a:off x="3071525" y="5422392"/>
            <a:ext cx="118872" cy="118872"/>
          </a:xfrm>
          <a:prstGeom prst="ellipse">
            <a:avLst/>
          </a:prstGeom>
          <a:solidFill>
            <a:srgbClr val="FDAE61"/>
          </a:solidFill>
          <a:ln w="6350">
            <a:solidFill>
              <a:srgbClr val="FDAE61"/>
            </a:solidFill>
            <a:prstDash val="solid"/>
          </a:ln>
        </p:spPr>
      </p:sp>
      <p:sp>
        <p:nvSpPr>
          <p:cNvPr id="93" name="result 90"/>
          <p:cNvSpPr/>
          <p:nvPr/>
        </p:nvSpPr>
        <p:spPr>
          <a:xfrm>
            <a:off x="3071525" y="5280660"/>
            <a:ext cx="118872" cy="118872"/>
          </a:xfrm>
          <a:prstGeom prst="ellipse">
            <a:avLst/>
          </a:prstGeom>
          <a:solidFill>
            <a:srgbClr val="FDAE61"/>
          </a:solidFill>
          <a:ln w="6350">
            <a:solidFill>
              <a:srgbClr val="FDAE61"/>
            </a:solidFill>
            <a:prstDash val="solid"/>
          </a:ln>
        </p:spPr>
      </p:sp>
      <p:sp>
        <p:nvSpPr>
          <p:cNvPr id="94" name="result 91"/>
          <p:cNvSpPr/>
          <p:nvPr/>
        </p:nvSpPr>
        <p:spPr>
          <a:xfrm>
            <a:off x="3071525" y="5138928"/>
            <a:ext cx="118872" cy="118872"/>
          </a:xfrm>
          <a:prstGeom prst="ellipse">
            <a:avLst/>
          </a:prstGeom>
          <a:solidFill>
            <a:srgbClr val="FDAE61"/>
          </a:solidFill>
          <a:ln w="6350">
            <a:solidFill>
              <a:srgbClr val="FDAE61"/>
            </a:solidFill>
            <a:prstDash val="solid"/>
          </a:ln>
        </p:spPr>
      </p:sp>
      <p:sp>
        <p:nvSpPr>
          <p:cNvPr id="95" name="result 92"/>
          <p:cNvSpPr/>
          <p:nvPr/>
        </p:nvSpPr>
        <p:spPr>
          <a:xfrm>
            <a:off x="3071525" y="4997196"/>
            <a:ext cx="118872" cy="118872"/>
          </a:xfrm>
          <a:prstGeom prst="ellipse">
            <a:avLst/>
          </a:prstGeom>
          <a:solidFill>
            <a:srgbClr val="FDAE61"/>
          </a:solidFill>
          <a:ln w="6350">
            <a:solidFill>
              <a:srgbClr val="FDAE61"/>
            </a:solidFill>
            <a:prstDash val="solid"/>
          </a:ln>
        </p:spPr>
      </p:sp>
      <p:sp>
        <p:nvSpPr>
          <p:cNvPr id="96" name="result 93"/>
          <p:cNvSpPr/>
          <p:nvPr/>
        </p:nvSpPr>
        <p:spPr>
          <a:xfrm>
            <a:off x="3071525" y="4855464"/>
            <a:ext cx="118872" cy="118872"/>
          </a:xfrm>
          <a:prstGeom prst="ellipse">
            <a:avLst/>
          </a:prstGeom>
          <a:solidFill>
            <a:srgbClr val="FDAE61"/>
          </a:solidFill>
          <a:ln w="6350">
            <a:solidFill>
              <a:srgbClr val="FDAE61"/>
            </a:solidFill>
            <a:prstDash val="solid"/>
          </a:ln>
        </p:spPr>
      </p:sp>
      <p:sp>
        <p:nvSpPr>
          <p:cNvPr id="97" name="result 94"/>
          <p:cNvSpPr/>
          <p:nvPr/>
        </p:nvSpPr>
        <p:spPr>
          <a:xfrm>
            <a:off x="3071525" y="4713732"/>
            <a:ext cx="118872" cy="118872"/>
          </a:xfrm>
          <a:prstGeom prst="ellipse">
            <a:avLst/>
          </a:prstGeom>
          <a:solidFill>
            <a:srgbClr val="FDAE61"/>
          </a:solidFill>
          <a:ln w="6350">
            <a:solidFill>
              <a:srgbClr val="FDAE61"/>
            </a:solidFill>
            <a:prstDash val="solid"/>
          </a:ln>
        </p:spPr>
      </p:sp>
      <p:sp>
        <p:nvSpPr>
          <p:cNvPr id="98" name="result 95"/>
          <p:cNvSpPr/>
          <p:nvPr/>
        </p:nvSpPr>
        <p:spPr>
          <a:xfrm>
            <a:off x="3262808" y="5847588"/>
            <a:ext cx="118872" cy="118872"/>
          </a:xfrm>
          <a:prstGeom prst="ellipse">
            <a:avLst/>
          </a:prstGeom>
          <a:solidFill>
            <a:srgbClr val="FDAE61"/>
          </a:solidFill>
          <a:ln w="6350">
            <a:solidFill>
              <a:srgbClr val="FDAE61"/>
            </a:solidFill>
            <a:prstDash val="solid"/>
          </a:ln>
        </p:spPr>
      </p:sp>
      <p:sp>
        <p:nvSpPr>
          <p:cNvPr id="99" name="result 96"/>
          <p:cNvSpPr/>
          <p:nvPr/>
        </p:nvSpPr>
        <p:spPr>
          <a:xfrm>
            <a:off x="3262808" y="5705856"/>
            <a:ext cx="118872" cy="118872"/>
          </a:xfrm>
          <a:prstGeom prst="ellipse">
            <a:avLst/>
          </a:prstGeom>
          <a:solidFill>
            <a:srgbClr val="FDAE61"/>
          </a:solidFill>
          <a:ln w="6350">
            <a:solidFill>
              <a:srgbClr val="FDAE61"/>
            </a:solidFill>
            <a:prstDash val="solid"/>
          </a:ln>
        </p:spPr>
      </p:sp>
      <p:sp>
        <p:nvSpPr>
          <p:cNvPr id="100" name="result 97"/>
          <p:cNvSpPr/>
          <p:nvPr/>
        </p:nvSpPr>
        <p:spPr>
          <a:xfrm>
            <a:off x="3262808" y="5564124"/>
            <a:ext cx="118872" cy="118872"/>
          </a:xfrm>
          <a:prstGeom prst="ellipse">
            <a:avLst/>
          </a:prstGeom>
          <a:solidFill>
            <a:srgbClr val="FDAE61"/>
          </a:solidFill>
          <a:ln w="6350">
            <a:solidFill>
              <a:srgbClr val="FDAE61"/>
            </a:solidFill>
            <a:prstDash val="solid"/>
          </a:ln>
        </p:spPr>
      </p:sp>
      <p:sp>
        <p:nvSpPr>
          <p:cNvPr id="101" name="result 98"/>
          <p:cNvSpPr/>
          <p:nvPr/>
        </p:nvSpPr>
        <p:spPr>
          <a:xfrm>
            <a:off x="3454091" y="5847588"/>
            <a:ext cx="118872" cy="118872"/>
          </a:xfrm>
          <a:prstGeom prst="ellipse">
            <a:avLst/>
          </a:prstGeom>
          <a:solidFill>
            <a:srgbClr val="FDAE61"/>
          </a:solidFill>
          <a:ln w="6350">
            <a:solidFill>
              <a:srgbClr val="FDAE61"/>
            </a:solidFill>
            <a:prstDash val="solid"/>
          </a:ln>
        </p:spPr>
      </p:sp>
      <p:sp>
        <p:nvSpPr>
          <p:cNvPr id="102" name="result 99"/>
          <p:cNvSpPr/>
          <p:nvPr/>
        </p:nvSpPr>
        <p:spPr>
          <a:xfrm>
            <a:off x="3454091" y="5705856"/>
            <a:ext cx="118872" cy="118872"/>
          </a:xfrm>
          <a:prstGeom prst="ellipse">
            <a:avLst/>
          </a:prstGeom>
          <a:solidFill>
            <a:srgbClr val="FDAE61"/>
          </a:solidFill>
          <a:ln w="6350">
            <a:solidFill>
              <a:srgbClr val="FDAE61"/>
            </a:solidFill>
            <a:prstDash val="solid"/>
          </a:ln>
        </p:spPr>
      </p:sp>
      <p:sp>
        <p:nvSpPr>
          <p:cNvPr id="103" name="result 100"/>
          <p:cNvSpPr/>
          <p:nvPr/>
        </p:nvSpPr>
        <p:spPr>
          <a:xfrm>
            <a:off x="3454091" y="5564124"/>
            <a:ext cx="118872" cy="118872"/>
          </a:xfrm>
          <a:prstGeom prst="ellipse">
            <a:avLst/>
          </a:prstGeom>
          <a:solidFill>
            <a:srgbClr val="FDAE61"/>
          </a:solidFill>
          <a:ln w="6350">
            <a:solidFill>
              <a:srgbClr val="FDAE61"/>
            </a:solidFill>
            <a:prstDash val="solid"/>
          </a:ln>
        </p:spPr>
      </p:sp>
      <p:sp>
        <p:nvSpPr>
          <p:cNvPr id="104" name="result 101"/>
          <p:cNvSpPr/>
          <p:nvPr/>
        </p:nvSpPr>
        <p:spPr>
          <a:xfrm>
            <a:off x="3454091" y="5422392"/>
            <a:ext cx="118872" cy="118872"/>
          </a:xfrm>
          <a:prstGeom prst="ellipse">
            <a:avLst/>
          </a:prstGeom>
          <a:solidFill>
            <a:srgbClr val="FDAE61"/>
          </a:solidFill>
          <a:ln w="6350">
            <a:solidFill>
              <a:srgbClr val="FDAE61"/>
            </a:solidFill>
            <a:prstDash val="solid"/>
          </a:ln>
        </p:spPr>
      </p:sp>
      <p:sp>
        <p:nvSpPr>
          <p:cNvPr id="105" name="result 102"/>
          <p:cNvSpPr/>
          <p:nvPr/>
        </p:nvSpPr>
        <p:spPr>
          <a:xfrm>
            <a:off x="3645374" y="5847588"/>
            <a:ext cx="118872" cy="118872"/>
          </a:xfrm>
          <a:prstGeom prst="ellipse">
            <a:avLst/>
          </a:prstGeom>
          <a:solidFill>
            <a:srgbClr val="FDAE61"/>
          </a:solidFill>
          <a:ln w="6350">
            <a:solidFill>
              <a:srgbClr val="FDAE61"/>
            </a:solidFill>
            <a:prstDash val="solid"/>
          </a:ln>
        </p:spPr>
      </p:sp>
      <p:sp>
        <p:nvSpPr>
          <p:cNvPr id="106" name="result 103"/>
          <p:cNvSpPr/>
          <p:nvPr/>
        </p:nvSpPr>
        <p:spPr>
          <a:xfrm>
            <a:off x="3645374" y="5705856"/>
            <a:ext cx="118872" cy="118872"/>
          </a:xfrm>
          <a:prstGeom prst="ellipse">
            <a:avLst/>
          </a:prstGeom>
          <a:solidFill>
            <a:srgbClr val="FDAE61"/>
          </a:solidFill>
          <a:ln w="6350">
            <a:solidFill>
              <a:srgbClr val="FDAE61"/>
            </a:solidFill>
            <a:prstDash val="solid"/>
          </a:ln>
        </p:spPr>
      </p:sp>
      <p:sp>
        <p:nvSpPr>
          <p:cNvPr id="107" name="result 104"/>
          <p:cNvSpPr/>
          <p:nvPr/>
        </p:nvSpPr>
        <p:spPr>
          <a:xfrm>
            <a:off x="3836657" y="5847588"/>
            <a:ext cx="118872" cy="118872"/>
          </a:xfrm>
          <a:prstGeom prst="ellipse">
            <a:avLst/>
          </a:prstGeom>
          <a:solidFill>
            <a:srgbClr val="FDAE61"/>
          </a:solidFill>
          <a:ln w="6350">
            <a:solidFill>
              <a:srgbClr val="FDAE61"/>
            </a:solidFill>
            <a:prstDash val="solid"/>
          </a:ln>
        </p:spPr>
      </p:sp>
      <p:sp>
        <p:nvSpPr>
          <p:cNvPr id="108" name="result 105"/>
          <p:cNvSpPr/>
          <p:nvPr/>
        </p:nvSpPr>
        <p:spPr>
          <a:xfrm>
            <a:off x="3836657" y="5705856"/>
            <a:ext cx="118872" cy="118872"/>
          </a:xfrm>
          <a:prstGeom prst="ellipse">
            <a:avLst/>
          </a:prstGeom>
          <a:solidFill>
            <a:srgbClr val="FDAE61"/>
          </a:solidFill>
          <a:ln w="6350">
            <a:solidFill>
              <a:srgbClr val="FDAE61"/>
            </a:solidFill>
            <a:prstDash val="solid"/>
          </a:ln>
        </p:spPr>
      </p:sp>
      <p:sp>
        <p:nvSpPr>
          <p:cNvPr id="109" name="result 106"/>
          <p:cNvSpPr/>
          <p:nvPr/>
        </p:nvSpPr>
        <p:spPr>
          <a:xfrm>
            <a:off x="3836657" y="5564124"/>
            <a:ext cx="118872" cy="118872"/>
          </a:xfrm>
          <a:prstGeom prst="ellipse">
            <a:avLst/>
          </a:prstGeom>
          <a:solidFill>
            <a:srgbClr val="FDAE61"/>
          </a:solidFill>
          <a:ln w="6350">
            <a:solidFill>
              <a:srgbClr val="FDAE61"/>
            </a:solidFill>
            <a:prstDash val="solid"/>
          </a:ln>
        </p:spPr>
      </p:sp>
      <p:sp>
        <p:nvSpPr>
          <p:cNvPr id="110" name="result 107"/>
          <p:cNvSpPr/>
          <p:nvPr/>
        </p:nvSpPr>
        <p:spPr>
          <a:xfrm>
            <a:off x="4027940" y="5847588"/>
            <a:ext cx="118872" cy="118872"/>
          </a:xfrm>
          <a:prstGeom prst="ellipse">
            <a:avLst/>
          </a:prstGeom>
          <a:solidFill>
            <a:srgbClr val="FDAE61"/>
          </a:solidFill>
          <a:ln w="6350">
            <a:solidFill>
              <a:srgbClr val="FDAE61"/>
            </a:solidFill>
            <a:prstDash val="solid"/>
          </a:ln>
        </p:spPr>
      </p:sp>
      <p:sp>
        <p:nvSpPr>
          <p:cNvPr id="111" name="result 108"/>
          <p:cNvSpPr/>
          <p:nvPr/>
        </p:nvSpPr>
        <p:spPr>
          <a:xfrm>
            <a:off x="4219223" y="5847588"/>
            <a:ext cx="118872" cy="118872"/>
          </a:xfrm>
          <a:prstGeom prst="ellipse">
            <a:avLst/>
          </a:prstGeom>
          <a:solidFill>
            <a:srgbClr val="FDAE61"/>
          </a:solidFill>
          <a:ln w="6350">
            <a:solidFill>
              <a:srgbClr val="FDAE61"/>
            </a:solidFill>
            <a:prstDash val="solid"/>
          </a:ln>
        </p:spPr>
      </p:sp>
      <p:sp>
        <p:nvSpPr>
          <p:cNvPr id="112" name="result 109"/>
          <p:cNvSpPr/>
          <p:nvPr/>
        </p:nvSpPr>
        <p:spPr>
          <a:xfrm>
            <a:off x="4601789" y="5847588"/>
            <a:ext cx="118872" cy="118872"/>
          </a:xfrm>
          <a:prstGeom prst="ellipse">
            <a:avLst/>
          </a:prstGeom>
          <a:solidFill>
            <a:srgbClr val="F46D43"/>
          </a:solidFill>
          <a:ln w="6350">
            <a:solidFill>
              <a:srgbClr val="F46D43"/>
            </a:solidFill>
            <a:prstDash val="solid"/>
          </a:ln>
        </p:spPr>
      </p:sp>
      <p:sp>
        <p:nvSpPr>
          <p:cNvPr id="113" name="result 110"/>
          <p:cNvSpPr/>
          <p:nvPr/>
        </p:nvSpPr>
        <p:spPr>
          <a:xfrm>
            <a:off x="4793072" y="5847588"/>
            <a:ext cx="118872" cy="118872"/>
          </a:xfrm>
          <a:prstGeom prst="ellipse">
            <a:avLst/>
          </a:prstGeom>
          <a:solidFill>
            <a:srgbClr val="F46D43"/>
          </a:solidFill>
          <a:ln w="6350">
            <a:solidFill>
              <a:srgbClr val="F46D43"/>
            </a:solidFill>
            <a:prstDash val="solid"/>
          </a:ln>
        </p:spPr>
      </p:sp>
      <p:sp>
        <p:nvSpPr>
          <p:cNvPr id="114" name="result 111"/>
          <p:cNvSpPr/>
          <p:nvPr/>
        </p:nvSpPr>
        <p:spPr>
          <a:xfrm>
            <a:off x="5175638" y="5847588"/>
            <a:ext cx="118872" cy="118872"/>
          </a:xfrm>
          <a:prstGeom prst="ellipse">
            <a:avLst/>
          </a:prstGeom>
          <a:solidFill>
            <a:srgbClr val="F46D43"/>
          </a:solidFill>
          <a:ln w="6350">
            <a:solidFill>
              <a:srgbClr val="F46D43"/>
            </a:solidFill>
            <a:prstDash val="solid"/>
          </a:ln>
        </p:spPr>
      </p:sp>
      <p:sp>
        <p:nvSpPr>
          <p:cNvPr id="115" name="result 112"/>
          <p:cNvSpPr/>
          <p:nvPr/>
        </p:nvSpPr>
        <p:spPr>
          <a:xfrm>
            <a:off x="5558204" y="5847588"/>
            <a:ext cx="118872" cy="118872"/>
          </a:xfrm>
          <a:prstGeom prst="ellipse">
            <a:avLst/>
          </a:prstGeom>
          <a:solidFill>
            <a:srgbClr val="F46D43"/>
          </a:solidFill>
          <a:ln w="6350">
            <a:solidFill>
              <a:srgbClr val="F46D43"/>
            </a:solidFill>
            <a:prstDash val="solid"/>
          </a:ln>
        </p:spPr>
      </p:sp>
      <p:sp>
        <p:nvSpPr>
          <p:cNvPr id="116" name="result 113"/>
          <p:cNvSpPr/>
          <p:nvPr/>
        </p:nvSpPr>
        <p:spPr>
          <a:xfrm>
            <a:off x="5940770" y="5847588"/>
            <a:ext cx="118872" cy="118872"/>
          </a:xfrm>
          <a:prstGeom prst="ellipse">
            <a:avLst/>
          </a:prstGeom>
          <a:solidFill>
            <a:srgbClr val="D73027"/>
          </a:solidFill>
          <a:ln w="6350">
            <a:solidFill>
              <a:srgbClr val="D73027"/>
            </a:solidFill>
            <a:prstDash val="solid"/>
          </a:ln>
        </p:spPr>
      </p:sp>
      <p:sp>
        <p:nvSpPr>
          <p:cNvPr id="117" name="result 114"/>
          <p:cNvSpPr/>
          <p:nvPr/>
        </p:nvSpPr>
        <p:spPr>
          <a:xfrm>
            <a:off x="5940770" y="5705856"/>
            <a:ext cx="118872" cy="118872"/>
          </a:xfrm>
          <a:prstGeom prst="ellipse">
            <a:avLst/>
          </a:prstGeom>
          <a:solidFill>
            <a:srgbClr val="D73027"/>
          </a:solidFill>
          <a:ln w="6350">
            <a:solidFill>
              <a:srgbClr val="D73027"/>
            </a:solidFill>
            <a:prstDash val="solid"/>
          </a:ln>
        </p:spPr>
      </p:sp>
      <p:sp>
        <p:nvSpPr>
          <p:cNvPr id="118" name="result 115"/>
          <p:cNvSpPr/>
          <p:nvPr/>
        </p:nvSpPr>
        <p:spPr>
          <a:xfrm>
            <a:off x="5940770" y="5564124"/>
            <a:ext cx="118872" cy="118872"/>
          </a:xfrm>
          <a:prstGeom prst="ellipse">
            <a:avLst/>
          </a:prstGeom>
          <a:solidFill>
            <a:srgbClr val="D73027"/>
          </a:solidFill>
          <a:ln w="6350">
            <a:solidFill>
              <a:srgbClr val="D73027"/>
            </a:solidFill>
            <a:prstDash val="solid"/>
          </a:ln>
        </p:spPr>
      </p:sp>
      <p:sp>
        <p:nvSpPr>
          <p:cNvPr id="119" name="result 116"/>
          <p:cNvSpPr/>
          <p:nvPr/>
        </p:nvSpPr>
        <p:spPr>
          <a:xfrm>
            <a:off x="5940770" y="5422392"/>
            <a:ext cx="118872" cy="118872"/>
          </a:xfrm>
          <a:prstGeom prst="ellipse">
            <a:avLst/>
          </a:prstGeom>
          <a:solidFill>
            <a:srgbClr val="D73027"/>
          </a:solidFill>
          <a:ln w="6350">
            <a:solidFill>
              <a:srgbClr val="D73027"/>
            </a:solidFill>
            <a:prstDash val="solid"/>
          </a:ln>
        </p:spPr>
      </p:sp>
      <p:sp>
        <p:nvSpPr>
          <p:cNvPr id="120" name="result 117"/>
          <p:cNvSpPr/>
          <p:nvPr/>
        </p:nvSpPr>
        <p:spPr>
          <a:xfrm>
            <a:off x="5940770" y="5280660"/>
            <a:ext cx="118872" cy="118872"/>
          </a:xfrm>
          <a:prstGeom prst="ellipse">
            <a:avLst/>
          </a:prstGeom>
          <a:solidFill>
            <a:srgbClr val="D73027"/>
          </a:solidFill>
          <a:ln w="6350">
            <a:solidFill>
              <a:srgbClr val="D73027"/>
            </a:solidFill>
            <a:prstDash val="solid"/>
          </a:ln>
        </p:spPr>
      </p:sp>
      <p:sp>
        <p:nvSpPr>
          <p:cNvPr id="121" name="result 118"/>
          <p:cNvSpPr/>
          <p:nvPr/>
        </p:nvSpPr>
        <p:spPr>
          <a:xfrm>
            <a:off x="6132053" y="5847588"/>
            <a:ext cx="118872" cy="118872"/>
          </a:xfrm>
          <a:prstGeom prst="ellipse">
            <a:avLst/>
          </a:prstGeom>
          <a:solidFill>
            <a:srgbClr val="D73027"/>
          </a:solidFill>
          <a:ln w="6350">
            <a:solidFill>
              <a:srgbClr val="D73027"/>
            </a:solidFill>
            <a:prstDash val="solid"/>
          </a:ln>
        </p:spPr>
      </p:sp>
      <p:sp>
        <p:nvSpPr>
          <p:cNvPr id="122" name="result 119"/>
          <p:cNvSpPr/>
          <p:nvPr/>
        </p:nvSpPr>
        <p:spPr>
          <a:xfrm>
            <a:off x="6132053" y="5705856"/>
            <a:ext cx="118872" cy="118872"/>
          </a:xfrm>
          <a:prstGeom prst="ellipse">
            <a:avLst/>
          </a:prstGeom>
          <a:solidFill>
            <a:srgbClr val="D73027"/>
          </a:solidFill>
          <a:ln w="6350">
            <a:solidFill>
              <a:srgbClr val="D73027"/>
            </a:solidFill>
            <a:prstDash val="solid"/>
          </a:ln>
        </p:spPr>
      </p:sp>
      <p:sp>
        <p:nvSpPr>
          <p:cNvPr id="123" name="result 120"/>
          <p:cNvSpPr/>
          <p:nvPr/>
        </p:nvSpPr>
        <p:spPr>
          <a:xfrm>
            <a:off x="6132053" y="5564124"/>
            <a:ext cx="118872" cy="118872"/>
          </a:xfrm>
          <a:prstGeom prst="ellipse">
            <a:avLst/>
          </a:prstGeom>
          <a:solidFill>
            <a:srgbClr val="D73027"/>
          </a:solidFill>
          <a:ln w="6350">
            <a:solidFill>
              <a:srgbClr val="D73027"/>
            </a:solidFill>
            <a:prstDash val="solid"/>
          </a:ln>
        </p:spPr>
      </p:sp>
      <p:sp>
        <p:nvSpPr>
          <p:cNvPr id="124" name="result 121"/>
          <p:cNvSpPr/>
          <p:nvPr/>
        </p:nvSpPr>
        <p:spPr>
          <a:xfrm>
            <a:off x="6132053" y="5422392"/>
            <a:ext cx="118872" cy="118872"/>
          </a:xfrm>
          <a:prstGeom prst="ellipse">
            <a:avLst/>
          </a:prstGeom>
          <a:solidFill>
            <a:srgbClr val="D73027"/>
          </a:solidFill>
          <a:ln w="6350">
            <a:solidFill>
              <a:srgbClr val="D73027"/>
            </a:solidFill>
            <a:prstDash val="solid"/>
          </a:ln>
        </p:spPr>
      </p:sp>
      <p:sp>
        <p:nvSpPr>
          <p:cNvPr id="125" name="result 122"/>
          <p:cNvSpPr/>
          <p:nvPr/>
        </p:nvSpPr>
        <p:spPr>
          <a:xfrm>
            <a:off x="6323336" y="5847588"/>
            <a:ext cx="118872" cy="118872"/>
          </a:xfrm>
          <a:prstGeom prst="ellipse">
            <a:avLst/>
          </a:prstGeom>
          <a:solidFill>
            <a:srgbClr val="D73027"/>
          </a:solidFill>
          <a:ln w="6350">
            <a:solidFill>
              <a:srgbClr val="D73027"/>
            </a:solidFill>
            <a:prstDash val="solid"/>
          </a:ln>
        </p:spPr>
      </p:sp>
      <p:sp>
        <p:nvSpPr>
          <p:cNvPr id="126" name="result 123"/>
          <p:cNvSpPr/>
          <p:nvPr/>
        </p:nvSpPr>
        <p:spPr>
          <a:xfrm>
            <a:off x="7088468" y="5847588"/>
            <a:ext cx="118872" cy="118872"/>
          </a:xfrm>
          <a:prstGeom prst="ellipse">
            <a:avLst/>
          </a:prstGeom>
          <a:solidFill>
            <a:srgbClr val="D73027"/>
          </a:solidFill>
          <a:ln w="6350">
            <a:solidFill>
              <a:srgbClr val="D73027"/>
            </a:solidFill>
            <a:prstDash val="solid"/>
          </a:ln>
        </p:spPr>
      </p:sp>
      <p:sp>
        <p:nvSpPr>
          <p:cNvPr id="127" name="result 124"/>
          <p:cNvSpPr/>
          <p:nvPr/>
        </p:nvSpPr>
        <p:spPr>
          <a:xfrm>
            <a:off x="7279751" y="5847588"/>
            <a:ext cx="118872" cy="118872"/>
          </a:xfrm>
          <a:prstGeom prst="ellipse">
            <a:avLst/>
          </a:prstGeom>
          <a:solidFill>
            <a:srgbClr val="D73027"/>
          </a:solidFill>
          <a:ln w="6350">
            <a:solidFill>
              <a:srgbClr val="D73027"/>
            </a:solidFill>
            <a:prstDash val="solid"/>
          </a:ln>
        </p:spPr>
      </p:sp>
      <p:sp>
        <p:nvSpPr>
          <p:cNvPr id="128" name="result 125"/>
          <p:cNvSpPr/>
          <p:nvPr/>
        </p:nvSpPr>
        <p:spPr>
          <a:xfrm>
            <a:off x="7279751" y="5705856"/>
            <a:ext cx="118872" cy="118872"/>
          </a:xfrm>
          <a:prstGeom prst="ellipse">
            <a:avLst/>
          </a:prstGeom>
          <a:solidFill>
            <a:srgbClr val="D73027"/>
          </a:solidFill>
          <a:ln w="6350">
            <a:solidFill>
              <a:srgbClr val="D73027"/>
            </a:solidFill>
            <a:prstDash val="solid"/>
          </a:ln>
        </p:spPr>
      </p:sp>
      <p:sp>
        <p:nvSpPr>
          <p:cNvPr id="129" name="result 126"/>
          <p:cNvSpPr/>
          <p:nvPr/>
        </p:nvSpPr>
        <p:spPr>
          <a:xfrm>
            <a:off x="7853600" y="5847588"/>
            <a:ext cx="118872" cy="118872"/>
          </a:xfrm>
          <a:prstGeom prst="ellipse">
            <a:avLst/>
          </a:prstGeom>
          <a:solidFill>
            <a:srgbClr val="D73027"/>
          </a:solidFill>
          <a:ln w="6350">
            <a:solidFill>
              <a:srgbClr val="D73027"/>
            </a:solidFill>
            <a:prstDash val="solid"/>
          </a:ln>
        </p:spPr>
      </p:sp>
      <p:sp>
        <p:nvSpPr>
          <p:cNvPr id="130" name="result 127"/>
          <p:cNvSpPr/>
          <p:nvPr/>
        </p:nvSpPr>
        <p:spPr>
          <a:xfrm>
            <a:off x="8044883" y="5847588"/>
            <a:ext cx="118872" cy="118872"/>
          </a:xfrm>
          <a:prstGeom prst="ellipse">
            <a:avLst/>
          </a:prstGeom>
          <a:solidFill>
            <a:srgbClr val="D73027"/>
          </a:solidFill>
          <a:ln w="6350">
            <a:solidFill>
              <a:srgbClr val="D73027"/>
            </a:solidFill>
            <a:prstDash val="solid"/>
          </a:ln>
        </p:spPr>
      </p:sp>
      <p:sp>
        <p:nvSpPr>
          <p:cNvPr id="131" name="result 128"/>
          <p:cNvSpPr/>
          <p:nvPr/>
        </p:nvSpPr>
        <p:spPr>
          <a:xfrm>
            <a:off x="8427449" y="5847588"/>
            <a:ext cx="118872" cy="118872"/>
          </a:xfrm>
          <a:prstGeom prst="ellipse">
            <a:avLst/>
          </a:prstGeom>
          <a:solidFill>
            <a:srgbClr val="D73027"/>
          </a:solidFill>
          <a:ln w="6350">
            <a:solidFill>
              <a:srgbClr val="D73027"/>
            </a:solidFill>
            <a:prstDash val="solid"/>
          </a:ln>
        </p:spPr>
      </p:sp>
      <p:sp>
        <p:nvSpPr>
          <p:cNvPr id="132" name="result 129"/>
          <p:cNvSpPr/>
          <p:nvPr/>
        </p:nvSpPr>
        <p:spPr>
          <a:xfrm>
            <a:off x="8810015" y="5847588"/>
            <a:ext cx="118872" cy="118872"/>
          </a:xfrm>
          <a:prstGeom prst="ellipse">
            <a:avLst/>
          </a:prstGeom>
          <a:solidFill>
            <a:srgbClr val="7A0177"/>
          </a:solidFill>
          <a:ln w="6350">
            <a:solidFill>
              <a:srgbClr val="7A0177"/>
            </a:solidFill>
            <a:prstDash val="solid"/>
          </a:ln>
        </p:spPr>
      </p:sp>
      <p:sp>
        <p:nvSpPr>
          <p:cNvPr id="133" name="result 130"/>
          <p:cNvSpPr/>
          <p:nvPr/>
        </p:nvSpPr>
        <p:spPr>
          <a:xfrm>
            <a:off x="9383864" y="5847588"/>
            <a:ext cx="118872" cy="118872"/>
          </a:xfrm>
          <a:prstGeom prst="ellipse">
            <a:avLst/>
          </a:prstGeom>
          <a:solidFill>
            <a:srgbClr val="7A0177"/>
          </a:solidFill>
          <a:ln w="6350">
            <a:solidFill>
              <a:srgbClr val="7A0177"/>
            </a:solidFill>
            <a:prstDash val="solid"/>
          </a:ln>
        </p:spPr>
      </p:sp>
      <p:sp>
        <p:nvSpPr>
          <p:cNvPr id="134" name="result 131"/>
          <p:cNvSpPr/>
          <p:nvPr/>
        </p:nvSpPr>
        <p:spPr>
          <a:xfrm>
            <a:off x="11296695" y="5847588"/>
            <a:ext cx="118872" cy="118872"/>
          </a:xfrm>
          <a:prstGeom prst="ellipse">
            <a:avLst/>
          </a:prstGeom>
          <a:solidFill>
            <a:srgbClr val="7A0177"/>
          </a:solidFill>
          <a:ln w="6350">
            <a:solidFill>
              <a:srgbClr val="7A0177"/>
            </a:solidFill>
            <a:prstDash val="solid"/>
          </a:ln>
        </p:spPr>
      </p:sp>
      <p:sp>
        <p:nvSpPr>
          <p:cNvPr id="135" name="Text 133"/>
          <p:cNvSpPr txBox="1"/>
          <p:nvPr/>
        </p:nvSpPr>
        <p:spPr>
          <a:xfrm>
            <a:off x="182880" y="6035040"/>
            <a:ext cx="731520" cy="274320"/>
          </a:xfrm>
          <a:prstGeom prst="rect">
            <a:avLst/>
          </a:prstGeom>
          <a:noFill/>
          <a:ln/>
        </p:spPr>
        <p:txBody>
          <a:bodyPr wrap="square" lIns="0" tIns="0" rIns="0" bIns="0" rtlCol="0" anchor="t"/>
          <a:lstStyle/>
          <a:p>
            <a:pPr algn="ctr" indent="0" marL="0">
              <a:buNone/>
            </a:pPr>
            <a:r>
              <a:rPr lang="en-US" sz="1100" dirty="0">
                <a:solidFill>
                  <a:srgbClr val="AEB8CC"/>
                </a:solidFill>
              </a:rPr>
              <a:t>1×</a:t>
            </a:r>
            <a:endParaRPr lang="en-US" sz="1100" dirty="0"/>
          </a:p>
        </p:txBody>
      </p:sp>
      <p:sp>
        <p:nvSpPr>
          <p:cNvPr id="136" name="Text 134"/>
          <p:cNvSpPr txBox="1"/>
          <p:nvPr/>
        </p:nvSpPr>
        <p:spPr>
          <a:xfrm>
            <a:off x="2095710" y="6035040"/>
            <a:ext cx="731520" cy="274320"/>
          </a:xfrm>
          <a:prstGeom prst="rect">
            <a:avLst/>
          </a:prstGeom>
          <a:noFill/>
          <a:ln/>
        </p:spPr>
        <p:txBody>
          <a:bodyPr wrap="square" lIns="0" tIns="0" rIns="0" bIns="0" rtlCol="0" anchor="t"/>
          <a:lstStyle/>
          <a:p>
            <a:pPr algn="ctr" indent="0" marL="0">
              <a:buNone/>
            </a:pPr>
            <a:r>
              <a:rPr lang="en-US" sz="1100" dirty="0">
                <a:solidFill>
                  <a:srgbClr val="AEB8CC"/>
                </a:solidFill>
              </a:rPr>
              <a:t>10×</a:t>
            </a:r>
            <a:endParaRPr lang="en-US" sz="1100" dirty="0"/>
          </a:p>
        </p:txBody>
      </p:sp>
      <p:sp>
        <p:nvSpPr>
          <p:cNvPr id="137" name="Text 135"/>
          <p:cNvSpPr txBox="1"/>
          <p:nvPr/>
        </p:nvSpPr>
        <p:spPr>
          <a:xfrm>
            <a:off x="4008540" y="6035040"/>
            <a:ext cx="731520" cy="274320"/>
          </a:xfrm>
          <a:prstGeom prst="rect">
            <a:avLst/>
          </a:prstGeom>
          <a:noFill/>
          <a:ln/>
        </p:spPr>
        <p:txBody>
          <a:bodyPr wrap="square" lIns="0" tIns="0" rIns="0" bIns="0" rtlCol="0" anchor="t"/>
          <a:lstStyle/>
          <a:p>
            <a:pPr algn="ctr" indent="0" marL="0">
              <a:buNone/>
            </a:pPr>
            <a:r>
              <a:rPr lang="en-US" sz="1100" dirty="0">
                <a:solidFill>
                  <a:srgbClr val="AEB8CC"/>
                </a:solidFill>
              </a:rPr>
              <a:t>10²×</a:t>
            </a:r>
            <a:endParaRPr lang="en-US" sz="1100" dirty="0"/>
          </a:p>
        </p:txBody>
      </p:sp>
      <p:sp>
        <p:nvSpPr>
          <p:cNvPr id="138" name="Text 136"/>
          <p:cNvSpPr txBox="1"/>
          <p:nvPr/>
        </p:nvSpPr>
        <p:spPr>
          <a:xfrm>
            <a:off x="5921371" y="6035040"/>
            <a:ext cx="731520" cy="274320"/>
          </a:xfrm>
          <a:prstGeom prst="rect">
            <a:avLst/>
          </a:prstGeom>
          <a:noFill/>
          <a:ln/>
        </p:spPr>
        <p:txBody>
          <a:bodyPr wrap="square" lIns="0" tIns="0" rIns="0" bIns="0" rtlCol="0" anchor="t"/>
          <a:lstStyle/>
          <a:p>
            <a:pPr algn="ctr" indent="0" marL="0">
              <a:buNone/>
            </a:pPr>
            <a:r>
              <a:rPr lang="en-US" sz="1100" dirty="0">
                <a:solidFill>
                  <a:srgbClr val="AEB8CC"/>
                </a:solidFill>
              </a:rPr>
              <a:t>10³×</a:t>
            </a:r>
            <a:endParaRPr lang="en-US" sz="1100" dirty="0"/>
          </a:p>
        </p:txBody>
      </p:sp>
      <p:sp>
        <p:nvSpPr>
          <p:cNvPr id="139" name="Text 137"/>
          <p:cNvSpPr txBox="1"/>
          <p:nvPr/>
        </p:nvSpPr>
        <p:spPr>
          <a:xfrm>
            <a:off x="7834201" y="6035040"/>
            <a:ext cx="731520" cy="274320"/>
          </a:xfrm>
          <a:prstGeom prst="rect">
            <a:avLst/>
          </a:prstGeom>
          <a:noFill/>
          <a:ln/>
        </p:spPr>
        <p:txBody>
          <a:bodyPr wrap="square" lIns="0" tIns="0" rIns="0" bIns="0" rtlCol="0" anchor="t"/>
          <a:lstStyle/>
          <a:p>
            <a:pPr algn="ctr" indent="0" marL="0">
              <a:buNone/>
            </a:pPr>
            <a:r>
              <a:rPr lang="en-US" sz="1100" dirty="0">
                <a:solidFill>
                  <a:srgbClr val="AEB8CC"/>
                </a:solidFill>
              </a:rPr>
              <a:t>10⁴×</a:t>
            </a:r>
            <a:endParaRPr lang="en-US" sz="1100" dirty="0"/>
          </a:p>
        </p:txBody>
      </p:sp>
      <p:sp>
        <p:nvSpPr>
          <p:cNvPr id="140" name="Text 138"/>
          <p:cNvSpPr txBox="1"/>
          <p:nvPr/>
        </p:nvSpPr>
        <p:spPr>
          <a:xfrm>
            <a:off x="9747031" y="6035040"/>
            <a:ext cx="731520" cy="274320"/>
          </a:xfrm>
          <a:prstGeom prst="rect">
            <a:avLst/>
          </a:prstGeom>
          <a:noFill/>
          <a:ln/>
        </p:spPr>
        <p:txBody>
          <a:bodyPr wrap="square" lIns="0" tIns="0" rIns="0" bIns="0" rtlCol="0" anchor="t"/>
          <a:lstStyle/>
          <a:p>
            <a:pPr algn="ctr" indent="0" marL="0">
              <a:buNone/>
            </a:pPr>
            <a:r>
              <a:rPr lang="en-US" sz="1100" dirty="0">
                <a:solidFill>
                  <a:srgbClr val="AEB8CC"/>
                </a:solidFill>
              </a:rPr>
              <a:t>10⁵×</a:t>
            </a:r>
            <a:endParaRPr lang="en-US" sz="1100" dirty="0"/>
          </a:p>
        </p:txBody>
      </p:sp>
      <p:sp>
        <p:nvSpPr>
          <p:cNvPr id="141" name="Text 139"/>
          <p:cNvSpPr txBox="1"/>
          <p:nvPr/>
        </p:nvSpPr>
        <p:spPr>
          <a:xfrm>
            <a:off x="548640" y="6336792"/>
            <a:ext cx="11094415" cy="274320"/>
          </a:xfrm>
          <a:prstGeom prst="rect">
            <a:avLst/>
          </a:prstGeom>
          <a:noFill/>
          <a:ln/>
        </p:spPr>
        <p:txBody>
          <a:bodyPr wrap="square" lIns="0" tIns="0" rIns="0" bIns="0" rtlCol="0" anchor="t"/>
          <a:lstStyle/>
          <a:p>
            <a:pPr indent="0" marL="0">
              <a:buNone/>
            </a:pPr>
            <a:r>
              <a:rPr lang="en-US" sz="1100" i="1" dirty="0">
                <a:solidFill>
                  <a:srgbClr val="AEB8CC"/>
                </a:solidFill>
              </a:rPr>
              <a:t>Each dot is one of the 131 test variants (run22), on a log scale of time relative to hand-written arm64 assembler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Where this started: Keith Shortridge, ADASS 2019</a:t>
            </a:r>
            <a:endParaRPr lang="en-US" sz="3200" dirty="0"/>
          </a:p>
        </p:txBody>
      </p:sp>
      <p:pic>
        <p:nvPicPr>
          <p:cNvPr id="3" name="2019 poster banner" descr="Banner of Keith Shortridge's ADASS 2019 poster: 'This code is over 1,000,000 times faster than that code', with his photo">    </p:cNvPr>
          <p:cNvPicPr>
            <a:picLocks noChangeAspect="1"/>
          </p:cNvPicPr>
          <p:nvPr/>
        </p:nvPicPr>
        <p:blipFill>
          <a:blip r:embed="rId1"/>
          <a:stretch>
            <a:fillRect/>
          </a:stretch>
        </p:blipFill>
        <p:spPr>
          <a:xfrm>
            <a:off x="548640" y="1143000"/>
            <a:ext cx="11094415" cy="1724381"/>
          </a:xfrm>
          <a:prstGeom prst="rect">
            <a:avLst/>
          </a:prstGeom>
        </p:spPr>
      </p:pic>
      <p:sp>
        <p:nvSpPr>
          <p:cNvPr id="4" name="Text 1"/>
          <p:cNvSpPr txBox="1"/>
          <p:nvPr/>
        </p:nvSpPr>
        <p:spPr>
          <a:xfrm>
            <a:off x="548640" y="6016752"/>
            <a:ext cx="11094415" cy="274320"/>
          </a:xfrm>
          <a:prstGeom prst="rect">
            <a:avLst/>
          </a:prstGeom>
          <a:noFill/>
          <a:ln/>
        </p:spPr>
        <p:txBody>
          <a:bodyPr wrap="square" lIns="0" tIns="0" rIns="0" bIns="0" rtlCol="0" anchor="ctr"/>
          <a:lstStyle/>
          <a:p>
            <a:pPr indent="0" marL="0">
              <a:buNone/>
            </a:pPr>
            <a:r>
              <a:rPr lang="en-US" sz="1100" dirty="0">
                <a:solidFill>
                  <a:srgbClr val="5A6275"/>
                </a:solidFill>
              </a:rPr>
              <a:t>Source: K. Shortridge, ADASS 2019, paper P9-17, poster and full write-up (Nov 2019) · </a:t>
            </a:r>
            <a:pPr indent="0" marL="0">
              <a:buNone/>
            </a:pPr>
            <a:r>
              <a:rPr lang="en-US" sz="1100" u="sng" dirty="0">
                <a:solidFill>
                  <a:schemeClr val="accent5"/>
                </a:solidFill>
                <a:hlinkClick r:id="rId2" invalidUrl="" action="" tgtFrame="" tooltip="" history="1" highlightClick="0" endSnd="0">
                  <a:extLst>
                    <a:ext uri="{A12FA001-AC4F-418D-AE19-62706E023703}">
                      <ahyp:hlinkClr xmlns:ahyp="http://schemas.microsoft.com/office/drawing/2018/hyperlinkcolor" val="tx"/>
                    </a:ext>
                  </a:extLst>
                </a:hlinkClick>
              </a:rPr>
              <a:t>github.com/KnaveAndVarlet/ADASS2019</a:t>
            </a:r>
            <a:endParaRPr lang="en-US" sz="1100" dirty="0"/>
          </a:p>
        </p:txBody>
      </p:sp>
      <p:pic>
        <p:nvPicPr>
          <p:cNvPr id="5" name="2019 results table" descr="Keith Shortridge's 2019 colour-coded table of relative times by language and compiler option">    </p:cNvPr>
          <p:cNvPicPr>
            <a:picLocks noChangeAspect="1"/>
          </p:cNvPicPr>
          <p:nvPr/>
        </p:nvPicPr>
        <p:blipFill>
          <a:blip r:embed="rId3"/>
          <a:stretch>
            <a:fillRect/>
          </a:stretch>
        </p:blipFill>
        <p:spPr>
          <a:xfrm>
            <a:off x="8637144" y="3141701"/>
            <a:ext cx="3005912" cy="2756179"/>
          </a:xfrm>
          <a:prstGeom prst="rect">
            <a:avLst/>
          </a:prstGeom>
        </p:spPr>
      </p:pic>
      <p:sp>
        <p:nvSpPr>
          <p:cNvPr id="6" name="Text 2"/>
          <p:cNvSpPr txBox="1"/>
          <p:nvPr/>
        </p:nvSpPr>
        <p:spPr>
          <a:xfrm>
            <a:off x="548640" y="3141701"/>
            <a:ext cx="7722744" cy="16002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12 languages, one deliberately trivial kernel</a:t>
            </a:r>
            <a:endParaRPr lang="en-US" sz="1600" dirty="0"/>
          </a:p>
          <a:p>
            <a:pPr marL="342900" indent="-342900">
              <a:spcAft>
                <a:spcPts val="600"/>
              </a:spcAft>
              <a:buSzPct val="100000"/>
              <a:buChar char="•"/>
            </a:pPr>
            <a:r>
              <a:rPr lang="en-US" sz="1600" dirty="0">
                <a:solidFill>
                  <a:schemeClr val="tx1"/>
                </a:solidFill>
              </a:rPr>
              <a:t>Fastest to slowest: more than a million-fold</a:t>
            </a:r>
            <a:endParaRPr lang="en-US" sz="1600" dirty="0"/>
          </a:p>
          <a:p>
            <a:pPr marL="342900" indent="-342900">
              <a:spcAft>
                <a:spcPts val="600"/>
              </a:spcAft>
              <a:buSzPct val="100000"/>
              <a:buChar char="•"/>
            </a:pPr>
            <a:r>
              <a:rPr lang="en-US" sz="1600" dirty="0">
                <a:solidFill>
                  <a:schemeClr val="tx1"/>
                </a:solidFill>
              </a:rPr>
              <a:t>Compiler options alone: nearly 500× in one program</a:t>
            </a:r>
            <a:endParaRPr lang="en-US" sz="1600" dirty="0"/>
          </a:p>
          <a:p>
            <a:pPr marL="342900" indent="-342900">
              <a:spcAft>
                <a:spcPts val="600"/>
              </a:spcAft>
              <a:buSzPct val="100000"/>
              <a:buChar char="•"/>
            </a:pPr>
            <a:r>
              <a:rPr lang="en-US" sz="1600" dirty="0">
                <a:solidFill>
                  <a:schemeClr val="tx1"/>
                </a:solidFill>
              </a:rPr>
              <a:t>Conference feedback went straight back in: numba, a Julia tweak, Rust idioms</a:t>
            </a:r>
            <a:endParaRPr lang="en-US" sz="1600" dirty="0"/>
          </a:p>
        </p:txBody>
      </p:sp>
      <p:sp>
        <p:nvSpPr>
          <p:cNvPr id="7" name="kernel code card"/>
          <p:cNvSpPr/>
          <p:nvPr/>
        </p:nvSpPr>
        <p:spPr>
          <a:xfrm>
            <a:off x="548640" y="4833341"/>
            <a:ext cx="7722744" cy="1064539"/>
          </a:xfrm>
          <a:prstGeom prst="roundRect">
            <a:avLst>
              <a:gd name="adj" fmla="val 8590"/>
            </a:avLst>
          </a:prstGeom>
          <a:solidFill>
            <a:schemeClr val="tx2"/>
          </a:solidFill>
          <a:ln w="12700">
            <a:solidFill>
              <a:schemeClr val="tx2"/>
            </a:solidFill>
            <a:prstDash val="solid"/>
          </a:ln>
        </p:spPr>
      </p:sp>
      <p:sp>
        <p:nvSpPr>
          <p:cNvPr id="8" name="Text 4"/>
          <p:cNvSpPr txBox="1"/>
          <p:nvPr/>
        </p:nvSpPr>
        <p:spPr>
          <a:xfrm>
            <a:off x="777240" y="4833341"/>
            <a:ext cx="7265544" cy="1064539"/>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for (int iy = 0; iy &lt; ny; iy++)</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for (int ix = 0; ix &lt; nx; ix++)</a:t>
            </a:r>
            <a:endParaRPr lang="en-US" sz="1400" dirty="0"/>
          </a:p>
          <a:p>
            <a:pPr indent="0" marL="0">
              <a:buNone/>
            </a:pPr>
            <a:r>
              <a:rPr lang="en-US" sz="1400" dirty="0">
                <a:solidFill>
                  <a:srgbClr val="FEE08B"/>
                </a:solidFill>
                <a:latin typeface="Courier New" pitchFamily="34" charset="0"/>
                <a:ea typeface="Courier New" pitchFamily="34" charset="-122"/>
                <a:cs typeface="Courier New" pitchFamily="34" charset="-120"/>
              </a:rPr>
              <a:t>    Out[iy][ix] = In[iy][ix] + ix + iy;</a:t>
            </a:r>
            <a:endParaRPr lang="en-US" sz="1400" dirty="0"/>
          </a:p>
          <a:p>
            <a:pPr indent="0" marL="0">
              <a:buNone/>
            </a:pPr>
            <a:r>
              <a:rPr lang="en-US" sz="1400" dirty="0">
                <a:solidFill>
                  <a:srgbClr val="AEB8CC"/>
                </a:solidFill>
                <a:latin typeface="Courier New" pitchFamily="34" charset="0"/>
                <a:ea typeface="Courier New" pitchFamily="34" charset="-122"/>
                <a:cs typeface="Courier New" pitchFamily="34" charset="-120"/>
              </a:rPr>
              <a:t>// 2000 × 10 floats</a:t>
            </a:r>
            <a:endParaRPr lang="en-US" sz="1400" dirty="0"/>
          </a:p>
        </p:txBody>
      </p:sp>
      <p:sp>
        <p:nvSpPr>
          <p:cNvPr id="9" name="kernel equation inset"/>
          <p:cNvSpPr/>
          <p:nvPr/>
        </p:nvSpPr>
        <p:spPr>
          <a:xfrm>
            <a:off x="5208144" y="5022711"/>
            <a:ext cx="2880360" cy="685800"/>
          </a:xfrm>
          <a:prstGeom prst="roundRect">
            <a:avLst>
              <a:gd name="adj" fmla="val 13333"/>
            </a:avLst>
          </a:prstGeom>
          <a:solidFill>
            <a:schemeClr val="bg2"/>
          </a:solidFill>
          <a:ln w="12700">
            <a:solidFill>
              <a:schemeClr val="bg2"/>
            </a:solidFill>
            <a:prstDash val="solid"/>
          </a:ln>
        </p:spPr>
      </p:sp>
      <p:sp>
        <p:nvSpPr>
          <p:cNvPr id="10" name="Text 6"/>
          <p:cNvSpPr txBox="1"/>
          <p:nvPr/>
        </p:nvSpPr>
        <p:spPr>
          <a:xfrm>
            <a:off x="5208144" y="5022711"/>
            <a:ext cx="2880360" cy="685800"/>
          </a:xfrm>
          <a:prstGeom prst="rect">
            <a:avLst/>
          </a:prstGeom>
          <a:noFill/>
          <a:ln/>
        </p:spPr>
        <p:txBody>
          <a:bodyPr wrap="square" lIns="0" tIns="0" rIns="0" bIns="0" rtlCol="0" anchor="ctr"/>
          <a:lstStyle/>
          <a:p>
            <a:pPr algn="ctr" indent="0" marL="0">
              <a:buNone/>
            </a:pPr>
            <a:r>
              <a:rPr lang="en-US" sz="1800" i="1" dirty="0">
                <a:solidFill>
                  <a:schemeClr val="tx2"/>
                </a:solidFill>
                <a:latin typeface="Cambria Math" pitchFamily="34" charset="0"/>
                <a:ea typeface="Cambria Math" pitchFamily="34" charset="-122"/>
                <a:cs typeface="Cambria Math" pitchFamily="34" charset="-120"/>
              </a:rPr>
              <a:t>B</a:t>
            </a:r>
            <a:pPr algn="ctr" indent="0" marL="0">
              <a:buNone/>
            </a:pPr>
            <a:r>
              <a:rPr lang="en-US" sz="1800" dirty="0">
                <a:solidFill>
                  <a:schemeClr val="tx2"/>
                </a:solidFill>
                <a:latin typeface="Cambria Math" pitchFamily="34" charset="0"/>
                <a:ea typeface="Cambria Math" pitchFamily="34" charset="-122"/>
                <a:cs typeface="Cambria Math" pitchFamily="34" charset="-120"/>
              </a:rPr>
              <a:t>(</a:t>
            </a:r>
            <a:pPr algn="ctr" indent="0" marL="0">
              <a:buNone/>
            </a:pPr>
            <a:r>
              <a:rPr lang="en-US" sz="1800" i="1" dirty="0">
                <a:solidFill>
                  <a:schemeClr val="tx2"/>
                </a:solidFill>
                <a:latin typeface="Cambria Math" pitchFamily="34" charset="0"/>
                <a:ea typeface="Cambria Math" pitchFamily="34" charset="-122"/>
                <a:cs typeface="Cambria Math" pitchFamily="34" charset="-120"/>
              </a:rPr>
              <a:t>x</a:t>
            </a:r>
            <a:pPr algn="ctr" indent="0" marL="0">
              <a:buNone/>
            </a:pPr>
            <a:r>
              <a:rPr lang="en-US" sz="1800" dirty="0">
                <a:solidFill>
                  <a:schemeClr val="tx2"/>
                </a:solidFill>
                <a:latin typeface="Cambria Math" pitchFamily="34" charset="0"/>
                <a:ea typeface="Cambria Math" pitchFamily="34" charset="-122"/>
                <a:cs typeface="Cambria Math" pitchFamily="34" charset="-120"/>
              </a:rPr>
              <a:t>, </a:t>
            </a:r>
            <a:pPr algn="ctr" indent="0" marL="0">
              <a:buNone/>
            </a:pPr>
            <a:r>
              <a:rPr lang="en-US" sz="1800" i="1" dirty="0">
                <a:solidFill>
                  <a:schemeClr val="tx2"/>
                </a:solidFill>
                <a:latin typeface="Cambria Math" pitchFamily="34" charset="0"/>
                <a:ea typeface="Cambria Math" pitchFamily="34" charset="-122"/>
                <a:cs typeface="Cambria Math" pitchFamily="34" charset="-120"/>
              </a:rPr>
              <a:t>y</a:t>
            </a:r>
            <a:pPr algn="ctr" indent="0" marL="0">
              <a:buNone/>
            </a:pPr>
            <a:r>
              <a:rPr lang="en-US" sz="1800" dirty="0">
                <a:solidFill>
                  <a:schemeClr val="tx2"/>
                </a:solidFill>
                <a:latin typeface="Cambria Math" pitchFamily="34" charset="0"/>
                <a:ea typeface="Cambria Math" pitchFamily="34" charset="-122"/>
                <a:cs typeface="Cambria Math" pitchFamily="34" charset="-120"/>
              </a:rPr>
              <a:t>) = </a:t>
            </a:r>
            <a:pPr algn="ctr" indent="0" marL="0">
              <a:buNone/>
            </a:pPr>
            <a:r>
              <a:rPr lang="en-US" sz="1800" i="1" dirty="0">
                <a:solidFill>
                  <a:schemeClr val="tx2"/>
                </a:solidFill>
                <a:latin typeface="Cambria Math" pitchFamily="34" charset="0"/>
                <a:ea typeface="Cambria Math" pitchFamily="34" charset="-122"/>
                <a:cs typeface="Cambria Math" pitchFamily="34" charset="-120"/>
              </a:rPr>
              <a:t>A</a:t>
            </a:r>
            <a:pPr algn="ctr" indent="0" marL="0">
              <a:buNone/>
            </a:pPr>
            <a:r>
              <a:rPr lang="en-US" sz="1800" dirty="0">
                <a:solidFill>
                  <a:schemeClr val="tx2"/>
                </a:solidFill>
                <a:latin typeface="Cambria Math" pitchFamily="34" charset="0"/>
                <a:ea typeface="Cambria Math" pitchFamily="34" charset="-122"/>
                <a:cs typeface="Cambria Math" pitchFamily="34" charset="-120"/>
              </a:rPr>
              <a:t>(</a:t>
            </a:r>
            <a:pPr algn="ctr" indent="0" marL="0">
              <a:buNone/>
            </a:pPr>
            <a:r>
              <a:rPr lang="en-US" sz="1800" i="1" dirty="0">
                <a:solidFill>
                  <a:schemeClr val="tx2"/>
                </a:solidFill>
                <a:latin typeface="Cambria Math" pitchFamily="34" charset="0"/>
                <a:ea typeface="Cambria Math" pitchFamily="34" charset="-122"/>
                <a:cs typeface="Cambria Math" pitchFamily="34" charset="-120"/>
              </a:rPr>
              <a:t>x</a:t>
            </a:r>
            <a:pPr algn="ctr" indent="0" marL="0">
              <a:buNone/>
            </a:pPr>
            <a:r>
              <a:rPr lang="en-US" sz="1800" dirty="0">
                <a:solidFill>
                  <a:schemeClr val="tx2"/>
                </a:solidFill>
                <a:latin typeface="Cambria Math" pitchFamily="34" charset="0"/>
                <a:ea typeface="Cambria Math" pitchFamily="34" charset="-122"/>
                <a:cs typeface="Cambria Math" pitchFamily="34" charset="-120"/>
              </a:rPr>
              <a:t>, </a:t>
            </a:r>
            <a:pPr algn="ctr" indent="0" marL="0">
              <a:buNone/>
            </a:pPr>
            <a:r>
              <a:rPr lang="en-US" sz="1800" i="1" dirty="0">
                <a:solidFill>
                  <a:schemeClr val="tx2"/>
                </a:solidFill>
                <a:latin typeface="Cambria Math" pitchFamily="34" charset="0"/>
                <a:ea typeface="Cambria Math" pitchFamily="34" charset="-122"/>
                <a:cs typeface="Cambria Math" pitchFamily="34" charset="-120"/>
              </a:rPr>
              <a:t>y</a:t>
            </a:r>
            <a:pPr algn="ctr" indent="0" marL="0">
              <a:buNone/>
            </a:pPr>
            <a:r>
              <a:rPr lang="en-US" sz="1800" dirty="0">
                <a:solidFill>
                  <a:schemeClr val="tx2"/>
                </a:solidFill>
                <a:latin typeface="Cambria Math" pitchFamily="34" charset="0"/>
                <a:ea typeface="Cambria Math" pitchFamily="34" charset="-122"/>
                <a:cs typeface="Cambria Math" pitchFamily="34" charset="-120"/>
              </a:rPr>
              <a:t>) + </a:t>
            </a:r>
            <a:pPr algn="ctr" indent="0" marL="0">
              <a:buNone/>
            </a:pPr>
            <a:r>
              <a:rPr lang="en-US" sz="1800" i="1" dirty="0">
                <a:solidFill>
                  <a:schemeClr val="tx2"/>
                </a:solidFill>
                <a:latin typeface="Cambria Math" pitchFamily="34" charset="0"/>
                <a:ea typeface="Cambria Math" pitchFamily="34" charset="-122"/>
                <a:cs typeface="Cambria Math" pitchFamily="34" charset="-120"/>
              </a:rPr>
              <a:t>x</a:t>
            </a:r>
            <a:pPr algn="ctr" indent="0" marL="0">
              <a:buNone/>
            </a:pPr>
            <a:r>
              <a:rPr lang="en-US" sz="1800" dirty="0">
                <a:solidFill>
                  <a:schemeClr val="tx2"/>
                </a:solidFill>
                <a:latin typeface="Cambria Math" pitchFamily="34" charset="0"/>
                <a:ea typeface="Cambria Math" pitchFamily="34" charset="-122"/>
                <a:cs typeface="Cambria Math" pitchFamily="34" charset="-120"/>
              </a:rPr>
              <a:t> + </a:t>
            </a:r>
            <a:pPr algn="ctr" indent="0" marL="0">
              <a:buNone/>
            </a:pPr>
            <a:r>
              <a:rPr lang="en-US" sz="1800" i="1" dirty="0">
                <a:solidFill>
                  <a:schemeClr val="tx2"/>
                </a:solidFill>
                <a:latin typeface="Cambria Math" pitchFamily="34" charset="0"/>
                <a:ea typeface="Cambria Math" pitchFamily="34" charset="-122"/>
                <a:cs typeface="Cambria Math" pitchFamily="34" charset="-120"/>
              </a:rPr>
              <a:t>y</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Where I came in: 2019 → 2024</a:t>
            </a:r>
            <a:endParaRPr lang="en-US" sz="3200" dirty="0"/>
          </a:p>
        </p:txBody>
      </p:sp>
      <p:sp>
        <p:nvSpPr>
          <p:cNvPr id="3" name="timeline axis"/>
          <p:cNvSpPr/>
          <p:nvPr/>
        </p:nvSpPr>
        <p:spPr>
          <a:xfrm>
            <a:off x="2275789" y="1600200"/>
            <a:ext cx="7640117" cy="0"/>
          </a:xfrm>
          <a:prstGeom prst="line">
            <a:avLst/>
          </a:prstGeom>
          <a:noFill/>
          <a:ln w="19050">
            <a:solidFill>
              <a:srgbClr val="5A6275"/>
            </a:solidFill>
            <a:prstDash val="solid"/>
          </a:ln>
        </p:spPr>
      </p:sp>
      <p:sp>
        <p:nvSpPr>
          <p:cNvPr id="4" name="milestone 2019"/>
          <p:cNvSpPr/>
          <p:nvPr/>
        </p:nvSpPr>
        <p:spPr>
          <a:xfrm>
            <a:off x="2092909" y="1417320"/>
            <a:ext cx="365760" cy="365760"/>
          </a:xfrm>
          <a:prstGeom prst="ellipse">
            <a:avLst/>
          </a:prstGeom>
          <a:solidFill>
            <a:schemeClr val="tx2"/>
          </a:solidFill>
          <a:ln w="25400">
            <a:solidFill>
              <a:schemeClr val="bg1"/>
            </a:solidFill>
            <a:prstDash val="solid"/>
          </a:ln>
        </p:spPr>
      </p:sp>
      <p:sp>
        <p:nvSpPr>
          <p:cNvPr id="5" name="Text 3"/>
          <p:cNvSpPr txBox="1"/>
          <p:nvPr/>
        </p:nvSpPr>
        <p:spPr>
          <a:xfrm>
            <a:off x="548640" y="1874520"/>
            <a:ext cx="3454298" cy="365760"/>
          </a:xfrm>
          <a:prstGeom prst="rect">
            <a:avLst/>
          </a:prstGeom>
          <a:noFill/>
          <a:ln/>
        </p:spPr>
        <p:txBody>
          <a:bodyPr wrap="square" lIns="0" tIns="0" rIns="0" bIns="0" rtlCol="0" anchor="t"/>
          <a:lstStyle/>
          <a:p>
            <a:pPr algn="ctr" indent="0" marL="0">
              <a:buNone/>
            </a:pPr>
            <a:r>
              <a:rPr lang="en-US" sz="1800" b="1" dirty="0">
                <a:solidFill>
                  <a:schemeClr val="tx2"/>
                </a:solidFill>
                <a:latin typeface="+mj-lt" pitchFamily="34" charset="0"/>
                <a:ea typeface="+mj-lt" pitchFamily="34" charset="-122"/>
                <a:cs typeface="+mj-lt" pitchFamily="34" charset="-120"/>
              </a:rPr>
              <a:t>2019</a:t>
            </a:r>
            <a:endParaRPr lang="en-US" sz="1800" dirty="0"/>
          </a:p>
        </p:txBody>
      </p:sp>
      <p:sp>
        <p:nvSpPr>
          <p:cNvPr id="6" name="milestone card 2019"/>
          <p:cNvSpPr/>
          <p:nvPr/>
        </p:nvSpPr>
        <p:spPr>
          <a:xfrm>
            <a:off x="548640" y="2331720"/>
            <a:ext cx="3454298" cy="1691640"/>
          </a:xfrm>
          <a:prstGeom prst="roundRect">
            <a:avLst>
              <a:gd name="adj" fmla="val 5405"/>
            </a:avLst>
          </a:prstGeom>
          <a:solidFill>
            <a:schemeClr val="bg2"/>
          </a:solidFill>
          <a:ln w="12700">
            <a:solidFill>
              <a:schemeClr val="bg2"/>
            </a:solidFill>
            <a:prstDash val="solid"/>
          </a:ln>
        </p:spPr>
      </p:sp>
      <p:sp>
        <p:nvSpPr>
          <p:cNvPr id="7" name="Text 5"/>
          <p:cNvSpPr txBox="1"/>
          <p:nvPr/>
        </p:nvSpPr>
        <p:spPr>
          <a:xfrm>
            <a:off x="731520" y="2468880"/>
            <a:ext cx="3088538" cy="146304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PDL and numpy one-liners</a:t>
            </a:r>
            <a:endParaRPr lang="en-US" sz="1700" dirty="0"/>
          </a:p>
          <a:p>
            <a:pPr indent="0" marL="0">
              <a:spcAft>
                <a:spcPts val="600"/>
              </a:spcAft>
              <a:buNone/>
            </a:pPr>
            <a:r>
              <a:rPr lang="en-US" sz="1500" dirty="0">
                <a:solidFill>
                  <a:schemeClr val="tx1"/>
                </a:solidFill>
              </a:rPr>
              <a:t>I sent Keith one-line whole-array forms for both PDL and numpy (below); he credits both in the code. He already doubted his PDL element-lookup test.</a:t>
            </a:r>
            <a:endParaRPr lang="en-US" sz="1700" dirty="0"/>
          </a:p>
        </p:txBody>
      </p:sp>
      <p:sp>
        <p:nvSpPr>
          <p:cNvPr id="8" name="milestone 2022"/>
          <p:cNvSpPr/>
          <p:nvPr/>
        </p:nvSpPr>
        <p:spPr>
          <a:xfrm>
            <a:off x="5912968" y="1417320"/>
            <a:ext cx="365760" cy="365760"/>
          </a:xfrm>
          <a:prstGeom prst="ellipse">
            <a:avLst/>
          </a:prstGeom>
          <a:solidFill>
            <a:schemeClr val="tx2"/>
          </a:solidFill>
          <a:ln w="25400">
            <a:solidFill>
              <a:schemeClr val="bg1"/>
            </a:solidFill>
            <a:prstDash val="solid"/>
          </a:ln>
        </p:spPr>
      </p:sp>
      <p:sp>
        <p:nvSpPr>
          <p:cNvPr id="9" name="Text 7"/>
          <p:cNvSpPr txBox="1"/>
          <p:nvPr/>
        </p:nvSpPr>
        <p:spPr>
          <a:xfrm>
            <a:off x="4368698" y="1874520"/>
            <a:ext cx="3454298" cy="365760"/>
          </a:xfrm>
          <a:prstGeom prst="rect">
            <a:avLst/>
          </a:prstGeom>
          <a:noFill/>
          <a:ln/>
        </p:spPr>
        <p:txBody>
          <a:bodyPr wrap="square" lIns="0" tIns="0" rIns="0" bIns="0" rtlCol="0" anchor="t"/>
          <a:lstStyle/>
          <a:p>
            <a:pPr algn="ctr" indent="0" marL="0">
              <a:buNone/>
            </a:pPr>
            <a:r>
              <a:rPr lang="en-US" sz="1800" b="1" dirty="0">
                <a:solidFill>
                  <a:schemeClr val="tx2"/>
                </a:solidFill>
                <a:latin typeface="+mj-lt" pitchFamily="34" charset="0"/>
                <a:ea typeface="+mj-lt" pitchFamily="34" charset="-122"/>
                <a:cs typeface="+mj-lt" pitchFamily="34" charset="-120"/>
              </a:rPr>
              <a:t>2022</a:t>
            </a:r>
            <a:endParaRPr lang="en-US" sz="1800" dirty="0"/>
          </a:p>
        </p:txBody>
      </p:sp>
      <p:sp>
        <p:nvSpPr>
          <p:cNvPr id="10" name="milestone card 2022"/>
          <p:cNvSpPr/>
          <p:nvPr/>
        </p:nvSpPr>
        <p:spPr>
          <a:xfrm>
            <a:off x="4368698" y="2331720"/>
            <a:ext cx="3454298" cy="1691640"/>
          </a:xfrm>
          <a:prstGeom prst="roundRect">
            <a:avLst>
              <a:gd name="adj" fmla="val 5405"/>
            </a:avLst>
          </a:prstGeom>
          <a:solidFill>
            <a:schemeClr val="bg2"/>
          </a:solidFill>
          <a:ln w="12700">
            <a:solidFill>
              <a:schemeClr val="bg2"/>
            </a:solidFill>
            <a:prstDash val="solid"/>
          </a:ln>
        </p:spPr>
      </p:sp>
      <p:sp>
        <p:nvSpPr>
          <p:cNvPr id="11" name="Text 9"/>
          <p:cNvSpPr txBox="1"/>
          <p:nvPr/>
        </p:nvSpPr>
        <p:spPr>
          <a:xfrm>
            <a:off x="4551578" y="2468880"/>
            <a:ext cx="3088538" cy="146304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Keith writes arm64 assembler</a:t>
            </a:r>
            <a:endParaRPr lang="en-US" sz="1700" dirty="0"/>
          </a:p>
          <a:p>
            <a:pPr indent="0" marL="0">
              <a:spcAft>
                <a:spcPts val="600"/>
              </a:spcAft>
              <a:buNone/>
            </a:pPr>
            <a:r>
              <a:rPr lang="en-US" sz="1500" dirty="0">
                <a:solidFill>
                  <a:schemeClr val="tx1"/>
                </a:solidFill>
              </a:rPr>
              <a:t>A hand-written NEON kernel for Apple Silicon (August 2022).</a:t>
            </a:r>
            <a:endParaRPr lang="en-US" sz="1700" dirty="0"/>
          </a:p>
        </p:txBody>
      </p:sp>
      <p:sp>
        <p:nvSpPr>
          <p:cNvPr id="12" name="milestone Jan 2024"/>
          <p:cNvSpPr/>
          <p:nvPr/>
        </p:nvSpPr>
        <p:spPr>
          <a:xfrm>
            <a:off x="9733026" y="1417320"/>
            <a:ext cx="365760" cy="365760"/>
          </a:xfrm>
          <a:prstGeom prst="ellipse">
            <a:avLst/>
          </a:prstGeom>
          <a:solidFill>
            <a:schemeClr val="tx2"/>
          </a:solidFill>
          <a:ln w="25400">
            <a:solidFill>
              <a:schemeClr val="bg1"/>
            </a:solidFill>
            <a:prstDash val="solid"/>
          </a:ln>
        </p:spPr>
      </p:sp>
      <p:sp>
        <p:nvSpPr>
          <p:cNvPr id="13" name="Text 11"/>
          <p:cNvSpPr txBox="1"/>
          <p:nvPr/>
        </p:nvSpPr>
        <p:spPr>
          <a:xfrm>
            <a:off x="8188757" y="1874520"/>
            <a:ext cx="3454298" cy="365760"/>
          </a:xfrm>
          <a:prstGeom prst="rect">
            <a:avLst/>
          </a:prstGeom>
          <a:noFill/>
          <a:ln/>
        </p:spPr>
        <p:txBody>
          <a:bodyPr wrap="square" lIns="0" tIns="0" rIns="0" bIns="0" rtlCol="0" anchor="t"/>
          <a:lstStyle/>
          <a:p>
            <a:pPr algn="ctr" indent="0" marL="0">
              <a:buNone/>
            </a:pPr>
            <a:r>
              <a:rPr lang="en-US" sz="1800" b="1" dirty="0">
                <a:solidFill>
                  <a:schemeClr val="tx2"/>
                </a:solidFill>
                <a:latin typeface="+mj-lt" pitchFamily="34" charset="0"/>
                <a:ea typeface="+mj-lt" pitchFamily="34" charset="-122"/>
                <a:cs typeface="+mj-lt" pitchFamily="34" charset="-120"/>
              </a:rPr>
              <a:t>Jan 2024</a:t>
            </a:r>
            <a:endParaRPr lang="en-US" sz="1800" dirty="0"/>
          </a:p>
        </p:txBody>
      </p:sp>
      <p:sp>
        <p:nvSpPr>
          <p:cNvPr id="14" name="milestone card Jan 2024"/>
          <p:cNvSpPr/>
          <p:nvPr/>
        </p:nvSpPr>
        <p:spPr>
          <a:xfrm>
            <a:off x="8188757" y="2331720"/>
            <a:ext cx="3454298" cy="1691640"/>
          </a:xfrm>
          <a:prstGeom prst="roundRect">
            <a:avLst>
              <a:gd name="adj" fmla="val 5405"/>
            </a:avLst>
          </a:prstGeom>
          <a:solidFill>
            <a:schemeClr val="bg2"/>
          </a:solidFill>
          <a:ln w="12700">
            <a:solidFill>
              <a:schemeClr val="bg2"/>
            </a:solidFill>
            <a:prstDash val="solid"/>
          </a:ln>
        </p:spPr>
      </p:sp>
      <p:sp>
        <p:nvSpPr>
          <p:cNvPr id="15" name="Text 13"/>
          <p:cNvSpPr txBox="1"/>
          <p:nvPr/>
        </p:nvSpPr>
        <p:spPr>
          <a:xfrm>
            <a:off x="8371637" y="2468880"/>
            <a:ext cx="3088538" cy="146304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PDL::PP and compiler flags</a:t>
            </a:r>
            <a:endParaRPr lang="en-US" sz="1700" dirty="0"/>
          </a:p>
          <a:p>
            <a:pPr indent="0" marL="0">
              <a:spcAft>
                <a:spcPts val="600"/>
              </a:spcAft>
              <a:buNone/>
            </a:pPr>
            <a:r>
              <a:rPr lang="en-US" sz="1500" dirty="0">
                <a:solidFill>
                  <a:schemeClr val="tx1"/>
                </a:solidFill>
              </a:rPr>
              <a:t>No optimise 9.3 s, -O1 2.9 s, -O2/-O3 2.2 s on my M1. Keith sends the assembler kernel: the 1.00 reference for 2026.</a:t>
            </a:r>
            <a:endParaRPr lang="en-US" sz="1700" dirty="0"/>
          </a:p>
        </p:txBody>
      </p:sp>
      <p:sp>
        <p:nvSpPr>
          <p:cNvPr id="16" name="what is PDL card"/>
          <p:cNvSpPr/>
          <p:nvPr/>
        </p:nvSpPr>
        <p:spPr>
          <a:xfrm>
            <a:off x="548640" y="4206240"/>
            <a:ext cx="4297680" cy="2011680"/>
          </a:xfrm>
          <a:prstGeom prst="roundRect">
            <a:avLst>
              <a:gd name="adj" fmla="val 4545"/>
            </a:avLst>
          </a:prstGeom>
          <a:solidFill>
            <a:schemeClr val="bg2"/>
          </a:solidFill>
          <a:ln w="12700">
            <a:solidFill>
              <a:schemeClr val="bg2"/>
            </a:solidFill>
            <a:prstDash val="solid"/>
          </a:ln>
        </p:spPr>
      </p:sp>
      <p:sp>
        <p:nvSpPr>
          <p:cNvPr id="17" name="Text 15"/>
          <p:cNvSpPr txBox="1"/>
          <p:nvPr/>
        </p:nvSpPr>
        <p:spPr>
          <a:xfrm>
            <a:off x="731520" y="4343400"/>
            <a:ext cx="3931920" cy="1737360"/>
          </a:xfrm>
          <a:prstGeom prst="rect">
            <a:avLst/>
          </a:prstGeom>
          <a:noFill/>
          <a:ln/>
        </p:spPr>
        <p:txBody>
          <a:bodyPr wrap="square" lIns="0" tIns="0" rIns="0" bIns="0" rtlCol="0" anchor="t"/>
          <a:lstStyle/>
          <a:p>
            <a:pPr indent="0" marL="0">
              <a:spcAft>
                <a:spcPts val="500"/>
              </a:spcAft>
              <a:buNone/>
            </a:pPr>
            <a:r>
              <a:rPr lang="en-US" sz="1700" b="1" dirty="0">
                <a:solidFill>
                  <a:schemeClr val="tx2"/>
                </a:solidFill>
              </a:rPr>
              <a:t>What is PDL?</a:t>
            </a:r>
            <a:endParaRPr lang="en-US" sz="1400" dirty="0"/>
          </a:p>
          <a:p>
            <a:pPr indent="0" marL="0">
              <a:spcAft>
                <a:spcPts val="500"/>
              </a:spcAft>
              <a:buNone/>
            </a:pPr>
            <a:r>
              <a:rPr lang="en-US" sz="1400" dirty="0">
                <a:solidFill>
                  <a:schemeClr val="tx1"/>
                </a:solidFill>
              </a:rPr>
              <a:t>The Perl Data Language: fast n-dimensional numeric arrays for Perl, with the loops in compiled C. Perl's answer to IDL and numpy.</a:t>
            </a:r>
            <a:endParaRPr lang="en-US" sz="1400" dirty="0"/>
          </a:p>
          <a:p>
            <a:pPr indent="0" marL="0">
              <a:spcAft>
                <a:spcPts val="500"/>
              </a:spcAft>
              <a:buNone/>
            </a:pPr>
            <a:r>
              <a:rPr lang="en-US" sz="1400" dirty="0">
                <a:solidFill>
                  <a:schemeClr val="tx1"/>
                </a:solidFill>
              </a:rPr>
              <a:t>Whole-array maths with broadcasting; PDL::PP for writing your own C kernels inline.</a:t>
            </a:r>
            <a:endParaRPr lang="en-US" sz="1400" dirty="0"/>
          </a:p>
        </p:txBody>
      </p:sp>
      <p:sp>
        <p:nvSpPr>
          <p:cNvPr id="18" name="PDL one-liner card"/>
          <p:cNvSpPr/>
          <p:nvPr/>
        </p:nvSpPr>
        <p:spPr>
          <a:xfrm>
            <a:off x="5120640" y="4206240"/>
            <a:ext cx="3794760" cy="2011680"/>
          </a:xfrm>
          <a:prstGeom prst="roundRect">
            <a:avLst>
              <a:gd name="adj" fmla="val 4545"/>
            </a:avLst>
          </a:prstGeom>
          <a:solidFill>
            <a:schemeClr val="tx2"/>
          </a:solidFill>
          <a:ln w="12700">
            <a:solidFill>
              <a:schemeClr val="tx2"/>
            </a:solidFill>
            <a:prstDash val="solid"/>
          </a:ln>
        </p:spPr>
      </p:sp>
      <p:sp>
        <p:nvSpPr>
          <p:cNvPr id="19" name="Text 17"/>
          <p:cNvSpPr txBox="1"/>
          <p:nvPr/>
        </p:nvSpPr>
        <p:spPr>
          <a:xfrm>
            <a:off x="5257800" y="4206240"/>
            <a:ext cx="3337560" cy="2011680"/>
          </a:xfrm>
          <a:prstGeom prst="rect">
            <a:avLst/>
          </a:prstGeom>
          <a:noFill/>
          <a:ln/>
        </p:spPr>
        <p:txBody>
          <a:bodyPr wrap="square" lIns="0" tIns="0" rIns="0" bIns="0" rtlCol="0" anchor="ctr"/>
          <a:lstStyle/>
          <a:p>
            <a:pPr indent="0" marL="0">
              <a:buNone/>
            </a:pPr>
            <a:r>
              <a:rPr lang="en-US" sz="1200" dirty="0">
                <a:solidFill>
                  <a:srgbClr val="AEB8CC"/>
                </a:solidFill>
                <a:latin typeface="Courier New" pitchFamily="34" charset="0"/>
                <a:ea typeface="Courier New" pitchFamily="34" charset="-122"/>
                <a:cs typeface="Courier New" pitchFamily="34" charset="-120"/>
              </a:rPr>
              <a:t># PDL, csubpdlary.pl: 25.1×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$Output .= $Input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sequence($Nx)</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sequence($Ny)-&gt;dummy(0,1);</a:t>
            </a:r>
            <a:endParaRPr lang="en-US" sz="1200" dirty="0"/>
          </a:p>
          <a:p>
            <a:pPr indent="0" marL="0">
              <a:buNone/>
            </a:pPr>
            <a:r>
              <a:rPr lang="en-US" sz="6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AEB8CC"/>
                </a:solidFill>
                <a:latin typeface="Courier New" pitchFamily="34" charset="0"/>
                <a:ea typeface="Courier New" pitchFamily="34" charset="-122"/>
                <a:cs typeface="Courier New" pitchFamily="34" charset="-120"/>
              </a:rPr>
              <a:t># numpy, csubnpna.py: 17.8×</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out[:] = ina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numpy.arange(nx)[NA,:]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numpy.arange(ny)[:,NA]</a:t>
            </a:r>
            <a:endParaRPr lang="en-US" sz="1200" dirty="0"/>
          </a:p>
        </p:txBody>
      </p:sp>
      <p:sp>
        <p:nvSpPr>
          <p:cNvPr id="20" name="Text 18"/>
          <p:cNvSpPr txBox="1"/>
          <p:nvPr/>
        </p:nvSpPr>
        <p:spPr>
          <a:xfrm>
            <a:off x="9189720" y="4251960"/>
            <a:ext cx="2453335" cy="1508760"/>
          </a:xfrm>
          <a:prstGeom prst="rect">
            <a:avLst/>
          </a:prstGeom>
          <a:noFill/>
          <a:ln/>
        </p:spPr>
        <p:txBody>
          <a:bodyPr wrap="square" lIns="0" tIns="0" rIns="0" bIns="0" rtlCol="0" anchor="t"/>
          <a:lstStyle/>
          <a:p>
            <a:pPr indent="0" marL="0">
              <a:spcAft>
                <a:spcPts val="400"/>
              </a:spcAft>
              <a:buNone/>
            </a:pPr>
            <a:r>
              <a:rPr lang="en-US" sz="1600" i="1" dirty="0">
                <a:solidFill>
                  <a:schemeClr val="tx2"/>
                </a:solidFill>
              </a:rPr>
              <a:t>“The improvements you get over C are marginal and not worth the effort.”</a:t>
            </a:r>
            <a:endParaRPr lang="en-US" sz="1600" dirty="0"/>
          </a:p>
          <a:p>
            <a:pPr indent="0" marL="0">
              <a:spcAft>
                <a:spcPts val="400"/>
              </a:spcAft>
              <a:buNone/>
            </a:pPr>
            <a:r>
              <a:rPr lang="en-US" sz="1100" dirty="0">
                <a:solidFill>
                  <a:srgbClr val="5A6275"/>
                </a:solidFill>
              </a:rPr>
              <a:t>Keith, on his assembler kernel (email, Jan 2024)</a:t>
            </a:r>
            <a:endParaRPr lang="en-US" sz="1600" dirty="0"/>
          </a:p>
        </p:txBody>
      </p:sp>
      <p:sp>
        <p:nvSpPr>
          <p:cNvPr id="21" name="Text 19"/>
          <p:cNvSpPr txBox="1"/>
          <p:nvPr/>
        </p:nvSpPr>
        <p:spPr>
          <a:xfrm>
            <a:off x="9189720" y="5852160"/>
            <a:ext cx="2453335" cy="320040"/>
          </a:xfrm>
          <a:prstGeom prst="rect">
            <a:avLst/>
          </a:prstGeom>
          <a:noFill/>
          <a:ln/>
        </p:spPr>
        <p:txBody>
          <a:bodyPr wrap="square" lIns="0" tIns="0" rIns="0" bIns="0" rtlCol="0" anchor="t"/>
          <a:lstStyle/>
          <a:p>
            <a:pPr indent="0" marL="0">
              <a:buNone/>
            </a:pPr>
            <a:r>
              <a:rPr lang="en-US" sz="1200" dirty="0">
                <a:solidFill>
                  <a:srgbClr val="5A6275"/>
                </a:solidFill>
              </a:rPr>
              <a:t>Declared bias: I wrote PDL (1996).</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Then Claude Code: seven days in April 2026</a:t>
            </a:r>
            <a:endParaRPr lang="en-US" sz="3200" dirty="0"/>
          </a:p>
        </p:txBody>
      </p:sp>
      <p:graphicFrame>
        <p:nvGraphicFramePr>
          <p:cNvPr id="3" name="tests passing by day" descr=""/>
          <p:cNvGraphicFramePr/>
          <p:nvPr/>
        </p:nvGraphicFramePr>
        <p:xfrm>
          <a:off x="548640" y="1188720"/>
          <a:ext cx="6035040" cy="31546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4389120"/>
            <a:ext cx="6035040" cy="457200"/>
          </a:xfrm>
          <a:prstGeom prst="rect">
            <a:avLst/>
          </a:prstGeom>
          <a:noFill/>
          <a:ln/>
        </p:spPr>
        <p:txBody>
          <a:bodyPr wrap="square" lIns="0" tIns="0" rIns="0" bIns="0" rtlCol="0" anchor="t"/>
          <a:lstStyle/>
          <a:p>
            <a:pPr indent="0" marL="0">
              <a:buNone/>
            </a:pPr>
            <a:r>
              <a:rPr lang="en-US" sz="1200" i="1" dirty="0">
                <a:solidFill>
                  <a:srgbClr val="5A6275"/>
                </a:solidFill>
              </a:rPr>
              <a:t>A test is one language with one compiler, runtime or option setting (e.g. C, clang -O3), built, run and timed by Keith's Run.py.</a:t>
            </a:r>
            <a:endParaRPr lang="en-US" sz="1200" dirty="0"/>
          </a:p>
        </p:txBody>
      </p:sp>
      <p:sp>
        <p:nvSpPr>
          <p:cNvPr id="5" name="stat days"/>
          <p:cNvSpPr/>
          <p:nvPr/>
        </p:nvSpPr>
        <p:spPr>
          <a:xfrm>
            <a:off x="548640" y="4937760"/>
            <a:ext cx="1371600" cy="1234440"/>
          </a:xfrm>
          <a:prstGeom prst="roundRect">
            <a:avLst>
              <a:gd name="adj" fmla="val 7407"/>
            </a:avLst>
          </a:prstGeom>
          <a:solidFill>
            <a:schemeClr val="bg2"/>
          </a:solidFill>
          <a:ln w="12700">
            <a:solidFill>
              <a:schemeClr val="bg2"/>
            </a:solidFill>
            <a:prstDash val="solid"/>
          </a:ln>
        </p:spPr>
      </p:sp>
      <p:sp>
        <p:nvSpPr>
          <p:cNvPr id="6" name="Text 3"/>
          <p:cNvSpPr txBox="1"/>
          <p:nvPr/>
        </p:nvSpPr>
        <p:spPr>
          <a:xfrm>
            <a:off x="548640" y="5029200"/>
            <a:ext cx="1371600" cy="64008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7</a:t>
            </a:r>
            <a:endParaRPr lang="en-US" sz="3000" dirty="0"/>
          </a:p>
        </p:txBody>
      </p:sp>
      <p:sp>
        <p:nvSpPr>
          <p:cNvPr id="7" name="Text 4"/>
          <p:cNvSpPr txBox="1"/>
          <p:nvPr/>
        </p:nvSpPr>
        <p:spPr>
          <a:xfrm>
            <a:off x="548640" y="5669280"/>
            <a:ext cx="1371600" cy="365760"/>
          </a:xfrm>
          <a:prstGeom prst="rect">
            <a:avLst/>
          </a:prstGeom>
          <a:noFill/>
          <a:ln/>
        </p:spPr>
        <p:txBody>
          <a:bodyPr wrap="square" lIns="0" tIns="0" rIns="0" bIns="0" rtlCol="0" anchor="t"/>
          <a:lstStyle/>
          <a:p>
            <a:pPr algn="ctr" indent="0" marL="0">
              <a:buNone/>
            </a:pPr>
            <a:r>
              <a:rPr lang="en-US" sz="1200" dirty="0">
                <a:solidFill>
                  <a:srgbClr val="5A6275"/>
                </a:solidFill>
              </a:rPr>
              <a:t>days</a:t>
            </a:r>
            <a:endParaRPr lang="en-US" sz="1200" dirty="0"/>
          </a:p>
        </p:txBody>
      </p:sp>
      <p:sp>
        <p:nvSpPr>
          <p:cNvPr id="8" name="stat benchmark runs"/>
          <p:cNvSpPr/>
          <p:nvPr/>
        </p:nvSpPr>
        <p:spPr>
          <a:xfrm>
            <a:off x="2103120" y="4937760"/>
            <a:ext cx="1371600" cy="1234440"/>
          </a:xfrm>
          <a:prstGeom prst="roundRect">
            <a:avLst>
              <a:gd name="adj" fmla="val 7407"/>
            </a:avLst>
          </a:prstGeom>
          <a:solidFill>
            <a:schemeClr val="bg2"/>
          </a:solidFill>
          <a:ln w="12700">
            <a:solidFill>
              <a:schemeClr val="bg2"/>
            </a:solidFill>
            <a:prstDash val="solid"/>
          </a:ln>
        </p:spPr>
      </p:sp>
      <p:sp>
        <p:nvSpPr>
          <p:cNvPr id="9" name="Text 6"/>
          <p:cNvSpPr txBox="1"/>
          <p:nvPr/>
        </p:nvSpPr>
        <p:spPr>
          <a:xfrm>
            <a:off x="2103120" y="5029200"/>
            <a:ext cx="1371600" cy="64008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23</a:t>
            </a:r>
            <a:endParaRPr lang="en-US" sz="3000" dirty="0"/>
          </a:p>
        </p:txBody>
      </p:sp>
      <p:sp>
        <p:nvSpPr>
          <p:cNvPr id="10" name="Text 7"/>
          <p:cNvSpPr txBox="1"/>
          <p:nvPr/>
        </p:nvSpPr>
        <p:spPr>
          <a:xfrm>
            <a:off x="2103120" y="5669280"/>
            <a:ext cx="1371600" cy="365760"/>
          </a:xfrm>
          <a:prstGeom prst="rect">
            <a:avLst/>
          </a:prstGeom>
          <a:noFill/>
          <a:ln/>
        </p:spPr>
        <p:txBody>
          <a:bodyPr wrap="square" lIns="0" tIns="0" rIns="0" bIns="0" rtlCol="0" anchor="t"/>
          <a:lstStyle/>
          <a:p>
            <a:pPr algn="ctr" indent="0" marL="0">
              <a:buNone/>
            </a:pPr>
            <a:r>
              <a:rPr lang="en-US" sz="1200" dirty="0">
                <a:solidFill>
                  <a:srgbClr val="5A6275"/>
                </a:solidFill>
              </a:rPr>
              <a:t>benchmark runs</a:t>
            </a:r>
            <a:endParaRPr lang="en-US" sz="1200" dirty="0"/>
          </a:p>
        </p:txBody>
      </p:sp>
      <p:sp>
        <p:nvSpPr>
          <p:cNvPr id="11" name="stat of my prompts"/>
          <p:cNvSpPr/>
          <p:nvPr/>
        </p:nvSpPr>
        <p:spPr>
          <a:xfrm>
            <a:off x="3657600" y="4937760"/>
            <a:ext cx="1371600" cy="1234440"/>
          </a:xfrm>
          <a:prstGeom prst="roundRect">
            <a:avLst>
              <a:gd name="adj" fmla="val 7407"/>
            </a:avLst>
          </a:prstGeom>
          <a:solidFill>
            <a:schemeClr val="bg2"/>
          </a:solidFill>
          <a:ln w="12700">
            <a:solidFill>
              <a:schemeClr val="bg2"/>
            </a:solidFill>
            <a:prstDash val="solid"/>
          </a:ln>
        </p:spPr>
      </p:sp>
      <p:sp>
        <p:nvSpPr>
          <p:cNvPr id="12" name="Text 9"/>
          <p:cNvSpPr txBox="1"/>
          <p:nvPr/>
        </p:nvSpPr>
        <p:spPr>
          <a:xfrm>
            <a:off x="3657600" y="5029200"/>
            <a:ext cx="1371600" cy="64008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~1,060</a:t>
            </a:r>
            <a:endParaRPr lang="en-US" sz="3000" dirty="0"/>
          </a:p>
        </p:txBody>
      </p:sp>
      <p:sp>
        <p:nvSpPr>
          <p:cNvPr id="13" name="Text 10"/>
          <p:cNvSpPr txBox="1"/>
          <p:nvPr/>
        </p:nvSpPr>
        <p:spPr>
          <a:xfrm>
            <a:off x="3657600" y="5669280"/>
            <a:ext cx="1371600" cy="365760"/>
          </a:xfrm>
          <a:prstGeom prst="rect">
            <a:avLst/>
          </a:prstGeom>
          <a:noFill/>
          <a:ln/>
        </p:spPr>
        <p:txBody>
          <a:bodyPr wrap="square" lIns="0" tIns="0" rIns="0" bIns="0" rtlCol="0" anchor="t"/>
          <a:lstStyle/>
          <a:p>
            <a:pPr algn="ctr" indent="0" marL="0">
              <a:buNone/>
            </a:pPr>
            <a:r>
              <a:rPr lang="en-US" sz="1200" dirty="0">
                <a:solidFill>
                  <a:srgbClr val="5A6275"/>
                </a:solidFill>
              </a:rPr>
              <a:t>of my prompts</a:t>
            </a:r>
            <a:endParaRPr lang="en-US" sz="1200" dirty="0"/>
          </a:p>
        </p:txBody>
      </p:sp>
      <p:sp>
        <p:nvSpPr>
          <p:cNvPr id="14" name="stat languages"/>
          <p:cNvSpPr/>
          <p:nvPr/>
        </p:nvSpPr>
        <p:spPr>
          <a:xfrm>
            <a:off x="5212080" y="4937760"/>
            <a:ext cx="1371600" cy="1234440"/>
          </a:xfrm>
          <a:prstGeom prst="roundRect">
            <a:avLst>
              <a:gd name="adj" fmla="val 7407"/>
            </a:avLst>
          </a:prstGeom>
          <a:solidFill>
            <a:schemeClr val="bg2"/>
          </a:solidFill>
          <a:ln w="12700">
            <a:solidFill>
              <a:schemeClr val="bg2"/>
            </a:solidFill>
            <a:prstDash val="solid"/>
          </a:ln>
        </p:spPr>
      </p:sp>
      <p:sp>
        <p:nvSpPr>
          <p:cNvPr id="15" name="Text 12"/>
          <p:cNvSpPr txBox="1"/>
          <p:nvPr/>
        </p:nvSpPr>
        <p:spPr>
          <a:xfrm>
            <a:off x="5212080" y="5029200"/>
            <a:ext cx="1371600" cy="64008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27</a:t>
            </a:r>
            <a:endParaRPr lang="en-US" sz="3000" dirty="0"/>
          </a:p>
        </p:txBody>
      </p:sp>
      <p:sp>
        <p:nvSpPr>
          <p:cNvPr id="16" name="Text 13"/>
          <p:cNvSpPr txBox="1"/>
          <p:nvPr/>
        </p:nvSpPr>
        <p:spPr>
          <a:xfrm>
            <a:off x="5212080" y="5669280"/>
            <a:ext cx="1371600" cy="365760"/>
          </a:xfrm>
          <a:prstGeom prst="rect">
            <a:avLst/>
          </a:prstGeom>
          <a:noFill/>
          <a:ln/>
        </p:spPr>
        <p:txBody>
          <a:bodyPr wrap="square" lIns="0" tIns="0" rIns="0" bIns="0" rtlCol="0" anchor="t"/>
          <a:lstStyle/>
          <a:p>
            <a:pPr algn="ctr" indent="0" marL="0">
              <a:buNone/>
            </a:pPr>
            <a:r>
              <a:rPr lang="en-US" sz="1200" dirty="0">
                <a:solidFill>
                  <a:srgbClr val="5A6275"/>
                </a:solidFill>
              </a:rPr>
              <a:t>languages</a:t>
            </a:r>
            <a:endParaRPr lang="en-US" sz="1200" dirty="0"/>
          </a:p>
        </p:txBody>
      </p:sp>
      <p:sp>
        <p:nvSpPr>
          <p:cNvPr id="17" name="Text 14"/>
          <p:cNvSpPr txBox="1"/>
          <p:nvPr/>
        </p:nvSpPr>
        <p:spPr>
          <a:xfrm>
            <a:off x="6949440" y="1234440"/>
            <a:ext cx="4693615" cy="4937760"/>
          </a:xfrm>
          <a:prstGeom prst="rect">
            <a:avLst/>
          </a:prstGeom>
          <a:noFill/>
          <a:ln/>
        </p:spPr>
        <p:txBody>
          <a:bodyPr wrap="square" lIns="0" tIns="0" rIns="0" bIns="0" rtlCol="0" anchor="t"/>
          <a:lstStyle/>
          <a:p>
            <a:pPr indent="0" marL="0">
              <a:spcAft>
                <a:spcPts val="500"/>
              </a:spcAft>
              <a:buNone/>
            </a:pPr>
            <a:r>
              <a:rPr lang="en-US" sz="1500" b="1" dirty="0">
                <a:solidFill>
                  <a:schemeClr val="tx2"/>
                </a:solidFill>
              </a:rPr>
              <a:t>25 Apr</a:t>
            </a:r>
            <a:endParaRPr lang="en-US" sz="1500" dirty="0"/>
          </a:p>
          <a:p>
            <a:pPr indent="0" marL="0">
              <a:spcAft>
                <a:spcPts val="500"/>
              </a:spcAft>
              <a:buNone/>
            </a:pPr>
            <a:r>
              <a:rPr lang="en-US" sz="1500" dirty="0">
                <a:solidFill>
                  <a:schemeClr val="tx1"/>
                </a:solidFill>
              </a:rPr>
              <a:t>Cloned the 2019 suite: 58 of its 103 tests pass. “The goal is maximum coverage.”</a:t>
            </a:r>
            <a:endParaRPr lang="en-US" sz="1500" dirty="0"/>
          </a:p>
          <a:p>
            <a:pPr indent="0" marL="0">
              <a:spcAft>
                <a:spcPts val="500"/>
              </a:spcAft>
              <a:buNone/>
            </a:pPr>
            <a:r>
              <a:rPr lang="en-US" sz="1500" b="1" dirty="0">
                <a:solidFill>
                  <a:schemeClr val="tx2"/>
                </a:solidFill>
              </a:rPr>
              <a:t>26–27 Apr</a:t>
            </a:r>
            <a:endParaRPr lang="en-US" sz="1500" dirty="0"/>
          </a:p>
          <a:p>
            <a:pPr indent="0" marL="0">
              <a:spcAft>
                <a:spcPts val="500"/>
              </a:spcAft>
              <a:buNone/>
            </a:pPr>
            <a:r>
              <a:rPr lang="en-US" sz="1500" dirty="0">
                <a:solidFill>
                  <a:schemeClr val="tx1"/>
                </a:solidFill>
              </a:rPr>
              <a:t>All 103 of Keith's tests pass. Then extend: assembler becomes 1.00; PDL::PP, Ruby (YJIT from source), Bun, Deno</a:t>
            </a:r>
            <a:endParaRPr lang="en-US" sz="1500" dirty="0"/>
          </a:p>
          <a:p>
            <a:pPr indent="0" marL="0">
              <a:spcAft>
                <a:spcPts val="500"/>
              </a:spcAft>
              <a:buNone/>
            </a:pPr>
            <a:r>
              <a:rPr lang="en-US" sz="1500" b="1" dirty="0">
                <a:solidFill>
                  <a:schemeClr val="tx2"/>
                </a:solidFill>
              </a:rPr>
              <a:t>28–29 Apr: “a bit mad”</a:t>
            </a:r>
            <a:endParaRPr lang="en-US" sz="1500" dirty="0"/>
          </a:p>
          <a:p>
            <a:pPr indent="0" marL="0">
              <a:spcAft>
                <a:spcPts val="500"/>
              </a:spcAft>
              <a:buNone/>
            </a:pPr>
            <a:r>
              <a:rPr lang="en-US" sz="1500" dirty="0">
                <a:solidFill>
                  <a:schemeClr val="tx1"/>
                </a:solidFill>
              </a:rPr>
              <a:t>Go, LuaJIT, C#, Crystal, OCaml, J, PyPy, Zig, Common Lisp, Haskell… INTERCAL: “PROGRAMMER IS OVERLY POLITE”</a:t>
            </a:r>
            <a:endParaRPr lang="en-US" sz="1500" dirty="0"/>
          </a:p>
          <a:p>
            <a:pPr indent="0" marL="0">
              <a:spcAft>
                <a:spcPts val="500"/>
              </a:spcAft>
              <a:buNone/>
            </a:pPr>
            <a:r>
              <a:rPr lang="en-US" sz="1500" dirty="0">
                <a:solidFill>
                  <a:schemeClr val="tx1"/>
                </a:solidFill>
              </a:rPr>
              <a:t>Claude then offered a ranked list of what to add next. Me:</a:t>
            </a:r>
            <a:endParaRPr lang="en-US" sz="1500" dirty="0"/>
          </a:p>
          <a:p>
            <a:pPr indent="0" marL="0">
              <a:spcAft>
                <a:spcPts val="500"/>
              </a:spcAft>
              <a:buNone/>
            </a:pPr>
            <a:r>
              <a:rPr lang="en-US" sz="1500" i="1" dirty="0">
                <a:solidFill>
                  <a:schemeClr val="tx2"/>
                </a:solidFill>
              </a:rPr>
              <a:t>“Do #1 to #7 please and then we will stop :)”</a:t>
            </a:r>
            <a:endParaRPr lang="en-US" sz="1500" dirty="0"/>
          </a:p>
          <a:p>
            <a:pPr indent="0" marL="0">
              <a:spcAft>
                <a:spcPts val="500"/>
              </a:spcAft>
              <a:buNone/>
            </a:pPr>
            <a:r>
              <a:rPr lang="en-US" sz="1300" dirty="0">
                <a:solidFill>
                  <a:srgbClr val="5A6275"/>
                </a:solidFill>
              </a:rPr>
              <a:t>#1–#7: F#, PyPy + numpy, C# ahead-of-time, D, Nim, Octave, Kotlin</a:t>
            </a:r>
            <a:endParaRPr lang="en-US" sz="1500" dirty="0"/>
          </a:p>
          <a:p>
            <a:pPr indent="0" marL="0">
              <a:spcAft>
                <a:spcPts val="500"/>
              </a:spcAft>
              <a:buNone/>
            </a:pPr>
            <a:r>
              <a:rPr lang="en-US" sz="1500" b="1" dirty="0">
                <a:solidFill>
                  <a:schemeClr val="tx2"/>
                </a:solidFill>
              </a:rPr>
              <a:t>29 Apr – 1 May</a:t>
            </a:r>
            <a:endParaRPr lang="en-US" sz="1500" dirty="0"/>
          </a:p>
          <a:p>
            <a:pPr indent="0" marL="0">
              <a:spcAft>
                <a:spcPts val="500"/>
              </a:spcAft>
              <a:buNone/>
            </a:pPr>
            <a:r>
              <a:rPr lang="en-US" sz="1500" dirty="0">
                <a:solidFill>
                  <a:schemeClr val="tx1"/>
                </a:solidFill>
              </a:rPr>
              <a:t>Report, audit rounds, PDL fix, run22 frozen, one-command toolchain rebuild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The 2026 suite at a glance</a:t>
            </a:r>
            <a:endParaRPr lang="en-US" sz="3200" dirty="0"/>
          </a:p>
        </p:txBody>
      </p:sp>
      <p:sp>
        <p:nvSpPr>
          <p:cNvPr id="3" name="Text 1"/>
          <p:cNvSpPr txBox="1"/>
          <p:nvPr/>
        </p:nvSpPr>
        <p:spPr>
          <a:xfrm>
            <a:off x="548640" y="1188720"/>
            <a:ext cx="3840480" cy="822960"/>
          </a:xfrm>
          <a:prstGeom prst="rect">
            <a:avLst/>
          </a:prstGeom>
          <a:noFill/>
          <a:ln/>
        </p:spPr>
        <p:txBody>
          <a:bodyPr wrap="square" lIns="0" tIns="0" rIns="0" bIns="0" rtlCol="0" anchor="b"/>
          <a:lstStyle/>
          <a:p>
            <a:pPr indent="0" marL="0">
              <a:buNone/>
            </a:pPr>
            <a:r>
              <a:rPr lang="en-US" sz="4800" b="1" dirty="0">
                <a:solidFill>
                  <a:schemeClr val="tx2"/>
                </a:solidFill>
                <a:latin typeface="+mj-lt" pitchFamily="34" charset="0"/>
                <a:ea typeface="+mj-lt" pitchFamily="34" charset="-122"/>
                <a:cs typeface="+mj-lt" pitchFamily="34" charset="-120"/>
              </a:rPr>
              <a:t>27</a:t>
            </a:r>
            <a:endParaRPr lang="en-US" sz="4800" dirty="0"/>
          </a:p>
        </p:txBody>
      </p:sp>
      <p:sp>
        <p:nvSpPr>
          <p:cNvPr id="4" name="Text 2"/>
          <p:cNvSpPr txBox="1"/>
          <p:nvPr/>
        </p:nvSpPr>
        <p:spPr>
          <a:xfrm>
            <a:off x="548640" y="2057400"/>
            <a:ext cx="3840480" cy="640080"/>
          </a:xfrm>
          <a:prstGeom prst="rect">
            <a:avLst/>
          </a:prstGeom>
          <a:noFill/>
          <a:ln/>
        </p:spPr>
        <p:txBody>
          <a:bodyPr wrap="square" lIns="0" tIns="0" rIns="0" bIns="0" rtlCol="0" anchor="t"/>
          <a:lstStyle/>
          <a:p>
            <a:pPr indent="0" marL="0">
              <a:buNone/>
            </a:pPr>
            <a:r>
              <a:rPr lang="en-US" sz="1600" b="1" dirty="0">
                <a:solidFill>
                  <a:schemeClr val="tx1"/>
                </a:solidFill>
              </a:rPr>
              <a:t>languages</a:t>
            </a:r>
            <a:endParaRPr lang="en-US" sz="1600" dirty="0"/>
          </a:p>
          <a:p>
            <a:pPr indent="0" marL="0">
              <a:buNone/>
            </a:pPr>
            <a:r>
              <a:rPr lang="en-US" sz="1400" dirty="0">
                <a:solidFill>
                  <a:srgbClr val="5A6275"/>
                </a:solidFill>
              </a:rPr>
              <a:t>15 new since 2019</a:t>
            </a:r>
            <a:endParaRPr lang="en-US" sz="1600" dirty="0"/>
          </a:p>
        </p:txBody>
      </p:sp>
      <p:sp>
        <p:nvSpPr>
          <p:cNvPr id="5" name="Text 3"/>
          <p:cNvSpPr txBox="1"/>
          <p:nvPr/>
        </p:nvSpPr>
        <p:spPr>
          <a:xfrm>
            <a:off x="548640" y="2651760"/>
            <a:ext cx="3840480" cy="822960"/>
          </a:xfrm>
          <a:prstGeom prst="rect">
            <a:avLst/>
          </a:prstGeom>
          <a:noFill/>
          <a:ln/>
        </p:spPr>
        <p:txBody>
          <a:bodyPr wrap="square" lIns="0" tIns="0" rIns="0" bIns="0" rtlCol="0" anchor="b"/>
          <a:lstStyle/>
          <a:p>
            <a:pPr indent="0" marL="0">
              <a:buNone/>
            </a:pPr>
            <a:r>
              <a:rPr lang="en-US" sz="4800" b="1" dirty="0">
                <a:solidFill>
                  <a:schemeClr val="tx2"/>
                </a:solidFill>
                <a:latin typeface="+mj-lt" pitchFamily="34" charset="0"/>
                <a:ea typeface="+mj-lt" pitchFamily="34" charset="-122"/>
                <a:cs typeface="+mj-lt" pitchFamily="34" charset="-120"/>
              </a:rPr>
              <a:t>131</a:t>
            </a:r>
            <a:endParaRPr lang="en-US" sz="4800" dirty="0"/>
          </a:p>
        </p:txBody>
      </p:sp>
      <p:sp>
        <p:nvSpPr>
          <p:cNvPr id="6" name="Text 4"/>
          <p:cNvSpPr txBox="1"/>
          <p:nvPr/>
        </p:nvSpPr>
        <p:spPr>
          <a:xfrm>
            <a:off x="548640" y="3520440"/>
            <a:ext cx="3840480" cy="640080"/>
          </a:xfrm>
          <a:prstGeom prst="rect">
            <a:avLst/>
          </a:prstGeom>
          <a:noFill/>
          <a:ln/>
        </p:spPr>
        <p:txBody>
          <a:bodyPr wrap="square" lIns="0" tIns="0" rIns="0" bIns="0" rtlCol="0" anchor="t"/>
          <a:lstStyle/>
          <a:p>
            <a:pPr indent="0" marL="0">
              <a:buNone/>
            </a:pPr>
            <a:r>
              <a:rPr lang="en-US" sz="1600" b="1" dirty="0">
                <a:solidFill>
                  <a:schemeClr val="tx1"/>
                </a:solidFill>
              </a:rPr>
              <a:t>variants</a:t>
            </a:r>
            <a:endParaRPr lang="en-US" sz="1600" dirty="0"/>
          </a:p>
          <a:p>
            <a:pPr indent="0" marL="0">
              <a:buNone/>
            </a:pPr>
            <a:r>
              <a:rPr lang="en-US" sz="1400" dirty="0">
                <a:solidFill>
                  <a:srgbClr val="5A6275"/>
                </a:solidFill>
              </a:rPr>
              <a:t>131 / 131 pass (run22)</a:t>
            </a:r>
            <a:endParaRPr lang="en-US" sz="1600" dirty="0"/>
          </a:p>
        </p:txBody>
      </p:sp>
      <p:sp>
        <p:nvSpPr>
          <p:cNvPr id="7" name="Text 5"/>
          <p:cNvSpPr txBox="1"/>
          <p:nvPr/>
        </p:nvSpPr>
        <p:spPr>
          <a:xfrm>
            <a:off x="548640" y="4114800"/>
            <a:ext cx="3840480" cy="822960"/>
          </a:xfrm>
          <a:prstGeom prst="rect">
            <a:avLst/>
          </a:prstGeom>
          <a:noFill/>
          <a:ln/>
        </p:spPr>
        <p:txBody>
          <a:bodyPr wrap="square" lIns="0" tIns="0" rIns="0" bIns="0" rtlCol="0" anchor="b"/>
          <a:lstStyle/>
          <a:p>
            <a:pPr indent="0" marL="0">
              <a:buNone/>
            </a:pPr>
            <a:r>
              <a:rPr lang="en-US" sz="4800" b="1" dirty="0">
                <a:solidFill>
                  <a:schemeClr val="tx2"/>
                </a:solidFill>
                <a:latin typeface="+mj-lt" pitchFamily="34" charset="0"/>
                <a:ea typeface="+mj-lt" pitchFamily="34" charset="-122"/>
                <a:cs typeface="+mj-lt" pitchFamily="34" charset="-120"/>
              </a:rPr>
              <a:t>4.8 × 10⁵</a:t>
            </a:r>
            <a:endParaRPr lang="en-US" sz="4800" dirty="0"/>
          </a:p>
        </p:txBody>
      </p:sp>
      <p:sp>
        <p:nvSpPr>
          <p:cNvPr id="8" name="Text 6"/>
          <p:cNvSpPr txBox="1"/>
          <p:nvPr/>
        </p:nvSpPr>
        <p:spPr>
          <a:xfrm>
            <a:off x="548640" y="4983480"/>
            <a:ext cx="3840480" cy="640080"/>
          </a:xfrm>
          <a:prstGeom prst="rect">
            <a:avLst/>
          </a:prstGeom>
          <a:noFill/>
          <a:ln/>
        </p:spPr>
        <p:txBody>
          <a:bodyPr wrap="square" lIns="0" tIns="0" rIns="0" bIns="0" rtlCol="0" anchor="t"/>
          <a:lstStyle/>
          <a:p>
            <a:pPr indent="0" marL="0">
              <a:buNone/>
            </a:pPr>
            <a:r>
              <a:rPr lang="en-US" sz="1600" b="1" dirty="0">
                <a:solidFill>
                  <a:schemeClr val="tx1"/>
                </a:solidFill>
              </a:rPr>
              <a:t>range</a:t>
            </a:r>
            <a:endParaRPr lang="en-US" sz="1600" dirty="0"/>
          </a:p>
          <a:p>
            <a:pPr indent="0" marL="0">
              <a:buNone/>
            </a:pPr>
            <a:r>
              <a:rPr lang="en-US" sz="1400" dirty="0">
                <a:solidFill>
                  <a:srgbClr val="5A6275"/>
                </a:solidFill>
              </a:rPr>
              <a:t>1.00 up to the R reference class at 481,009</a:t>
            </a:r>
            <a:endParaRPr lang="en-US" sz="1600" dirty="0"/>
          </a:p>
        </p:txBody>
      </p:sp>
      <p:sp>
        <p:nvSpPr>
          <p:cNvPr id="9" name="reference card"/>
          <p:cNvSpPr/>
          <p:nvPr/>
        </p:nvSpPr>
        <p:spPr>
          <a:xfrm>
            <a:off x="548640" y="5577840"/>
            <a:ext cx="3840480" cy="713232"/>
          </a:xfrm>
          <a:prstGeom prst="roundRect">
            <a:avLst>
              <a:gd name="adj" fmla="val 12821"/>
            </a:avLst>
          </a:prstGeom>
          <a:solidFill>
            <a:schemeClr val="bg2"/>
          </a:solidFill>
          <a:ln w="12700">
            <a:solidFill>
              <a:schemeClr val="bg2"/>
            </a:solidFill>
            <a:prstDash val="solid"/>
          </a:ln>
        </p:spPr>
      </p:sp>
      <p:sp>
        <p:nvSpPr>
          <p:cNvPr id="10" name="Text 8"/>
          <p:cNvSpPr txBox="1"/>
          <p:nvPr/>
        </p:nvSpPr>
        <p:spPr>
          <a:xfrm>
            <a:off x="685800" y="5641848"/>
            <a:ext cx="3566160" cy="585216"/>
          </a:xfrm>
          <a:prstGeom prst="rect">
            <a:avLst/>
          </a:prstGeom>
          <a:noFill/>
          <a:ln/>
        </p:spPr>
        <p:txBody>
          <a:bodyPr wrap="square" lIns="0" tIns="0" rIns="0" bIns="0" rtlCol="0" anchor="ctr"/>
          <a:lstStyle/>
          <a:p>
            <a:pPr indent="0" marL="0">
              <a:buNone/>
            </a:pPr>
            <a:r>
              <a:rPr lang="en-US" sz="1300" b="1" dirty="0">
                <a:solidFill>
                  <a:schemeClr val="tx2"/>
                </a:solidFill>
              </a:rPr>
              <a:t>Reference: </a:t>
            </a:r>
            <a:pPr indent="0" marL="0">
              <a:buNone/>
            </a:pPr>
            <a:r>
              <a:rPr lang="en-US" sz="1300" dirty="0">
                <a:solidFill>
                  <a:schemeClr val="tx1"/>
                </a:solidFill>
              </a:rPr>
              <a:t>1.00 = Keith's hand-written arm64 NEON assembler. Best C: 1.19 (clang -O3 -march=native).</a:t>
            </a:r>
            <a:endParaRPr lang="en-US" sz="1300" dirty="0"/>
          </a:p>
        </p:txBody>
      </p:sp>
      <p:pic>
        <p:nvPicPr>
          <p:cNvPr id="11" name="histogram" descr="Histogram of all 131 relative times on a log scale, coloured by the eight tiers, with three peaks">    </p:cNvPr>
          <p:cNvPicPr>
            <a:picLocks noChangeAspect="1"/>
          </p:cNvPicPr>
          <p:nvPr/>
        </p:nvPicPr>
        <p:blipFill>
          <a:blip r:embed="rId1"/>
          <a:stretch>
            <a:fillRect/>
          </a:stretch>
        </p:blipFill>
        <p:spPr>
          <a:xfrm>
            <a:off x="4754880" y="1828800"/>
            <a:ext cx="6888175" cy="2719017"/>
          </a:xfrm>
          <a:prstGeom prst="rect">
            <a:avLst/>
          </a:prstGeom>
        </p:spPr>
      </p:pic>
      <p:sp>
        <p:nvSpPr>
          <p:cNvPr id="12" name="group arrow 1"/>
          <p:cNvSpPr/>
          <p:nvPr/>
        </p:nvSpPr>
        <p:spPr>
          <a:xfrm>
            <a:off x="5387034" y="1234440"/>
            <a:ext cx="1199272" cy="502920"/>
          </a:xfrm>
          <a:prstGeom prst="leftRightArrow">
            <a:avLst/>
          </a:prstGeom>
          <a:gradFill rotWithShape="1">
            <a:gsLst>
              <a:gs pos="0">
                <a:srgbClr val="1A9850"/>
              </a:gs>
              <a:gs pos="3520">
                <a:srgbClr val="1A9850"/>
              </a:gs>
              <a:gs pos="3520">
                <a:srgbClr val="66BD63"/>
              </a:gs>
              <a:gs pos="33836">
                <a:srgbClr val="66BD63"/>
              </a:gs>
              <a:gs pos="33836">
                <a:srgbClr val="A6D96A"/>
              </a:gs>
              <a:gs pos="71857">
                <a:srgbClr val="A6D96A"/>
              </a:gs>
              <a:gs pos="71857">
                <a:srgbClr val="FEE08B"/>
              </a:gs>
              <a:gs pos="100000">
                <a:srgbClr val="FEE08B"/>
              </a:gs>
            </a:gsLst>
            <a:lin ang="0" scaled="0"/>
          </a:gradFill>
          <a:ln w="9525">
            <a:solidFill>
              <a:srgbClr val="5A6275"/>
            </a:solidFill>
          </a:ln>
        </p:spPr>
        <p:txBody>
          <a:bodyPr wrap="square" lIns="0" tIns="0" rIns="0" bIns="0" rtlCol="0" anchor="ctr"/>
          <a:lstStyle/>
          <a:p>
            <a:pPr algn="ctr" indent="0" marL="0">
              <a:buNone/>
            </a:pPr>
            <a:r>
              <a:rPr lang="en-US" sz="1300" b="1" dirty="0">
                <a:solidFill>
                  <a:srgbClr val="1B1F2B"/>
                </a:solidFill>
              </a:rPr>
              <a:t>native</a:t>
            </a:r>
            <a:endParaRPr lang="en-US" sz="1300" dirty="0"/>
          </a:p>
        </p:txBody>
      </p:sp>
      <p:sp>
        <p:nvSpPr>
          <p:cNvPr id="13" name="group box 1"/>
          <p:cNvSpPr/>
          <p:nvPr/>
        </p:nvSpPr>
        <p:spPr>
          <a:xfrm>
            <a:off x="4754880" y="4639257"/>
            <a:ext cx="2204618" cy="1624383"/>
          </a:xfrm>
          <a:prstGeom prst="rect">
            <a:avLst/>
          </a:prstGeom>
          <a:solidFill>
            <a:schemeClr val="bg2"/>
          </a:solidFill>
          <a:ln w="31750">
            <a:solidFill>
              <a:srgbClr val="1A9850"/>
            </a:solidFill>
          </a:ln>
        </p:spPr>
        <p:txBody>
          <a:bodyPr wrap="square" lIns="76200" tIns="101600" rIns="101600" bIns="76200" rtlCol="0" anchor="t"/>
          <a:lstStyle/>
          <a:p>
            <a:pPr indent="0" marL="0">
              <a:spcAft>
                <a:spcPts val="300"/>
              </a:spcAft>
              <a:buNone/>
            </a:pPr>
            <a:r>
              <a:rPr lang="en-US" sz="1400" b="1" dirty="0">
                <a:solidFill>
                  <a:schemeClr val="tx2"/>
                </a:solidFill>
              </a:rPr>
              <a:t>Native code, 1–15×</a:t>
            </a:r>
            <a:endParaRPr lang="en-US" sz="1400" dirty="0"/>
          </a:p>
          <a:p>
            <a:pPr indent="0" marL="0">
              <a:spcAft>
                <a:spcPts val="300"/>
              </a:spcAft>
              <a:buNone/>
            </a:pPr>
            <a:r>
              <a:rPr lang="en-US" sz="1200" dirty="0">
                <a:solidFill>
                  <a:schemeClr val="tx1"/>
                </a:solidFill>
              </a:rPr>
              <a:t>Compiled to machine code ahead of time or by a good JIT: C, Fortran, Julia, D, Zig, Java, C#, Go, LuaJIT, Haskell. Also numba and PDL::PP, which compile the loop for Python and Perl.</a:t>
            </a:r>
            <a:endParaRPr lang="en-US" sz="1400" dirty="0"/>
          </a:p>
        </p:txBody>
      </p:sp>
      <p:sp>
        <p:nvSpPr>
          <p:cNvPr id="14" name="group arrow 2"/>
          <p:cNvSpPr/>
          <p:nvPr/>
        </p:nvSpPr>
        <p:spPr>
          <a:xfrm>
            <a:off x="6586306" y="1234440"/>
            <a:ext cx="840148" cy="502920"/>
          </a:xfrm>
          <a:prstGeom prst="leftRightArrow">
            <a:avLst/>
          </a:prstGeom>
          <a:gradFill rotWithShape="1">
            <a:gsLst>
              <a:gs pos="0">
                <a:srgbClr val="FDAE61"/>
              </a:gs>
              <a:gs pos="100000">
                <a:srgbClr val="FDAE61"/>
              </a:gs>
            </a:gsLst>
            <a:lin ang="0" scaled="0"/>
          </a:gradFill>
          <a:ln w="9525">
            <a:solidFill>
              <a:srgbClr val="5A6275"/>
            </a:solidFill>
          </a:ln>
        </p:spPr>
        <p:txBody>
          <a:bodyPr wrap="square" lIns="0" tIns="0" rIns="0" bIns="0" rtlCol="0" anchor="ctr"/>
          <a:lstStyle/>
          <a:p>
            <a:pPr algn="ctr" indent="0" marL="0">
              <a:buNone/>
            </a:pPr>
            <a:r>
              <a:rPr lang="en-US" sz="1300" b="1" dirty="0">
                <a:solidFill>
                  <a:srgbClr val="1B1F2B"/>
                </a:solidFill>
              </a:rPr>
              <a:t>arrays</a:t>
            </a:r>
            <a:endParaRPr lang="en-US" sz="1300" dirty="0"/>
          </a:p>
        </p:txBody>
      </p:sp>
      <p:sp>
        <p:nvSpPr>
          <p:cNvPr id="15" name="group box 2"/>
          <p:cNvSpPr/>
          <p:nvPr/>
        </p:nvSpPr>
        <p:spPr>
          <a:xfrm>
            <a:off x="7096658" y="4639257"/>
            <a:ext cx="2204618" cy="1624383"/>
          </a:xfrm>
          <a:prstGeom prst="rect">
            <a:avLst/>
          </a:prstGeom>
          <a:solidFill>
            <a:schemeClr val="bg2"/>
          </a:solidFill>
          <a:ln w="31750">
            <a:solidFill>
              <a:srgbClr val="FDAE61"/>
            </a:solidFill>
          </a:ln>
        </p:spPr>
        <p:txBody>
          <a:bodyPr wrap="square" lIns="76200" tIns="101600" rIns="101600" bIns="76200" rtlCol="0" anchor="t"/>
          <a:lstStyle/>
          <a:p>
            <a:pPr indent="0" marL="0">
              <a:spcAft>
                <a:spcPts val="300"/>
              </a:spcAft>
              <a:buNone/>
            </a:pPr>
            <a:r>
              <a:rPr lang="en-US" sz="1400" b="1" dirty="0">
                <a:solidFill>
                  <a:schemeClr val="tx2"/>
                </a:solidFill>
              </a:rPr>
              <a:t>Whole arrays, half measures, 15–100×</a:t>
            </a:r>
            <a:endParaRPr lang="en-US" sz="1400" dirty="0"/>
          </a:p>
          <a:p>
            <a:pPr indent="0" marL="0">
              <a:spcAft>
                <a:spcPts val="300"/>
              </a:spcAft>
              <a:buNone/>
            </a:pPr>
            <a:r>
              <a:rPr lang="en-US" sz="1200" dirty="0">
                <a:solidFill>
                  <a:schemeClr val="tx1"/>
                </a:solidFill>
              </a:rPr>
              <a:t>One whole-array expression in numpy, PDL, Numo or Octave; JavaScript engines; Swift -O; PyPy on lists; C or Fortran with no optimisation.</a:t>
            </a:r>
            <a:endParaRPr lang="en-US" sz="1400" dirty="0"/>
          </a:p>
        </p:txBody>
      </p:sp>
      <p:sp>
        <p:nvSpPr>
          <p:cNvPr id="16" name="group arrow 3"/>
          <p:cNvSpPr/>
          <p:nvPr/>
        </p:nvSpPr>
        <p:spPr>
          <a:xfrm>
            <a:off x="7426453" y="1234440"/>
            <a:ext cx="4078838" cy="502920"/>
          </a:xfrm>
          <a:prstGeom prst="leftRightArrow">
            <a:avLst/>
          </a:prstGeom>
          <a:gradFill rotWithShape="1">
            <a:gsLst>
              <a:gs pos="0">
                <a:srgbClr val="F46D43"/>
              </a:gs>
              <a:gs pos="19454">
                <a:srgbClr val="F46D43"/>
              </a:gs>
              <a:gs pos="19454">
                <a:srgbClr val="D73027"/>
              </a:gs>
              <a:gs pos="57526">
                <a:srgbClr val="D73027"/>
              </a:gs>
              <a:gs pos="57526">
                <a:srgbClr val="7A0177"/>
              </a:gs>
              <a:gs pos="100000">
                <a:srgbClr val="7A0177"/>
              </a:gs>
            </a:gsLst>
            <a:lin ang="0" scaled="0"/>
          </a:gradFill>
          <a:ln w="9525">
            <a:solidFill>
              <a:srgbClr val="5A6275"/>
            </a:solidFill>
          </a:ln>
        </p:spPr>
        <p:txBody>
          <a:bodyPr wrap="square" lIns="0" tIns="0" rIns="0" bIns="0" rtlCol="0" anchor="ctr"/>
          <a:lstStyle/>
          <a:p>
            <a:pPr algn="ctr" indent="0" marL="0">
              <a:buNone/>
            </a:pPr>
            <a:r>
              <a:rPr lang="en-US" sz="1300" b="1" dirty="0">
                <a:solidFill>
                  <a:srgbClr val="FFFFFF"/>
                </a:solidFill>
              </a:rPr>
              <a:t>interpreted</a:t>
            </a:r>
            <a:endParaRPr lang="en-US" sz="1300" dirty="0"/>
          </a:p>
        </p:txBody>
      </p:sp>
      <p:sp>
        <p:nvSpPr>
          <p:cNvPr id="17" name="group box 3"/>
          <p:cNvSpPr/>
          <p:nvPr/>
        </p:nvSpPr>
        <p:spPr>
          <a:xfrm>
            <a:off x="9438437" y="4639257"/>
            <a:ext cx="2204618" cy="1624383"/>
          </a:xfrm>
          <a:prstGeom prst="rect">
            <a:avLst/>
          </a:prstGeom>
          <a:solidFill>
            <a:schemeClr val="bg2"/>
          </a:solidFill>
          <a:ln w="31750">
            <a:solidFill>
              <a:srgbClr val="D73027"/>
            </a:solidFill>
          </a:ln>
        </p:spPr>
        <p:txBody>
          <a:bodyPr wrap="square" lIns="76200" tIns="101600" rIns="101600" bIns="76200" rtlCol="0" anchor="t"/>
          <a:lstStyle/>
          <a:p>
            <a:pPr indent="0" marL="0">
              <a:spcAft>
                <a:spcPts val="300"/>
              </a:spcAft>
              <a:buNone/>
            </a:pPr>
            <a:r>
              <a:rPr lang="en-US" sz="1400" b="1" dirty="0">
                <a:solidFill>
                  <a:schemeClr val="tx2"/>
                </a:solidFill>
              </a:rPr>
              <a:t>Interpreted element lookup, 100× up</a:t>
            </a:r>
            <a:endParaRPr lang="en-US" sz="1400" dirty="0"/>
          </a:p>
          <a:p>
            <a:pPr indent="0" marL="0">
              <a:spcAft>
                <a:spcPts val="300"/>
              </a:spcAft>
              <a:buNone/>
            </a:pPr>
            <a:r>
              <a:rPr lang="en-US" sz="1200" dirty="0">
                <a:solidFill>
                  <a:schemeClr val="tx1"/>
                </a:solidFill>
              </a:rPr>
              <a:t>An interpreter touching one element at a time: Python lists, Perl, Ruby, R, Tcl, numpy or PDL lookup. Purple tail: a library boundary crossed per element.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Every language, from its best variant to its worst</a:t>
            </a:r>
            <a:endParaRPr lang="en-US" sz="3200" dirty="0"/>
          </a:p>
        </p:txBody>
      </p:sp>
      <p:pic>
        <p:nvPicPr>
          <p:cNvPr id="3" name="language ranges" descr="Run22 relative times for each of the 27 languages, one column each, sorted by best variant; the 15 new languages in red">    </p:cNvPr>
          <p:cNvPicPr>
            <a:picLocks noChangeAspect="1"/>
          </p:cNvPicPr>
          <p:nvPr/>
        </p:nvPicPr>
        <p:blipFill>
          <a:blip r:embed="rId1"/>
          <a:stretch>
            <a:fillRect/>
          </a:stretch>
        </p:blipFill>
        <p:spPr>
          <a:xfrm>
            <a:off x="548640" y="1143000"/>
            <a:ext cx="11094415" cy="4685463"/>
          </a:xfrm>
          <a:prstGeom prst="rect">
            <a:avLst/>
          </a:prstGeom>
        </p:spPr>
      </p:pic>
      <p:sp>
        <p:nvSpPr>
          <p:cNvPr id="4" name="Text 1"/>
          <p:cNvSpPr txBox="1"/>
          <p:nvPr/>
        </p:nvSpPr>
        <p:spPr>
          <a:xfrm>
            <a:off x="548640" y="5919903"/>
            <a:ext cx="11094415" cy="731520"/>
          </a:xfrm>
          <a:prstGeom prst="rect">
            <a:avLst/>
          </a:prstGeom>
          <a:noFill/>
          <a:ln/>
        </p:spPr>
        <p:txBody>
          <a:bodyPr wrap="square" lIns="0" tIns="0" rIns="0" bIns="0" rtlCol="0" anchor="t"/>
          <a:lstStyle/>
          <a:p>
            <a:pPr indent="0" marL="0">
              <a:buNone/>
            </a:pPr>
            <a:r>
              <a:rPr lang="en-US" sz="1500" b="1" dirty="0">
                <a:solidFill>
                  <a:srgbClr val="D73027"/>
                </a:solidFill>
              </a:rPr>
              <a:t>Red labels: the 15 languages new in 2026, mostly one variant each. </a:t>
            </a:r>
            <a:pPr indent="0" marL="0">
              <a:buNone/>
            </a:pPr>
            <a:r>
              <a:rPr lang="en-US" sz="1500" dirty="0">
                <a:solidFill>
                  <a:schemeClr val="tx1"/>
                </a:solidFill>
              </a:rPr>
              <a:t>The long bars are Keith's option sweeps (C/C++ alone has 60 variants) and changes of idiom: Python, PDL, Octave, R. Bars and dots are coloured by tier, green 1 to purple 8; (n) is the number of variants.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11094415" cy="548640"/>
          </a:xfrm>
          <a:prstGeom prst="rect">
            <a:avLst/>
          </a:prstGeom>
          <a:noFill/>
          <a:ln/>
        </p:spPr>
        <p:txBody>
          <a:bodyPr wrap="square" lIns="0" tIns="0" rIns="0" bIns="0" rtlCol="0" anchor="ctr"/>
          <a:lstStyle/>
          <a:p>
            <a:pPr indent="0" marL="0">
              <a:buNone/>
            </a:pPr>
            <a:r>
              <a:rPr lang="en-US" sz="2600" b="1" dirty="0">
                <a:solidFill>
                  <a:schemeClr val="bg1"/>
                </a:solidFill>
                <a:latin typeface="+mj-lt" pitchFamily="34" charset="0"/>
                <a:ea typeface="+mj-lt" pitchFamily="34" charset="-122"/>
                <a:cs typeface="+mj-lt" pitchFamily="34" charset="-120"/>
              </a:rPr>
              <a:t>One kernel, the 15 new languages, and Keith's C for reference</a:t>
            </a:r>
            <a:endParaRPr lang="en-US" sz="2600" dirty="0"/>
          </a:p>
        </p:txBody>
      </p:sp>
      <p:sp>
        <p:nvSpPr>
          <p:cNvPr id="3" name="code card C (Keith's, reference)"/>
          <p:cNvSpPr/>
          <p:nvPr/>
        </p:nvSpPr>
        <p:spPr>
          <a:xfrm>
            <a:off x="274320" y="822960"/>
            <a:ext cx="2842184" cy="1360170"/>
          </a:xfrm>
          <a:prstGeom prst="roundRect">
            <a:avLst>
              <a:gd name="adj" fmla="val 6723"/>
            </a:avLst>
          </a:prstGeom>
          <a:solidFill>
            <a:srgbClr val="0D1117"/>
          </a:solidFill>
          <a:ln w="12700">
            <a:solidFill>
              <a:srgbClr val="0D1117"/>
            </a:solidFill>
            <a:prstDash val="solid"/>
          </a:ln>
        </p:spPr>
      </p:sp>
      <p:sp>
        <p:nvSpPr>
          <p:cNvPr id="4" name="Text 2"/>
          <p:cNvSpPr txBox="1"/>
          <p:nvPr/>
        </p:nvSpPr>
        <p:spPr>
          <a:xfrm>
            <a:off x="365760" y="86868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C (Keith's, reference)</a:t>
            </a:r>
            <a:pPr indent="0" marL="0">
              <a:buNone/>
            </a:pPr>
            <a:r>
              <a:rPr lang="en-US" sz="800" dirty="0">
                <a:solidFill>
                  <a:srgbClr val="8B949E"/>
                </a:solidFill>
              </a:rPr>
              <a:t>   csub.cpp</a:t>
            </a:r>
            <a:endParaRPr lang="en-US" sz="1100" dirty="0"/>
          </a:p>
        </p:txBody>
      </p:sp>
      <p:sp>
        <p:nvSpPr>
          <p:cNvPr id="5" name="chip C (Keith's, reference)"/>
          <p:cNvSpPr/>
          <p:nvPr/>
        </p:nvSpPr>
        <p:spPr>
          <a:xfrm>
            <a:off x="2293544" y="868680"/>
            <a:ext cx="731520" cy="219456"/>
          </a:xfrm>
          <a:prstGeom prst="roundRect">
            <a:avLst>
              <a:gd name="adj" fmla="val 33333"/>
            </a:avLst>
          </a:prstGeom>
          <a:solidFill>
            <a:srgbClr val="66BD63"/>
          </a:solidFill>
          <a:ln w="12700">
            <a:solidFill>
              <a:srgbClr val="66BD63"/>
            </a:solidFill>
            <a:prstDash val="solid"/>
          </a:ln>
        </p:spPr>
      </p:sp>
      <p:sp>
        <p:nvSpPr>
          <p:cNvPr id="6" name="Text 4"/>
          <p:cNvSpPr txBox="1"/>
          <p:nvPr/>
        </p:nvSpPr>
        <p:spPr>
          <a:xfrm>
            <a:off x="2293544" y="86868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1.20</a:t>
            </a:r>
            <a:endParaRPr lang="en-US" sz="1000" dirty="0"/>
          </a:p>
        </p:txBody>
      </p:sp>
      <p:sp>
        <p:nvSpPr>
          <p:cNvPr id="7" name="code C (Keith's, reference)"/>
          <p:cNvSpPr txBox="1"/>
          <p:nvPr/>
        </p:nvSpPr>
        <p:spPr>
          <a:xfrm>
            <a:off x="365760" y="1133856"/>
            <a:ext cx="2659304" cy="994410"/>
          </a:xfrm>
          <a:prstGeom prst="rect">
            <a:avLst/>
          </a:prstGeom>
          <a:noFill/>
          <a:ln/>
        </p:spPr>
        <p:txBody>
          <a:bodyPr wrap="square" lIns="0" tIns="0" rIns="0" bIns="0" rtlCol="0" anchor="t"/>
          <a:lstStyle/>
          <a:p>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int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&lt;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int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&lt;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Out[Iy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In[Iy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p:txBody>
      </p:sp>
      <p:sp>
        <p:nvSpPr>
          <p:cNvPr id="8" name="code card D"/>
          <p:cNvSpPr/>
          <p:nvPr/>
        </p:nvSpPr>
        <p:spPr>
          <a:xfrm>
            <a:off x="3207944" y="822960"/>
            <a:ext cx="2842184" cy="1360170"/>
          </a:xfrm>
          <a:prstGeom prst="roundRect">
            <a:avLst>
              <a:gd name="adj" fmla="val 6723"/>
            </a:avLst>
          </a:prstGeom>
          <a:solidFill>
            <a:srgbClr val="0D1117"/>
          </a:solidFill>
          <a:ln w="12700">
            <a:solidFill>
              <a:srgbClr val="0D1117"/>
            </a:solidFill>
            <a:prstDash val="solid"/>
          </a:ln>
        </p:spPr>
      </p:sp>
      <p:sp>
        <p:nvSpPr>
          <p:cNvPr id="9" name="Text 7"/>
          <p:cNvSpPr txBox="1"/>
          <p:nvPr/>
        </p:nvSpPr>
        <p:spPr>
          <a:xfrm>
            <a:off x="3299384" y="86868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D</a:t>
            </a:r>
            <a:pPr indent="0" marL="0">
              <a:buNone/>
            </a:pPr>
            <a:r>
              <a:rPr lang="en-US" sz="800" dirty="0">
                <a:solidFill>
                  <a:srgbClr val="8B949E"/>
                </a:solidFill>
              </a:rPr>
              <a:t>   csubraw.d</a:t>
            </a:r>
            <a:endParaRPr lang="en-US" sz="1100" dirty="0"/>
          </a:p>
        </p:txBody>
      </p:sp>
      <p:sp>
        <p:nvSpPr>
          <p:cNvPr id="10" name="chip D"/>
          <p:cNvSpPr/>
          <p:nvPr/>
        </p:nvSpPr>
        <p:spPr>
          <a:xfrm>
            <a:off x="5227168" y="868680"/>
            <a:ext cx="731520" cy="219456"/>
          </a:xfrm>
          <a:prstGeom prst="roundRect">
            <a:avLst>
              <a:gd name="adj" fmla="val 33333"/>
            </a:avLst>
          </a:prstGeom>
          <a:solidFill>
            <a:srgbClr val="A6D96A"/>
          </a:solidFill>
          <a:ln w="12700">
            <a:solidFill>
              <a:srgbClr val="A6D96A"/>
            </a:solidFill>
            <a:prstDash val="solid"/>
          </a:ln>
        </p:spPr>
      </p:sp>
      <p:sp>
        <p:nvSpPr>
          <p:cNvPr id="11" name="Text 9"/>
          <p:cNvSpPr txBox="1"/>
          <p:nvPr/>
        </p:nvSpPr>
        <p:spPr>
          <a:xfrm>
            <a:off x="5227168" y="86868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2.76</a:t>
            </a:r>
            <a:endParaRPr lang="en-US" sz="1000" dirty="0"/>
          </a:p>
        </p:txBody>
      </p:sp>
      <p:sp>
        <p:nvSpPr>
          <p:cNvPr id="12" name="code D"/>
          <p:cNvSpPr txBox="1"/>
          <p:nvPr/>
        </p:nvSpPr>
        <p:spPr>
          <a:xfrm>
            <a:off x="3299384" y="1133856"/>
            <a:ext cx="2659304" cy="994410"/>
          </a:xfrm>
          <a:prstGeom prst="rect">
            <a:avLst/>
          </a:prstGeom>
          <a:noFill/>
          <a:ln/>
        </p:spPr>
        <p:txBody>
          <a:bodyPr wrap="square" lIns="0" tIns="0" rIns="0" bIns="0" rtlCol="0" anchor="t"/>
          <a:lstStyle/>
          <a:p>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foreach</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(iy;</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A5D6FF"/>
                </a:solidFill>
                <a:latin typeface="Courier New" pitchFamily="34" charset="0"/>
                <a:ea typeface="Courier New" pitchFamily="34" charset="-122"/>
                <a:cs typeface="Courier New" pitchFamily="34" charset="-120"/>
              </a:rPr>
              <a:t>0</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ny)</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auto</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rowIn</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inp[iy];</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auto</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rowOut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outp[iy];</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immutable</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fiy</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cast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double</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iy;</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foreach</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A5D6FF"/>
                </a:solidFill>
                <a:latin typeface="Courier New" pitchFamily="34" charset="0"/>
                <a:ea typeface="Courier New" pitchFamily="34" charset="-122"/>
                <a:cs typeface="Courier New" pitchFamily="34" charset="-120"/>
              </a:rPr>
              <a:t>0</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nx)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rowOut[ix]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rowIn[ix]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cast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double</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fiy;</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p:txBody>
      </p:sp>
      <p:sp>
        <p:nvSpPr>
          <p:cNvPr id="13" name="code card Zig"/>
          <p:cNvSpPr/>
          <p:nvPr/>
        </p:nvSpPr>
        <p:spPr>
          <a:xfrm>
            <a:off x="6141568" y="822960"/>
            <a:ext cx="2842184" cy="1360170"/>
          </a:xfrm>
          <a:prstGeom prst="roundRect">
            <a:avLst>
              <a:gd name="adj" fmla="val 6723"/>
            </a:avLst>
          </a:prstGeom>
          <a:solidFill>
            <a:srgbClr val="0D1117"/>
          </a:solidFill>
          <a:ln w="12700">
            <a:solidFill>
              <a:srgbClr val="0D1117"/>
            </a:solidFill>
            <a:prstDash val="solid"/>
          </a:ln>
        </p:spPr>
      </p:sp>
      <p:sp>
        <p:nvSpPr>
          <p:cNvPr id="14" name="Text 12"/>
          <p:cNvSpPr txBox="1"/>
          <p:nvPr/>
        </p:nvSpPr>
        <p:spPr>
          <a:xfrm>
            <a:off x="6233008" y="86868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Zig</a:t>
            </a:r>
            <a:pPr indent="0" marL="0">
              <a:buNone/>
            </a:pPr>
            <a:r>
              <a:rPr lang="en-US" sz="800" dirty="0">
                <a:solidFill>
                  <a:srgbClr val="8B949E"/>
                </a:solidFill>
              </a:rPr>
              <a:t>   csubraw.zig</a:t>
            </a:r>
            <a:endParaRPr lang="en-US" sz="1100" dirty="0"/>
          </a:p>
        </p:txBody>
      </p:sp>
      <p:sp>
        <p:nvSpPr>
          <p:cNvPr id="15" name="chip Zig"/>
          <p:cNvSpPr/>
          <p:nvPr/>
        </p:nvSpPr>
        <p:spPr>
          <a:xfrm>
            <a:off x="8160791" y="868680"/>
            <a:ext cx="731520" cy="219456"/>
          </a:xfrm>
          <a:prstGeom prst="roundRect">
            <a:avLst>
              <a:gd name="adj" fmla="val 33333"/>
            </a:avLst>
          </a:prstGeom>
          <a:solidFill>
            <a:srgbClr val="A6D96A"/>
          </a:solidFill>
          <a:ln w="12700">
            <a:solidFill>
              <a:srgbClr val="A6D96A"/>
            </a:solidFill>
            <a:prstDash val="solid"/>
          </a:ln>
        </p:spPr>
      </p:sp>
      <p:sp>
        <p:nvSpPr>
          <p:cNvPr id="16" name="Text 14"/>
          <p:cNvSpPr txBox="1"/>
          <p:nvPr/>
        </p:nvSpPr>
        <p:spPr>
          <a:xfrm>
            <a:off x="8160791" y="86868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2.84</a:t>
            </a:r>
            <a:endParaRPr lang="en-US" sz="1000" dirty="0"/>
          </a:p>
        </p:txBody>
      </p:sp>
      <p:sp>
        <p:nvSpPr>
          <p:cNvPr id="17" name="code Zig"/>
          <p:cNvSpPr txBox="1"/>
          <p:nvPr/>
        </p:nvSpPr>
        <p:spPr>
          <a:xfrm>
            <a:off x="6233008" y="1133856"/>
            <a:ext cx="2659304" cy="994410"/>
          </a:xfrm>
          <a:prstGeom prst="rect">
            <a:avLst/>
          </a:prstGeom>
          <a:noFill/>
          <a:ln/>
        </p:spPr>
        <p:txBody>
          <a:bodyPr wrap="square" lIns="0" tIns="0" rIns="0" bIns="0" rtlCol="0" anchor="t"/>
          <a:lstStyle/>
          <a:p>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while</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(iy</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&lt;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ny)</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(iy</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A5D6FF"/>
                </a:solidFill>
                <a:latin typeface="Courier New" pitchFamily="34" charset="0"/>
                <a:ea typeface="Courier New" pitchFamily="34" charset="-122"/>
                <a:cs typeface="Courier New" pitchFamily="34" charset="-120"/>
              </a:rPr>
              <a:t>1</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const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row_in</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in[iy];</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const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row_out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out[iy];</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var</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ix</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usize</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A5D6FF"/>
                </a:solidFill>
                <a:latin typeface="Courier New" pitchFamily="34" charset="0"/>
                <a:ea typeface="Courier New" pitchFamily="34" charset="-122"/>
                <a:cs typeface="Courier New" pitchFamily="34" charset="-120"/>
              </a:rPr>
              <a:t>0</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while</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&lt;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nx)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A5D6FF"/>
                </a:solidFill>
                <a:latin typeface="Courier New" pitchFamily="34" charset="0"/>
                <a:ea typeface="Courier New" pitchFamily="34" charset="-122"/>
                <a:cs typeface="Courier New" pitchFamily="34" charset="-120"/>
              </a:rPr>
              <a:t>1</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row_out[ix]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row_in[ix]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@as(</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f64</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@floatFromInt(ix))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@as(</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f64</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@floatFromInt(iy));</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18" name="code card Nim"/>
          <p:cNvSpPr/>
          <p:nvPr/>
        </p:nvSpPr>
        <p:spPr>
          <a:xfrm>
            <a:off x="9075191" y="822960"/>
            <a:ext cx="2842184" cy="1360170"/>
          </a:xfrm>
          <a:prstGeom prst="roundRect">
            <a:avLst>
              <a:gd name="adj" fmla="val 6723"/>
            </a:avLst>
          </a:prstGeom>
          <a:solidFill>
            <a:srgbClr val="0D1117"/>
          </a:solidFill>
          <a:ln w="12700">
            <a:solidFill>
              <a:srgbClr val="0D1117"/>
            </a:solidFill>
            <a:prstDash val="solid"/>
          </a:ln>
        </p:spPr>
      </p:sp>
      <p:sp>
        <p:nvSpPr>
          <p:cNvPr id="19" name="Text 17"/>
          <p:cNvSpPr txBox="1"/>
          <p:nvPr/>
        </p:nvSpPr>
        <p:spPr>
          <a:xfrm>
            <a:off x="9166631" y="86868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Nim</a:t>
            </a:r>
            <a:pPr indent="0" marL="0">
              <a:buNone/>
            </a:pPr>
            <a:r>
              <a:rPr lang="en-US" sz="800" dirty="0">
                <a:solidFill>
                  <a:srgbClr val="8B949E"/>
                </a:solidFill>
              </a:rPr>
              <a:t>   csubraw.nim</a:t>
            </a:r>
            <a:endParaRPr lang="en-US" sz="1100" dirty="0"/>
          </a:p>
        </p:txBody>
      </p:sp>
      <p:sp>
        <p:nvSpPr>
          <p:cNvPr id="20" name="chip Nim"/>
          <p:cNvSpPr/>
          <p:nvPr/>
        </p:nvSpPr>
        <p:spPr>
          <a:xfrm>
            <a:off x="11094415" y="868680"/>
            <a:ext cx="731520" cy="219456"/>
          </a:xfrm>
          <a:prstGeom prst="roundRect">
            <a:avLst>
              <a:gd name="adj" fmla="val 33333"/>
            </a:avLst>
          </a:prstGeom>
          <a:solidFill>
            <a:srgbClr val="A6D96A"/>
          </a:solidFill>
          <a:ln w="12700">
            <a:solidFill>
              <a:srgbClr val="A6D96A"/>
            </a:solidFill>
            <a:prstDash val="solid"/>
          </a:ln>
        </p:spPr>
      </p:sp>
      <p:sp>
        <p:nvSpPr>
          <p:cNvPr id="21" name="Text 19"/>
          <p:cNvSpPr txBox="1"/>
          <p:nvPr/>
        </p:nvSpPr>
        <p:spPr>
          <a:xfrm>
            <a:off x="11094415" y="86868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3.31</a:t>
            </a:r>
            <a:endParaRPr lang="en-US" sz="1000" dirty="0"/>
          </a:p>
        </p:txBody>
      </p:sp>
      <p:sp>
        <p:nvSpPr>
          <p:cNvPr id="22" name="code Nim"/>
          <p:cNvSpPr txBox="1"/>
          <p:nvPr/>
        </p:nvSpPr>
        <p:spPr>
          <a:xfrm>
            <a:off x="9166631" y="1133856"/>
            <a:ext cx="2659304" cy="994410"/>
          </a:xfrm>
          <a:prstGeom prst="rect">
            <a:avLst/>
          </a:prstGeom>
          <a:noFill/>
          <a:ln/>
        </p:spPr>
        <p:txBody>
          <a:bodyPr wrap="square" lIns="0" tIns="0" rIns="0" bIns="0" rtlCol="0" anchor="t"/>
          <a:lstStyle/>
          <a:p>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in</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&lt;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ny:</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let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fiy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float64(iy)</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in</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&lt;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nx:</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outp</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inp</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float64(ix)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fiy</a:t>
            </a:r>
            <a:endParaRPr lang="en-US" sz="650" dirty="0"/>
          </a:p>
        </p:txBody>
      </p:sp>
      <p:sp>
        <p:nvSpPr>
          <p:cNvPr id="23" name="code card Crystal"/>
          <p:cNvSpPr/>
          <p:nvPr/>
        </p:nvSpPr>
        <p:spPr>
          <a:xfrm>
            <a:off x="274320" y="2274570"/>
            <a:ext cx="2842184" cy="1360170"/>
          </a:xfrm>
          <a:prstGeom prst="roundRect">
            <a:avLst>
              <a:gd name="adj" fmla="val 6723"/>
            </a:avLst>
          </a:prstGeom>
          <a:solidFill>
            <a:srgbClr val="0D1117"/>
          </a:solidFill>
          <a:ln w="12700">
            <a:solidFill>
              <a:srgbClr val="0D1117"/>
            </a:solidFill>
            <a:prstDash val="solid"/>
          </a:ln>
        </p:spPr>
      </p:sp>
      <p:sp>
        <p:nvSpPr>
          <p:cNvPr id="24" name="Text 22"/>
          <p:cNvSpPr txBox="1"/>
          <p:nvPr/>
        </p:nvSpPr>
        <p:spPr>
          <a:xfrm>
            <a:off x="365760" y="232029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Crystal</a:t>
            </a:r>
            <a:pPr indent="0" marL="0">
              <a:buNone/>
            </a:pPr>
            <a:r>
              <a:rPr lang="en-US" sz="800" dirty="0">
                <a:solidFill>
                  <a:srgbClr val="8B949E"/>
                </a:solidFill>
              </a:rPr>
              <a:t>   csubraw.cr</a:t>
            </a:r>
            <a:endParaRPr lang="en-US" sz="1100" dirty="0"/>
          </a:p>
        </p:txBody>
      </p:sp>
      <p:sp>
        <p:nvSpPr>
          <p:cNvPr id="25" name="chip Crystal"/>
          <p:cNvSpPr/>
          <p:nvPr/>
        </p:nvSpPr>
        <p:spPr>
          <a:xfrm>
            <a:off x="2293544" y="2320290"/>
            <a:ext cx="731520" cy="219456"/>
          </a:xfrm>
          <a:prstGeom prst="roundRect">
            <a:avLst>
              <a:gd name="adj" fmla="val 33333"/>
            </a:avLst>
          </a:prstGeom>
          <a:solidFill>
            <a:srgbClr val="A6D96A"/>
          </a:solidFill>
          <a:ln w="12700">
            <a:solidFill>
              <a:srgbClr val="A6D96A"/>
            </a:solidFill>
            <a:prstDash val="solid"/>
          </a:ln>
        </p:spPr>
      </p:sp>
      <p:sp>
        <p:nvSpPr>
          <p:cNvPr id="26" name="Text 24"/>
          <p:cNvSpPr txBox="1"/>
          <p:nvPr/>
        </p:nvSpPr>
        <p:spPr>
          <a:xfrm>
            <a:off x="2293544" y="232029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3.67</a:t>
            </a:r>
            <a:endParaRPr lang="en-US" sz="1000" dirty="0"/>
          </a:p>
        </p:txBody>
      </p:sp>
      <p:sp>
        <p:nvSpPr>
          <p:cNvPr id="27" name="code Crystal"/>
          <p:cNvSpPr txBox="1"/>
          <p:nvPr/>
        </p:nvSpPr>
        <p:spPr>
          <a:xfrm>
            <a:off x="365760" y="2585466"/>
            <a:ext cx="2659304" cy="994410"/>
          </a:xfrm>
          <a:prstGeom prst="rect">
            <a:avLst/>
          </a:prstGeom>
          <a:noFill/>
          <a:ln/>
        </p:spPr>
        <p:txBody>
          <a:bodyPr wrap="square" lIns="0" tIns="0" rIns="0" bIns="0" rtlCol="0" anchor="t"/>
          <a:lstStyle/>
          <a:p>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ny</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times</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do</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iy</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row_in</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ina</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iy</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row_outp</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outp</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iy</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nx</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times</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do</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ix</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row_outp</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ix</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row_in</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ix</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ix</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to_f64</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iy</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to_f64</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end</a:t>
            </a:r>
            <a:endParaRPr lang="en-US" sz="600" dirty="0"/>
          </a:p>
          <a:p>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end</a:t>
            </a:r>
            <a:endParaRPr lang="en-US" sz="600" dirty="0"/>
          </a:p>
        </p:txBody>
      </p:sp>
      <p:sp>
        <p:nvSpPr>
          <p:cNvPr id="28" name="code card Kotlin"/>
          <p:cNvSpPr/>
          <p:nvPr/>
        </p:nvSpPr>
        <p:spPr>
          <a:xfrm>
            <a:off x="3207944" y="2274570"/>
            <a:ext cx="2842184" cy="1360170"/>
          </a:xfrm>
          <a:prstGeom prst="roundRect">
            <a:avLst>
              <a:gd name="adj" fmla="val 6723"/>
            </a:avLst>
          </a:prstGeom>
          <a:solidFill>
            <a:srgbClr val="0D1117"/>
          </a:solidFill>
          <a:ln w="12700">
            <a:solidFill>
              <a:srgbClr val="0D1117"/>
            </a:solidFill>
            <a:prstDash val="solid"/>
          </a:ln>
        </p:spPr>
      </p:sp>
      <p:sp>
        <p:nvSpPr>
          <p:cNvPr id="29" name="Text 27"/>
          <p:cNvSpPr txBox="1"/>
          <p:nvPr/>
        </p:nvSpPr>
        <p:spPr>
          <a:xfrm>
            <a:off x="3299384" y="232029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Kotlin</a:t>
            </a:r>
            <a:pPr indent="0" marL="0">
              <a:buNone/>
            </a:pPr>
            <a:r>
              <a:rPr lang="en-US" sz="800" dirty="0">
                <a:solidFill>
                  <a:srgbClr val="8B949E"/>
                </a:solidFill>
              </a:rPr>
              <a:t>   csubraw.kt</a:t>
            </a:r>
            <a:endParaRPr lang="en-US" sz="1100" dirty="0"/>
          </a:p>
        </p:txBody>
      </p:sp>
      <p:sp>
        <p:nvSpPr>
          <p:cNvPr id="30" name="chip Kotlin"/>
          <p:cNvSpPr/>
          <p:nvPr/>
        </p:nvSpPr>
        <p:spPr>
          <a:xfrm>
            <a:off x="5227168" y="2320290"/>
            <a:ext cx="731520" cy="219456"/>
          </a:xfrm>
          <a:prstGeom prst="roundRect">
            <a:avLst>
              <a:gd name="adj" fmla="val 33333"/>
            </a:avLst>
          </a:prstGeom>
          <a:solidFill>
            <a:srgbClr val="A6D96A"/>
          </a:solidFill>
          <a:ln w="12700">
            <a:solidFill>
              <a:srgbClr val="A6D96A"/>
            </a:solidFill>
            <a:prstDash val="solid"/>
          </a:ln>
        </p:spPr>
      </p:sp>
      <p:sp>
        <p:nvSpPr>
          <p:cNvPr id="31" name="Text 29"/>
          <p:cNvSpPr txBox="1"/>
          <p:nvPr/>
        </p:nvSpPr>
        <p:spPr>
          <a:xfrm>
            <a:off x="5227168" y="232029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4.30</a:t>
            </a:r>
            <a:endParaRPr lang="en-US" sz="1000" dirty="0"/>
          </a:p>
        </p:txBody>
      </p:sp>
      <p:sp>
        <p:nvSpPr>
          <p:cNvPr id="32" name="code Kotlin"/>
          <p:cNvSpPr txBox="1"/>
          <p:nvPr/>
        </p:nvSpPr>
        <p:spPr>
          <a:xfrm>
            <a:off x="3299384" y="2585466"/>
            <a:ext cx="2659304" cy="994410"/>
          </a:xfrm>
          <a:prstGeom prst="rect">
            <a:avLst/>
          </a:prstGeom>
          <a:noFill/>
          <a:ln/>
        </p:spPr>
        <p:txBody>
          <a:bodyPr wrap="square" lIns="0" tIns="0" rIns="0" bIns="0" rtlCol="0" anchor="t"/>
          <a:lstStyle/>
          <a:p>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in</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until</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val</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rowIn</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inp</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val</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rowOut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outp</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val</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fiy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iy.toDouble()</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in</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until</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rowOut</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rowIn</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ix.toDouble()</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fiy</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p:txBody>
      </p:sp>
      <p:sp>
        <p:nvSpPr>
          <p:cNvPr id="33" name="code card C#"/>
          <p:cNvSpPr/>
          <p:nvPr/>
        </p:nvSpPr>
        <p:spPr>
          <a:xfrm>
            <a:off x="6141568" y="2274570"/>
            <a:ext cx="2842184" cy="1360170"/>
          </a:xfrm>
          <a:prstGeom prst="roundRect">
            <a:avLst>
              <a:gd name="adj" fmla="val 6723"/>
            </a:avLst>
          </a:prstGeom>
          <a:solidFill>
            <a:srgbClr val="0D1117"/>
          </a:solidFill>
          <a:ln w="12700">
            <a:solidFill>
              <a:srgbClr val="0D1117"/>
            </a:solidFill>
            <a:prstDash val="solid"/>
          </a:ln>
        </p:spPr>
      </p:sp>
      <p:sp>
        <p:nvSpPr>
          <p:cNvPr id="34" name="Text 32"/>
          <p:cNvSpPr txBox="1"/>
          <p:nvPr/>
        </p:nvSpPr>
        <p:spPr>
          <a:xfrm>
            <a:off x="6233008" y="232029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C#</a:t>
            </a:r>
            <a:pPr indent="0" marL="0">
              <a:buNone/>
            </a:pPr>
            <a:r>
              <a:rPr lang="en-US" sz="800" dirty="0">
                <a:solidFill>
                  <a:srgbClr val="8B949E"/>
                </a:solidFill>
              </a:rPr>
              <a:t>   csubraw.cs</a:t>
            </a:r>
            <a:endParaRPr lang="en-US" sz="1100" dirty="0"/>
          </a:p>
        </p:txBody>
      </p:sp>
      <p:sp>
        <p:nvSpPr>
          <p:cNvPr id="35" name="chip C#"/>
          <p:cNvSpPr/>
          <p:nvPr/>
        </p:nvSpPr>
        <p:spPr>
          <a:xfrm>
            <a:off x="8160791" y="2320290"/>
            <a:ext cx="731520" cy="219456"/>
          </a:xfrm>
          <a:prstGeom prst="roundRect">
            <a:avLst>
              <a:gd name="adj" fmla="val 33333"/>
            </a:avLst>
          </a:prstGeom>
          <a:solidFill>
            <a:srgbClr val="A6D96A"/>
          </a:solidFill>
          <a:ln w="12700">
            <a:solidFill>
              <a:srgbClr val="A6D96A"/>
            </a:solidFill>
            <a:prstDash val="solid"/>
          </a:ln>
        </p:spPr>
      </p:sp>
      <p:sp>
        <p:nvSpPr>
          <p:cNvPr id="36" name="Text 34"/>
          <p:cNvSpPr txBox="1"/>
          <p:nvPr/>
        </p:nvSpPr>
        <p:spPr>
          <a:xfrm>
            <a:off x="8160791" y="232029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5.31</a:t>
            </a:r>
            <a:endParaRPr lang="en-US" sz="1000" dirty="0"/>
          </a:p>
        </p:txBody>
      </p:sp>
      <p:sp>
        <p:nvSpPr>
          <p:cNvPr id="37" name="code C#"/>
          <p:cNvSpPr txBox="1"/>
          <p:nvPr/>
        </p:nvSpPr>
        <p:spPr>
          <a:xfrm>
            <a:off x="6233008" y="2585466"/>
            <a:ext cx="2659304" cy="994410"/>
          </a:xfrm>
          <a:prstGeom prst="rect">
            <a:avLst/>
          </a:prstGeom>
          <a:noFill/>
          <a:ln/>
        </p:spPr>
        <p:txBody>
          <a:bodyPr wrap="square" lIns="0" tIns="0" rIns="0" bIns="0" rtlCol="0" anchor="t"/>
          <a:lstStyle/>
          <a:p>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for</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int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A5D6FF"/>
                </a:solidFill>
                <a:latin typeface="Courier New" pitchFamily="34" charset="0"/>
                <a:ea typeface="Courier New" pitchFamily="34" charset="-122"/>
                <a:cs typeface="Courier New" pitchFamily="34" charset="-120"/>
              </a:rPr>
              <a:t>0</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&lt;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double</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rowIn</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inp[iy];</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double</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rowOut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outp[iy];</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for</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int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A5D6FF"/>
                </a:solidFill>
                <a:latin typeface="Courier New" pitchFamily="34" charset="0"/>
                <a:ea typeface="Courier New" pitchFamily="34" charset="-122"/>
                <a:cs typeface="Courier New" pitchFamily="34" charset="-120"/>
              </a:rPr>
              <a:t>0</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&lt;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rowOut[ix]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rowIn[ix]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p:txBody>
      </p:sp>
      <p:sp>
        <p:nvSpPr>
          <p:cNvPr id="38" name="code card Go"/>
          <p:cNvSpPr/>
          <p:nvPr/>
        </p:nvSpPr>
        <p:spPr>
          <a:xfrm>
            <a:off x="9075191" y="2274570"/>
            <a:ext cx="2842184" cy="1360170"/>
          </a:xfrm>
          <a:prstGeom prst="roundRect">
            <a:avLst>
              <a:gd name="adj" fmla="val 6723"/>
            </a:avLst>
          </a:prstGeom>
          <a:solidFill>
            <a:srgbClr val="0D1117"/>
          </a:solidFill>
          <a:ln w="12700">
            <a:solidFill>
              <a:srgbClr val="0D1117"/>
            </a:solidFill>
            <a:prstDash val="solid"/>
          </a:ln>
        </p:spPr>
      </p:sp>
      <p:sp>
        <p:nvSpPr>
          <p:cNvPr id="39" name="Text 37"/>
          <p:cNvSpPr txBox="1"/>
          <p:nvPr/>
        </p:nvSpPr>
        <p:spPr>
          <a:xfrm>
            <a:off x="9166631" y="232029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Go</a:t>
            </a:r>
            <a:pPr indent="0" marL="0">
              <a:buNone/>
            </a:pPr>
            <a:r>
              <a:rPr lang="en-US" sz="800" dirty="0">
                <a:solidFill>
                  <a:srgbClr val="8B949E"/>
                </a:solidFill>
              </a:rPr>
              <a:t>   csubraw.go</a:t>
            </a:r>
            <a:endParaRPr lang="en-US" sz="1100" dirty="0"/>
          </a:p>
        </p:txBody>
      </p:sp>
      <p:sp>
        <p:nvSpPr>
          <p:cNvPr id="40" name="chip Go"/>
          <p:cNvSpPr/>
          <p:nvPr/>
        </p:nvSpPr>
        <p:spPr>
          <a:xfrm>
            <a:off x="11094415" y="2320290"/>
            <a:ext cx="731520" cy="219456"/>
          </a:xfrm>
          <a:prstGeom prst="roundRect">
            <a:avLst>
              <a:gd name="adj" fmla="val 33333"/>
            </a:avLst>
          </a:prstGeom>
          <a:solidFill>
            <a:srgbClr val="A6D96A"/>
          </a:solidFill>
          <a:ln w="12700">
            <a:solidFill>
              <a:srgbClr val="A6D96A"/>
            </a:solidFill>
            <a:prstDash val="solid"/>
          </a:ln>
        </p:spPr>
      </p:sp>
      <p:sp>
        <p:nvSpPr>
          <p:cNvPr id="41" name="Text 39"/>
          <p:cNvSpPr txBox="1"/>
          <p:nvPr/>
        </p:nvSpPr>
        <p:spPr>
          <a:xfrm>
            <a:off x="11094415" y="232029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6.91</a:t>
            </a:r>
            <a:endParaRPr lang="en-US" sz="1000" dirty="0"/>
          </a:p>
        </p:txBody>
      </p:sp>
      <p:sp>
        <p:nvSpPr>
          <p:cNvPr id="42" name="code Go"/>
          <p:cNvSpPr txBox="1"/>
          <p:nvPr/>
        </p:nvSpPr>
        <p:spPr>
          <a:xfrm>
            <a:off x="9166631" y="2585466"/>
            <a:ext cx="2659304" cy="994410"/>
          </a:xfrm>
          <a:prstGeom prst="rect">
            <a:avLst/>
          </a:prstGeom>
          <a:noFill/>
          <a:ln/>
        </p:spPr>
        <p:txBody>
          <a:bodyPr wrap="square" lIns="0" tIns="0" rIns="0" bIns="0" rtlCol="0" anchor="t"/>
          <a:lstStyle/>
          <a:p>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for</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iy</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A5D6FF"/>
                </a:solidFill>
                <a:latin typeface="Courier New" pitchFamily="34" charset="0"/>
                <a:ea typeface="Courier New" pitchFamily="34" charset="-122"/>
                <a:cs typeface="Courier New" pitchFamily="34" charset="-120"/>
              </a:rPr>
              <a:t>0</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iy</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&lt;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ny;</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iy</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rowIn</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in[iy]</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rowOut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out[iy]</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for</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A5D6FF"/>
                </a:solidFill>
                <a:latin typeface="Courier New" pitchFamily="34" charset="0"/>
                <a:ea typeface="Courier New" pitchFamily="34" charset="-122"/>
                <a:cs typeface="Courier New" pitchFamily="34" charset="-120"/>
              </a:rPr>
              <a:t>0</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&lt;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nx;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ix</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rowOut[ix]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rowIn[ix]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float64(ix)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float64(iy)</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p:txBody>
      </p:sp>
      <p:sp>
        <p:nvSpPr>
          <p:cNvPr id="43" name="code card F#"/>
          <p:cNvSpPr/>
          <p:nvPr/>
        </p:nvSpPr>
        <p:spPr>
          <a:xfrm>
            <a:off x="274320" y="3726180"/>
            <a:ext cx="2842184" cy="1360170"/>
          </a:xfrm>
          <a:prstGeom prst="roundRect">
            <a:avLst>
              <a:gd name="adj" fmla="val 6723"/>
            </a:avLst>
          </a:prstGeom>
          <a:solidFill>
            <a:srgbClr val="0D1117"/>
          </a:solidFill>
          <a:ln w="12700">
            <a:solidFill>
              <a:srgbClr val="0D1117"/>
            </a:solidFill>
            <a:prstDash val="solid"/>
          </a:ln>
        </p:spPr>
      </p:sp>
      <p:sp>
        <p:nvSpPr>
          <p:cNvPr id="44" name="Text 42"/>
          <p:cNvSpPr txBox="1"/>
          <p:nvPr/>
        </p:nvSpPr>
        <p:spPr>
          <a:xfrm>
            <a:off x="365760" y="377190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F#</a:t>
            </a:r>
            <a:pPr indent="0" marL="0">
              <a:buNone/>
            </a:pPr>
            <a:r>
              <a:rPr lang="en-US" sz="800" dirty="0">
                <a:solidFill>
                  <a:srgbClr val="8B949E"/>
                </a:solidFill>
              </a:rPr>
              <a:t>   csubraw.fs</a:t>
            </a:r>
            <a:endParaRPr lang="en-US" sz="1100" dirty="0"/>
          </a:p>
        </p:txBody>
      </p:sp>
      <p:sp>
        <p:nvSpPr>
          <p:cNvPr id="45" name="chip F#"/>
          <p:cNvSpPr/>
          <p:nvPr/>
        </p:nvSpPr>
        <p:spPr>
          <a:xfrm>
            <a:off x="2293544" y="3771900"/>
            <a:ext cx="731520" cy="219456"/>
          </a:xfrm>
          <a:prstGeom prst="roundRect">
            <a:avLst>
              <a:gd name="adj" fmla="val 33333"/>
            </a:avLst>
          </a:prstGeom>
          <a:solidFill>
            <a:srgbClr val="FEE08B"/>
          </a:solidFill>
          <a:ln w="12700">
            <a:solidFill>
              <a:srgbClr val="FEE08B"/>
            </a:solidFill>
            <a:prstDash val="solid"/>
          </a:ln>
        </p:spPr>
      </p:sp>
      <p:sp>
        <p:nvSpPr>
          <p:cNvPr id="46" name="Text 44"/>
          <p:cNvSpPr txBox="1"/>
          <p:nvPr/>
        </p:nvSpPr>
        <p:spPr>
          <a:xfrm>
            <a:off x="2293544" y="377190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7.21</a:t>
            </a:r>
            <a:endParaRPr lang="en-US" sz="1000" dirty="0"/>
          </a:p>
        </p:txBody>
      </p:sp>
      <p:sp>
        <p:nvSpPr>
          <p:cNvPr id="47" name="code F#"/>
          <p:cNvSpPr txBox="1"/>
          <p:nvPr/>
        </p:nvSpPr>
        <p:spPr>
          <a:xfrm>
            <a:off x="365760" y="4037076"/>
            <a:ext cx="2659304" cy="994410"/>
          </a:xfrm>
          <a:prstGeom prst="rect">
            <a:avLst/>
          </a:prstGeom>
          <a:noFill/>
          <a:ln/>
        </p:spPr>
        <p:txBody>
          <a:bodyPr wrap="square" lIns="0" tIns="0" rIns="0" bIns="0" rtlCol="0" anchor="t"/>
          <a:lstStyle/>
          <a:p>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in</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do</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let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rowIn</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inp</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let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rowOut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out</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let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fiy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float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in</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do</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rowOut</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&lt;-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rowIn</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float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fiy</a:t>
            </a:r>
            <a:endParaRPr lang="en-US" sz="650" dirty="0"/>
          </a:p>
        </p:txBody>
      </p:sp>
      <p:sp>
        <p:nvSpPr>
          <p:cNvPr id="48" name="code card Lua (LuaJIT)"/>
          <p:cNvSpPr/>
          <p:nvPr/>
        </p:nvSpPr>
        <p:spPr>
          <a:xfrm>
            <a:off x="3207944" y="3726180"/>
            <a:ext cx="2842184" cy="1360170"/>
          </a:xfrm>
          <a:prstGeom prst="roundRect">
            <a:avLst>
              <a:gd name="adj" fmla="val 6723"/>
            </a:avLst>
          </a:prstGeom>
          <a:solidFill>
            <a:srgbClr val="0D1117"/>
          </a:solidFill>
          <a:ln w="12700">
            <a:solidFill>
              <a:srgbClr val="0D1117"/>
            </a:solidFill>
            <a:prstDash val="solid"/>
          </a:ln>
        </p:spPr>
      </p:sp>
      <p:sp>
        <p:nvSpPr>
          <p:cNvPr id="49" name="Text 47"/>
          <p:cNvSpPr txBox="1"/>
          <p:nvPr/>
        </p:nvSpPr>
        <p:spPr>
          <a:xfrm>
            <a:off x="3299384" y="377190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Lua (LuaJIT)</a:t>
            </a:r>
            <a:pPr indent="0" marL="0">
              <a:buNone/>
            </a:pPr>
            <a:r>
              <a:rPr lang="en-US" sz="800" dirty="0">
                <a:solidFill>
                  <a:srgbClr val="8B949E"/>
                </a:solidFill>
              </a:rPr>
              <a:t>   csubraw.lua</a:t>
            </a:r>
            <a:endParaRPr lang="en-US" sz="1100" dirty="0"/>
          </a:p>
        </p:txBody>
      </p:sp>
      <p:sp>
        <p:nvSpPr>
          <p:cNvPr id="50" name="chip Lua (LuaJIT)"/>
          <p:cNvSpPr/>
          <p:nvPr/>
        </p:nvSpPr>
        <p:spPr>
          <a:xfrm>
            <a:off x="5227168" y="3771900"/>
            <a:ext cx="731520" cy="219456"/>
          </a:xfrm>
          <a:prstGeom prst="roundRect">
            <a:avLst>
              <a:gd name="adj" fmla="val 33333"/>
            </a:avLst>
          </a:prstGeom>
          <a:solidFill>
            <a:srgbClr val="FEE08B"/>
          </a:solidFill>
          <a:ln w="12700">
            <a:solidFill>
              <a:srgbClr val="FEE08B"/>
            </a:solidFill>
            <a:prstDash val="solid"/>
          </a:ln>
        </p:spPr>
      </p:sp>
      <p:sp>
        <p:nvSpPr>
          <p:cNvPr id="51" name="Text 49"/>
          <p:cNvSpPr txBox="1"/>
          <p:nvPr/>
        </p:nvSpPr>
        <p:spPr>
          <a:xfrm>
            <a:off x="5227168" y="377190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7.59</a:t>
            </a:r>
            <a:endParaRPr lang="en-US" sz="1000" dirty="0"/>
          </a:p>
        </p:txBody>
      </p:sp>
      <p:sp>
        <p:nvSpPr>
          <p:cNvPr id="52" name="code Lua (LuaJIT)"/>
          <p:cNvSpPr txBox="1"/>
          <p:nvPr/>
        </p:nvSpPr>
        <p:spPr>
          <a:xfrm>
            <a:off x="3299384" y="4037076"/>
            <a:ext cx="2659304" cy="994410"/>
          </a:xfrm>
          <a:prstGeom prst="rect">
            <a:avLst/>
          </a:prstGeom>
          <a:noFill/>
          <a:ln/>
        </p:spPr>
        <p:txBody>
          <a:bodyPr wrap="square" lIns="0" tIns="0" rIns="0" bIns="0" rtlCol="0" anchor="t"/>
          <a:lstStyle/>
          <a:p>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local</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function</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D2A8FF"/>
                </a:solidFill>
                <a:latin typeface="Courier New" pitchFamily="34" charset="0"/>
                <a:ea typeface="Courier New" pitchFamily="34" charset="-122"/>
                <a:cs typeface="Courier New" pitchFamily="34" charset="-120"/>
              </a:rPr>
              <a:t>subr</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ina</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nx</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ny</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out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ny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do</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local</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row_in</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ina</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local</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row_out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out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nx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do</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row_out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row_in</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iy</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end</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end</a:t>
            </a:r>
            <a:endParaRPr lang="en-US" sz="650" dirty="0"/>
          </a:p>
          <a:p>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end</a:t>
            </a:r>
            <a:endParaRPr lang="en-US" sz="650" dirty="0"/>
          </a:p>
        </p:txBody>
      </p:sp>
      <p:sp>
        <p:nvSpPr>
          <p:cNvPr id="53" name="code card J"/>
          <p:cNvSpPr/>
          <p:nvPr/>
        </p:nvSpPr>
        <p:spPr>
          <a:xfrm>
            <a:off x="6141568" y="3726180"/>
            <a:ext cx="2842184" cy="1360170"/>
          </a:xfrm>
          <a:prstGeom prst="roundRect">
            <a:avLst>
              <a:gd name="adj" fmla="val 6723"/>
            </a:avLst>
          </a:prstGeom>
          <a:solidFill>
            <a:srgbClr val="0D1117"/>
          </a:solidFill>
          <a:ln w="12700">
            <a:solidFill>
              <a:srgbClr val="0D1117"/>
            </a:solidFill>
            <a:prstDash val="solid"/>
          </a:ln>
        </p:spPr>
      </p:sp>
      <p:sp>
        <p:nvSpPr>
          <p:cNvPr id="54" name="Text 52"/>
          <p:cNvSpPr txBox="1"/>
          <p:nvPr/>
        </p:nvSpPr>
        <p:spPr>
          <a:xfrm>
            <a:off x="6233008" y="377190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J</a:t>
            </a:r>
            <a:pPr indent="0" marL="0">
              <a:buNone/>
            </a:pPr>
            <a:r>
              <a:rPr lang="en-US" sz="800" dirty="0">
                <a:solidFill>
                  <a:srgbClr val="8B949E"/>
                </a:solidFill>
              </a:rPr>
              <a:t>   csubraw.ijs</a:t>
            </a:r>
            <a:endParaRPr lang="en-US" sz="1100" dirty="0"/>
          </a:p>
        </p:txBody>
      </p:sp>
      <p:sp>
        <p:nvSpPr>
          <p:cNvPr id="55" name="chip J"/>
          <p:cNvSpPr/>
          <p:nvPr/>
        </p:nvSpPr>
        <p:spPr>
          <a:xfrm>
            <a:off x="8160791" y="3771900"/>
            <a:ext cx="731520" cy="219456"/>
          </a:xfrm>
          <a:prstGeom prst="roundRect">
            <a:avLst>
              <a:gd name="adj" fmla="val 33333"/>
            </a:avLst>
          </a:prstGeom>
          <a:solidFill>
            <a:srgbClr val="FEE08B"/>
          </a:solidFill>
          <a:ln w="12700">
            <a:solidFill>
              <a:srgbClr val="FEE08B"/>
            </a:solidFill>
            <a:prstDash val="solid"/>
          </a:ln>
        </p:spPr>
      </p:sp>
      <p:sp>
        <p:nvSpPr>
          <p:cNvPr id="56" name="Text 54"/>
          <p:cNvSpPr txBox="1"/>
          <p:nvPr/>
        </p:nvSpPr>
        <p:spPr>
          <a:xfrm>
            <a:off x="8160791" y="377190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8.24</a:t>
            </a:r>
            <a:endParaRPr lang="en-US" sz="1000" dirty="0"/>
          </a:p>
        </p:txBody>
      </p:sp>
      <p:sp>
        <p:nvSpPr>
          <p:cNvPr id="57" name="code J"/>
          <p:cNvSpPr txBox="1"/>
          <p:nvPr/>
        </p:nvSpPr>
        <p:spPr>
          <a:xfrm>
            <a:off x="6233008" y="4037076"/>
            <a:ext cx="2659304" cy="994410"/>
          </a:xfrm>
          <a:prstGeom prst="rect">
            <a:avLst/>
          </a:prstGeom>
          <a:noFill/>
          <a:ln/>
        </p:spPr>
        <p:txBody>
          <a:bodyPr wrap="square" lIns="0" tIns="0" rIns="0" bIns="0" rtlCol="0" anchor="t"/>
          <a:lstStyle/>
          <a:p>
            <a:pPr indent="0" marL="0">
              <a:lnSpc>
                <a:spcPts val="840"/>
              </a:lnSpc>
              <a:buNone/>
            </a:pPr>
            <a:r>
              <a:rPr lang="en-US" sz="800" dirty="0">
                <a:solidFill>
                  <a:srgbClr val="79C0FF"/>
                </a:solidFill>
                <a:latin typeface="Courier New" pitchFamily="34" charset="0"/>
                <a:ea typeface="Courier New" pitchFamily="34" charset="-122"/>
                <a:cs typeface="Courier New" pitchFamily="34" charset="-120"/>
              </a:rPr>
              <a:t>subr</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D2A8FF"/>
                </a:solidFill>
                <a:latin typeface="Courier New" pitchFamily="34" charset="0"/>
                <a:ea typeface="Courier New" pitchFamily="34" charset="-122"/>
                <a:cs typeface="Courier New" pitchFamily="34" charset="-120"/>
              </a:rPr>
              <a:t>3 : 0</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79C0FF"/>
                </a:solidFill>
                <a:latin typeface="Courier New" pitchFamily="34" charset="0"/>
                <a:ea typeface="Courier New" pitchFamily="34" charset="-122"/>
                <a:cs typeface="Courier New" pitchFamily="34" charset="-120"/>
              </a:rPr>
              <a:t>shp</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79C0FF"/>
                </a:solidFill>
                <a:latin typeface="Courier New" pitchFamily="34" charset="0"/>
                <a:ea typeface="Courier New" pitchFamily="34" charset="-122"/>
                <a:cs typeface="Courier New" pitchFamily="34" charset="-120"/>
              </a:rPr>
              <a:t>y</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79C0FF"/>
                </a:solidFill>
                <a:latin typeface="Courier New" pitchFamily="34" charset="0"/>
                <a:ea typeface="Courier New" pitchFamily="34" charset="-122"/>
                <a:cs typeface="Courier New" pitchFamily="34" charset="-120"/>
              </a:rPr>
              <a:t>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79C0FF"/>
                </a:solidFill>
                <a:latin typeface="Courier New" pitchFamily="34" charset="0"/>
                <a:ea typeface="Courier New" pitchFamily="34" charset="-122"/>
                <a:cs typeface="Courier New" pitchFamily="34" charset="-120"/>
              </a:rPr>
              <a:t>i</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79C0FF"/>
                </a:solidFill>
                <a:latin typeface="Courier New" pitchFamily="34" charset="0"/>
                <a:ea typeface="Courier New" pitchFamily="34" charset="-122"/>
                <a:cs typeface="Courier New" pitchFamily="34" charset="-120"/>
              </a:rPr>
              <a:t>shp</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79C0FF"/>
                </a:solidFill>
                <a:latin typeface="Courier New" pitchFamily="34" charset="0"/>
                <a:ea typeface="Courier New" pitchFamily="34" charset="-122"/>
                <a:cs typeface="Courier New" pitchFamily="34" charset="-120"/>
              </a:rPr>
              <a:t>i</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79C0FF"/>
                </a:solidFill>
                <a:latin typeface="Courier New" pitchFamily="34" charset="0"/>
                <a:ea typeface="Courier New" pitchFamily="34" charset="-122"/>
                <a:cs typeface="Courier New" pitchFamily="34" charset="-120"/>
              </a:rPr>
              <a:t>shp</a:t>
            </a:r>
            <a:endParaRPr lang="en-US" sz="800" dirty="0"/>
          </a:p>
          <a:p>
            <a:pPr indent="0" marL="0">
              <a:lnSpc>
                <a:spcPts val="840"/>
              </a:lnSpc>
              <a:buNone/>
            </a:pPr>
            <a:r>
              <a:rPr lang="en-US" sz="800" dirty="0">
                <a:solidFill>
                  <a:srgbClr val="F85149"/>
                </a:solidFill>
                <a:latin typeface="Courier New" pitchFamily="34" charset="0"/>
                <a:ea typeface="Courier New" pitchFamily="34" charset="-122"/>
                <a:cs typeface="Courier New" pitchFamily="34" charset="-120"/>
              </a:rPr>
              <a:t>)</a:t>
            </a:r>
            <a:endParaRPr lang="en-US" sz="800" dirty="0"/>
          </a:p>
        </p:txBody>
      </p:sp>
      <p:sp>
        <p:nvSpPr>
          <p:cNvPr id="58" name="code card Haskell"/>
          <p:cNvSpPr/>
          <p:nvPr/>
        </p:nvSpPr>
        <p:spPr>
          <a:xfrm>
            <a:off x="9075191" y="3726180"/>
            <a:ext cx="2842184" cy="1360170"/>
          </a:xfrm>
          <a:prstGeom prst="roundRect">
            <a:avLst>
              <a:gd name="adj" fmla="val 6723"/>
            </a:avLst>
          </a:prstGeom>
          <a:solidFill>
            <a:srgbClr val="0D1117"/>
          </a:solidFill>
          <a:ln w="12700">
            <a:solidFill>
              <a:srgbClr val="0D1117"/>
            </a:solidFill>
            <a:prstDash val="solid"/>
          </a:ln>
        </p:spPr>
      </p:sp>
      <p:sp>
        <p:nvSpPr>
          <p:cNvPr id="59" name="Text 57"/>
          <p:cNvSpPr txBox="1"/>
          <p:nvPr/>
        </p:nvSpPr>
        <p:spPr>
          <a:xfrm>
            <a:off x="9166631" y="377190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Haskell</a:t>
            </a:r>
            <a:pPr indent="0" marL="0">
              <a:buNone/>
            </a:pPr>
            <a:r>
              <a:rPr lang="en-US" sz="800" dirty="0">
                <a:solidFill>
                  <a:srgbClr val="8B949E"/>
                </a:solidFill>
              </a:rPr>
              <a:t>   csubraw.hs</a:t>
            </a:r>
            <a:endParaRPr lang="en-US" sz="1100" dirty="0"/>
          </a:p>
        </p:txBody>
      </p:sp>
      <p:sp>
        <p:nvSpPr>
          <p:cNvPr id="60" name="chip Haskell"/>
          <p:cNvSpPr/>
          <p:nvPr/>
        </p:nvSpPr>
        <p:spPr>
          <a:xfrm>
            <a:off x="11094415" y="3771900"/>
            <a:ext cx="731520" cy="219456"/>
          </a:xfrm>
          <a:prstGeom prst="roundRect">
            <a:avLst>
              <a:gd name="adj" fmla="val 33333"/>
            </a:avLst>
          </a:prstGeom>
          <a:solidFill>
            <a:srgbClr val="FEE08B"/>
          </a:solidFill>
          <a:ln w="12700">
            <a:solidFill>
              <a:srgbClr val="FEE08B"/>
            </a:solidFill>
            <a:prstDash val="solid"/>
          </a:ln>
        </p:spPr>
      </p:sp>
      <p:sp>
        <p:nvSpPr>
          <p:cNvPr id="61" name="Text 59"/>
          <p:cNvSpPr txBox="1"/>
          <p:nvPr/>
        </p:nvSpPr>
        <p:spPr>
          <a:xfrm>
            <a:off x="11094415" y="377190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9.16</a:t>
            </a:r>
            <a:endParaRPr lang="en-US" sz="1000" dirty="0"/>
          </a:p>
        </p:txBody>
      </p:sp>
      <p:sp>
        <p:nvSpPr>
          <p:cNvPr id="62" name="code Haskell"/>
          <p:cNvSpPr txBox="1"/>
          <p:nvPr/>
        </p:nvSpPr>
        <p:spPr>
          <a:xfrm>
            <a:off x="9166631" y="4037076"/>
            <a:ext cx="2659304" cy="994410"/>
          </a:xfrm>
          <a:prstGeom prst="rect">
            <a:avLst/>
          </a:prstGeom>
          <a:noFill/>
          <a:ln/>
        </p:spPr>
        <p:txBody>
          <a:bodyPr wrap="square" lIns="0" tIns="0" rIns="0" bIns="0" rtlCol="0" anchor="t"/>
          <a:lstStyle/>
          <a:p>
            <a:pPr indent="0" marL="0">
              <a:lnSpc>
                <a:spcPts val="525"/>
              </a:lnSpc>
              <a:buNone/>
            </a:pPr>
            <a:r>
              <a:rPr lang="en-US" sz="500" b="1" dirty="0">
                <a:solidFill>
                  <a:srgbClr val="D2A8FF"/>
                </a:solidFill>
                <a:latin typeface="Courier New" pitchFamily="34" charset="0"/>
                <a:ea typeface="Courier New" pitchFamily="34" charset="-122"/>
                <a:cs typeface="Courier New" pitchFamily="34" charset="-120"/>
              </a:rPr>
              <a:t>forM_</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A5D6FF"/>
                </a:solidFill>
                <a:latin typeface="Courier New" pitchFamily="34" charset="0"/>
                <a:ea typeface="Courier New" pitchFamily="34" charset="-122"/>
                <a:cs typeface="Courier New" pitchFamily="34" charset="-120"/>
              </a:rPr>
              <a:t>0</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ny</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A5D6FF"/>
                </a:solidFill>
                <a:latin typeface="Courier New" pitchFamily="34" charset="0"/>
                <a:ea typeface="Courier New" pitchFamily="34" charset="-122"/>
                <a:cs typeface="Courier New" pitchFamily="34" charset="-120"/>
              </a:rPr>
              <a:t>1</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D2A8FF"/>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iy</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-&gt;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FF7B72"/>
                </a:solidFill>
                <a:latin typeface="Courier New" pitchFamily="34" charset="0"/>
                <a:ea typeface="Courier New" pitchFamily="34" charset="-122"/>
                <a:cs typeface="Courier New" pitchFamily="34" charset="-120"/>
              </a:rPr>
              <a:t>do</a:t>
            </a:r>
            <a:endParaRPr lang="en-US" sz="500" dirty="0"/>
          </a:p>
          <a:p>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FF7B72"/>
                </a:solidFill>
                <a:latin typeface="Courier New" pitchFamily="34" charset="0"/>
                <a:ea typeface="Courier New" pitchFamily="34" charset="-122"/>
                <a:cs typeface="Courier New" pitchFamily="34" charset="-120"/>
              </a:rPr>
              <a:t>let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fiy</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fromIntegral</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iy</a:t>
            </a:r>
            <a:endParaRPr lang="en-US" sz="500" dirty="0"/>
          </a:p>
          <a:p>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forM_</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A5D6FF"/>
                </a:solidFill>
                <a:latin typeface="Courier New" pitchFamily="34" charset="0"/>
                <a:ea typeface="Courier New" pitchFamily="34" charset="-122"/>
                <a:cs typeface="Courier New" pitchFamily="34" charset="-120"/>
              </a:rPr>
              <a:t>0</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nx</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A5D6FF"/>
                </a:solidFill>
                <a:latin typeface="Courier New" pitchFamily="34" charset="0"/>
                <a:ea typeface="Courier New" pitchFamily="34" charset="-122"/>
                <a:cs typeface="Courier New" pitchFamily="34" charset="-120"/>
              </a:rPr>
              <a:t>1</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D2A8FF"/>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ix</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-&gt;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FF7B72"/>
                </a:solidFill>
                <a:latin typeface="Courier New" pitchFamily="34" charset="0"/>
                <a:ea typeface="Courier New" pitchFamily="34" charset="-122"/>
                <a:cs typeface="Courier New" pitchFamily="34" charset="-120"/>
              </a:rPr>
              <a:t>do</a:t>
            </a:r>
            <a:endParaRPr lang="en-US" sz="500" dirty="0"/>
          </a:p>
          <a:p>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v</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&lt;-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unsafeRead</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ina</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(iy</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nx</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ix)</a:t>
            </a:r>
            <a:endParaRPr lang="en-US" sz="500" dirty="0"/>
          </a:p>
          <a:p>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unsafeWrite</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out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(iy</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nx</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ix)</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(v</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fromIntegral</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ix</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b="1" dirty="0">
                <a:solidFill>
                  <a:srgbClr val="FF7B72"/>
                </a:solidFill>
                <a:latin typeface="Courier New" pitchFamily="34" charset="0"/>
                <a:ea typeface="Courier New" pitchFamily="34" charset="-122"/>
                <a:cs typeface="Courier New" pitchFamily="34" charset="-120"/>
              </a:rPr>
              <a:t>+</a:t>
            </a:r>
            <a:pPr indent="0" marL="0">
              <a:lnSpc>
                <a:spcPts val="525"/>
              </a:lnSpc>
              <a:buNone/>
            </a:pPr>
            <a:r>
              <a:rPr lang="en-US" sz="500" dirty="0">
                <a:solidFill>
                  <a:srgbClr val="6E7681"/>
                </a:solidFill>
                <a:latin typeface="Courier New" pitchFamily="34" charset="0"/>
                <a:ea typeface="Courier New" pitchFamily="34" charset="-122"/>
                <a:cs typeface="Courier New" pitchFamily="34" charset="-120"/>
              </a:rPr>
              <a:t> </a:t>
            </a:r>
            <a:pPr indent="0" marL="0">
              <a:lnSpc>
                <a:spcPts val="525"/>
              </a:lnSpc>
              <a:buNone/>
            </a:pPr>
            <a:r>
              <a:rPr lang="en-US" sz="500" dirty="0">
                <a:solidFill>
                  <a:srgbClr val="E6EDF3"/>
                </a:solidFill>
                <a:latin typeface="Courier New" pitchFamily="34" charset="0"/>
                <a:ea typeface="Courier New" pitchFamily="34" charset="-122"/>
                <a:cs typeface="Courier New" pitchFamily="34" charset="-120"/>
              </a:rPr>
              <a:t>fiy)</a:t>
            </a:r>
            <a:endParaRPr lang="en-US" sz="500" dirty="0"/>
          </a:p>
        </p:txBody>
      </p:sp>
      <p:sp>
        <p:nvSpPr>
          <p:cNvPr id="63" name="code card OCaml"/>
          <p:cNvSpPr/>
          <p:nvPr/>
        </p:nvSpPr>
        <p:spPr>
          <a:xfrm>
            <a:off x="274320" y="5177790"/>
            <a:ext cx="2842184" cy="1360170"/>
          </a:xfrm>
          <a:prstGeom prst="roundRect">
            <a:avLst>
              <a:gd name="adj" fmla="val 6723"/>
            </a:avLst>
          </a:prstGeom>
          <a:solidFill>
            <a:srgbClr val="0D1117"/>
          </a:solidFill>
          <a:ln w="12700">
            <a:solidFill>
              <a:srgbClr val="0D1117"/>
            </a:solidFill>
            <a:prstDash val="solid"/>
          </a:ln>
        </p:spPr>
      </p:sp>
      <p:sp>
        <p:nvSpPr>
          <p:cNvPr id="64" name="Text 62"/>
          <p:cNvSpPr txBox="1"/>
          <p:nvPr/>
        </p:nvSpPr>
        <p:spPr>
          <a:xfrm>
            <a:off x="365760" y="522351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OCaml</a:t>
            </a:r>
            <a:pPr indent="0" marL="0">
              <a:buNone/>
            </a:pPr>
            <a:r>
              <a:rPr lang="en-US" sz="800" dirty="0">
                <a:solidFill>
                  <a:srgbClr val="8B949E"/>
                </a:solidFill>
              </a:rPr>
              <a:t>   csubraw.ml</a:t>
            </a:r>
            <a:endParaRPr lang="en-US" sz="1100" dirty="0"/>
          </a:p>
        </p:txBody>
      </p:sp>
      <p:sp>
        <p:nvSpPr>
          <p:cNvPr id="65" name="chip OCaml"/>
          <p:cNvSpPr/>
          <p:nvPr/>
        </p:nvSpPr>
        <p:spPr>
          <a:xfrm>
            <a:off x="2293544" y="5223510"/>
            <a:ext cx="731520" cy="219456"/>
          </a:xfrm>
          <a:prstGeom prst="roundRect">
            <a:avLst>
              <a:gd name="adj" fmla="val 33333"/>
            </a:avLst>
          </a:prstGeom>
          <a:solidFill>
            <a:srgbClr val="FEE08B"/>
          </a:solidFill>
          <a:ln w="12700">
            <a:solidFill>
              <a:srgbClr val="FEE08B"/>
            </a:solidFill>
            <a:prstDash val="solid"/>
          </a:ln>
        </p:spPr>
      </p:sp>
      <p:sp>
        <p:nvSpPr>
          <p:cNvPr id="66" name="Text 64"/>
          <p:cNvSpPr txBox="1"/>
          <p:nvPr/>
        </p:nvSpPr>
        <p:spPr>
          <a:xfrm>
            <a:off x="2293544" y="522351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9.44</a:t>
            </a:r>
            <a:endParaRPr lang="en-US" sz="1000" dirty="0"/>
          </a:p>
        </p:txBody>
      </p:sp>
      <p:sp>
        <p:nvSpPr>
          <p:cNvPr id="67" name="code OCaml"/>
          <p:cNvSpPr txBox="1"/>
          <p:nvPr/>
        </p:nvSpPr>
        <p:spPr>
          <a:xfrm>
            <a:off x="365760" y="5488686"/>
            <a:ext cx="2659304" cy="994410"/>
          </a:xfrm>
          <a:prstGeom prst="rect">
            <a:avLst/>
          </a:prstGeom>
          <a:noFill/>
          <a:ln/>
        </p:spPr>
        <p:txBody>
          <a:bodyPr wrap="square" lIns="0" tIns="0" rIns="0" bIns="0" rtlCol="0" anchor="t"/>
          <a:lstStyle/>
          <a:p>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for</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iy </a:t>
            </a:r>
            <a:pPr indent="0" marL="0">
              <a:lnSpc>
                <a:spcPts val="578"/>
              </a:lnSpc>
              <a:buNone/>
            </a:pPr>
            <a:r>
              <a:rPr lang="en-US" sz="550" b="1" dirty="0">
                <a:solidFill>
                  <a:srgbClr val="FF7B72"/>
                </a:solidFill>
                <a:latin typeface="Courier New" pitchFamily="34" charset="0"/>
                <a:ea typeface="Courier New" pitchFamily="34" charset="-122"/>
                <a:cs typeface="Courier New" pitchFamily="34" charset="-120"/>
              </a:rPr>
              <a:t>=</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A5D6FF"/>
                </a:solidFill>
                <a:latin typeface="Courier New" pitchFamily="34" charset="0"/>
                <a:ea typeface="Courier New" pitchFamily="34" charset="-122"/>
                <a:cs typeface="Courier New" pitchFamily="34" charset="-120"/>
              </a:rPr>
              <a:t>0</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to</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ny </a:t>
            </a:r>
            <a:pPr indent="0" marL="0">
              <a:lnSpc>
                <a:spcPts val="578"/>
              </a:lnSpc>
              <a:buNone/>
            </a:pPr>
            <a:r>
              <a:rPr lang="en-US" sz="550" b="1" dirty="0">
                <a:solidFill>
                  <a:srgbClr val="FF7B72"/>
                </a:solidFill>
                <a:latin typeface="Courier New" pitchFamily="34" charset="0"/>
                <a:ea typeface="Courier New" pitchFamily="34" charset="-122"/>
                <a:cs typeface="Courier New" pitchFamily="34" charset="-120"/>
              </a:rPr>
              <a:t>-</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A5D6FF"/>
                </a:solidFill>
                <a:latin typeface="Courier New" pitchFamily="34" charset="0"/>
                <a:ea typeface="Courier New" pitchFamily="34" charset="-122"/>
                <a:cs typeface="Courier New" pitchFamily="34" charset="-120"/>
              </a:rPr>
              <a:t>1</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do</a:t>
            </a:r>
            <a:endParaRPr lang="en-US" sz="550" dirty="0"/>
          </a:p>
          <a:p>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let</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row_in  </a:t>
            </a:r>
            <a:pPr indent="0" marL="0">
              <a:lnSpc>
                <a:spcPts val="578"/>
              </a:lnSpc>
              <a:buNone/>
            </a:pPr>
            <a:r>
              <a:rPr lang="en-US" sz="550" b="1" dirty="0">
                <a:solidFill>
                  <a:srgbClr val="FF7B72"/>
                </a:solidFill>
                <a:latin typeface="Courier New" pitchFamily="34" charset="0"/>
                <a:ea typeface="Courier New" pitchFamily="34" charset="-122"/>
                <a:cs typeface="Courier New" pitchFamily="34" charset="-120"/>
              </a:rPr>
              <a:t>=</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Array</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.unsafe_get in_arr  iy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in</a:t>
            </a:r>
            <a:endParaRPr lang="en-US" sz="550" dirty="0"/>
          </a:p>
          <a:p>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let</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row_out </a:t>
            </a:r>
            <a:pPr indent="0" marL="0">
              <a:lnSpc>
                <a:spcPts val="578"/>
              </a:lnSpc>
              <a:buNone/>
            </a:pPr>
            <a:r>
              <a:rPr lang="en-US" sz="550" b="1" dirty="0">
                <a:solidFill>
                  <a:srgbClr val="FF7B72"/>
                </a:solidFill>
                <a:latin typeface="Courier New" pitchFamily="34" charset="0"/>
                <a:ea typeface="Courier New" pitchFamily="34" charset="-122"/>
                <a:cs typeface="Courier New" pitchFamily="34" charset="-120"/>
              </a:rPr>
              <a:t>=</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Array</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.unsafe_get out_arr iy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in</a:t>
            </a:r>
            <a:endParaRPr lang="en-US" sz="550" dirty="0"/>
          </a:p>
          <a:p>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let</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fiy </a:t>
            </a:r>
            <a:pPr indent="0" marL="0">
              <a:lnSpc>
                <a:spcPts val="578"/>
              </a:lnSpc>
              <a:buNone/>
            </a:pPr>
            <a:r>
              <a:rPr lang="en-US" sz="550" b="1" dirty="0">
                <a:solidFill>
                  <a:srgbClr val="FF7B72"/>
                </a:solidFill>
                <a:latin typeface="Courier New" pitchFamily="34" charset="0"/>
                <a:ea typeface="Courier New" pitchFamily="34" charset="-122"/>
                <a:cs typeface="Courier New" pitchFamily="34" charset="-120"/>
              </a:rPr>
              <a:t>=</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float_of_int iy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in</a:t>
            </a:r>
            <a:endParaRPr lang="en-US" sz="550" dirty="0"/>
          </a:p>
          <a:p>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for</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ix </a:t>
            </a:r>
            <a:pPr indent="0" marL="0">
              <a:lnSpc>
                <a:spcPts val="578"/>
              </a:lnSpc>
              <a:buNone/>
            </a:pPr>
            <a:r>
              <a:rPr lang="en-US" sz="550" b="1" dirty="0">
                <a:solidFill>
                  <a:srgbClr val="FF7B72"/>
                </a:solidFill>
                <a:latin typeface="Courier New" pitchFamily="34" charset="0"/>
                <a:ea typeface="Courier New" pitchFamily="34" charset="-122"/>
                <a:cs typeface="Courier New" pitchFamily="34" charset="-120"/>
              </a:rPr>
              <a:t>=</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A5D6FF"/>
                </a:solidFill>
                <a:latin typeface="Courier New" pitchFamily="34" charset="0"/>
                <a:ea typeface="Courier New" pitchFamily="34" charset="-122"/>
                <a:cs typeface="Courier New" pitchFamily="34" charset="-120"/>
              </a:rPr>
              <a:t>0</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to</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nx </a:t>
            </a:r>
            <a:pPr indent="0" marL="0">
              <a:lnSpc>
                <a:spcPts val="578"/>
              </a:lnSpc>
              <a:buNone/>
            </a:pPr>
            <a:r>
              <a:rPr lang="en-US" sz="550" b="1" dirty="0">
                <a:solidFill>
                  <a:srgbClr val="FF7B72"/>
                </a:solidFill>
                <a:latin typeface="Courier New" pitchFamily="34" charset="0"/>
                <a:ea typeface="Courier New" pitchFamily="34" charset="-122"/>
                <a:cs typeface="Courier New" pitchFamily="34" charset="-120"/>
              </a:rPr>
              <a:t>-</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A5D6FF"/>
                </a:solidFill>
                <a:latin typeface="Courier New" pitchFamily="34" charset="0"/>
                <a:ea typeface="Courier New" pitchFamily="34" charset="-122"/>
                <a:cs typeface="Courier New" pitchFamily="34" charset="-120"/>
              </a:rPr>
              <a:t>1</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do</a:t>
            </a:r>
            <a:endParaRPr lang="en-US" sz="550" dirty="0"/>
          </a:p>
          <a:p>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Array</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.unsafe_set row_out ix</a:t>
            </a:r>
            <a:endParaRPr lang="en-US" sz="550" dirty="0"/>
          </a:p>
          <a:p>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b="1" dirty="0">
                <a:solidFill>
                  <a:srgbClr val="FF7B72"/>
                </a:solidFill>
                <a:latin typeface="Courier New" pitchFamily="34" charset="0"/>
                <a:ea typeface="Courier New" pitchFamily="34" charset="-122"/>
                <a:cs typeface="Courier New" pitchFamily="34" charset="-120"/>
              </a:rPr>
              <a:t>(</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Array</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.unsafe_get row_in ix </a:t>
            </a:r>
            <a:pPr indent="0" marL="0">
              <a:lnSpc>
                <a:spcPts val="578"/>
              </a:lnSpc>
              <a:buNone/>
            </a:pPr>
            <a:r>
              <a:rPr lang="en-US" sz="550" b="1" dirty="0">
                <a:solidFill>
                  <a:srgbClr val="FF7B72"/>
                </a:solidFill>
                <a:latin typeface="Courier New" pitchFamily="34" charset="0"/>
                <a:ea typeface="Courier New" pitchFamily="34" charset="-122"/>
                <a:cs typeface="Courier New" pitchFamily="34" charset="-120"/>
              </a:rPr>
              <a:t>+.</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float_of_int ix </a:t>
            </a:r>
            <a:pPr indent="0" marL="0">
              <a:lnSpc>
                <a:spcPts val="578"/>
              </a:lnSpc>
              <a:buNone/>
            </a:pPr>
            <a:r>
              <a:rPr lang="en-US" sz="550" b="1" dirty="0">
                <a:solidFill>
                  <a:srgbClr val="FF7B72"/>
                </a:solidFill>
                <a:latin typeface="Courier New" pitchFamily="34" charset="0"/>
                <a:ea typeface="Courier New" pitchFamily="34" charset="-122"/>
                <a:cs typeface="Courier New" pitchFamily="34" charset="-120"/>
              </a:rPr>
              <a:t>+.</a:t>
            </a:r>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fiy</a:t>
            </a:r>
            <a:pPr indent="0" marL="0">
              <a:lnSpc>
                <a:spcPts val="578"/>
              </a:lnSpc>
              <a:buNone/>
            </a:pPr>
            <a:r>
              <a:rPr lang="en-US" sz="550" b="1" dirty="0">
                <a:solidFill>
                  <a:srgbClr val="FF7B72"/>
                </a:solidFill>
                <a:latin typeface="Courier New" pitchFamily="34" charset="0"/>
                <a:ea typeface="Courier New" pitchFamily="34" charset="-122"/>
                <a:cs typeface="Courier New" pitchFamily="34" charset="-120"/>
              </a:rPr>
              <a:t>)</a:t>
            </a:r>
            <a:endParaRPr lang="en-US" sz="550" dirty="0"/>
          </a:p>
          <a:p>
            <a:pPr indent="0" marL="0">
              <a:lnSpc>
                <a:spcPts val="578"/>
              </a:lnSpc>
              <a:buNone/>
            </a:pPr>
            <a:r>
              <a:rPr lang="en-US" sz="550" dirty="0">
                <a:solidFill>
                  <a:srgbClr val="E6EDF3"/>
                </a:solidFill>
                <a:latin typeface="Courier New" pitchFamily="34" charset="0"/>
                <a:ea typeface="Courier New" pitchFamily="34" charset="-122"/>
                <a:cs typeface="Courier New" pitchFamily="34" charset="-120"/>
              </a:rPr>
              <a:t>   </a:t>
            </a:r>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done</a:t>
            </a:r>
            <a:endParaRPr lang="en-US" sz="550" dirty="0"/>
          </a:p>
          <a:p>
            <a:pPr indent="0" marL="0">
              <a:lnSpc>
                <a:spcPts val="578"/>
              </a:lnSpc>
              <a:buNone/>
            </a:pPr>
            <a:r>
              <a:rPr lang="en-US" sz="550" dirty="0">
                <a:solidFill>
                  <a:srgbClr val="FF7B72"/>
                </a:solidFill>
                <a:latin typeface="Courier New" pitchFamily="34" charset="0"/>
                <a:ea typeface="Courier New" pitchFamily="34" charset="-122"/>
                <a:cs typeface="Courier New" pitchFamily="34" charset="-120"/>
              </a:rPr>
              <a:t>done</a:t>
            </a:r>
            <a:endParaRPr lang="en-US" sz="550" dirty="0"/>
          </a:p>
        </p:txBody>
      </p:sp>
      <p:sp>
        <p:nvSpPr>
          <p:cNvPr id="68" name="code card Lisp (SBCL), typed"/>
          <p:cNvSpPr/>
          <p:nvPr/>
        </p:nvSpPr>
        <p:spPr>
          <a:xfrm>
            <a:off x="3207944" y="5177790"/>
            <a:ext cx="2842184" cy="1360170"/>
          </a:xfrm>
          <a:prstGeom prst="roundRect">
            <a:avLst>
              <a:gd name="adj" fmla="val 6723"/>
            </a:avLst>
          </a:prstGeom>
          <a:solidFill>
            <a:srgbClr val="0D1117"/>
          </a:solidFill>
          <a:ln w="12700">
            <a:solidFill>
              <a:srgbClr val="0D1117"/>
            </a:solidFill>
            <a:prstDash val="solid"/>
          </a:ln>
        </p:spPr>
      </p:sp>
      <p:sp>
        <p:nvSpPr>
          <p:cNvPr id="69" name="Text 67"/>
          <p:cNvSpPr txBox="1"/>
          <p:nvPr/>
        </p:nvSpPr>
        <p:spPr>
          <a:xfrm>
            <a:off x="3299384" y="522351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Lisp (SBCL), typed</a:t>
            </a:r>
            <a:pPr indent="0" marL="0">
              <a:buNone/>
            </a:pPr>
            <a:r>
              <a:rPr lang="en-US" sz="800" dirty="0">
                <a:solidFill>
                  <a:srgbClr val="8B949E"/>
                </a:solidFill>
              </a:rPr>
              <a:t>   csubraw-typed.lisp</a:t>
            </a:r>
            <a:endParaRPr lang="en-US" sz="1100" dirty="0"/>
          </a:p>
        </p:txBody>
      </p:sp>
      <p:sp>
        <p:nvSpPr>
          <p:cNvPr id="70" name="chip Lisp (SBCL), typed"/>
          <p:cNvSpPr/>
          <p:nvPr/>
        </p:nvSpPr>
        <p:spPr>
          <a:xfrm>
            <a:off x="5227168" y="5223510"/>
            <a:ext cx="731520" cy="219456"/>
          </a:xfrm>
          <a:prstGeom prst="roundRect">
            <a:avLst>
              <a:gd name="adj" fmla="val 33333"/>
            </a:avLst>
          </a:prstGeom>
          <a:solidFill>
            <a:srgbClr val="FEE08B"/>
          </a:solidFill>
          <a:ln w="12700">
            <a:solidFill>
              <a:srgbClr val="FEE08B"/>
            </a:solidFill>
            <a:prstDash val="solid"/>
          </a:ln>
        </p:spPr>
      </p:sp>
      <p:sp>
        <p:nvSpPr>
          <p:cNvPr id="71" name="Text 69"/>
          <p:cNvSpPr txBox="1"/>
          <p:nvPr/>
        </p:nvSpPr>
        <p:spPr>
          <a:xfrm>
            <a:off x="5227168" y="522351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10.63</a:t>
            </a:r>
            <a:endParaRPr lang="en-US" sz="1000" dirty="0"/>
          </a:p>
        </p:txBody>
      </p:sp>
      <p:sp>
        <p:nvSpPr>
          <p:cNvPr id="72" name="code Lisp (SBCL), typed"/>
          <p:cNvSpPr txBox="1"/>
          <p:nvPr/>
        </p:nvSpPr>
        <p:spPr>
          <a:xfrm>
            <a:off x="3299384" y="5488686"/>
            <a:ext cx="2659304" cy="994410"/>
          </a:xfrm>
          <a:prstGeom prst="rect">
            <a:avLst/>
          </a:prstGeom>
          <a:noFill/>
          <a:ln/>
        </p:spPr>
        <p:txBody>
          <a:bodyPr wrap="square" lIns="0" tIns="0" rIns="0" bIns="0" rtlCol="0" anchor="t"/>
          <a:lstStyle/>
          <a:p>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(dotimes</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iy</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ny</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declare</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type</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fixnum</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iy</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let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fiy</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(coerce</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iy</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A5D6FF"/>
                </a:solidFill>
                <a:latin typeface="Courier New" pitchFamily="34" charset="0"/>
                <a:ea typeface="Courier New" pitchFamily="34" charset="-122"/>
                <a:cs typeface="Courier New" pitchFamily="34" charset="-120"/>
              </a:rPr>
              <a:t>'double-float</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declare</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type</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double-float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fiy</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(dotimes</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ix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nx</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declare</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type</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fixnum</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ix</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(setf</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(aref</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out-arr</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iy</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ix</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(aref</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in-arr</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iy</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ix</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(coerce</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ix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A5D6FF"/>
                </a:solidFill>
                <a:latin typeface="Courier New" pitchFamily="34" charset="0"/>
                <a:ea typeface="Courier New" pitchFamily="34" charset="-122"/>
                <a:cs typeface="Courier New" pitchFamily="34" charset="-120"/>
              </a:rPr>
              <a:t>'double-float</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79C0FF"/>
                </a:solidFill>
                <a:latin typeface="Courier New" pitchFamily="34" charset="0"/>
                <a:ea typeface="Courier New" pitchFamily="34" charset="-122"/>
                <a:cs typeface="Courier New" pitchFamily="34" charset="-120"/>
              </a:rPr>
              <a:t>fiy</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73" name="code card Ruby + YJIT"/>
          <p:cNvSpPr/>
          <p:nvPr/>
        </p:nvSpPr>
        <p:spPr>
          <a:xfrm>
            <a:off x="6141568" y="5177790"/>
            <a:ext cx="2842184" cy="1360170"/>
          </a:xfrm>
          <a:prstGeom prst="roundRect">
            <a:avLst>
              <a:gd name="adj" fmla="val 6723"/>
            </a:avLst>
          </a:prstGeom>
          <a:solidFill>
            <a:srgbClr val="0D1117"/>
          </a:solidFill>
          <a:ln w="12700">
            <a:solidFill>
              <a:srgbClr val="0D1117"/>
            </a:solidFill>
            <a:prstDash val="solid"/>
          </a:ln>
        </p:spPr>
      </p:sp>
      <p:sp>
        <p:nvSpPr>
          <p:cNvPr id="74" name="Text 72"/>
          <p:cNvSpPr txBox="1"/>
          <p:nvPr/>
        </p:nvSpPr>
        <p:spPr>
          <a:xfrm>
            <a:off x="6233008" y="522351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Ruby + YJIT</a:t>
            </a:r>
            <a:pPr indent="0" marL="0">
              <a:buNone/>
            </a:pPr>
            <a:r>
              <a:rPr lang="en-US" sz="800" dirty="0">
                <a:solidFill>
                  <a:srgbClr val="8B949E"/>
                </a:solidFill>
              </a:rPr>
              <a:t>   csubraw.rb</a:t>
            </a:r>
            <a:endParaRPr lang="en-US" sz="1100" dirty="0"/>
          </a:p>
        </p:txBody>
      </p:sp>
      <p:sp>
        <p:nvSpPr>
          <p:cNvPr id="75" name="chip Ruby + YJIT"/>
          <p:cNvSpPr/>
          <p:nvPr/>
        </p:nvSpPr>
        <p:spPr>
          <a:xfrm>
            <a:off x="8160791" y="5223510"/>
            <a:ext cx="731520" cy="219456"/>
          </a:xfrm>
          <a:prstGeom prst="roundRect">
            <a:avLst>
              <a:gd name="adj" fmla="val 33333"/>
            </a:avLst>
          </a:prstGeom>
          <a:solidFill>
            <a:srgbClr val="F46D43"/>
          </a:solidFill>
          <a:ln w="12700">
            <a:solidFill>
              <a:srgbClr val="F46D43"/>
            </a:solidFill>
            <a:prstDash val="solid"/>
          </a:ln>
        </p:spPr>
      </p:sp>
      <p:sp>
        <p:nvSpPr>
          <p:cNvPr id="76" name="Text 74"/>
          <p:cNvSpPr txBox="1"/>
          <p:nvPr/>
        </p:nvSpPr>
        <p:spPr>
          <a:xfrm>
            <a:off x="8160791" y="522351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284</a:t>
            </a:r>
            <a:endParaRPr lang="en-US" sz="1000" dirty="0"/>
          </a:p>
        </p:txBody>
      </p:sp>
      <p:sp>
        <p:nvSpPr>
          <p:cNvPr id="77" name="code Ruby + YJIT"/>
          <p:cNvSpPr txBox="1"/>
          <p:nvPr/>
        </p:nvSpPr>
        <p:spPr>
          <a:xfrm>
            <a:off x="6233008" y="5488686"/>
            <a:ext cx="2659304" cy="994410"/>
          </a:xfrm>
          <a:prstGeom prst="rect">
            <a:avLst/>
          </a:prstGeom>
          <a:noFill/>
          <a:ln/>
        </p:spPr>
        <p:txBody>
          <a:bodyPr wrap="square" lIns="0" tIns="0" rIns="0" bIns="0" rtlCol="0" anchor="t"/>
          <a:lstStyle/>
          <a:p>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def</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D2A8FF"/>
                </a:solidFill>
                <a:latin typeface="Courier New" pitchFamily="34" charset="0"/>
                <a:ea typeface="Courier New" pitchFamily="34" charset="-122"/>
                <a:cs typeface="Courier New" pitchFamily="34" charset="-120"/>
              </a:rPr>
              <a:t>subr</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(ina,</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out)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ny</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times</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do</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row_in</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ina</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row_out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out</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nx</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times</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do</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row_out</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row_in</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end</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end</a:t>
            </a:r>
            <a:endParaRPr lang="en-US" sz="800" dirty="0"/>
          </a:p>
          <a:p>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end</a:t>
            </a:r>
            <a:endParaRPr lang="en-US" sz="800" dirty="0"/>
          </a:p>
        </p:txBody>
      </p:sp>
      <p:sp>
        <p:nvSpPr>
          <p:cNvPr id="78" name="code card Octave, loop"/>
          <p:cNvSpPr/>
          <p:nvPr/>
        </p:nvSpPr>
        <p:spPr>
          <a:xfrm>
            <a:off x="9075191" y="5177790"/>
            <a:ext cx="2842184" cy="1360170"/>
          </a:xfrm>
          <a:prstGeom prst="roundRect">
            <a:avLst>
              <a:gd name="adj" fmla="val 6723"/>
            </a:avLst>
          </a:prstGeom>
          <a:solidFill>
            <a:srgbClr val="0D1117"/>
          </a:solidFill>
          <a:ln w="12700">
            <a:solidFill>
              <a:srgbClr val="0D1117"/>
            </a:solidFill>
            <a:prstDash val="solid"/>
          </a:ln>
        </p:spPr>
      </p:sp>
      <p:sp>
        <p:nvSpPr>
          <p:cNvPr id="79" name="Text 77"/>
          <p:cNvSpPr txBox="1"/>
          <p:nvPr/>
        </p:nvSpPr>
        <p:spPr>
          <a:xfrm>
            <a:off x="9166631" y="5223510"/>
            <a:ext cx="1882064" cy="219456"/>
          </a:xfrm>
          <a:prstGeom prst="rect">
            <a:avLst/>
          </a:prstGeom>
          <a:noFill/>
          <a:ln/>
        </p:spPr>
        <p:txBody>
          <a:bodyPr wrap="square" lIns="0" tIns="0" rIns="0" bIns="0" rtlCol="0" anchor="ctr"/>
          <a:lstStyle/>
          <a:p>
            <a:pPr indent="0" marL="0">
              <a:buNone/>
            </a:pPr>
            <a:r>
              <a:rPr lang="en-US" sz="1100" b="1" dirty="0">
                <a:solidFill>
                  <a:srgbClr val="E6EDF3"/>
                </a:solidFill>
              </a:rPr>
              <a:t>Octave, loop</a:t>
            </a:r>
            <a:pPr indent="0" marL="0">
              <a:buNone/>
            </a:pPr>
            <a:r>
              <a:rPr lang="en-US" sz="800" dirty="0">
                <a:solidFill>
                  <a:srgbClr val="8B949E"/>
                </a:solidFill>
              </a:rPr>
              <a:t>   csubraw.m</a:t>
            </a:r>
            <a:endParaRPr lang="en-US" sz="1100" dirty="0"/>
          </a:p>
        </p:txBody>
      </p:sp>
      <p:sp>
        <p:nvSpPr>
          <p:cNvPr id="80" name="chip Octave, loop"/>
          <p:cNvSpPr/>
          <p:nvPr/>
        </p:nvSpPr>
        <p:spPr>
          <a:xfrm>
            <a:off x="11094415" y="5223510"/>
            <a:ext cx="731520" cy="219456"/>
          </a:xfrm>
          <a:prstGeom prst="roundRect">
            <a:avLst>
              <a:gd name="adj" fmla="val 33333"/>
            </a:avLst>
          </a:prstGeom>
          <a:solidFill>
            <a:srgbClr val="7A0177"/>
          </a:solidFill>
          <a:ln w="12700">
            <a:solidFill>
              <a:srgbClr val="7A0177"/>
            </a:solidFill>
            <a:prstDash val="solid"/>
          </a:ln>
        </p:spPr>
      </p:sp>
      <p:sp>
        <p:nvSpPr>
          <p:cNvPr id="81" name="Text 79"/>
          <p:cNvSpPr txBox="1"/>
          <p:nvPr/>
        </p:nvSpPr>
        <p:spPr>
          <a:xfrm>
            <a:off x="11094415" y="5223510"/>
            <a:ext cx="731520" cy="219456"/>
          </a:xfrm>
          <a:prstGeom prst="rect">
            <a:avLst/>
          </a:prstGeom>
          <a:noFill/>
          <a:ln/>
        </p:spPr>
        <p:txBody>
          <a:bodyPr wrap="square" lIns="0" tIns="0" rIns="0" bIns="0" rtlCol="0" anchor="ctr"/>
          <a:lstStyle/>
          <a:p>
            <a:pPr algn="ctr" indent="0" marL="0">
              <a:buNone/>
            </a:pPr>
            <a:r>
              <a:rPr lang="en-US" sz="1000" b="1" dirty="0">
                <a:solidFill>
                  <a:srgbClr val="FFFFFF"/>
                </a:solidFill>
              </a:rPr>
              <a:t>46,705</a:t>
            </a:r>
            <a:endParaRPr lang="en-US" sz="1000" dirty="0"/>
          </a:p>
        </p:txBody>
      </p:sp>
      <p:sp>
        <p:nvSpPr>
          <p:cNvPr id="82" name="code Octave, loop"/>
          <p:cNvSpPr txBox="1"/>
          <p:nvPr/>
        </p:nvSpPr>
        <p:spPr>
          <a:xfrm>
            <a:off x="9166631" y="5488686"/>
            <a:ext cx="2659304" cy="994410"/>
          </a:xfrm>
          <a:prstGeom prst="rect">
            <a:avLst/>
          </a:prstGeom>
          <a:noFill/>
          <a:ln/>
        </p:spPr>
        <p:txBody>
          <a:bodyPr wrap="square" lIns="0" tIns="0" rIns="0" bIns="0" rtlCol="0" anchor="t"/>
          <a:lstStyle/>
          <a:p>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r =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:nrpt</a:t>
            </a:r>
            <a:endParaRPr lang="en-US" sz="650" dirty="0"/>
          </a:p>
          <a:p>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iy =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endParaRPr lang="en-US" sz="650" dirty="0"/>
          </a:p>
          <a:p>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ix =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endParaRPr lang="en-US" sz="650" dirty="0"/>
          </a:p>
          <a:p>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out(iy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 ina(iy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1</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ix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iy;</a:t>
            </a:r>
            <a:endParaRPr lang="en-US" sz="650" dirty="0"/>
          </a:p>
          <a:p>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end</a:t>
            </a:r>
            <a:endParaRPr lang="en-US" sz="650" dirty="0"/>
          </a:p>
          <a:p>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end</a:t>
            </a:r>
            <a:endParaRPr lang="en-US" sz="650" dirty="0"/>
          </a:p>
          <a:p>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end</a:t>
            </a:r>
            <a:endParaRPr lang="en-US" sz="650" dirty="0"/>
          </a:p>
        </p:txBody>
      </p:sp>
      <p:sp>
        <p:nvSpPr>
          <p:cNvPr id="25" name="Slide Number Placeholder 0"/>
          <p:cNvSpPr>
            <a:spLocks noGrp="1"/>
          </p:cNvSpPr>
          <p:nvPr>
            <p:ph type="sldNum" sz="quarter" idx="4294967295"/>
          </p:nvPr>
        </p:nvSpPr>
        <p:spPr>
          <a:xfrm>
            <a:off x="11094415" y="658368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EB8C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Same Python source, three orders of magnitude</a:t>
            </a:r>
            <a:endParaRPr lang="en-US" sz="3200" dirty="0"/>
          </a:p>
        </p:txBody>
      </p:sp>
      <p:graphicFrame>
        <p:nvGraphicFramePr>
          <p:cNvPr id="3" name="python runtime ladder" descr=""/>
          <p:cNvGraphicFramePr/>
          <p:nvPr/>
        </p:nvGraphicFramePr>
        <p:xfrm>
          <a:off x="548640" y="1188720"/>
          <a:ext cx="7589520" cy="3337560"/>
        </p:xfrm>
        <a:graphic xmlns:a="http://schemas.openxmlformats.org/drawingml/2006/main">
          <a:graphicData uri="http://schemas.openxmlformats.org/drawingml/2006/chart">
            <c:chart xmlns:c="http://schemas.openxmlformats.org/drawingml/2006/chart" r:id="rId1"/>
          </a:graphicData>
        </a:graphic>
      </p:graphicFrame>
      <p:sp>
        <p:nvSpPr>
          <p:cNvPr id="4" name="numba code card"/>
          <p:cNvSpPr/>
          <p:nvPr/>
        </p:nvSpPr>
        <p:spPr>
          <a:xfrm>
            <a:off x="548640" y="4663440"/>
            <a:ext cx="7589520" cy="1554480"/>
          </a:xfrm>
          <a:prstGeom prst="roundRect">
            <a:avLst>
              <a:gd name="adj" fmla="val 5882"/>
            </a:avLst>
          </a:prstGeom>
          <a:solidFill>
            <a:srgbClr val="0D1117"/>
          </a:solidFill>
          <a:ln w="12700">
            <a:solidFill>
              <a:srgbClr val="0D1117"/>
            </a:solidFill>
            <a:prstDash val="solid"/>
          </a:ln>
        </p:spPr>
      </p:sp>
      <p:sp>
        <p:nvSpPr>
          <p:cNvPr id="5" name="code Python + numba"/>
          <p:cNvSpPr txBox="1"/>
          <p:nvPr/>
        </p:nvSpPr>
        <p:spPr>
          <a:xfrm>
            <a:off x="822960" y="4892040"/>
            <a:ext cx="5120640" cy="1188720"/>
          </a:xfrm>
          <a:prstGeom prst="rect">
            <a:avLst/>
          </a:prstGeom>
          <a:noFill/>
          <a:ln/>
        </p:spPr>
        <p:txBody>
          <a:bodyPr wrap="square" lIns="0" tIns="0" rIns="0" bIns="0" rtlCol="0" anchor="t"/>
          <a:lstStyle/>
          <a:p>
            <a:pPr indent="0" marL="0">
              <a:lnSpc>
                <a:spcPts val="1470"/>
              </a:lnSpc>
              <a:buNone/>
            </a:pPr>
            <a:r>
              <a:rPr lang="en-US" sz="1400" b="1" dirty="0">
                <a:solidFill>
                  <a:srgbClr val="FF6B6B"/>
                </a:solidFill>
                <a:latin typeface="Courier New" pitchFamily="34" charset="0"/>
                <a:ea typeface="Courier New" pitchFamily="34" charset="-122"/>
                <a:cs typeface="Courier New" pitchFamily="34" charset="-120"/>
              </a:rPr>
              <a:t>@numba</a:t>
            </a:r>
            <a:pPr indent="0" marL="0">
              <a:lnSpc>
                <a:spcPts val="1470"/>
              </a:lnSpc>
              <a:buNone/>
            </a:pPr>
            <a:r>
              <a:rPr lang="en-US" sz="1400" b="1" dirty="0">
                <a:solidFill>
                  <a:srgbClr val="FF6B6B"/>
                </a:solidFill>
                <a:latin typeface="Courier New" pitchFamily="34" charset="0"/>
                <a:ea typeface="Courier New" pitchFamily="34" charset="-122"/>
                <a:cs typeface="Courier New" pitchFamily="34" charset="-120"/>
              </a:rPr>
              <a:t>.</a:t>
            </a:r>
            <a:pPr indent="0" marL="0">
              <a:lnSpc>
                <a:spcPts val="1470"/>
              </a:lnSpc>
              <a:buNone/>
            </a:pPr>
            <a:r>
              <a:rPr lang="en-US" sz="1400" b="1" dirty="0">
                <a:solidFill>
                  <a:srgbClr val="FF6B6B"/>
                </a:solidFill>
                <a:latin typeface="Courier New" pitchFamily="34" charset="0"/>
                <a:ea typeface="Courier New" pitchFamily="34" charset="-122"/>
                <a:cs typeface="Courier New" pitchFamily="34" charset="-120"/>
              </a:rPr>
              <a:t>jit</a:t>
            </a:r>
            <a:endParaRPr lang="en-US" sz="1400" dirty="0"/>
          </a:p>
          <a:p>
            <a:pPr indent="0" marL="0">
              <a:lnSpc>
                <a:spcPts val="1470"/>
              </a:lnSpc>
              <a:buNone/>
            </a:pPr>
            <a:r>
              <a:rPr lang="en-US" sz="1400" dirty="0">
                <a:solidFill>
                  <a:srgbClr val="FF7B72"/>
                </a:solidFill>
                <a:latin typeface="Courier New" pitchFamily="34" charset="0"/>
                <a:ea typeface="Courier New" pitchFamily="34" charset="-122"/>
                <a:cs typeface="Courier New" pitchFamily="34" charset="-120"/>
              </a:rPr>
              <a:t>def</a:t>
            </a:r>
            <a:pPr indent="0" marL="0">
              <a:lnSpc>
                <a:spcPts val="1470"/>
              </a:lnSpc>
              <a:buNone/>
            </a:pPr>
            <a:r>
              <a:rPr lang="en-US" sz="1400" dirty="0">
                <a:solidFill>
                  <a:srgbClr val="6E7681"/>
                </a:solidFill>
                <a:latin typeface="Courier New" pitchFamily="34" charset="0"/>
                <a:ea typeface="Courier New" pitchFamily="34" charset="-122"/>
                <a:cs typeface="Courier New" pitchFamily="34" charset="-120"/>
              </a:rPr>
              <a:t> </a:t>
            </a:r>
            <a:pPr indent="0" marL="0">
              <a:lnSpc>
                <a:spcPts val="1470"/>
              </a:lnSpc>
              <a:buNone/>
            </a:pPr>
            <a:r>
              <a:rPr lang="en-US" sz="1400" b="1" dirty="0">
                <a:solidFill>
                  <a:srgbClr val="D2A8FF"/>
                </a:solidFill>
                <a:latin typeface="Courier New" pitchFamily="34" charset="0"/>
                <a:ea typeface="Courier New" pitchFamily="34" charset="-122"/>
                <a:cs typeface="Courier New" pitchFamily="34" charset="-120"/>
              </a:rPr>
              <a:t>subr</a:t>
            </a:r>
            <a:pPr indent="0" marL="0">
              <a:lnSpc>
                <a:spcPts val="1470"/>
              </a:lnSpc>
              <a:buNone/>
            </a:pPr>
            <a:r>
              <a:rPr lang="en-US" sz="1400" dirty="0">
                <a:solidFill>
                  <a:srgbClr val="E6EDF3"/>
                </a:solidFill>
                <a:latin typeface="Courier New" pitchFamily="34" charset="0"/>
                <a:ea typeface="Courier New" pitchFamily="34" charset="-122"/>
                <a:cs typeface="Courier New" pitchFamily="34" charset="-120"/>
              </a:rPr>
              <a:t>(ina,nx,ny,out):</a:t>
            </a:r>
            <a:endParaRPr lang="en-US" sz="1400" dirty="0"/>
          </a:p>
          <a:p>
            <a:pPr indent="0" marL="0">
              <a:lnSpc>
                <a:spcPts val="1470"/>
              </a:lnSpc>
              <a:buNone/>
            </a:pPr>
            <a:r>
              <a:rPr lang="en-US" sz="1400" dirty="0">
                <a:solidFill>
                  <a:srgbClr val="E6EDF3"/>
                </a:solidFill>
                <a:latin typeface="Courier New" pitchFamily="34" charset="0"/>
                <a:ea typeface="Courier New" pitchFamily="34" charset="-122"/>
                <a:cs typeface="Courier New" pitchFamily="34" charset="-120"/>
              </a:rPr>
              <a:t>   </a:t>
            </a:r>
            <a:pPr indent="0" marL="0">
              <a:lnSpc>
                <a:spcPts val="1470"/>
              </a:lnSpc>
              <a:buNone/>
            </a:pPr>
            <a:r>
              <a:rPr lang="en-US" sz="1400" dirty="0">
                <a:solidFill>
                  <a:srgbClr val="FF7B72"/>
                </a:solidFill>
                <a:latin typeface="Courier New" pitchFamily="34" charset="0"/>
                <a:ea typeface="Courier New" pitchFamily="34" charset="-122"/>
                <a:cs typeface="Courier New" pitchFamily="34" charset="-120"/>
              </a:rPr>
              <a:t>for</a:t>
            </a:r>
            <a:pPr indent="0" marL="0">
              <a:lnSpc>
                <a:spcPts val="1470"/>
              </a:lnSpc>
              <a:buNone/>
            </a:pPr>
            <a:r>
              <a:rPr lang="en-US" sz="1400" dirty="0">
                <a:solidFill>
                  <a:srgbClr val="E6EDF3"/>
                </a:solidFill>
                <a:latin typeface="Courier New" pitchFamily="34" charset="0"/>
                <a:ea typeface="Courier New" pitchFamily="34" charset="-122"/>
                <a:cs typeface="Courier New" pitchFamily="34" charset="-120"/>
              </a:rPr>
              <a:t> iy </a:t>
            </a:r>
            <a:pPr indent="0" marL="0">
              <a:lnSpc>
                <a:spcPts val="1470"/>
              </a:lnSpc>
              <a:buNone/>
            </a:pPr>
            <a:r>
              <a:rPr lang="en-US" sz="1400" b="1" dirty="0">
                <a:solidFill>
                  <a:srgbClr val="FF7B72"/>
                </a:solidFill>
                <a:latin typeface="Courier New" pitchFamily="34" charset="0"/>
                <a:ea typeface="Courier New" pitchFamily="34" charset="-122"/>
                <a:cs typeface="Courier New" pitchFamily="34" charset="-120"/>
              </a:rPr>
              <a:t>in</a:t>
            </a:r>
            <a:pPr indent="0" marL="0">
              <a:lnSpc>
                <a:spcPts val="1470"/>
              </a:lnSpc>
              <a:buNone/>
            </a:pPr>
            <a:r>
              <a:rPr lang="en-US" sz="1400" dirty="0">
                <a:solidFill>
                  <a:srgbClr val="E6EDF3"/>
                </a:solidFill>
                <a:latin typeface="Courier New" pitchFamily="34" charset="0"/>
                <a:ea typeface="Courier New" pitchFamily="34" charset="-122"/>
                <a:cs typeface="Courier New" pitchFamily="34" charset="-120"/>
              </a:rPr>
              <a:t> range(ny):</a:t>
            </a:r>
            <a:endParaRPr lang="en-US" sz="1400" dirty="0"/>
          </a:p>
          <a:p>
            <a:pPr indent="0" marL="0">
              <a:lnSpc>
                <a:spcPts val="1470"/>
              </a:lnSpc>
              <a:buNone/>
            </a:pPr>
            <a:r>
              <a:rPr lang="en-US" sz="1400" dirty="0">
                <a:solidFill>
                  <a:srgbClr val="E6EDF3"/>
                </a:solidFill>
                <a:latin typeface="Courier New" pitchFamily="34" charset="0"/>
                <a:ea typeface="Courier New" pitchFamily="34" charset="-122"/>
                <a:cs typeface="Courier New" pitchFamily="34" charset="-120"/>
              </a:rPr>
              <a:t>      </a:t>
            </a:r>
            <a:pPr indent="0" marL="0">
              <a:lnSpc>
                <a:spcPts val="1470"/>
              </a:lnSpc>
              <a:buNone/>
            </a:pPr>
            <a:r>
              <a:rPr lang="en-US" sz="1400" dirty="0">
                <a:solidFill>
                  <a:srgbClr val="FF7B72"/>
                </a:solidFill>
                <a:latin typeface="Courier New" pitchFamily="34" charset="0"/>
                <a:ea typeface="Courier New" pitchFamily="34" charset="-122"/>
                <a:cs typeface="Courier New" pitchFamily="34" charset="-120"/>
              </a:rPr>
              <a:t>for</a:t>
            </a:r>
            <a:pPr indent="0" marL="0">
              <a:lnSpc>
                <a:spcPts val="1470"/>
              </a:lnSpc>
              <a:buNone/>
            </a:pPr>
            <a:r>
              <a:rPr lang="en-US" sz="1400" dirty="0">
                <a:solidFill>
                  <a:srgbClr val="E6EDF3"/>
                </a:solidFill>
                <a:latin typeface="Courier New" pitchFamily="34" charset="0"/>
                <a:ea typeface="Courier New" pitchFamily="34" charset="-122"/>
                <a:cs typeface="Courier New" pitchFamily="34" charset="-120"/>
              </a:rPr>
              <a:t> ix </a:t>
            </a:r>
            <a:pPr indent="0" marL="0">
              <a:lnSpc>
                <a:spcPts val="1470"/>
              </a:lnSpc>
              <a:buNone/>
            </a:pPr>
            <a:r>
              <a:rPr lang="en-US" sz="1400" b="1" dirty="0">
                <a:solidFill>
                  <a:srgbClr val="FF7B72"/>
                </a:solidFill>
                <a:latin typeface="Courier New" pitchFamily="34" charset="0"/>
                <a:ea typeface="Courier New" pitchFamily="34" charset="-122"/>
                <a:cs typeface="Courier New" pitchFamily="34" charset="-120"/>
              </a:rPr>
              <a:t>in</a:t>
            </a:r>
            <a:pPr indent="0" marL="0">
              <a:lnSpc>
                <a:spcPts val="1470"/>
              </a:lnSpc>
              <a:buNone/>
            </a:pPr>
            <a:r>
              <a:rPr lang="en-US" sz="1400" dirty="0">
                <a:solidFill>
                  <a:srgbClr val="E6EDF3"/>
                </a:solidFill>
                <a:latin typeface="Courier New" pitchFamily="34" charset="0"/>
                <a:ea typeface="Courier New" pitchFamily="34" charset="-122"/>
                <a:cs typeface="Courier New" pitchFamily="34" charset="-120"/>
              </a:rPr>
              <a:t> range(nx):</a:t>
            </a:r>
            <a:endParaRPr lang="en-US" sz="1400" dirty="0"/>
          </a:p>
          <a:p>
            <a:pPr indent="0" marL="0">
              <a:lnSpc>
                <a:spcPts val="1470"/>
              </a:lnSpc>
              <a:buNone/>
            </a:pPr>
            <a:r>
              <a:rPr lang="en-US" sz="1400" dirty="0">
                <a:solidFill>
                  <a:srgbClr val="E6EDF3"/>
                </a:solidFill>
                <a:latin typeface="Courier New" pitchFamily="34" charset="0"/>
                <a:ea typeface="Courier New" pitchFamily="34" charset="-122"/>
                <a:cs typeface="Courier New" pitchFamily="34" charset="-120"/>
              </a:rPr>
              <a:t>         out[iy,ix] </a:t>
            </a:r>
            <a:pPr indent="0" marL="0">
              <a:lnSpc>
                <a:spcPts val="1470"/>
              </a:lnSpc>
              <a:buNone/>
            </a:pPr>
            <a:r>
              <a:rPr lang="en-US" sz="1400" b="1" dirty="0">
                <a:solidFill>
                  <a:srgbClr val="FF7B72"/>
                </a:solidFill>
                <a:latin typeface="Courier New" pitchFamily="34" charset="0"/>
                <a:ea typeface="Courier New" pitchFamily="34" charset="-122"/>
                <a:cs typeface="Courier New" pitchFamily="34" charset="-120"/>
              </a:rPr>
              <a:t>=</a:t>
            </a:r>
            <a:pPr indent="0" marL="0">
              <a:lnSpc>
                <a:spcPts val="1470"/>
              </a:lnSpc>
              <a:buNone/>
            </a:pPr>
            <a:r>
              <a:rPr lang="en-US" sz="1400" dirty="0">
                <a:solidFill>
                  <a:srgbClr val="E6EDF3"/>
                </a:solidFill>
                <a:latin typeface="Courier New" pitchFamily="34" charset="0"/>
                <a:ea typeface="Courier New" pitchFamily="34" charset="-122"/>
                <a:cs typeface="Courier New" pitchFamily="34" charset="-120"/>
              </a:rPr>
              <a:t> ina[iy,ix] </a:t>
            </a:r>
            <a:pPr indent="0" marL="0">
              <a:lnSpc>
                <a:spcPts val="1470"/>
              </a:lnSpc>
              <a:buNone/>
            </a:pPr>
            <a:r>
              <a:rPr lang="en-US" sz="1400" b="1" dirty="0">
                <a:solidFill>
                  <a:srgbClr val="FF7B72"/>
                </a:solidFill>
                <a:latin typeface="Courier New" pitchFamily="34" charset="0"/>
                <a:ea typeface="Courier New" pitchFamily="34" charset="-122"/>
                <a:cs typeface="Courier New" pitchFamily="34" charset="-120"/>
              </a:rPr>
              <a:t>+</a:t>
            </a:r>
            <a:pPr indent="0" marL="0">
              <a:lnSpc>
                <a:spcPts val="1470"/>
              </a:lnSpc>
              <a:buNone/>
            </a:pPr>
            <a:r>
              <a:rPr lang="en-US" sz="1400" dirty="0">
                <a:solidFill>
                  <a:srgbClr val="E6EDF3"/>
                </a:solidFill>
                <a:latin typeface="Courier New" pitchFamily="34" charset="0"/>
                <a:ea typeface="Courier New" pitchFamily="34" charset="-122"/>
                <a:cs typeface="Courier New" pitchFamily="34" charset="-120"/>
              </a:rPr>
              <a:t> ix </a:t>
            </a:r>
            <a:pPr indent="0" marL="0">
              <a:lnSpc>
                <a:spcPts val="1470"/>
              </a:lnSpc>
              <a:buNone/>
            </a:pPr>
            <a:r>
              <a:rPr lang="en-US" sz="1400" b="1" dirty="0">
                <a:solidFill>
                  <a:srgbClr val="FF7B72"/>
                </a:solidFill>
                <a:latin typeface="Courier New" pitchFamily="34" charset="0"/>
                <a:ea typeface="Courier New" pitchFamily="34" charset="-122"/>
                <a:cs typeface="Courier New" pitchFamily="34" charset="-120"/>
              </a:rPr>
              <a:t>+</a:t>
            </a:r>
            <a:pPr indent="0" marL="0">
              <a:lnSpc>
                <a:spcPts val="1470"/>
              </a:lnSpc>
              <a:buNone/>
            </a:pPr>
            <a:r>
              <a:rPr lang="en-US" sz="1400" dirty="0">
                <a:solidFill>
                  <a:srgbClr val="E6EDF3"/>
                </a:solidFill>
                <a:latin typeface="Courier New" pitchFamily="34" charset="0"/>
                <a:ea typeface="Courier New" pitchFamily="34" charset="-122"/>
                <a:cs typeface="Courier New" pitchFamily="34" charset="-120"/>
              </a:rPr>
              <a:t> iy</a:t>
            </a:r>
            <a:endParaRPr lang="en-US" sz="1400" dirty="0"/>
          </a:p>
        </p:txBody>
      </p:sp>
      <p:sp>
        <p:nvSpPr>
          <p:cNvPr id="6" name="Text 3"/>
          <p:cNvSpPr txBox="1"/>
          <p:nvPr/>
        </p:nvSpPr>
        <p:spPr>
          <a:xfrm>
            <a:off x="5943600" y="4828032"/>
            <a:ext cx="2011680" cy="1280160"/>
          </a:xfrm>
          <a:prstGeom prst="rect">
            <a:avLst/>
          </a:prstGeom>
          <a:noFill/>
          <a:ln/>
        </p:spPr>
        <p:txBody>
          <a:bodyPr wrap="square" lIns="0" tIns="0" rIns="0" bIns="0" rtlCol="0" anchor="ctr"/>
          <a:lstStyle/>
          <a:p>
            <a:pPr indent="0" marL="0">
              <a:buNone/>
            </a:pPr>
            <a:r>
              <a:rPr lang="en-US" sz="1400" b="1" dirty="0">
                <a:solidFill>
                  <a:srgbClr val="E6EDF3"/>
                </a:solidFill>
              </a:rPr>
              <a:t>The whole change:</a:t>
            </a:r>
            <a:endParaRPr lang="en-US" sz="1400" dirty="0"/>
          </a:p>
          <a:p>
            <a:pPr indent="0" marL="0">
              <a:buNone/>
            </a:pPr>
            <a:r>
              <a:rPr lang="en-US" sz="1400" dirty="0">
                <a:solidFill>
                  <a:srgbClr val="FF6B6B"/>
                </a:solidFill>
              </a:rPr>
              <a:t>one line, “@numba.jit”</a:t>
            </a:r>
            <a:endParaRPr lang="en-US" sz="1400" dirty="0"/>
          </a:p>
          <a:p>
            <a:pPr indent="0" marL="0">
              <a:buNone/>
            </a:pPr>
            <a:r>
              <a:rPr lang="en-US" sz="1100" dirty="0">
                <a:solidFill>
                  <a:srgbClr val="AEB8CC"/>
                </a:solidFill>
              </a:rPr>
              <a:t>csubnp-numba.py, lines 113–117</a:t>
            </a:r>
            <a:endParaRPr lang="en-US" sz="1400" dirty="0"/>
          </a:p>
        </p:txBody>
      </p:sp>
      <p:sp>
        <p:nvSpPr>
          <p:cNvPr id="7" name="decorator callout"/>
          <p:cNvSpPr/>
          <p:nvPr/>
        </p:nvSpPr>
        <p:spPr>
          <a:xfrm>
            <a:off x="8503920" y="1280160"/>
            <a:ext cx="3139135" cy="2240280"/>
          </a:xfrm>
          <a:prstGeom prst="roundRect">
            <a:avLst>
              <a:gd name="adj" fmla="val 4082"/>
            </a:avLst>
          </a:prstGeom>
          <a:solidFill>
            <a:schemeClr val="bg2"/>
          </a:solidFill>
          <a:ln w="12700">
            <a:solidFill>
              <a:schemeClr val="bg2"/>
            </a:solidFill>
            <a:prstDash val="solid"/>
          </a:ln>
        </p:spPr>
      </p:sp>
      <p:sp>
        <p:nvSpPr>
          <p:cNvPr id="8" name="Text 5"/>
          <p:cNvSpPr txBox="1"/>
          <p:nvPr/>
        </p:nvSpPr>
        <p:spPr>
          <a:xfrm>
            <a:off x="8732520" y="1371600"/>
            <a:ext cx="2681935" cy="914400"/>
          </a:xfrm>
          <a:prstGeom prst="rect">
            <a:avLst/>
          </a:prstGeom>
          <a:noFill/>
          <a:ln/>
        </p:spPr>
        <p:txBody>
          <a:bodyPr wrap="square" lIns="0" tIns="0" rIns="0" bIns="0" rtlCol="0" anchor="ctr"/>
          <a:lstStyle/>
          <a:p>
            <a:pPr indent="0" marL="0">
              <a:buNone/>
            </a:pPr>
            <a:r>
              <a:rPr lang="en-US" sz="5400" b="1" dirty="0">
                <a:solidFill>
                  <a:srgbClr val="1A9850"/>
                </a:solidFill>
                <a:latin typeface="+mj-lt" pitchFamily="34" charset="0"/>
                <a:ea typeface="+mj-lt" pitchFamily="34" charset="-122"/>
                <a:cs typeface="+mj-lt" pitchFamily="34" charset="-120"/>
              </a:rPr>
              <a:t>915×</a:t>
            </a:r>
            <a:endParaRPr lang="en-US" sz="5400" dirty="0"/>
          </a:p>
        </p:txBody>
      </p:sp>
      <p:sp>
        <p:nvSpPr>
          <p:cNvPr id="9" name="Text 6"/>
          <p:cNvSpPr txBox="1"/>
          <p:nvPr/>
        </p:nvSpPr>
        <p:spPr>
          <a:xfrm>
            <a:off x="8732520" y="2331720"/>
            <a:ext cx="2681935" cy="1005840"/>
          </a:xfrm>
          <a:prstGeom prst="rect">
            <a:avLst/>
          </a:prstGeom>
          <a:noFill/>
          <a:ln/>
        </p:spPr>
        <p:txBody>
          <a:bodyPr wrap="square" lIns="0" tIns="0" rIns="0" bIns="0" rtlCol="0" anchor="t"/>
          <a:lstStyle/>
          <a:p>
            <a:pPr indent="0" marL="0">
              <a:buNone/>
            </a:pPr>
            <a:r>
              <a:rPr lang="en-US" sz="1600" dirty="0">
                <a:solidFill>
                  <a:schemeClr val="tx1"/>
                </a:solidFill>
              </a:rPr>
              <a:t>from one decorator: numpy element loop 2,883 → numba 3.15</a:t>
            </a:r>
            <a:endParaRPr lang="en-US" sz="1600" dirty="0"/>
          </a:p>
        </p:txBody>
      </p:sp>
      <p:sp>
        <p:nvSpPr>
          <p:cNvPr id="10" name="interpreter callout"/>
          <p:cNvSpPr/>
          <p:nvPr/>
        </p:nvSpPr>
        <p:spPr>
          <a:xfrm>
            <a:off x="8503920" y="3749040"/>
            <a:ext cx="3139135" cy="2240280"/>
          </a:xfrm>
          <a:prstGeom prst="roundRect">
            <a:avLst>
              <a:gd name="adj" fmla="val 4082"/>
            </a:avLst>
          </a:prstGeom>
          <a:solidFill>
            <a:schemeClr val="bg2"/>
          </a:solidFill>
          <a:ln w="12700">
            <a:solidFill>
              <a:schemeClr val="bg2"/>
            </a:solidFill>
            <a:prstDash val="solid"/>
          </a:ln>
        </p:spPr>
      </p:sp>
      <p:sp>
        <p:nvSpPr>
          <p:cNvPr id="11" name="Text 8"/>
          <p:cNvSpPr txBox="1"/>
          <p:nvPr/>
        </p:nvSpPr>
        <p:spPr>
          <a:xfrm>
            <a:off x="8732520" y="3840480"/>
            <a:ext cx="2681935" cy="914400"/>
          </a:xfrm>
          <a:prstGeom prst="rect">
            <a:avLst/>
          </a:prstGeom>
          <a:noFill/>
          <a:ln/>
        </p:spPr>
        <p:txBody>
          <a:bodyPr wrap="square" lIns="0" tIns="0" rIns="0" bIns="0" rtlCol="0" anchor="ctr"/>
          <a:lstStyle/>
          <a:p>
            <a:pPr indent="0" marL="0">
              <a:buNone/>
            </a:pPr>
            <a:r>
              <a:rPr lang="en-US" sz="5400" b="1" dirty="0">
                <a:solidFill>
                  <a:srgbClr val="3B6FB6"/>
                </a:solidFill>
                <a:latin typeface="+mj-lt" pitchFamily="34" charset="0"/>
                <a:ea typeface="+mj-lt" pitchFamily="34" charset="-122"/>
                <a:cs typeface="+mj-lt" pitchFamily="34" charset="-120"/>
              </a:rPr>
              <a:t>17.8×</a:t>
            </a:r>
            <a:endParaRPr lang="en-US" sz="5400" dirty="0"/>
          </a:p>
        </p:txBody>
      </p:sp>
      <p:sp>
        <p:nvSpPr>
          <p:cNvPr id="12" name="Text 9"/>
          <p:cNvSpPr txBox="1"/>
          <p:nvPr/>
        </p:nvSpPr>
        <p:spPr>
          <a:xfrm>
            <a:off x="8732520" y="4800600"/>
            <a:ext cx="2681935" cy="1005840"/>
          </a:xfrm>
          <a:prstGeom prst="rect">
            <a:avLst/>
          </a:prstGeom>
          <a:noFill/>
          <a:ln/>
        </p:spPr>
        <p:txBody>
          <a:bodyPr wrap="square" lIns="0" tIns="0" rIns="0" bIns="0" rtlCol="0" anchor="t"/>
          <a:lstStyle/>
          <a:p>
            <a:pPr indent="0" marL="0">
              <a:buNone/>
            </a:pPr>
            <a:r>
              <a:rPr lang="en-US" sz="1600" dirty="0">
                <a:solidFill>
                  <a:schemeClr val="tx1"/>
                </a:solidFill>
              </a:rPr>
              <a:t>from swapping the interpreter: CPython lists 644 → PyPy 36.2</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Runtime and idiom matter more than language</a:t>
            </a:r>
            <a:endParaRPr lang="en-US" sz="3200" dirty="0"/>
          </a:p>
        </p:txBody>
      </p:sp>
      <p:sp>
        <p:nvSpPr>
          <p:cNvPr id="3" name="Text 1"/>
          <p:cNvSpPr txBox="1"/>
          <p:nvPr/>
        </p:nvSpPr>
        <p:spPr>
          <a:xfrm>
            <a:off x="548640" y="1188720"/>
            <a:ext cx="5486400" cy="41148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Within one language: 2–3 orders of magnitude</a:t>
            </a:r>
            <a:endParaRPr lang="en-US" sz="2000" dirty="0"/>
          </a:p>
        </p:txBody>
      </p:sp>
      <p:sp>
        <p:nvSpPr>
          <p:cNvPr id="4" name="pair Octave"/>
          <p:cNvSpPr/>
          <p:nvPr/>
        </p:nvSpPr>
        <p:spPr>
          <a:xfrm>
            <a:off x="548640" y="1828800"/>
            <a:ext cx="5486400" cy="868680"/>
          </a:xfrm>
          <a:prstGeom prst="roundRect">
            <a:avLst>
              <a:gd name="adj" fmla="val 10526"/>
            </a:avLst>
          </a:prstGeom>
          <a:solidFill>
            <a:schemeClr val="bg2"/>
          </a:solidFill>
          <a:ln w="12700">
            <a:solidFill>
              <a:schemeClr val="bg2"/>
            </a:solidFill>
            <a:prstDash val="solid"/>
          </a:ln>
        </p:spPr>
      </p:sp>
      <p:sp>
        <p:nvSpPr>
          <p:cNvPr id="5" name="Text 3"/>
          <p:cNvSpPr txBox="1"/>
          <p:nvPr/>
        </p:nvSpPr>
        <p:spPr>
          <a:xfrm>
            <a:off x="731520" y="1828800"/>
            <a:ext cx="1005840" cy="868680"/>
          </a:xfrm>
          <a:prstGeom prst="rect">
            <a:avLst/>
          </a:prstGeom>
          <a:noFill/>
          <a:ln/>
        </p:spPr>
        <p:txBody>
          <a:bodyPr wrap="square" lIns="0" tIns="0" rIns="0" bIns="0" rtlCol="0" anchor="ctr"/>
          <a:lstStyle/>
          <a:p>
            <a:pPr indent="0" marL="0">
              <a:buNone/>
            </a:pPr>
            <a:r>
              <a:rPr lang="en-US" sz="1600" b="1" dirty="0">
                <a:solidFill>
                  <a:schemeClr val="tx2"/>
                </a:solidFill>
              </a:rPr>
              <a:t>Octave</a:t>
            </a:r>
            <a:endParaRPr lang="en-US" sz="1600" dirty="0"/>
          </a:p>
        </p:txBody>
      </p:sp>
      <p:sp>
        <p:nvSpPr>
          <p:cNvPr id="6" name="chip loop 46,705"/>
          <p:cNvSpPr/>
          <p:nvPr/>
        </p:nvSpPr>
        <p:spPr>
          <a:xfrm>
            <a:off x="1783080" y="1965960"/>
            <a:ext cx="1463040" cy="594360"/>
          </a:xfrm>
          <a:prstGeom prst="roundRect">
            <a:avLst>
              <a:gd name="adj" fmla="val 12308"/>
            </a:avLst>
          </a:prstGeom>
          <a:solidFill>
            <a:srgbClr val="7A0177"/>
          </a:solidFill>
          <a:ln w="12700">
            <a:solidFill>
              <a:srgbClr val="7A0177"/>
            </a:solidFill>
            <a:prstDash val="solid"/>
          </a:ln>
        </p:spPr>
      </p:sp>
      <p:sp>
        <p:nvSpPr>
          <p:cNvPr id="7" name="Text 5"/>
          <p:cNvSpPr txBox="1"/>
          <p:nvPr/>
        </p:nvSpPr>
        <p:spPr>
          <a:xfrm>
            <a:off x="1783080" y="196596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rPr>
              <a:t>loop 46,705</a:t>
            </a:r>
            <a:endParaRPr lang="en-US" sz="1300" dirty="0"/>
          </a:p>
        </p:txBody>
      </p:sp>
      <p:sp>
        <p:nvSpPr>
          <p:cNvPr id="8" name="Text 6"/>
          <p:cNvSpPr txBox="1"/>
          <p:nvPr/>
        </p:nvSpPr>
        <p:spPr>
          <a:xfrm>
            <a:off x="3291840" y="1828800"/>
            <a:ext cx="320040" cy="868680"/>
          </a:xfrm>
          <a:prstGeom prst="rect">
            <a:avLst/>
          </a:prstGeom>
          <a:noFill/>
          <a:ln/>
        </p:spPr>
        <p:txBody>
          <a:bodyPr wrap="square" lIns="0" tIns="0" rIns="0" bIns="0" rtlCol="0" anchor="ctr"/>
          <a:lstStyle/>
          <a:p>
            <a:pPr algn="ctr" indent="0" marL="0">
              <a:buNone/>
            </a:pPr>
            <a:r>
              <a:rPr lang="en-US" sz="2000" dirty="0">
                <a:solidFill>
                  <a:srgbClr val="5A6275"/>
                </a:solidFill>
              </a:rPr>
              <a:t>→</a:t>
            </a:r>
            <a:endParaRPr lang="en-US" sz="2000" dirty="0"/>
          </a:p>
        </p:txBody>
      </p:sp>
      <p:sp>
        <p:nvSpPr>
          <p:cNvPr id="9" name="chip vectorised 57.5"/>
          <p:cNvSpPr/>
          <p:nvPr/>
        </p:nvSpPr>
        <p:spPr>
          <a:xfrm>
            <a:off x="3657600" y="1965960"/>
            <a:ext cx="1463040" cy="594360"/>
          </a:xfrm>
          <a:prstGeom prst="roundRect">
            <a:avLst>
              <a:gd name="adj" fmla="val 12308"/>
            </a:avLst>
          </a:prstGeom>
          <a:solidFill>
            <a:srgbClr val="FDAE61"/>
          </a:solidFill>
          <a:ln w="12700">
            <a:solidFill>
              <a:srgbClr val="FDAE61"/>
            </a:solidFill>
            <a:prstDash val="solid"/>
          </a:ln>
        </p:spPr>
      </p:sp>
      <p:sp>
        <p:nvSpPr>
          <p:cNvPr id="10" name="Text 8"/>
          <p:cNvSpPr txBox="1"/>
          <p:nvPr/>
        </p:nvSpPr>
        <p:spPr>
          <a:xfrm>
            <a:off x="3657600" y="1965960"/>
            <a:ext cx="1463040" cy="594360"/>
          </a:xfrm>
          <a:prstGeom prst="rect">
            <a:avLst/>
          </a:prstGeom>
          <a:noFill/>
          <a:ln/>
        </p:spPr>
        <p:txBody>
          <a:bodyPr wrap="square" lIns="0" tIns="0" rIns="0" bIns="0" rtlCol="0" anchor="ctr"/>
          <a:lstStyle/>
          <a:p>
            <a:pPr algn="ctr" indent="0" marL="0">
              <a:buNone/>
            </a:pPr>
            <a:r>
              <a:rPr lang="en-US" sz="1300" b="1" dirty="0">
                <a:solidFill>
                  <a:srgbClr val="1B1F2B"/>
                </a:solidFill>
              </a:rPr>
              <a:t>vectorised 57.5</a:t>
            </a:r>
            <a:endParaRPr lang="en-US" sz="1300" dirty="0"/>
          </a:p>
        </p:txBody>
      </p:sp>
      <p:sp>
        <p:nvSpPr>
          <p:cNvPr id="11" name="Text 9"/>
          <p:cNvSpPr txBox="1"/>
          <p:nvPr/>
        </p:nvSpPr>
        <p:spPr>
          <a:xfrm>
            <a:off x="5166360" y="1828800"/>
            <a:ext cx="777240" cy="868680"/>
          </a:xfrm>
          <a:prstGeom prst="rect">
            <a:avLst/>
          </a:prstGeom>
          <a:noFill/>
          <a:ln/>
        </p:spPr>
        <p:txBody>
          <a:bodyPr wrap="square" lIns="0" tIns="0" rIns="0" bIns="0" rtlCol="0" anchor="ctr"/>
          <a:lstStyle/>
          <a:p>
            <a:pPr algn="r" indent="0" marL="0">
              <a:buNone/>
            </a:pPr>
            <a:r>
              <a:rPr lang="en-US" sz="1700" b="1" dirty="0">
                <a:solidFill>
                  <a:schemeClr val="tx2"/>
                </a:solidFill>
              </a:rPr>
              <a:t>813×</a:t>
            </a:r>
            <a:endParaRPr lang="en-US" sz="1700" dirty="0"/>
          </a:p>
        </p:txBody>
      </p:sp>
      <p:sp>
        <p:nvSpPr>
          <p:cNvPr id="12" name="pair PDL"/>
          <p:cNvSpPr/>
          <p:nvPr/>
        </p:nvSpPr>
        <p:spPr>
          <a:xfrm>
            <a:off x="548640" y="2880360"/>
            <a:ext cx="5486400" cy="868680"/>
          </a:xfrm>
          <a:prstGeom prst="roundRect">
            <a:avLst>
              <a:gd name="adj" fmla="val 10526"/>
            </a:avLst>
          </a:prstGeom>
          <a:solidFill>
            <a:schemeClr val="bg2"/>
          </a:solidFill>
          <a:ln w="12700">
            <a:solidFill>
              <a:schemeClr val="bg2"/>
            </a:solidFill>
            <a:prstDash val="solid"/>
          </a:ln>
        </p:spPr>
      </p:sp>
      <p:sp>
        <p:nvSpPr>
          <p:cNvPr id="13" name="Text 11"/>
          <p:cNvSpPr txBox="1"/>
          <p:nvPr/>
        </p:nvSpPr>
        <p:spPr>
          <a:xfrm>
            <a:off x="731520" y="2880360"/>
            <a:ext cx="1005840" cy="868680"/>
          </a:xfrm>
          <a:prstGeom prst="rect">
            <a:avLst/>
          </a:prstGeom>
          <a:noFill/>
          <a:ln/>
        </p:spPr>
        <p:txBody>
          <a:bodyPr wrap="square" lIns="0" tIns="0" rIns="0" bIns="0" rtlCol="0" anchor="ctr"/>
          <a:lstStyle/>
          <a:p>
            <a:pPr indent="0" marL="0">
              <a:buNone/>
            </a:pPr>
            <a:r>
              <a:rPr lang="en-US" sz="1600" b="1" dirty="0">
                <a:solidFill>
                  <a:schemeClr val="tx2"/>
                </a:solidFill>
              </a:rPr>
              <a:t>PDL</a:t>
            </a:r>
            <a:endParaRPr lang="en-US" sz="1600" dirty="0"/>
          </a:p>
        </p:txBody>
      </p:sp>
      <p:sp>
        <p:nvSpPr>
          <p:cNvPr id="14" name="chip lookup 9,207"/>
          <p:cNvSpPr/>
          <p:nvPr/>
        </p:nvSpPr>
        <p:spPr>
          <a:xfrm>
            <a:off x="1783080" y="3017520"/>
            <a:ext cx="1463040" cy="594360"/>
          </a:xfrm>
          <a:prstGeom prst="roundRect">
            <a:avLst>
              <a:gd name="adj" fmla="val 12308"/>
            </a:avLst>
          </a:prstGeom>
          <a:solidFill>
            <a:srgbClr val="D73027"/>
          </a:solidFill>
          <a:ln w="12700">
            <a:solidFill>
              <a:srgbClr val="D73027"/>
            </a:solidFill>
            <a:prstDash val="solid"/>
          </a:ln>
        </p:spPr>
      </p:sp>
      <p:sp>
        <p:nvSpPr>
          <p:cNvPr id="15" name="Text 13"/>
          <p:cNvSpPr txBox="1"/>
          <p:nvPr/>
        </p:nvSpPr>
        <p:spPr>
          <a:xfrm>
            <a:off x="1783080" y="301752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rPr>
              <a:t>lookup 9,207</a:t>
            </a:r>
            <a:endParaRPr lang="en-US" sz="1300" dirty="0"/>
          </a:p>
        </p:txBody>
      </p:sp>
      <p:sp>
        <p:nvSpPr>
          <p:cNvPr id="16" name="Text 14"/>
          <p:cNvSpPr txBox="1"/>
          <p:nvPr/>
        </p:nvSpPr>
        <p:spPr>
          <a:xfrm>
            <a:off x="3291840" y="2880360"/>
            <a:ext cx="320040" cy="868680"/>
          </a:xfrm>
          <a:prstGeom prst="rect">
            <a:avLst/>
          </a:prstGeom>
          <a:noFill/>
          <a:ln/>
        </p:spPr>
        <p:txBody>
          <a:bodyPr wrap="square" lIns="0" tIns="0" rIns="0" bIns="0" rtlCol="0" anchor="ctr"/>
          <a:lstStyle/>
          <a:p>
            <a:pPr algn="ctr" indent="0" marL="0">
              <a:buNone/>
            </a:pPr>
            <a:r>
              <a:rPr lang="en-US" sz="2000" dirty="0">
                <a:solidFill>
                  <a:srgbClr val="5A6275"/>
                </a:solidFill>
              </a:rPr>
              <a:t>→</a:t>
            </a:r>
            <a:endParaRPr lang="en-US" sz="2000" dirty="0"/>
          </a:p>
        </p:txBody>
      </p:sp>
      <p:sp>
        <p:nvSpPr>
          <p:cNvPr id="17" name="chip PDL::PP 5.47"/>
          <p:cNvSpPr/>
          <p:nvPr/>
        </p:nvSpPr>
        <p:spPr>
          <a:xfrm>
            <a:off x="3657600" y="3017520"/>
            <a:ext cx="1463040" cy="594360"/>
          </a:xfrm>
          <a:prstGeom prst="roundRect">
            <a:avLst>
              <a:gd name="adj" fmla="val 12308"/>
            </a:avLst>
          </a:prstGeom>
          <a:solidFill>
            <a:srgbClr val="A6D96A"/>
          </a:solidFill>
          <a:ln w="12700">
            <a:solidFill>
              <a:srgbClr val="A6D96A"/>
            </a:solidFill>
            <a:prstDash val="solid"/>
          </a:ln>
        </p:spPr>
      </p:sp>
      <p:sp>
        <p:nvSpPr>
          <p:cNvPr id="18" name="Text 16"/>
          <p:cNvSpPr txBox="1"/>
          <p:nvPr/>
        </p:nvSpPr>
        <p:spPr>
          <a:xfrm>
            <a:off x="3657600" y="3017520"/>
            <a:ext cx="1463040" cy="594360"/>
          </a:xfrm>
          <a:prstGeom prst="rect">
            <a:avLst/>
          </a:prstGeom>
          <a:noFill/>
          <a:ln/>
        </p:spPr>
        <p:txBody>
          <a:bodyPr wrap="square" lIns="0" tIns="0" rIns="0" bIns="0" rtlCol="0" anchor="ctr"/>
          <a:lstStyle/>
          <a:p>
            <a:pPr algn="ctr" indent="0" marL="0">
              <a:buNone/>
            </a:pPr>
            <a:r>
              <a:rPr lang="en-US" sz="1300" b="1" dirty="0">
                <a:solidFill>
                  <a:srgbClr val="1B1F2B"/>
                </a:solidFill>
              </a:rPr>
              <a:t>PDL::PP 5.47</a:t>
            </a:r>
            <a:endParaRPr lang="en-US" sz="1300" dirty="0"/>
          </a:p>
        </p:txBody>
      </p:sp>
      <p:sp>
        <p:nvSpPr>
          <p:cNvPr id="19" name="Text 17"/>
          <p:cNvSpPr txBox="1"/>
          <p:nvPr/>
        </p:nvSpPr>
        <p:spPr>
          <a:xfrm>
            <a:off x="5166360" y="2880360"/>
            <a:ext cx="777240" cy="868680"/>
          </a:xfrm>
          <a:prstGeom prst="rect">
            <a:avLst/>
          </a:prstGeom>
          <a:noFill/>
          <a:ln/>
        </p:spPr>
        <p:txBody>
          <a:bodyPr wrap="square" lIns="0" tIns="0" rIns="0" bIns="0" rtlCol="0" anchor="ctr"/>
          <a:lstStyle/>
          <a:p>
            <a:pPr algn="r" indent="0" marL="0">
              <a:buNone/>
            </a:pPr>
            <a:r>
              <a:rPr lang="en-US" sz="1700" b="1" dirty="0">
                <a:solidFill>
                  <a:schemeClr val="tx2"/>
                </a:solidFill>
              </a:rPr>
              <a:t>1,683×</a:t>
            </a:r>
            <a:endParaRPr lang="en-US" sz="1700" dirty="0"/>
          </a:p>
        </p:txBody>
      </p:sp>
      <p:sp>
        <p:nvSpPr>
          <p:cNvPr id="20" name="pair Python"/>
          <p:cNvSpPr/>
          <p:nvPr/>
        </p:nvSpPr>
        <p:spPr>
          <a:xfrm>
            <a:off x="548640" y="3931920"/>
            <a:ext cx="5486400" cy="868680"/>
          </a:xfrm>
          <a:prstGeom prst="roundRect">
            <a:avLst>
              <a:gd name="adj" fmla="val 10526"/>
            </a:avLst>
          </a:prstGeom>
          <a:solidFill>
            <a:schemeClr val="bg2"/>
          </a:solidFill>
          <a:ln w="12700">
            <a:solidFill>
              <a:schemeClr val="bg2"/>
            </a:solidFill>
            <a:prstDash val="solid"/>
          </a:ln>
        </p:spPr>
      </p:sp>
      <p:sp>
        <p:nvSpPr>
          <p:cNvPr id="21" name="Text 19"/>
          <p:cNvSpPr txBox="1"/>
          <p:nvPr/>
        </p:nvSpPr>
        <p:spPr>
          <a:xfrm>
            <a:off x="731520" y="3931920"/>
            <a:ext cx="1005840" cy="868680"/>
          </a:xfrm>
          <a:prstGeom prst="rect">
            <a:avLst/>
          </a:prstGeom>
          <a:noFill/>
          <a:ln/>
        </p:spPr>
        <p:txBody>
          <a:bodyPr wrap="square" lIns="0" tIns="0" rIns="0" bIns="0" rtlCol="0" anchor="ctr"/>
          <a:lstStyle/>
          <a:p>
            <a:pPr indent="0" marL="0">
              <a:buNone/>
            </a:pPr>
            <a:r>
              <a:rPr lang="en-US" sz="1600" b="1" dirty="0">
                <a:solidFill>
                  <a:schemeClr val="tx2"/>
                </a:solidFill>
              </a:rPr>
              <a:t>Python</a:t>
            </a:r>
            <a:endParaRPr lang="en-US" sz="1600" dirty="0"/>
          </a:p>
        </p:txBody>
      </p:sp>
      <p:sp>
        <p:nvSpPr>
          <p:cNvPr id="22" name="chip numpy loop 2,883"/>
          <p:cNvSpPr/>
          <p:nvPr/>
        </p:nvSpPr>
        <p:spPr>
          <a:xfrm>
            <a:off x="1783080" y="4069080"/>
            <a:ext cx="1463040" cy="594360"/>
          </a:xfrm>
          <a:prstGeom prst="roundRect">
            <a:avLst>
              <a:gd name="adj" fmla="val 12308"/>
            </a:avLst>
          </a:prstGeom>
          <a:solidFill>
            <a:srgbClr val="D73027"/>
          </a:solidFill>
          <a:ln w="12700">
            <a:solidFill>
              <a:srgbClr val="D73027"/>
            </a:solidFill>
            <a:prstDash val="solid"/>
          </a:ln>
        </p:spPr>
      </p:sp>
      <p:sp>
        <p:nvSpPr>
          <p:cNvPr id="23" name="Text 21"/>
          <p:cNvSpPr txBox="1"/>
          <p:nvPr/>
        </p:nvSpPr>
        <p:spPr>
          <a:xfrm>
            <a:off x="1783080" y="406908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rPr>
              <a:t>numpy loop 2,883</a:t>
            </a:r>
            <a:endParaRPr lang="en-US" sz="1300" dirty="0"/>
          </a:p>
        </p:txBody>
      </p:sp>
      <p:sp>
        <p:nvSpPr>
          <p:cNvPr id="24" name="Text 22"/>
          <p:cNvSpPr txBox="1"/>
          <p:nvPr/>
        </p:nvSpPr>
        <p:spPr>
          <a:xfrm>
            <a:off x="3291840" y="3931920"/>
            <a:ext cx="320040" cy="868680"/>
          </a:xfrm>
          <a:prstGeom prst="rect">
            <a:avLst/>
          </a:prstGeom>
          <a:noFill/>
          <a:ln/>
        </p:spPr>
        <p:txBody>
          <a:bodyPr wrap="square" lIns="0" tIns="0" rIns="0" bIns="0" rtlCol="0" anchor="ctr"/>
          <a:lstStyle/>
          <a:p>
            <a:pPr algn="ctr" indent="0" marL="0">
              <a:buNone/>
            </a:pPr>
            <a:r>
              <a:rPr lang="en-US" sz="2000" dirty="0">
                <a:solidFill>
                  <a:srgbClr val="5A6275"/>
                </a:solidFill>
              </a:rPr>
              <a:t>→</a:t>
            </a:r>
            <a:endParaRPr lang="en-US" sz="2000" dirty="0"/>
          </a:p>
        </p:txBody>
      </p:sp>
      <p:sp>
        <p:nvSpPr>
          <p:cNvPr id="25" name="chip numba 3.15"/>
          <p:cNvSpPr/>
          <p:nvPr/>
        </p:nvSpPr>
        <p:spPr>
          <a:xfrm>
            <a:off x="3657600" y="4069080"/>
            <a:ext cx="1463040" cy="594360"/>
          </a:xfrm>
          <a:prstGeom prst="roundRect">
            <a:avLst>
              <a:gd name="adj" fmla="val 12308"/>
            </a:avLst>
          </a:prstGeom>
          <a:solidFill>
            <a:srgbClr val="A6D96A"/>
          </a:solidFill>
          <a:ln w="12700">
            <a:solidFill>
              <a:srgbClr val="A6D96A"/>
            </a:solidFill>
            <a:prstDash val="solid"/>
          </a:ln>
        </p:spPr>
      </p:sp>
      <p:sp>
        <p:nvSpPr>
          <p:cNvPr id="26" name="Text 24"/>
          <p:cNvSpPr txBox="1"/>
          <p:nvPr/>
        </p:nvSpPr>
        <p:spPr>
          <a:xfrm>
            <a:off x="3657600" y="4069080"/>
            <a:ext cx="1463040" cy="594360"/>
          </a:xfrm>
          <a:prstGeom prst="rect">
            <a:avLst/>
          </a:prstGeom>
          <a:noFill/>
          <a:ln/>
        </p:spPr>
        <p:txBody>
          <a:bodyPr wrap="square" lIns="0" tIns="0" rIns="0" bIns="0" rtlCol="0" anchor="ctr"/>
          <a:lstStyle/>
          <a:p>
            <a:pPr algn="ctr" indent="0" marL="0">
              <a:buNone/>
            </a:pPr>
            <a:r>
              <a:rPr lang="en-US" sz="1300" b="1" dirty="0">
                <a:solidFill>
                  <a:srgbClr val="1B1F2B"/>
                </a:solidFill>
              </a:rPr>
              <a:t>numba 3.15</a:t>
            </a:r>
            <a:endParaRPr lang="en-US" sz="1300" dirty="0"/>
          </a:p>
        </p:txBody>
      </p:sp>
      <p:sp>
        <p:nvSpPr>
          <p:cNvPr id="27" name="Text 25"/>
          <p:cNvSpPr txBox="1"/>
          <p:nvPr/>
        </p:nvSpPr>
        <p:spPr>
          <a:xfrm>
            <a:off x="5166360" y="3931920"/>
            <a:ext cx="777240" cy="868680"/>
          </a:xfrm>
          <a:prstGeom prst="rect">
            <a:avLst/>
          </a:prstGeom>
          <a:noFill/>
          <a:ln/>
        </p:spPr>
        <p:txBody>
          <a:bodyPr wrap="square" lIns="0" tIns="0" rIns="0" bIns="0" rtlCol="0" anchor="ctr"/>
          <a:lstStyle/>
          <a:p>
            <a:pPr algn="r" indent="0" marL="0">
              <a:buNone/>
            </a:pPr>
            <a:r>
              <a:rPr lang="en-US" sz="1700" b="1" dirty="0">
                <a:solidFill>
                  <a:schemeClr val="tx2"/>
                </a:solidFill>
              </a:rPr>
              <a:t>915×</a:t>
            </a:r>
            <a:endParaRPr lang="en-US" sz="1700" dirty="0"/>
          </a:p>
        </p:txBody>
      </p:sp>
      <p:sp>
        <p:nvSpPr>
          <p:cNvPr id="28" name="pair Ruby"/>
          <p:cNvSpPr/>
          <p:nvPr/>
        </p:nvSpPr>
        <p:spPr>
          <a:xfrm>
            <a:off x="548640" y="4983480"/>
            <a:ext cx="5486400" cy="868680"/>
          </a:xfrm>
          <a:prstGeom prst="roundRect">
            <a:avLst>
              <a:gd name="adj" fmla="val 10526"/>
            </a:avLst>
          </a:prstGeom>
          <a:solidFill>
            <a:schemeClr val="bg2"/>
          </a:solidFill>
          <a:ln w="12700">
            <a:solidFill>
              <a:schemeClr val="bg2"/>
            </a:solidFill>
            <a:prstDash val="solid"/>
          </a:ln>
        </p:spPr>
      </p:sp>
      <p:sp>
        <p:nvSpPr>
          <p:cNvPr id="29" name="Text 27"/>
          <p:cNvSpPr txBox="1"/>
          <p:nvPr/>
        </p:nvSpPr>
        <p:spPr>
          <a:xfrm>
            <a:off x="731520" y="4983480"/>
            <a:ext cx="1005840" cy="868680"/>
          </a:xfrm>
          <a:prstGeom prst="rect">
            <a:avLst/>
          </a:prstGeom>
          <a:noFill/>
          <a:ln/>
        </p:spPr>
        <p:txBody>
          <a:bodyPr wrap="square" lIns="0" tIns="0" rIns="0" bIns="0" rtlCol="0" anchor="ctr"/>
          <a:lstStyle/>
          <a:p>
            <a:pPr indent="0" marL="0">
              <a:buNone/>
            </a:pPr>
            <a:r>
              <a:rPr lang="en-US" sz="1600" b="1" dirty="0">
                <a:solidFill>
                  <a:schemeClr val="tx2"/>
                </a:solidFill>
              </a:rPr>
              <a:t>Ruby</a:t>
            </a:r>
            <a:endParaRPr lang="en-US" sz="1600" dirty="0"/>
          </a:p>
        </p:txBody>
      </p:sp>
      <p:sp>
        <p:nvSpPr>
          <p:cNvPr id="30" name="chip 3.3 755"/>
          <p:cNvSpPr/>
          <p:nvPr/>
        </p:nvSpPr>
        <p:spPr>
          <a:xfrm>
            <a:off x="1783080" y="5120640"/>
            <a:ext cx="1463040" cy="594360"/>
          </a:xfrm>
          <a:prstGeom prst="roundRect">
            <a:avLst>
              <a:gd name="adj" fmla="val 12308"/>
            </a:avLst>
          </a:prstGeom>
          <a:solidFill>
            <a:srgbClr val="D73027"/>
          </a:solidFill>
          <a:ln w="12700">
            <a:solidFill>
              <a:srgbClr val="D73027"/>
            </a:solidFill>
            <a:prstDash val="solid"/>
          </a:ln>
        </p:spPr>
      </p:sp>
      <p:sp>
        <p:nvSpPr>
          <p:cNvPr id="31" name="Text 29"/>
          <p:cNvSpPr txBox="1"/>
          <p:nvPr/>
        </p:nvSpPr>
        <p:spPr>
          <a:xfrm>
            <a:off x="1783080" y="512064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rPr>
              <a:t>3.3 755</a:t>
            </a:r>
            <a:endParaRPr lang="en-US" sz="1300" dirty="0"/>
          </a:p>
        </p:txBody>
      </p:sp>
      <p:sp>
        <p:nvSpPr>
          <p:cNvPr id="32" name="Text 30"/>
          <p:cNvSpPr txBox="1"/>
          <p:nvPr/>
        </p:nvSpPr>
        <p:spPr>
          <a:xfrm>
            <a:off x="3291840" y="4983480"/>
            <a:ext cx="320040" cy="868680"/>
          </a:xfrm>
          <a:prstGeom prst="rect">
            <a:avLst/>
          </a:prstGeom>
          <a:noFill/>
          <a:ln/>
        </p:spPr>
        <p:txBody>
          <a:bodyPr wrap="square" lIns="0" tIns="0" rIns="0" bIns="0" rtlCol="0" anchor="ctr"/>
          <a:lstStyle/>
          <a:p>
            <a:pPr algn="ctr" indent="0" marL="0">
              <a:buNone/>
            </a:pPr>
            <a:r>
              <a:rPr lang="en-US" sz="2000" dirty="0">
                <a:solidFill>
                  <a:srgbClr val="5A6275"/>
                </a:solidFill>
              </a:rPr>
              <a:t>→</a:t>
            </a:r>
            <a:endParaRPr lang="en-US" sz="2000" dirty="0"/>
          </a:p>
        </p:txBody>
      </p:sp>
      <p:sp>
        <p:nvSpPr>
          <p:cNvPr id="33" name="chip + YJIT 284"/>
          <p:cNvSpPr/>
          <p:nvPr/>
        </p:nvSpPr>
        <p:spPr>
          <a:xfrm>
            <a:off x="3657600" y="5120640"/>
            <a:ext cx="1463040" cy="594360"/>
          </a:xfrm>
          <a:prstGeom prst="roundRect">
            <a:avLst>
              <a:gd name="adj" fmla="val 12308"/>
            </a:avLst>
          </a:prstGeom>
          <a:solidFill>
            <a:srgbClr val="F46D43"/>
          </a:solidFill>
          <a:ln w="12700">
            <a:solidFill>
              <a:srgbClr val="F46D43"/>
            </a:solidFill>
            <a:prstDash val="solid"/>
          </a:ln>
        </p:spPr>
      </p:sp>
      <p:sp>
        <p:nvSpPr>
          <p:cNvPr id="34" name="Text 32"/>
          <p:cNvSpPr txBox="1"/>
          <p:nvPr/>
        </p:nvSpPr>
        <p:spPr>
          <a:xfrm>
            <a:off x="3657600" y="5120640"/>
            <a:ext cx="1463040" cy="594360"/>
          </a:xfrm>
          <a:prstGeom prst="rect">
            <a:avLst/>
          </a:prstGeom>
          <a:noFill/>
          <a:ln/>
        </p:spPr>
        <p:txBody>
          <a:bodyPr wrap="square" lIns="0" tIns="0" rIns="0" bIns="0" rtlCol="0" anchor="ctr"/>
          <a:lstStyle/>
          <a:p>
            <a:pPr algn="ctr" indent="0" marL="0">
              <a:buNone/>
            </a:pPr>
            <a:r>
              <a:rPr lang="en-US" sz="1300" b="1" dirty="0">
                <a:solidFill>
                  <a:srgbClr val="1B1F2B"/>
                </a:solidFill>
              </a:rPr>
              <a:t>+ YJIT 284</a:t>
            </a:r>
            <a:endParaRPr lang="en-US" sz="1300" dirty="0"/>
          </a:p>
        </p:txBody>
      </p:sp>
      <p:sp>
        <p:nvSpPr>
          <p:cNvPr id="35" name="Text 33"/>
          <p:cNvSpPr txBox="1"/>
          <p:nvPr/>
        </p:nvSpPr>
        <p:spPr>
          <a:xfrm>
            <a:off x="5166360" y="4983480"/>
            <a:ext cx="777240" cy="868680"/>
          </a:xfrm>
          <a:prstGeom prst="rect">
            <a:avLst/>
          </a:prstGeom>
          <a:noFill/>
          <a:ln/>
        </p:spPr>
        <p:txBody>
          <a:bodyPr wrap="square" lIns="0" tIns="0" rIns="0" bIns="0" rtlCol="0" anchor="ctr"/>
          <a:lstStyle/>
          <a:p>
            <a:pPr algn="r" indent="0" marL="0">
              <a:buNone/>
            </a:pPr>
            <a:r>
              <a:rPr lang="en-US" sz="1700" b="1" dirty="0">
                <a:solidFill>
                  <a:schemeClr val="tx2"/>
                </a:solidFill>
              </a:rPr>
              <a:t>2.7×</a:t>
            </a:r>
            <a:endParaRPr lang="en-US" sz="1700" dirty="0"/>
          </a:p>
        </p:txBody>
      </p:sp>
      <p:sp>
        <p:nvSpPr>
          <p:cNvPr id="36" name="Text 34"/>
          <p:cNvSpPr txBox="1"/>
          <p:nvPr/>
        </p:nvSpPr>
        <p:spPr>
          <a:xfrm>
            <a:off x="6492240" y="1188720"/>
            <a:ext cx="5150815" cy="41148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Across compiled languages: under 10×</a:t>
            </a:r>
            <a:endParaRPr lang="en-US" sz="2000" dirty="0"/>
          </a:p>
        </p:txBody>
      </p:sp>
      <p:graphicFrame>
        <p:nvGraphicFramePr>
          <p:cNvPr id="37" name="compiled languages" descr=""/>
          <p:cNvGraphicFramePr/>
          <p:nvPr/>
        </p:nvGraphicFramePr>
        <p:xfrm>
          <a:off x="6492240" y="1691640"/>
          <a:ext cx="5150815" cy="3977640"/>
        </p:xfrm>
        <a:graphic xmlns:a="http://schemas.openxmlformats.org/drawingml/2006/main">
          <a:graphicData uri="http://schemas.openxmlformats.org/drawingml/2006/chart">
            <c:chart xmlns:c="http://schemas.openxmlformats.org/drawingml/2006/chart" r:id="rId1"/>
          </a:graphicData>
        </a:graphic>
      </p:graphicFrame>
      <p:sp>
        <p:nvSpPr>
          <p:cNvPr id="38" name="Text 35"/>
          <p:cNvSpPr txBox="1"/>
          <p:nvPr/>
        </p:nvSpPr>
        <p:spPr>
          <a:xfrm>
            <a:off x="6492240" y="5715000"/>
            <a:ext cx="5150815" cy="548640"/>
          </a:xfrm>
          <a:prstGeom prst="rect">
            <a:avLst/>
          </a:prstGeom>
          <a:noFill/>
          <a:ln/>
        </p:spPr>
        <p:txBody>
          <a:bodyPr wrap="square" lIns="0" tIns="0" rIns="0" bIns="0" rtlCol="0" anchor="t"/>
          <a:lstStyle/>
          <a:p>
            <a:pPr indent="0" marL="0">
              <a:buNone/>
            </a:pPr>
            <a:r>
              <a:rPr lang="en-US" sz="1200" i="1" dirty="0">
                <a:solidFill>
                  <a:srgbClr val="5A6275"/>
                </a:solidFill>
              </a:rPr>
              <a:t>Caveat: the C, Fortran, Julia and Java kernels use 32-bit floats; the D, Zig, Nim, Crystal and Go ports use 64-bit, which halves the values per NEON instruction.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Runtimes new to the suite (not new technology)</a:t>
            </a:r>
            <a:endParaRPr lang="en-US" sz="3200" dirty="0"/>
          </a:p>
        </p:txBody>
      </p:sp>
      <p:sp>
        <p:nvSpPr>
          <p:cNvPr id="3" name="column In Keith's 2019 study"/>
          <p:cNvSpPr/>
          <p:nvPr/>
        </p:nvSpPr>
        <p:spPr>
          <a:xfrm>
            <a:off x="548640" y="1234440"/>
            <a:ext cx="3515258" cy="3657600"/>
          </a:xfrm>
          <a:prstGeom prst="roundRect">
            <a:avLst>
              <a:gd name="adj" fmla="val 2601"/>
            </a:avLst>
          </a:prstGeom>
          <a:solidFill>
            <a:schemeClr val="bg2"/>
          </a:solidFill>
          <a:ln w="12700">
            <a:solidFill>
              <a:schemeClr val="bg2"/>
            </a:solidFill>
            <a:prstDash val="solid"/>
          </a:ln>
        </p:spPr>
      </p:sp>
      <p:sp>
        <p:nvSpPr>
          <p:cNvPr id="4" name="Text 2"/>
          <p:cNvSpPr txBox="1"/>
          <p:nvPr/>
        </p:nvSpPr>
        <p:spPr>
          <a:xfrm>
            <a:off x="731520" y="1371600"/>
            <a:ext cx="3149498" cy="41148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In Keith's 2019 study</a:t>
            </a:r>
            <a:endParaRPr lang="en-US" sz="1700" dirty="0"/>
          </a:p>
        </p:txBody>
      </p:sp>
      <p:sp>
        <p:nvSpPr>
          <p:cNvPr id="5" name="Text 3"/>
          <p:cNvSpPr txBox="1"/>
          <p:nvPr/>
        </p:nvSpPr>
        <p:spPr>
          <a:xfrm>
            <a:off x="731520" y="1920240"/>
            <a:ext cx="2143658" cy="457200"/>
          </a:xfrm>
          <a:prstGeom prst="rect">
            <a:avLst/>
          </a:prstGeom>
          <a:noFill/>
          <a:ln/>
        </p:spPr>
        <p:txBody>
          <a:bodyPr wrap="square" lIns="0" tIns="0" rIns="0" bIns="0" rtlCol="0" anchor="ctr"/>
          <a:lstStyle/>
          <a:p>
            <a:pPr indent="0" marL="0">
              <a:buNone/>
            </a:pPr>
            <a:r>
              <a:rPr lang="en-US" sz="1500" dirty="0">
                <a:solidFill>
                  <a:schemeClr val="tx1"/>
                </a:solidFill>
              </a:rPr>
              <a:t>Java (HotSpot JIT)</a:t>
            </a:r>
            <a:endParaRPr lang="en-US" sz="1500" dirty="0"/>
          </a:p>
        </p:txBody>
      </p:sp>
      <p:sp>
        <p:nvSpPr>
          <p:cNvPr id="6" name="chip 3.70"/>
          <p:cNvSpPr/>
          <p:nvPr/>
        </p:nvSpPr>
        <p:spPr>
          <a:xfrm>
            <a:off x="2966618" y="1965960"/>
            <a:ext cx="914400" cy="384048"/>
          </a:xfrm>
          <a:prstGeom prst="roundRect">
            <a:avLst>
              <a:gd name="adj" fmla="val 19048"/>
            </a:avLst>
          </a:prstGeom>
          <a:solidFill>
            <a:srgbClr val="A6D96A"/>
          </a:solidFill>
          <a:ln w="12700">
            <a:solidFill>
              <a:srgbClr val="A6D96A"/>
            </a:solidFill>
            <a:prstDash val="solid"/>
          </a:ln>
        </p:spPr>
      </p:sp>
      <p:sp>
        <p:nvSpPr>
          <p:cNvPr id="7" name="Text 5"/>
          <p:cNvSpPr txBox="1"/>
          <p:nvPr/>
        </p:nvSpPr>
        <p:spPr>
          <a:xfrm>
            <a:off x="2966618" y="1965960"/>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3.70</a:t>
            </a:r>
            <a:endParaRPr lang="en-US" sz="1300" dirty="0"/>
          </a:p>
        </p:txBody>
      </p:sp>
      <p:sp>
        <p:nvSpPr>
          <p:cNvPr id="8" name="Text 6"/>
          <p:cNvSpPr txBox="1"/>
          <p:nvPr/>
        </p:nvSpPr>
        <p:spPr>
          <a:xfrm>
            <a:off x="731520" y="2487168"/>
            <a:ext cx="2143658" cy="457200"/>
          </a:xfrm>
          <a:prstGeom prst="rect">
            <a:avLst/>
          </a:prstGeom>
          <a:noFill/>
          <a:ln/>
        </p:spPr>
        <p:txBody>
          <a:bodyPr wrap="square" lIns="0" tIns="0" rIns="0" bIns="0" rtlCol="0" anchor="ctr"/>
          <a:lstStyle/>
          <a:p>
            <a:pPr indent="0" marL="0">
              <a:buNone/>
            </a:pPr>
            <a:r>
              <a:rPr lang="en-US" sz="1500" dirty="0">
                <a:solidFill>
                  <a:schemeClr val="tx1"/>
                </a:solidFill>
              </a:rPr>
              <a:t>Node.js (V8)</a:t>
            </a:r>
            <a:endParaRPr lang="en-US" sz="1500" dirty="0"/>
          </a:p>
        </p:txBody>
      </p:sp>
      <p:sp>
        <p:nvSpPr>
          <p:cNvPr id="9" name="chip 25.9"/>
          <p:cNvSpPr/>
          <p:nvPr/>
        </p:nvSpPr>
        <p:spPr>
          <a:xfrm>
            <a:off x="2966618" y="2532888"/>
            <a:ext cx="914400" cy="384048"/>
          </a:xfrm>
          <a:prstGeom prst="roundRect">
            <a:avLst>
              <a:gd name="adj" fmla="val 19048"/>
            </a:avLst>
          </a:prstGeom>
          <a:solidFill>
            <a:srgbClr val="FDAE61"/>
          </a:solidFill>
          <a:ln w="12700">
            <a:solidFill>
              <a:srgbClr val="FDAE61"/>
            </a:solidFill>
            <a:prstDash val="solid"/>
          </a:ln>
        </p:spPr>
      </p:sp>
      <p:sp>
        <p:nvSpPr>
          <p:cNvPr id="10" name="Text 8"/>
          <p:cNvSpPr txBox="1"/>
          <p:nvPr/>
        </p:nvSpPr>
        <p:spPr>
          <a:xfrm>
            <a:off x="2966618" y="2532888"/>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25.9</a:t>
            </a:r>
            <a:endParaRPr lang="en-US" sz="1300" dirty="0"/>
          </a:p>
        </p:txBody>
      </p:sp>
      <p:sp>
        <p:nvSpPr>
          <p:cNvPr id="11" name="Text 9"/>
          <p:cNvSpPr txBox="1"/>
          <p:nvPr/>
        </p:nvSpPr>
        <p:spPr>
          <a:xfrm>
            <a:off x="731520" y="3054096"/>
            <a:ext cx="2143658" cy="457200"/>
          </a:xfrm>
          <a:prstGeom prst="rect">
            <a:avLst/>
          </a:prstGeom>
          <a:noFill/>
          <a:ln/>
        </p:spPr>
        <p:txBody>
          <a:bodyPr wrap="square" lIns="0" tIns="0" rIns="0" bIns="0" rtlCol="0" anchor="ctr"/>
          <a:lstStyle/>
          <a:p>
            <a:pPr indent="0" marL="0">
              <a:buNone/>
            </a:pPr>
            <a:r>
              <a:rPr lang="en-US" sz="1500" dirty="0">
                <a:solidFill>
                  <a:schemeClr val="tx1"/>
                </a:solidFill>
              </a:rPr>
              <a:t>Julia</a:t>
            </a:r>
            <a:endParaRPr lang="en-US" sz="1500" dirty="0"/>
          </a:p>
        </p:txBody>
      </p:sp>
      <p:sp>
        <p:nvSpPr>
          <p:cNvPr id="12" name="chip 1.17"/>
          <p:cNvSpPr/>
          <p:nvPr/>
        </p:nvSpPr>
        <p:spPr>
          <a:xfrm>
            <a:off x="2966618" y="3099816"/>
            <a:ext cx="914400" cy="384048"/>
          </a:xfrm>
          <a:prstGeom prst="roundRect">
            <a:avLst>
              <a:gd name="adj" fmla="val 19048"/>
            </a:avLst>
          </a:prstGeom>
          <a:solidFill>
            <a:srgbClr val="66BD63"/>
          </a:solidFill>
          <a:ln w="12700">
            <a:solidFill>
              <a:srgbClr val="66BD63"/>
            </a:solidFill>
            <a:prstDash val="solid"/>
          </a:ln>
        </p:spPr>
      </p:sp>
      <p:sp>
        <p:nvSpPr>
          <p:cNvPr id="13" name="Text 11"/>
          <p:cNvSpPr txBox="1"/>
          <p:nvPr/>
        </p:nvSpPr>
        <p:spPr>
          <a:xfrm>
            <a:off x="2966618" y="3099816"/>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1.17</a:t>
            </a:r>
            <a:endParaRPr lang="en-US" sz="1300" dirty="0"/>
          </a:p>
        </p:txBody>
      </p:sp>
      <p:sp>
        <p:nvSpPr>
          <p:cNvPr id="14" name="Text 12"/>
          <p:cNvSpPr txBox="1"/>
          <p:nvPr/>
        </p:nvSpPr>
        <p:spPr>
          <a:xfrm>
            <a:off x="731520" y="3621024"/>
            <a:ext cx="2143658" cy="457200"/>
          </a:xfrm>
          <a:prstGeom prst="rect">
            <a:avLst/>
          </a:prstGeom>
          <a:noFill/>
          <a:ln/>
        </p:spPr>
        <p:txBody>
          <a:bodyPr wrap="square" lIns="0" tIns="0" rIns="0" bIns="0" rtlCol="0" anchor="ctr"/>
          <a:lstStyle/>
          <a:p>
            <a:pPr indent="0" marL="0">
              <a:buNone/>
            </a:pPr>
            <a:r>
              <a:rPr lang="en-US" sz="1500" dirty="0">
                <a:solidFill>
                  <a:schemeClr val="tx1"/>
                </a:solidFill>
              </a:rPr>
              <a:t>numba</a:t>
            </a:r>
            <a:endParaRPr lang="en-US" sz="1500" dirty="0"/>
          </a:p>
        </p:txBody>
      </p:sp>
      <p:sp>
        <p:nvSpPr>
          <p:cNvPr id="15" name="chip 3.15"/>
          <p:cNvSpPr/>
          <p:nvPr/>
        </p:nvSpPr>
        <p:spPr>
          <a:xfrm>
            <a:off x="2966618" y="3666744"/>
            <a:ext cx="914400" cy="384048"/>
          </a:xfrm>
          <a:prstGeom prst="roundRect">
            <a:avLst>
              <a:gd name="adj" fmla="val 19048"/>
            </a:avLst>
          </a:prstGeom>
          <a:solidFill>
            <a:srgbClr val="A6D96A"/>
          </a:solidFill>
          <a:ln w="12700">
            <a:solidFill>
              <a:srgbClr val="A6D96A"/>
            </a:solidFill>
            <a:prstDash val="solid"/>
          </a:ln>
        </p:spPr>
      </p:sp>
      <p:sp>
        <p:nvSpPr>
          <p:cNvPr id="16" name="Text 14"/>
          <p:cNvSpPr txBox="1"/>
          <p:nvPr/>
        </p:nvSpPr>
        <p:spPr>
          <a:xfrm>
            <a:off x="2966618" y="3666744"/>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3.15</a:t>
            </a:r>
            <a:endParaRPr lang="en-US" sz="1300" dirty="0"/>
          </a:p>
        </p:txBody>
      </p:sp>
      <p:sp>
        <p:nvSpPr>
          <p:cNvPr id="17" name="column Old technology, first time here"/>
          <p:cNvSpPr/>
          <p:nvPr/>
        </p:nvSpPr>
        <p:spPr>
          <a:xfrm>
            <a:off x="4338218" y="1234440"/>
            <a:ext cx="3515258" cy="3657600"/>
          </a:xfrm>
          <a:prstGeom prst="roundRect">
            <a:avLst>
              <a:gd name="adj" fmla="val 2601"/>
            </a:avLst>
          </a:prstGeom>
          <a:solidFill>
            <a:schemeClr val="bg2"/>
          </a:solidFill>
          <a:ln w="12700">
            <a:solidFill>
              <a:schemeClr val="bg2"/>
            </a:solidFill>
            <a:prstDash val="solid"/>
          </a:ln>
        </p:spPr>
      </p:sp>
      <p:sp>
        <p:nvSpPr>
          <p:cNvPr id="18" name="Text 16"/>
          <p:cNvSpPr txBox="1"/>
          <p:nvPr/>
        </p:nvSpPr>
        <p:spPr>
          <a:xfrm>
            <a:off x="4521098" y="1371600"/>
            <a:ext cx="3149498" cy="41148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Old technology, first time here</a:t>
            </a:r>
            <a:endParaRPr lang="en-US" sz="1700" dirty="0"/>
          </a:p>
        </p:txBody>
      </p:sp>
      <p:sp>
        <p:nvSpPr>
          <p:cNvPr id="19" name="Text 17"/>
          <p:cNvSpPr txBox="1"/>
          <p:nvPr/>
        </p:nvSpPr>
        <p:spPr>
          <a:xfrm>
            <a:off x="4521098" y="1920240"/>
            <a:ext cx="2143658" cy="457200"/>
          </a:xfrm>
          <a:prstGeom prst="rect">
            <a:avLst/>
          </a:prstGeom>
          <a:noFill/>
          <a:ln/>
        </p:spPr>
        <p:txBody>
          <a:bodyPr wrap="square" lIns="0" tIns="0" rIns="0" bIns="0" rtlCol="0" anchor="ctr"/>
          <a:lstStyle/>
          <a:p>
            <a:pPr indent="0" marL="0">
              <a:buNone/>
            </a:pPr>
            <a:r>
              <a:rPr lang="en-US" sz="1500" dirty="0">
                <a:solidFill>
                  <a:schemeClr val="tx1"/>
                </a:solidFill>
              </a:rPr>
              <a:t>LuaJIT (2005)</a:t>
            </a:r>
            <a:endParaRPr lang="en-US" sz="1500" dirty="0"/>
          </a:p>
        </p:txBody>
      </p:sp>
      <p:sp>
        <p:nvSpPr>
          <p:cNvPr id="20" name="chip 7.59"/>
          <p:cNvSpPr/>
          <p:nvPr/>
        </p:nvSpPr>
        <p:spPr>
          <a:xfrm>
            <a:off x="6756197" y="1965960"/>
            <a:ext cx="914400" cy="384048"/>
          </a:xfrm>
          <a:prstGeom prst="roundRect">
            <a:avLst>
              <a:gd name="adj" fmla="val 19048"/>
            </a:avLst>
          </a:prstGeom>
          <a:solidFill>
            <a:srgbClr val="FEE08B"/>
          </a:solidFill>
          <a:ln w="12700">
            <a:solidFill>
              <a:srgbClr val="FEE08B"/>
            </a:solidFill>
            <a:prstDash val="solid"/>
          </a:ln>
        </p:spPr>
      </p:sp>
      <p:sp>
        <p:nvSpPr>
          <p:cNvPr id="21" name="Text 19"/>
          <p:cNvSpPr txBox="1"/>
          <p:nvPr/>
        </p:nvSpPr>
        <p:spPr>
          <a:xfrm>
            <a:off x="6756197" y="1965960"/>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7.59</a:t>
            </a:r>
            <a:endParaRPr lang="en-US" sz="1300" dirty="0"/>
          </a:p>
        </p:txBody>
      </p:sp>
      <p:sp>
        <p:nvSpPr>
          <p:cNvPr id="22" name="Text 20"/>
          <p:cNvSpPr txBox="1"/>
          <p:nvPr/>
        </p:nvSpPr>
        <p:spPr>
          <a:xfrm>
            <a:off x="4521098" y="2487168"/>
            <a:ext cx="2143658" cy="457200"/>
          </a:xfrm>
          <a:prstGeom prst="rect">
            <a:avLst/>
          </a:prstGeom>
          <a:noFill/>
          <a:ln/>
        </p:spPr>
        <p:txBody>
          <a:bodyPr wrap="square" lIns="0" tIns="0" rIns="0" bIns="0" rtlCol="0" anchor="ctr"/>
          <a:lstStyle/>
          <a:p>
            <a:pPr indent="0" marL="0">
              <a:buNone/>
            </a:pPr>
            <a:r>
              <a:rPr lang="en-US" sz="1500" dirty="0">
                <a:solidFill>
                  <a:schemeClr val="tx1"/>
                </a:solidFill>
              </a:rPr>
              <a:t>PyPy (2007)</a:t>
            </a:r>
            <a:endParaRPr lang="en-US" sz="1500" dirty="0"/>
          </a:p>
        </p:txBody>
      </p:sp>
      <p:sp>
        <p:nvSpPr>
          <p:cNvPr id="23" name="chip 36.2"/>
          <p:cNvSpPr/>
          <p:nvPr/>
        </p:nvSpPr>
        <p:spPr>
          <a:xfrm>
            <a:off x="6756197" y="2532888"/>
            <a:ext cx="914400" cy="384048"/>
          </a:xfrm>
          <a:prstGeom prst="roundRect">
            <a:avLst>
              <a:gd name="adj" fmla="val 19048"/>
            </a:avLst>
          </a:prstGeom>
          <a:solidFill>
            <a:srgbClr val="FDAE61"/>
          </a:solidFill>
          <a:ln w="12700">
            <a:solidFill>
              <a:srgbClr val="FDAE61"/>
            </a:solidFill>
            <a:prstDash val="solid"/>
          </a:ln>
        </p:spPr>
      </p:sp>
      <p:sp>
        <p:nvSpPr>
          <p:cNvPr id="24" name="Text 22"/>
          <p:cNvSpPr txBox="1"/>
          <p:nvPr/>
        </p:nvSpPr>
        <p:spPr>
          <a:xfrm>
            <a:off x="6756197" y="2532888"/>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36.2</a:t>
            </a:r>
            <a:endParaRPr lang="en-US" sz="1300" dirty="0"/>
          </a:p>
        </p:txBody>
      </p:sp>
      <p:sp>
        <p:nvSpPr>
          <p:cNvPr id="25" name="Text 23"/>
          <p:cNvSpPr txBox="1"/>
          <p:nvPr/>
        </p:nvSpPr>
        <p:spPr>
          <a:xfrm>
            <a:off x="4521098" y="3054096"/>
            <a:ext cx="2143658" cy="457200"/>
          </a:xfrm>
          <a:prstGeom prst="rect">
            <a:avLst/>
          </a:prstGeom>
          <a:noFill/>
          <a:ln/>
        </p:spPr>
        <p:txBody>
          <a:bodyPr wrap="square" lIns="0" tIns="0" rIns="0" bIns="0" rtlCol="0" anchor="ctr"/>
          <a:lstStyle/>
          <a:p>
            <a:pPr indent="0" marL="0">
              <a:buNone/>
            </a:pPr>
            <a:r>
              <a:rPr lang="en-US" sz="1500" dirty="0">
                <a:solidFill>
                  <a:schemeClr val="tx1"/>
                </a:solidFill>
              </a:rPr>
              <a:t>C# .NET JIT</a:t>
            </a:r>
            <a:endParaRPr lang="en-US" sz="1500" dirty="0"/>
          </a:p>
        </p:txBody>
      </p:sp>
      <p:sp>
        <p:nvSpPr>
          <p:cNvPr id="26" name="chip 5.31"/>
          <p:cNvSpPr/>
          <p:nvPr/>
        </p:nvSpPr>
        <p:spPr>
          <a:xfrm>
            <a:off x="6756197" y="3099816"/>
            <a:ext cx="914400" cy="384048"/>
          </a:xfrm>
          <a:prstGeom prst="roundRect">
            <a:avLst>
              <a:gd name="adj" fmla="val 19048"/>
            </a:avLst>
          </a:prstGeom>
          <a:solidFill>
            <a:srgbClr val="A6D96A"/>
          </a:solidFill>
          <a:ln w="12700">
            <a:solidFill>
              <a:srgbClr val="A6D96A"/>
            </a:solidFill>
            <a:prstDash val="solid"/>
          </a:ln>
        </p:spPr>
      </p:sp>
      <p:sp>
        <p:nvSpPr>
          <p:cNvPr id="27" name="Text 25"/>
          <p:cNvSpPr txBox="1"/>
          <p:nvPr/>
        </p:nvSpPr>
        <p:spPr>
          <a:xfrm>
            <a:off x="6756197" y="3099816"/>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5.31</a:t>
            </a:r>
            <a:endParaRPr lang="en-US" sz="1300" dirty="0"/>
          </a:p>
        </p:txBody>
      </p:sp>
      <p:sp>
        <p:nvSpPr>
          <p:cNvPr id="28" name="Text 26"/>
          <p:cNvSpPr txBox="1"/>
          <p:nvPr/>
        </p:nvSpPr>
        <p:spPr>
          <a:xfrm>
            <a:off x="4521098" y="3621024"/>
            <a:ext cx="2143658" cy="457200"/>
          </a:xfrm>
          <a:prstGeom prst="rect">
            <a:avLst/>
          </a:prstGeom>
          <a:noFill/>
          <a:ln/>
        </p:spPr>
        <p:txBody>
          <a:bodyPr wrap="square" lIns="0" tIns="0" rIns="0" bIns="0" rtlCol="0" anchor="ctr"/>
          <a:lstStyle/>
          <a:p>
            <a:pPr indent="0" marL="0">
              <a:buNone/>
            </a:pPr>
            <a:r>
              <a:rPr lang="en-US" sz="1500" dirty="0">
                <a:solidFill>
                  <a:schemeClr val="tx1"/>
                </a:solidFill>
              </a:rPr>
              <a:t>Lisp (SBCL), typed</a:t>
            </a:r>
            <a:endParaRPr lang="en-US" sz="1500" dirty="0"/>
          </a:p>
        </p:txBody>
      </p:sp>
      <p:sp>
        <p:nvSpPr>
          <p:cNvPr id="29" name="chip 10.6"/>
          <p:cNvSpPr/>
          <p:nvPr/>
        </p:nvSpPr>
        <p:spPr>
          <a:xfrm>
            <a:off x="6756197" y="3666744"/>
            <a:ext cx="914400" cy="384048"/>
          </a:xfrm>
          <a:prstGeom prst="roundRect">
            <a:avLst>
              <a:gd name="adj" fmla="val 19048"/>
            </a:avLst>
          </a:prstGeom>
          <a:solidFill>
            <a:srgbClr val="FEE08B"/>
          </a:solidFill>
          <a:ln w="12700">
            <a:solidFill>
              <a:srgbClr val="FEE08B"/>
            </a:solidFill>
            <a:prstDash val="solid"/>
          </a:ln>
        </p:spPr>
      </p:sp>
      <p:sp>
        <p:nvSpPr>
          <p:cNvPr id="30" name="Text 28"/>
          <p:cNvSpPr txBox="1"/>
          <p:nvPr/>
        </p:nvSpPr>
        <p:spPr>
          <a:xfrm>
            <a:off x="6756197" y="3666744"/>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10.6</a:t>
            </a:r>
            <a:endParaRPr lang="en-US" sz="1300" dirty="0"/>
          </a:p>
        </p:txBody>
      </p:sp>
      <p:sp>
        <p:nvSpPr>
          <p:cNvPr id="31" name="Text 29"/>
          <p:cNvSpPr txBox="1"/>
          <p:nvPr/>
        </p:nvSpPr>
        <p:spPr>
          <a:xfrm>
            <a:off x="4521098" y="4187952"/>
            <a:ext cx="2143658" cy="457200"/>
          </a:xfrm>
          <a:prstGeom prst="rect">
            <a:avLst/>
          </a:prstGeom>
          <a:noFill/>
          <a:ln/>
        </p:spPr>
        <p:txBody>
          <a:bodyPr wrap="square" lIns="0" tIns="0" rIns="0" bIns="0" rtlCol="0" anchor="ctr"/>
          <a:lstStyle/>
          <a:p>
            <a:pPr indent="0" marL="0">
              <a:buNone/>
            </a:pPr>
            <a:r>
              <a:rPr lang="en-US" sz="1500" dirty="0">
                <a:solidFill>
                  <a:schemeClr val="tx1"/>
                </a:solidFill>
              </a:rPr>
              <a:t>J</a:t>
            </a:r>
            <a:endParaRPr lang="en-US" sz="1500" dirty="0"/>
          </a:p>
        </p:txBody>
      </p:sp>
      <p:sp>
        <p:nvSpPr>
          <p:cNvPr id="32" name="chip 8.24"/>
          <p:cNvSpPr/>
          <p:nvPr/>
        </p:nvSpPr>
        <p:spPr>
          <a:xfrm>
            <a:off x="6756197" y="4233672"/>
            <a:ext cx="914400" cy="384048"/>
          </a:xfrm>
          <a:prstGeom prst="roundRect">
            <a:avLst>
              <a:gd name="adj" fmla="val 19048"/>
            </a:avLst>
          </a:prstGeom>
          <a:solidFill>
            <a:srgbClr val="FEE08B"/>
          </a:solidFill>
          <a:ln w="12700">
            <a:solidFill>
              <a:srgbClr val="FEE08B"/>
            </a:solidFill>
            <a:prstDash val="solid"/>
          </a:ln>
        </p:spPr>
      </p:sp>
      <p:sp>
        <p:nvSpPr>
          <p:cNvPr id="33" name="Text 31"/>
          <p:cNvSpPr txBox="1"/>
          <p:nvPr/>
        </p:nvSpPr>
        <p:spPr>
          <a:xfrm>
            <a:off x="6756197" y="4233672"/>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8.24</a:t>
            </a:r>
            <a:endParaRPr lang="en-US" sz="1300" dirty="0"/>
          </a:p>
        </p:txBody>
      </p:sp>
      <p:sp>
        <p:nvSpPr>
          <p:cNvPr id="34" name="column Genuinely post-2019"/>
          <p:cNvSpPr/>
          <p:nvPr/>
        </p:nvSpPr>
        <p:spPr>
          <a:xfrm>
            <a:off x="8127797" y="1234440"/>
            <a:ext cx="3515258" cy="3657600"/>
          </a:xfrm>
          <a:prstGeom prst="roundRect">
            <a:avLst>
              <a:gd name="adj" fmla="val 2601"/>
            </a:avLst>
          </a:prstGeom>
          <a:solidFill>
            <a:schemeClr val="bg2"/>
          </a:solidFill>
          <a:ln w="12700">
            <a:solidFill>
              <a:schemeClr val="bg2"/>
            </a:solidFill>
            <a:prstDash val="solid"/>
          </a:ln>
        </p:spPr>
      </p:sp>
      <p:sp>
        <p:nvSpPr>
          <p:cNvPr id="35" name="Text 33"/>
          <p:cNvSpPr txBox="1"/>
          <p:nvPr/>
        </p:nvSpPr>
        <p:spPr>
          <a:xfrm>
            <a:off x="8310677" y="1371600"/>
            <a:ext cx="3149498" cy="41148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Genuinely post-2019</a:t>
            </a:r>
            <a:endParaRPr lang="en-US" sz="1700" dirty="0"/>
          </a:p>
        </p:txBody>
      </p:sp>
      <p:sp>
        <p:nvSpPr>
          <p:cNvPr id="36" name="Text 34"/>
          <p:cNvSpPr txBox="1"/>
          <p:nvPr/>
        </p:nvSpPr>
        <p:spPr>
          <a:xfrm>
            <a:off x="8310677" y="1920240"/>
            <a:ext cx="2143658" cy="457200"/>
          </a:xfrm>
          <a:prstGeom prst="rect">
            <a:avLst/>
          </a:prstGeom>
          <a:noFill/>
          <a:ln/>
        </p:spPr>
        <p:txBody>
          <a:bodyPr wrap="square" lIns="0" tIns="0" rIns="0" bIns="0" rtlCol="0" anchor="ctr"/>
          <a:lstStyle/>
          <a:p>
            <a:pPr indent="0" marL="0">
              <a:buNone/>
            </a:pPr>
            <a:r>
              <a:rPr lang="en-US" sz="1500" dirty="0">
                <a:solidFill>
                  <a:schemeClr val="tx1"/>
                </a:solidFill>
              </a:rPr>
              <a:t>Deno (2020)</a:t>
            </a:r>
            <a:endParaRPr lang="en-US" sz="1500" dirty="0"/>
          </a:p>
        </p:txBody>
      </p:sp>
      <p:sp>
        <p:nvSpPr>
          <p:cNvPr id="37" name="chip 24.4"/>
          <p:cNvSpPr/>
          <p:nvPr/>
        </p:nvSpPr>
        <p:spPr>
          <a:xfrm>
            <a:off x="10545775" y="1965960"/>
            <a:ext cx="914400" cy="384048"/>
          </a:xfrm>
          <a:prstGeom prst="roundRect">
            <a:avLst>
              <a:gd name="adj" fmla="val 19048"/>
            </a:avLst>
          </a:prstGeom>
          <a:solidFill>
            <a:srgbClr val="FDAE61"/>
          </a:solidFill>
          <a:ln w="12700">
            <a:solidFill>
              <a:srgbClr val="FDAE61"/>
            </a:solidFill>
            <a:prstDash val="solid"/>
          </a:ln>
        </p:spPr>
      </p:sp>
      <p:sp>
        <p:nvSpPr>
          <p:cNvPr id="38" name="Text 36"/>
          <p:cNvSpPr txBox="1"/>
          <p:nvPr/>
        </p:nvSpPr>
        <p:spPr>
          <a:xfrm>
            <a:off x="10545775" y="1965960"/>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24.4</a:t>
            </a:r>
            <a:endParaRPr lang="en-US" sz="1300" dirty="0"/>
          </a:p>
        </p:txBody>
      </p:sp>
      <p:sp>
        <p:nvSpPr>
          <p:cNvPr id="39" name="Text 37"/>
          <p:cNvSpPr txBox="1"/>
          <p:nvPr/>
        </p:nvSpPr>
        <p:spPr>
          <a:xfrm>
            <a:off x="8310677" y="2487168"/>
            <a:ext cx="2143658" cy="457200"/>
          </a:xfrm>
          <a:prstGeom prst="rect">
            <a:avLst/>
          </a:prstGeom>
          <a:noFill/>
          <a:ln/>
        </p:spPr>
        <p:txBody>
          <a:bodyPr wrap="square" lIns="0" tIns="0" rIns="0" bIns="0" rtlCol="0" anchor="ctr"/>
          <a:lstStyle/>
          <a:p>
            <a:pPr indent="0" marL="0">
              <a:buNone/>
            </a:pPr>
            <a:r>
              <a:rPr lang="en-US" sz="1500" dirty="0">
                <a:solidFill>
                  <a:schemeClr val="tx1"/>
                </a:solidFill>
              </a:rPr>
              <a:t>Ruby YJIT (2021)</a:t>
            </a:r>
            <a:endParaRPr lang="en-US" sz="1500" dirty="0"/>
          </a:p>
        </p:txBody>
      </p:sp>
      <p:sp>
        <p:nvSpPr>
          <p:cNvPr id="40" name="chip 284"/>
          <p:cNvSpPr/>
          <p:nvPr/>
        </p:nvSpPr>
        <p:spPr>
          <a:xfrm>
            <a:off x="10545775" y="2532888"/>
            <a:ext cx="914400" cy="384048"/>
          </a:xfrm>
          <a:prstGeom prst="roundRect">
            <a:avLst>
              <a:gd name="adj" fmla="val 19048"/>
            </a:avLst>
          </a:prstGeom>
          <a:solidFill>
            <a:srgbClr val="F46D43"/>
          </a:solidFill>
          <a:ln w="12700">
            <a:solidFill>
              <a:srgbClr val="F46D43"/>
            </a:solidFill>
            <a:prstDash val="solid"/>
          </a:ln>
        </p:spPr>
      </p:sp>
      <p:sp>
        <p:nvSpPr>
          <p:cNvPr id="41" name="Text 39"/>
          <p:cNvSpPr txBox="1"/>
          <p:nvPr/>
        </p:nvSpPr>
        <p:spPr>
          <a:xfrm>
            <a:off x="10545775" y="2532888"/>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284</a:t>
            </a:r>
            <a:endParaRPr lang="en-US" sz="1300" dirty="0"/>
          </a:p>
        </p:txBody>
      </p:sp>
      <p:sp>
        <p:nvSpPr>
          <p:cNvPr id="42" name="Text 40"/>
          <p:cNvSpPr txBox="1"/>
          <p:nvPr/>
        </p:nvSpPr>
        <p:spPr>
          <a:xfrm>
            <a:off x="8310677" y="3054096"/>
            <a:ext cx="2143658" cy="457200"/>
          </a:xfrm>
          <a:prstGeom prst="rect">
            <a:avLst/>
          </a:prstGeom>
          <a:noFill/>
          <a:ln/>
        </p:spPr>
        <p:txBody>
          <a:bodyPr wrap="square" lIns="0" tIns="0" rIns="0" bIns="0" rtlCol="0" anchor="ctr"/>
          <a:lstStyle/>
          <a:p>
            <a:pPr indent="0" marL="0">
              <a:buNone/>
            </a:pPr>
            <a:r>
              <a:rPr lang="en-US" sz="1500" dirty="0">
                <a:solidFill>
                  <a:schemeClr val="tx1"/>
                </a:solidFill>
              </a:rPr>
              <a:t>Bun (2023)</a:t>
            </a:r>
            <a:endParaRPr lang="en-US" sz="1500" dirty="0"/>
          </a:p>
        </p:txBody>
      </p:sp>
      <p:sp>
        <p:nvSpPr>
          <p:cNvPr id="43" name="chip 12.3"/>
          <p:cNvSpPr/>
          <p:nvPr/>
        </p:nvSpPr>
        <p:spPr>
          <a:xfrm>
            <a:off x="10545775" y="3099816"/>
            <a:ext cx="914400" cy="384048"/>
          </a:xfrm>
          <a:prstGeom prst="roundRect">
            <a:avLst>
              <a:gd name="adj" fmla="val 19048"/>
            </a:avLst>
          </a:prstGeom>
          <a:solidFill>
            <a:srgbClr val="FEE08B"/>
          </a:solidFill>
          <a:ln w="12700">
            <a:solidFill>
              <a:srgbClr val="FEE08B"/>
            </a:solidFill>
            <a:prstDash val="solid"/>
          </a:ln>
        </p:spPr>
      </p:sp>
      <p:sp>
        <p:nvSpPr>
          <p:cNvPr id="44" name="Text 42"/>
          <p:cNvSpPr txBox="1"/>
          <p:nvPr/>
        </p:nvSpPr>
        <p:spPr>
          <a:xfrm>
            <a:off x="10545775" y="3099816"/>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12.3</a:t>
            </a:r>
            <a:endParaRPr lang="en-US" sz="1300" dirty="0"/>
          </a:p>
        </p:txBody>
      </p:sp>
      <p:sp>
        <p:nvSpPr>
          <p:cNvPr id="45" name="Text 43"/>
          <p:cNvSpPr txBox="1"/>
          <p:nvPr/>
        </p:nvSpPr>
        <p:spPr>
          <a:xfrm>
            <a:off x="8310677" y="3621024"/>
            <a:ext cx="2143658" cy="457200"/>
          </a:xfrm>
          <a:prstGeom prst="rect">
            <a:avLst/>
          </a:prstGeom>
          <a:noFill/>
          <a:ln/>
        </p:spPr>
        <p:txBody>
          <a:bodyPr wrap="square" lIns="0" tIns="0" rIns="0" bIns="0" rtlCol="0" anchor="ctr"/>
          <a:lstStyle/>
          <a:p>
            <a:pPr indent="0" marL="0">
              <a:buNone/>
            </a:pPr>
            <a:r>
              <a:rPr lang="en-US" sz="1500" dirty="0">
                <a:solidFill>
                  <a:schemeClr val="tx1"/>
                </a:solidFill>
              </a:rPr>
              <a:t>.NET native AOT (2023)</a:t>
            </a:r>
            <a:endParaRPr lang="en-US" sz="1500" dirty="0"/>
          </a:p>
        </p:txBody>
      </p:sp>
      <p:sp>
        <p:nvSpPr>
          <p:cNvPr id="46" name="chip 5.39"/>
          <p:cNvSpPr/>
          <p:nvPr/>
        </p:nvSpPr>
        <p:spPr>
          <a:xfrm>
            <a:off x="10545775" y="3666744"/>
            <a:ext cx="914400" cy="384048"/>
          </a:xfrm>
          <a:prstGeom prst="roundRect">
            <a:avLst>
              <a:gd name="adj" fmla="val 19048"/>
            </a:avLst>
          </a:prstGeom>
          <a:solidFill>
            <a:srgbClr val="A6D96A"/>
          </a:solidFill>
          <a:ln w="12700">
            <a:solidFill>
              <a:srgbClr val="A6D96A"/>
            </a:solidFill>
            <a:prstDash val="solid"/>
          </a:ln>
        </p:spPr>
      </p:sp>
      <p:sp>
        <p:nvSpPr>
          <p:cNvPr id="47" name="Text 45"/>
          <p:cNvSpPr txBox="1"/>
          <p:nvPr/>
        </p:nvSpPr>
        <p:spPr>
          <a:xfrm>
            <a:off x="10545775" y="3666744"/>
            <a:ext cx="914400" cy="384048"/>
          </a:xfrm>
          <a:prstGeom prst="rect">
            <a:avLst/>
          </a:prstGeom>
          <a:noFill/>
          <a:ln/>
        </p:spPr>
        <p:txBody>
          <a:bodyPr wrap="square" lIns="0" tIns="0" rIns="0" bIns="0" rtlCol="0" anchor="ctr"/>
          <a:lstStyle/>
          <a:p>
            <a:pPr algn="ctr" indent="0" marL="0">
              <a:buNone/>
            </a:pPr>
            <a:r>
              <a:rPr lang="en-US" sz="1300" b="1" dirty="0">
                <a:solidFill>
                  <a:srgbClr val="1B1F2B"/>
                </a:solidFill>
              </a:rPr>
              <a:t>5.39</a:t>
            </a:r>
            <a:endParaRPr lang="en-US" sz="1300" dirty="0"/>
          </a:p>
        </p:txBody>
      </p:sp>
      <p:sp>
        <p:nvSpPr>
          <p:cNvPr id="48" name="Text 46"/>
          <p:cNvSpPr txBox="1"/>
          <p:nvPr/>
        </p:nvSpPr>
        <p:spPr>
          <a:xfrm>
            <a:off x="548640" y="5120640"/>
            <a:ext cx="11094415" cy="822960"/>
          </a:xfrm>
          <a:prstGeom prst="rect">
            <a:avLst/>
          </a:prstGeom>
          <a:noFill/>
          <a:ln/>
        </p:spPr>
        <p:txBody>
          <a:bodyPr wrap="square" lIns="0" tIns="0" rIns="0" bIns="0" rtlCol="0" anchor="t"/>
          <a:lstStyle/>
          <a:p>
            <a:pPr indent="0" marL="0">
              <a:buNone/>
            </a:pPr>
            <a:r>
              <a:rPr lang="en-US" sz="1700" b="1" dirty="0">
                <a:solidFill>
                  <a:schemeClr val="tx2"/>
                </a:solidFill>
              </a:rPr>
              <a:t>LuaJIT at 7.59 beats safe Rust -O3 (12.0) and Swift -O (18.1). </a:t>
            </a:r>
            <a:pPr indent="0" marL="0">
              <a:buNone/>
            </a:pPr>
            <a:r>
              <a:rPr lang="en-US" sz="1700" dirty="0">
                <a:solidFill>
                  <a:schemeClr val="tx1"/>
                </a:solidFill>
              </a:rPr>
              <a:t>Bun is about 2× Node. Julia runs the same loop shape as Python's list loop at 1.17 against 644.</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Three small surprises</a:t>
            </a:r>
            <a:endParaRPr lang="en-US" sz="3200" dirty="0"/>
          </a:p>
        </p:txBody>
      </p:sp>
      <p:sp>
        <p:nvSpPr>
          <p:cNvPr id="3" name="surprise PyPy + numpy"/>
          <p:cNvSpPr/>
          <p:nvPr/>
        </p:nvSpPr>
        <p:spPr>
          <a:xfrm>
            <a:off x="548640" y="1234440"/>
            <a:ext cx="3515258" cy="4114800"/>
          </a:xfrm>
          <a:prstGeom prst="roundRect">
            <a:avLst>
              <a:gd name="adj" fmla="val 2601"/>
            </a:avLst>
          </a:prstGeom>
          <a:solidFill>
            <a:schemeClr val="bg2"/>
          </a:solidFill>
          <a:ln w="12700">
            <a:solidFill>
              <a:schemeClr val="bg2"/>
            </a:solidFill>
            <a:prstDash val="solid"/>
          </a:ln>
        </p:spPr>
      </p:sp>
      <p:sp>
        <p:nvSpPr>
          <p:cNvPr id="4" name="Text 2"/>
          <p:cNvSpPr txBox="1"/>
          <p:nvPr/>
        </p:nvSpPr>
        <p:spPr>
          <a:xfrm>
            <a:off x="777240" y="1417320"/>
            <a:ext cx="3058058" cy="45720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1. PyPy + numpy</a:t>
            </a:r>
            <a:endParaRPr lang="en-US" sz="2000" dirty="0"/>
          </a:p>
        </p:txBody>
      </p:sp>
      <p:sp>
        <p:nvSpPr>
          <p:cNvPr id="5" name="chip 22,015"/>
          <p:cNvSpPr/>
          <p:nvPr/>
        </p:nvSpPr>
        <p:spPr>
          <a:xfrm>
            <a:off x="777240" y="1965960"/>
            <a:ext cx="3058058" cy="640080"/>
          </a:xfrm>
          <a:prstGeom prst="roundRect">
            <a:avLst>
              <a:gd name="adj" fmla="val 11429"/>
            </a:avLst>
          </a:prstGeom>
          <a:solidFill>
            <a:srgbClr val="7A0177"/>
          </a:solidFill>
          <a:ln w="12700">
            <a:solidFill>
              <a:srgbClr val="7A0177"/>
            </a:solidFill>
            <a:prstDash val="solid"/>
          </a:ln>
        </p:spPr>
      </p:sp>
      <p:sp>
        <p:nvSpPr>
          <p:cNvPr id="6" name="Text 4"/>
          <p:cNvSpPr txBox="1"/>
          <p:nvPr/>
        </p:nvSpPr>
        <p:spPr>
          <a:xfrm>
            <a:off x="777240" y="1965960"/>
            <a:ext cx="3058058" cy="640080"/>
          </a:xfrm>
          <a:prstGeom prst="rect">
            <a:avLst/>
          </a:prstGeom>
          <a:noFill/>
          <a:ln/>
        </p:spPr>
        <p:txBody>
          <a:bodyPr wrap="square" lIns="0" tIns="0" rIns="0" bIns="0" rtlCol="0" anchor="ctr"/>
          <a:lstStyle/>
          <a:p>
            <a:pPr algn="ctr" indent="0" marL="0">
              <a:buNone/>
            </a:pPr>
            <a:r>
              <a:rPr lang="en-US" sz="2400" b="1" dirty="0">
                <a:solidFill>
                  <a:srgbClr val="FFFFFF"/>
                </a:solidFill>
              </a:rPr>
              <a:t>22,015</a:t>
            </a:r>
            <a:endParaRPr lang="en-US" sz="2400" dirty="0"/>
          </a:p>
        </p:txBody>
      </p:sp>
      <p:pic>
        <p:nvPicPr>
          <p:cNvPr id="7" name="oops photo" descr="1895 photograph of a steam locomotive that overran Gare Montparnasse and crashed nose-down into the street">    </p:cNvPr>
          <p:cNvPicPr>
            <a:picLocks noChangeAspect="1"/>
          </p:cNvPicPr>
          <p:nvPr/>
        </p:nvPicPr>
        <p:blipFill>
          <a:blip r:embed="rId1"/>
          <a:srcRect l="0" r="0" t="42000" b="9410"/>
          <a:stretch/>
        </p:blipFill>
        <p:spPr>
          <a:xfrm>
            <a:off x="777240" y="2743200"/>
            <a:ext cx="3058058" cy="1783080"/>
          </a:xfrm>
          <a:prstGeom prst="rect">
            <a:avLst/>
          </a:prstGeom>
        </p:spPr>
      </p:pic>
      <p:sp>
        <p:nvSpPr>
          <p:cNvPr id="8" name="meme top"/>
          <p:cNvSpPr txBox="1"/>
          <p:nvPr/>
        </p:nvSpPr>
        <p:spPr>
          <a:xfrm>
            <a:off x="777240" y="2743200"/>
            <a:ext cx="3058058" cy="384048"/>
          </a:xfrm>
          <a:prstGeom prst="rect">
            <a:avLst/>
          </a:prstGeom>
          <a:noFill/>
          <a:ln/>
        </p:spPr>
        <p:txBody>
          <a:bodyPr wrap="square" lIns="508" tIns="508" rIns="508" bIns="508" rtlCol="0" anchor="ctr"/>
          <a:lstStyle/>
          <a:p>
            <a:pPr algn="ctr" indent="0" marL="0">
              <a:buNone/>
            </a:pPr>
            <a:r>
              <a:rPr lang="en-US" sz="1700" dirty="0">
                <a:ln w="15875">
                  <a:solidFill>
                    <a:srgbClr val="000000"/>
                  </a:solidFill>
                </a:ln>
                <a:solidFill>
                  <a:srgbClr val="FFFFFF"/>
                </a:solidFill>
                <a:latin typeface="Impact" pitchFamily="34" charset="0"/>
                <a:ea typeface="Impact" pitchFamily="34" charset="-122"/>
                <a:cs typeface="Impact" pitchFamily="34" charset="-120"/>
              </a:rPr>
              <a:t>FAST + FAST ≠ FASTER</a:t>
            </a:r>
            <a:endParaRPr lang="en-US" sz="1700" dirty="0"/>
          </a:p>
        </p:txBody>
      </p:sp>
      <p:sp>
        <p:nvSpPr>
          <p:cNvPr id="9" name="meme bottom"/>
          <p:cNvSpPr txBox="1"/>
          <p:nvPr/>
        </p:nvSpPr>
        <p:spPr>
          <a:xfrm>
            <a:off x="777240" y="4142232"/>
            <a:ext cx="3058058" cy="384048"/>
          </a:xfrm>
          <a:prstGeom prst="rect">
            <a:avLst/>
          </a:prstGeom>
          <a:noFill/>
          <a:ln/>
        </p:spPr>
        <p:txBody>
          <a:bodyPr wrap="square" lIns="508" tIns="508" rIns="508" bIns="508" rtlCol="0" anchor="ctr"/>
          <a:lstStyle/>
          <a:p>
            <a:pPr algn="ctr" indent="0" marL="0">
              <a:buNone/>
            </a:pPr>
            <a:r>
              <a:rPr lang="en-US" sz="1700" dirty="0">
                <a:ln w="15875">
                  <a:solidFill>
                    <a:srgbClr val="000000"/>
                  </a:solidFill>
                </a:ln>
                <a:solidFill>
                  <a:srgbClr val="FFFFFF"/>
                </a:solidFill>
                <a:latin typeface="Impact" pitchFamily="34" charset="0"/>
                <a:ea typeface="Impact" pitchFamily="34" charset="-122"/>
                <a:cs typeface="Impact" pitchFamily="34" charset="-120"/>
              </a:rPr>
              <a:t>609× SLOWER THAN PYPY ALONE</a:t>
            </a:r>
            <a:endParaRPr lang="en-US" sz="1700" dirty="0"/>
          </a:p>
        </p:txBody>
      </p:sp>
      <p:sp>
        <p:nvSpPr>
          <p:cNvPr id="10" name="Text 7"/>
          <p:cNvSpPr txBox="1"/>
          <p:nvPr/>
        </p:nvSpPr>
        <p:spPr>
          <a:xfrm>
            <a:off x="777240" y="4636008"/>
            <a:ext cx="3058058" cy="548640"/>
          </a:xfrm>
          <a:prstGeom prst="rect">
            <a:avLst/>
          </a:prstGeom>
          <a:noFill/>
          <a:ln/>
        </p:spPr>
        <p:txBody>
          <a:bodyPr wrap="square" lIns="0" tIns="0" rIns="0" bIns="0" rtlCol="0" anchor="t"/>
          <a:lstStyle/>
          <a:p>
            <a:pPr indent="0" marL="0">
              <a:buNone/>
            </a:pPr>
            <a:r>
              <a:rPr lang="en-US" sz="1500" dirty="0">
                <a:solidFill>
                  <a:schemeClr val="tx1"/>
                </a:solidFill>
              </a:rPr>
              <a:t>Also 7.6× slower than CPython + numpy. Use one or the other.</a:t>
            </a:r>
            <a:endParaRPr lang="en-US" sz="1500" dirty="0"/>
          </a:p>
        </p:txBody>
      </p:sp>
      <p:sp>
        <p:nvSpPr>
          <p:cNvPr id="11" name="Text 8"/>
          <p:cNvSpPr txBox="1"/>
          <p:nvPr/>
        </p:nvSpPr>
        <p:spPr>
          <a:xfrm>
            <a:off x="777240" y="5093208"/>
            <a:ext cx="3058058" cy="201168"/>
          </a:xfrm>
          <a:prstGeom prst="rect">
            <a:avLst/>
          </a:prstGeom>
          <a:noFill/>
          <a:ln/>
        </p:spPr>
        <p:txBody>
          <a:bodyPr wrap="square" lIns="0" tIns="0" rIns="0" bIns="0" rtlCol="0" anchor="t"/>
          <a:lstStyle/>
          <a:p>
            <a:pPr indent="0" marL="0">
              <a:buNone/>
            </a:pPr>
            <a:r>
              <a:rPr lang="en-US" sz="900" i="1" dirty="0">
                <a:solidFill>
                  <a:srgbClr val="5A6275"/>
                </a:solidFill>
              </a:rPr>
              <a:t>Photo: Gare Montparnasse, 1895 (public domain)</a:t>
            </a:r>
            <a:endParaRPr lang="en-US" sz="900" dirty="0"/>
          </a:p>
        </p:txBody>
      </p:sp>
      <p:sp>
        <p:nvSpPr>
          <p:cNvPr id="12" name="surprise PDL element lookup"/>
          <p:cNvSpPr/>
          <p:nvPr/>
        </p:nvSpPr>
        <p:spPr>
          <a:xfrm>
            <a:off x="4338218" y="1234440"/>
            <a:ext cx="3515258" cy="4114800"/>
          </a:xfrm>
          <a:prstGeom prst="roundRect">
            <a:avLst>
              <a:gd name="adj" fmla="val 2601"/>
            </a:avLst>
          </a:prstGeom>
          <a:solidFill>
            <a:schemeClr val="bg2"/>
          </a:solidFill>
          <a:ln w="12700">
            <a:solidFill>
              <a:schemeClr val="bg2"/>
            </a:solidFill>
            <a:prstDash val="solid"/>
          </a:ln>
        </p:spPr>
      </p:sp>
      <p:sp>
        <p:nvSpPr>
          <p:cNvPr id="13" name="Text 10"/>
          <p:cNvSpPr txBox="1"/>
          <p:nvPr/>
        </p:nvSpPr>
        <p:spPr>
          <a:xfrm>
            <a:off x="4566818" y="1417320"/>
            <a:ext cx="3058058" cy="45720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2. PDL element lookup</a:t>
            </a:r>
            <a:endParaRPr lang="en-US" sz="2000" dirty="0"/>
          </a:p>
        </p:txBody>
      </p:sp>
      <p:sp>
        <p:nvSpPr>
          <p:cNvPr id="14" name="chip 103,570 → 9,207"/>
          <p:cNvSpPr/>
          <p:nvPr/>
        </p:nvSpPr>
        <p:spPr>
          <a:xfrm>
            <a:off x="4566818" y="1965960"/>
            <a:ext cx="3058058" cy="640080"/>
          </a:xfrm>
          <a:prstGeom prst="roundRect">
            <a:avLst>
              <a:gd name="adj" fmla="val 11429"/>
            </a:avLst>
          </a:prstGeom>
          <a:solidFill>
            <a:srgbClr val="D73027"/>
          </a:solidFill>
          <a:ln w="12700">
            <a:solidFill>
              <a:srgbClr val="D73027"/>
            </a:solidFill>
            <a:prstDash val="solid"/>
          </a:ln>
        </p:spPr>
      </p:sp>
      <p:sp>
        <p:nvSpPr>
          <p:cNvPr id="15" name="Text 12"/>
          <p:cNvSpPr txBox="1"/>
          <p:nvPr/>
        </p:nvSpPr>
        <p:spPr>
          <a:xfrm>
            <a:off x="4566818" y="1965960"/>
            <a:ext cx="3058058" cy="640080"/>
          </a:xfrm>
          <a:prstGeom prst="rect">
            <a:avLst/>
          </a:prstGeom>
          <a:noFill/>
          <a:ln/>
        </p:spPr>
        <p:txBody>
          <a:bodyPr wrap="square" lIns="0" tIns="0" rIns="0" bIns="0" rtlCol="0" anchor="ctr"/>
          <a:lstStyle/>
          <a:p>
            <a:pPr algn="ctr" indent="0" marL="0">
              <a:buNone/>
            </a:pPr>
            <a:r>
              <a:rPr lang="en-US" sz="2400" b="1" dirty="0">
                <a:solidFill>
                  <a:srgbClr val="FFFFFF"/>
                </a:solidFill>
              </a:rPr>
              <a:t>103,570 → 9,207</a:t>
            </a:r>
            <a:endParaRPr lang="en-US" sz="2400" dirty="0"/>
          </a:p>
        </p:txBody>
      </p:sp>
      <p:sp>
        <p:nvSpPr>
          <p:cNvPr id="16" name="Text 13"/>
          <p:cNvSpPr txBox="1"/>
          <p:nvPr/>
        </p:nvSpPr>
        <p:spPr>
          <a:xfrm>
            <a:off x="4566818" y="2788920"/>
            <a:ext cx="3058058" cy="2468880"/>
          </a:xfrm>
          <a:prstGeom prst="rect">
            <a:avLst/>
          </a:prstGeom>
          <a:noFill/>
          <a:ln/>
        </p:spPr>
        <p:txBody>
          <a:bodyPr wrap="square" lIns="0" tIns="0" rIns="0" bIns="0" rtlCol="0" anchor="t"/>
          <a:lstStyle/>
          <a:p>
            <a:pPr indent="0" marL="0">
              <a:buNone/>
            </a:pPr>
            <a:r>
              <a:rPr lang="en-US" sz="1700" dirty="0">
                <a:solidFill>
                  <a:schemeClr val="tx1"/>
                </a:solidFill>
              </a:rPr>
              <a:t>-&gt;at / -&gt;set instead of -&gt;slice: about 11× faster. Flagged by Keith in 2019, fixed in 2026. The LLM ran the old code and reported “PDL is just slow”.</a:t>
            </a:r>
            <a:endParaRPr lang="en-US" sz="1700" dirty="0"/>
          </a:p>
        </p:txBody>
      </p:sp>
      <p:sp>
        <p:nvSpPr>
          <p:cNvPr id="17" name="surprise Lisp type declarations"/>
          <p:cNvSpPr/>
          <p:nvPr/>
        </p:nvSpPr>
        <p:spPr>
          <a:xfrm>
            <a:off x="8127797" y="1234440"/>
            <a:ext cx="3515258" cy="4114800"/>
          </a:xfrm>
          <a:prstGeom prst="roundRect">
            <a:avLst>
              <a:gd name="adj" fmla="val 2601"/>
            </a:avLst>
          </a:prstGeom>
          <a:solidFill>
            <a:schemeClr val="bg2"/>
          </a:solidFill>
          <a:ln w="12700">
            <a:solidFill>
              <a:schemeClr val="bg2"/>
            </a:solidFill>
            <a:prstDash val="solid"/>
          </a:ln>
        </p:spPr>
      </p:sp>
      <p:sp>
        <p:nvSpPr>
          <p:cNvPr id="18" name="Text 15"/>
          <p:cNvSpPr txBox="1"/>
          <p:nvPr/>
        </p:nvSpPr>
        <p:spPr>
          <a:xfrm>
            <a:off x="8356397" y="1417320"/>
            <a:ext cx="3058058" cy="45720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3. Lisp type declarations</a:t>
            </a:r>
            <a:endParaRPr lang="en-US" sz="2000" dirty="0"/>
          </a:p>
        </p:txBody>
      </p:sp>
      <p:sp>
        <p:nvSpPr>
          <p:cNvPr id="19" name="chip 167 → 10.6"/>
          <p:cNvSpPr/>
          <p:nvPr/>
        </p:nvSpPr>
        <p:spPr>
          <a:xfrm>
            <a:off x="8356397" y="1965960"/>
            <a:ext cx="3058058" cy="640080"/>
          </a:xfrm>
          <a:prstGeom prst="roundRect">
            <a:avLst>
              <a:gd name="adj" fmla="val 11429"/>
            </a:avLst>
          </a:prstGeom>
          <a:solidFill>
            <a:srgbClr val="FEE08B"/>
          </a:solidFill>
          <a:ln w="12700">
            <a:solidFill>
              <a:srgbClr val="FEE08B"/>
            </a:solidFill>
            <a:prstDash val="solid"/>
          </a:ln>
        </p:spPr>
      </p:sp>
      <p:sp>
        <p:nvSpPr>
          <p:cNvPr id="20" name="Text 17"/>
          <p:cNvSpPr txBox="1"/>
          <p:nvPr/>
        </p:nvSpPr>
        <p:spPr>
          <a:xfrm>
            <a:off x="8356397" y="1965960"/>
            <a:ext cx="3058058" cy="640080"/>
          </a:xfrm>
          <a:prstGeom prst="rect">
            <a:avLst/>
          </a:prstGeom>
          <a:noFill/>
          <a:ln/>
        </p:spPr>
        <p:txBody>
          <a:bodyPr wrap="square" lIns="0" tIns="0" rIns="0" bIns="0" rtlCol="0" anchor="ctr"/>
          <a:lstStyle/>
          <a:p>
            <a:pPr algn="ctr" indent="0" marL="0">
              <a:buNone/>
            </a:pPr>
            <a:r>
              <a:rPr lang="en-US" sz="2400" b="1" dirty="0">
                <a:solidFill>
                  <a:srgbClr val="1B1F2B"/>
                </a:solidFill>
              </a:rPr>
              <a:t>167 → 10.6</a:t>
            </a:r>
            <a:endParaRPr lang="en-US" sz="2400" dirty="0"/>
          </a:p>
        </p:txBody>
      </p:sp>
      <p:sp>
        <p:nvSpPr>
          <p:cNvPr id="21" name="Text 18"/>
          <p:cNvSpPr txBox="1"/>
          <p:nvPr/>
        </p:nvSpPr>
        <p:spPr>
          <a:xfrm>
            <a:off x="8356397" y="2788920"/>
            <a:ext cx="3058058" cy="2468880"/>
          </a:xfrm>
          <a:prstGeom prst="rect">
            <a:avLst/>
          </a:prstGeom>
          <a:noFill/>
          <a:ln/>
        </p:spPr>
        <p:txBody>
          <a:bodyPr wrap="square" lIns="0" tIns="0" rIns="0" bIns="0" rtlCol="0" anchor="t"/>
          <a:lstStyle/>
          <a:p>
            <a:pPr indent="0" marL="0">
              <a:buNone/>
            </a:pPr>
            <a:r>
              <a:rPr lang="en-US" sz="1700" dirty="0">
                <a:solidFill>
                  <a:schemeClr val="tx1"/>
                </a:solidFill>
              </a:rPr>
              <a:t>Common Lisp, compiled by SBCL (Steel Bank Common Lisp): 15.7× from type declarations alone. Same lesson as numba: give the compiler the types.</a:t>
            </a:r>
            <a:endParaRPr lang="en-US" sz="1700" dirty="0"/>
          </a:p>
        </p:txBody>
      </p:sp>
      <p:sp>
        <p:nvSpPr>
          <p:cNvPr id="22" name="Text 19"/>
          <p:cNvSpPr txBox="1"/>
          <p:nvPr/>
        </p:nvSpPr>
        <p:spPr>
          <a:xfrm>
            <a:off x="548640" y="5486400"/>
            <a:ext cx="11094415"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Each is a choice of configuration or idiom, not of language.</a:t>
            </a:r>
            <a:endParaRPr lang="en-US" sz="2200" dirty="0"/>
          </a:p>
        </p:txBody>
      </p:sp>
      <p:sp>
        <p:nvSpPr>
          <p:cNvPr id="23" name="Text 20"/>
          <p:cNvSpPr txBox="1"/>
          <p:nvPr/>
        </p:nvSpPr>
        <p:spPr>
          <a:xfrm>
            <a:off x="548640" y="5943600"/>
            <a:ext cx="11094415" cy="274320"/>
          </a:xfrm>
          <a:prstGeom prst="rect">
            <a:avLst/>
          </a:prstGeom>
          <a:noFill/>
          <a:ln/>
        </p:spPr>
        <p:txBody>
          <a:bodyPr wrap="square" lIns="0" tIns="0" rIns="0" bIns="0" rtlCol="0" anchor="t"/>
          <a:lstStyle/>
          <a:p>
            <a:pPr algn="ctr" indent="0" marL="0">
              <a:buNone/>
            </a:pPr>
            <a:r>
              <a:rPr lang="en-US" sz="1200" i="1" dirty="0">
                <a:solidFill>
                  <a:srgbClr val="5A6275"/>
                </a:solidFill>
              </a:rPr>
              <a:t>“Element lookup” is what Keith's harness calls “raw”: read and write the array one element at a time, A[iy][ix].</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What the LLM did well</a:t>
            </a:r>
            <a:endParaRPr lang="en-US" sz="3200" dirty="0"/>
          </a:p>
        </p:txBody>
      </p:sp>
      <p:sp>
        <p:nvSpPr>
          <p:cNvPr id="3" name="icon circle Porting at scale"/>
          <p:cNvSpPr/>
          <p:nvPr/>
        </p:nvSpPr>
        <p:spPr>
          <a:xfrm>
            <a:off x="548640" y="1234440"/>
            <a:ext cx="731520" cy="731520"/>
          </a:xfrm>
          <a:prstGeom prst="ellipse">
            <a:avLst/>
          </a:prstGeom>
          <a:solidFill>
            <a:schemeClr val="tx2"/>
          </a:solidFill>
          <a:ln w="12700">
            <a:solidFill>
              <a:schemeClr val="tx2"/>
            </a:solidFill>
            <a:prstDash val="solid"/>
          </a:ln>
        </p:spPr>
      </p:sp>
      <p:pic>
        <p:nvPicPr>
          <p:cNvPr id="4" name="icon Porting at scale" descr="Porting at scale">    </p:cNvPr>
          <p:cNvPicPr>
            <a:picLocks noChangeAspect="1"/>
          </p:cNvPicPr>
          <p:nvPr/>
        </p:nvPicPr>
        <p:blipFill>
          <a:blip r:embed="rId1"/>
          <a:stretch>
            <a:fillRect/>
          </a:stretch>
        </p:blipFill>
        <p:spPr>
          <a:xfrm>
            <a:off x="731520" y="1417320"/>
            <a:ext cx="365760" cy="365760"/>
          </a:xfrm>
          <a:prstGeom prst="rect">
            <a:avLst/>
          </a:prstGeom>
        </p:spPr>
      </p:pic>
      <p:sp>
        <p:nvSpPr>
          <p:cNvPr id="5" name="Text 2"/>
          <p:cNvSpPr txBox="1"/>
          <p:nvPr/>
        </p:nvSpPr>
        <p:spPr>
          <a:xfrm>
            <a:off x="1554480" y="1188720"/>
            <a:ext cx="10088575" cy="960120"/>
          </a:xfrm>
          <a:prstGeom prst="rect">
            <a:avLst/>
          </a:prstGeom>
          <a:noFill/>
          <a:ln/>
        </p:spPr>
        <p:txBody>
          <a:bodyPr wrap="square" lIns="0" tIns="0" rIns="0" bIns="0" rtlCol="0" anchor="t"/>
          <a:lstStyle/>
          <a:p>
            <a:pPr indent="0" marL="0">
              <a:spcAft>
                <a:spcPts val="300"/>
              </a:spcAft>
              <a:buNone/>
            </a:pPr>
            <a:r>
              <a:rPr lang="en-US" sz="1900" b="1" dirty="0">
                <a:solidFill>
                  <a:schemeClr val="tx2"/>
                </a:solidFill>
              </a:rPr>
              <a:t>Porting at scale</a:t>
            </a:r>
            <a:endParaRPr lang="en-US" sz="1900" dirty="0"/>
          </a:p>
          <a:p>
            <a:pPr indent="0" marL="0">
              <a:spcAft>
                <a:spcPts val="300"/>
              </a:spcAft>
              <a:buNone/>
            </a:pPr>
            <a:r>
              <a:rPr lang="en-US" sz="1600" dirty="0">
                <a:solidFill>
                  <a:schemeClr val="tx1"/>
                </a:solidFill>
              </a:rPr>
              <a:t>15 new languages in about four days, each kernel adapted to the language's idioms. J came out in 9 lines, with no hints from me.</a:t>
            </a:r>
            <a:endParaRPr lang="en-US" sz="1900" dirty="0"/>
          </a:p>
        </p:txBody>
      </p:sp>
      <p:sp>
        <p:nvSpPr>
          <p:cNvPr id="6" name="icon circle Environment wrangling"/>
          <p:cNvSpPr/>
          <p:nvPr/>
        </p:nvSpPr>
        <p:spPr>
          <a:xfrm>
            <a:off x="548640" y="2258568"/>
            <a:ext cx="731520" cy="731520"/>
          </a:xfrm>
          <a:prstGeom prst="ellipse">
            <a:avLst/>
          </a:prstGeom>
          <a:solidFill>
            <a:schemeClr val="tx2"/>
          </a:solidFill>
          <a:ln w="12700">
            <a:solidFill>
              <a:schemeClr val="tx2"/>
            </a:solidFill>
            <a:prstDash val="solid"/>
          </a:ln>
        </p:spPr>
      </p:sp>
      <p:pic>
        <p:nvPicPr>
          <p:cNvPr id="7" name="icon Environment wrangling" descr="Environment wrangling">    </p:cNvPr>
          <p:cNvPicPr>
            <a:picLocks noChangeAspect="1"/>
          </p:cNvPicPr>
          <p:nvPr/>
        </p:nvPicPr>
        <p:blipFill>
          <a:blip r:embed="rId2"/>
          <a:stretch>
            <a:fillRect/>
          </a:stretch>
        </p:blipFill>
        <p:spPr>
          <a:xfrm>
            <a:off x="731520" y="2441448"/>
            <a:ext cx="365760" cy="365760"/>
          </a:xfrm>
          <a:prstGeom prst="rect">
            <a:avLst/>
          </a:prstGeom>
        </p:spPr>
      </p:pic>
      <p:sp>
        <p:nvSpPr>
          <p:cNvPr id="8" name="Text 4"/>
          <p:cNvSpPr txBox="1"/>
          <p:nvPr/>
        </p:nvSpPr>
        <p:spPr>
          <a:xfrm>
            <a:off x="1554480" y="2212848"/>
            <a:ext cx="10088575" cy="960120"/>
          </a:xfrm>
          <a:prstGeom prst="rect">
            <a:avLst/>
          </a:prstGeom>
          <a:noFill/>
          <a:ln/>
        </p:spPr>
        <p:txBody>
          <a:bodyPr wrap="square" lIns="0" tIns="0" rIns="0" bIns="0" rtlCol="0" anchor="t"/>
          <a:lstStyle/>
          <a:p>
            <a:pPr indent="0" marL="0">
              <a:spcAft>
                <a:spcPts val="300"/>
              </a:spcAft>
              <a:buNone/>
            </a:pPr>
            <a:r>
              <a:rPr lang="en-US" sz="1900" b="1" dirty="0">
                <a:solidFill>
                  <a:schemeClr val="tx2"/>
                </a:solidFill>
              </a:rPr>
              <a:t>Environment wrangling</a:t>
            </a:r>
            <a:endParaRPr lang="en-US" sz="1900" dirty="0"/>
          </a:p>
          <a:p>
            <a:pPr indent="0" marL="0">
              <a:spcAft>
                <a:spcPts val="300"/>
              </a:spcAft>
              <a:buNone/>
            </a:pPr>
            <a:r>
              <a:rPr lang="en-US" sz="1600" dirty="0">
                <a:solidFill>
                  <a:schemeClr val="tx1"/>
                </a:solidFill>
              </a:rPr>
              <a:t>PyPy's python3 symlink hijacked 7 numpy tests; conda's Octave shipped its own perl and python; GHC and Ruby baked install paths into 235 files.</a:t>
            </a:r>
            <a:endParaRPr lang="en-US" sz="1900" dirty="0"/>
          </a:p>
        </p:txBody>
      </p:sp>
      <p:sp>
        <p:nvSpPr>
          <p:cNvPr id="9" name="icon circle The whole pipeline"/>
          <p:cNvSpPr/>
          <p:nvPr/>
        </p:nvSpPr>
        <p:spPr>
          <a:xfrm>
            <a:off x="548640" y="3282696"/>
            <a:ext cx="731520" cy="731520"/>
          </a:xfrm>
          <a:prstGeom prst="ellipse">
            <a:avLst/>
          </a:prstGeom>
          <a:solidFill>
            <a:schemeClr val="tx2"/>
          </a:solidFill>
          <a:ln w="12700">
            <a:solidFill>
              <a:schemeClr val="tx2"/>
            </a:solidFill>
            <a:prstDash val="solid"/>
          </a:ln>
        </p:spPr>
      </p:sp>
      <p:pic>
        <p:nvPicPr>
          <p:cNvPr id="10" name="icon The whole pipeline" descr="The whole pipeline">    </p:cNvPr>
          <p:cNvPicPr>
            <a:picLocks noChangeAspect="1"/>
          </p:cNvPicPr>
          <p:nvPr/>
        </p:nvPicPr>
        <p:blipFill>
          <a:blip r:embed="rId3"/>
          <a:stretch>
            <a:fillRect/>
          </a:stretch>
        </p:blipFill>
        <p:spPr>
          <a:xfrm>
            <a:off x="731520" y="3465576"/>
            <a:ext cx="365760" cy="365760"/>
          </a:xfrm>
          <a:prstGeom prst="rect">
            <a:avLst/>
          </a:prstGeom>
        </p:spPr>
      </p:pic>
      <p:sp>
        <p:nvSpPr>
          <p:cNvPr id="11" name="Text 6"/>
          <p:cNvSpPr txBox="1"/>
          <p:nvPr/>
        </p:nvSpPr>
        <p:spPr>
          <a:xfrm>
            <a:off x="1554480" y="3236976"/>
            <a:ext cx="10088575" cy="960120"/>
          </a:xfrm>
          <a:prstGeom prst="rect">
            <a:avLst/>
          </a:prstGeom>
          <a:noFill/>
          <a:ln/>
        </p:spPr>
        <p:txBody>
          <a:bodyPr wrap="square" lIns="0" tIns="0" rIns="0" bIns="0" rtlCol="0" anchor="t"/>
          <a:lstStyle/>
          <a:p>
            <a:pPr indent="0" marL="0">
              <a:spcAft>
                <a:spcPts val="300"/>
              </a:spcAft>
              <a:buNone/>
            </a:pPr>
            <a:r>
              <a:rPr lang="en-US" sz="1900" b="1" dirty="0">
                <a:solidFill>
                  <a:schemeClr val="tx2"/>
                </a:solidFill>
              </a:rPr>
              <a:t>The whole pipeline</a:t>
            </a:r>
            <a:endParaRPr lang="en-US" sz="1900" dirty="0"/>
          </a:p>
          <a:p>
            <a:pPr indent="0" marL="0">
              <a:spcAft>
                <a:spcPts val="300"/>
              </a:spcAft>
              <a:buNone/>
            </a:pPr>
            <a:r>
              <a:rPr lang="en-US" sz="1600" dirty="0">
                <a:solidFill>
                  <a:schemeClr val="tx1"/>
                </a:solidFill>
              </a:rPr>
              <a:t>Figures and the 131-row appendix, all regenerated from one frozen log.</a:t>
            </a:r>
            <a:endParaRPr lang="en-US" sz="1900" dirty="0"/>
          </a:p>
        </p:txBody>
      </p:sp>
      <p:sp>
        <p:nvSpPr>
          <p:cNvPr id="12" name="icon circle Decent first drafts"/>
          <p:cNvSpPr/>
          <p:nvPr/>
        </p:nvSpPr>
        <p:spPr>
          <a:xfrm>
            <a:off x="548640" y="4306824"/>
            <a:ext cx="731520" cy="731520"/>
          </a:xfrm>
          <a:prstGeom prst="ellipse">
            <a:avLst/>
          </a:prstGeom>
          <a:solidFill>
            <a:schemeClr val="tx2"/>
          </a:solidFill>
          <a:ln w="12700">
            <a:solidFill>
              <a:schemeClr val="tx2"/>
            </a:solidFill>
            <a:prstDash val="solid"/>
          </a:ln>
        </p:spPr>
      </p:sp>
      <p:pic>
        <p:nvPicPr>
          <p:cNvPr id="13" name="icon Decent first drafts" descr="Decent first drafts">    </p:cNvPr>
          <p:cNvPicPr>
            <a:picLocks noChangeAspect="1"/>
          </p:cNvPicPr>
          <p:nvPr/>
        </p:nvPicPr>
        <p:blipFill>
          <a:blip r:embed="rId4"/>
          <a:stretch>
            <a:fillRect/>
          </a:stretch>
        </p:blipFill>
        <p:spPr>
          <a:xfrm>
            <a:off x="731520" y="4489704"/>
            <a:ext cx="365760" cy="365760"/>
          </a:xfrm>
          <a:prstGeom prst="rect">
            <a:avLst/>
          </a:prstGeom>
        </p:spPr>
      </p:pic>
      <p:sp>
        <p:nvSpPr>
          <p:cNvPr id="14" name="Text 8"/>
          <p:cNvSpPr txBox="1"/>
          <p:nvPr/>
        </p:nvSpPr>
        <p:spPr>
          <a:xfrm>
            <a:off x="1554480" y="4261104"/>
            <a:ext cx="10088575" cy="960120"/>
          </a:xfrm>
          <a:prstGeom prst="rect">
            <a:avLst/>
          </a:prstGeom>
          <a:noFill/>
          <a:ln/>
        </p:spPr>
        <p:txBody>
          <a:bodyPr wrap="square" lIns="0" tIns="0" rIns="0" bIns="0" rtlCol="0" anchor="t"/>
          <a:lstStyle/>
          <a:p>
            <a:pPr indent="0" marL="0">
              <a:spcAft>
                <a:spcPts val="300"/>
              </a:spcAft>
              <a:buNone/>
            </a:pPr>
            <a:r>
              <a:rPr lang="en-US" sz="1900" b="1" dirty="0">
                <a:solidFill>
                  <a:schemeClr val="tx2"/>
                </a:solidFill>
              </a:rPr>
              <a:t>Decent first drafts</a:t>
            </a:r>
            <a:endParaRPr lang="en-US" sz="1900" dirty="0"/>
          </a:p>
          <a:p>
            <a:pPr indent="0" marL="0">
              <a:spcAft>
                <a:spcPts val="300"/>
              </a:spcAft>
              <a:buNone/>
            </a:pPr>
            <a:r>
              <a:rPr lang="en-US" sz="1600" dirty="0">
                <a:solidFill>
                  <a:schemeClr val="tx1"/>
                </a:solidFill>
              </a:rPr>
              <a:t>Of the 21-page report, and of this deck. Not of the abstract: I rewrote that one, as it “would appeal only to an LLM not a human”.</a:t>
            </a:r>
            <a:endParaRPr lang="en-US" sz="1900" dirty="0"/>
          </a:p>
        </p:txBody>
      </p:sp>
      <p:sp>
        <p:nvSpPr>
          <p:cNvPr id="15" name="icon circle Reproducibility"/>
          <p:cNvSpPr/>
          <p:nvPr/>
        </p:nvSpPr>
        <p:spPr>
          <a:xfrm>
            <a:off x="548640" y="5330952"/>
            <a:ext cx="731520" cy="731520"/>
          </a:xfrm>
          <a:prstGeom prst="ellipse">
            <a:avLst/>
          </a:prstGeom>
          <a:solidFill>
            <a:schemeClr val="tx2"/>
          </a:solidFill>
          <a:ln w="12700">
            <a:solidFill>
              <a:schemeClr val="tx2"/>
            </a:solidFill>
            <a:prstDash val="solid"/>
          </a:ln>
        </p:spPr>
      </p:sp>
      <p:pic>
        <p:nvPicPr>
          <p:cNvPr id="16" name="icon Reproducibility" descr="Reproducibility">    </p:cNvPr>
          <p:cNvPicPr>
            <a:picLocks noChangeAspect="1"/>
          </p:cNvPicPr>
          <p:nvPr/>
        </p:nvPicPr>
        <p:blipFill>
          <a:blip r:embed="rId5"/>
          <a:stretch>
            <a:fillRect/>
          </a:stretch>
        </p:blipFill>
        <p:spPr>
          <a:xfrm>
            <a:off x="731520" y="5513832"/>
            <a:ext cx="365760" cy="365760"/>
          </a:xfrm>
          <a:prstGeom prst="rect">
            <a:avLst/>
          </a:prstGeom>
        </p:spPr>
      </p:pic>
      <p:sp>
        <p:nvSpPr>
          <p:cNvPr id="17" name="Text 10"/>
          <p:cNvSpPr txBox="1"/>
          <p:nvPr/>
        </p:nvSpPr>
        <p:spPr>
          <a:xfrm>
            <a:off x="1554480" y="5285232"/>
            <a:ext cx="10088575" cy="960120"/>
          </a:xfrm>
          <a:prstGeom prst="rect">
            <a:avLst/>
          </a:prstGeom>
          <a:noFill/>
          <a:ln/>
        </p:spPr>
        <p:txBody>
          <a:bodyPr wrap="square" lIns="0" tIns="0" rIns="0" bIns="0" rtlCol="0" anchor="t"/>
          <a:lstStyle/>
          <a:p>
            <a:pPr indent="0" marL="0">
              <a:spcAft>
                <a:spcPts val="300"/>
              </a:spcAft>
              <a:buNone/>
            </a:pPr>
            <a:r>
              <a:rPr lang="en-US" sz="1900" b="1" dirty="0">
                <a:solidFill>
                  <a:schemeClr val="tx2"/>
                </a:solidFill>
              </a:rPr>
              <a:t>Reproducibility</a:t>
            </a:r>
            <a:endParaRPr lang="en-US" sz="1900" dirty="0"/>
          </a:p>
          <a:p>
            <a:pPr indent="0" marL="0">
              <a:spcAft>
                <a:spcPts val="300"/>
              </a:spcAft>
              <a:buNone/>
            </a:pPr>
            <a:r>
              <a:rPr lang="en-US" sz="1600" dirty="0">
                <a:solidFill>
                  <a:schemeClr val="tx1"/>
                </a:solidFill>
              </a:rPr>
              <a:t>One script rebuilds every toolchain in 7.5 minutes; a fresh re-run passed 131/131.</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What it didn't do, and the audit loop</a:t>
            </a:r>
            <a:endParaRPr lang="en-US" sz="3200" dirty="0"/>
          </a:p>
        </p:txBody>
      </p:sp>
      <p:sp>
        <p:nvSpPr>
          <p:cNvPr id="3" name="loop arrow 1"/>
          <p:cNvSpPr/>
          <p:nvPr/>
        </p:nvSpPr>
        <p:spPr>
          <a:xfrm>
            <a:off x="3436269" y="2928823"/>
            <a:ext cx="432374" cy="748894"/>
          </a:xfrm>
          <a:prstGeom prst="line">
            <a:avLst/>
          </a:prstGeom>
          <a:noFill/>
          <a:ln w="25400">
            <a:solidFill>
              <a:srgbClr val="5A6275"/>
            </a:solidFill>
            <a:prstDash val="solid"/>
            <a:tailEnd type="triangle"/>
          </a:ln>
        </p:spPr>
      </p:sp>
      <p:sp>
        <p:nvSpPr>
          <p:cNvPr id="4" name="loop arrow 2"/>
          <p:cNvSpPr/>
          <p:nvPr/>
        </p:nvSpPr>
        <p:spPr>
          <a:xfrm flipH="1">
            <a:off x="2447986" y="4640580"/>
            <a:ext cx="864748" cy="0"/>
          </a:xfrm>
          <a:prstGeom prst="line">
            <a:avLst/>
          </a:prstGeom>
          <a:noFill/>
          <a:ln w="25400">
            <a:solidFill>
              <a:srgbClr val="5A6275"/>
            </a:solidFill>
            <a:prstDash val="solid"/>
            <a:tailEnd type="triangle"/>
          </a:ln>
        </p:spPr>
      </p:sp>
      <p:sp>
        <p:nvSpPr>
          <p:cNvPr id="5" name="loop arrow 3"/>
          <p:cNvSpPr/>
          <p:nvPr/>
        </p:nvSpPr>
        <p:spPr>
          <a:xfrm flipV="1">
            <a:off x="1892077" y="2928823"/>
            <a:ext cx="432374" cy="748894"/>
          </a:xfrm>
          <a:prstGeom prst="line">
            <a:avLst/>
          </a:prstGeom>
          <a:noFill/>
          <a:ln w="25400">
            <a:solidFill>
              <a:srgbClr val="5A6275"/>
            </a:solidFill>
            <a:prstDash val="solid"/>
            <a:tailEnd type="triangle"/>
          </a:ln>
        </p:spPr>
      </p:sp>
      <p:sp>
        <p:nvSpPr>
          <p:cNvPr id="6" name="loop node Write or update"/>
          <p:cNvSpPr/>
          <p:nvPr/>
        </p:nvSpPr>
        <p:spPr>
          <a:xfrm>
            <a:off x="1874520" y="1508760"/>
            <a:ext cx="2011680" cy="914400"/>
          </a:xfrm>
          <a:prstGeom prst="roundRect">
            <a:avLst>
              <a:gd name="adj" fmla="val 10000"/>
            </a:avLst>
          </a:prstGeom>
          <a:solidFill>
            <a:schemeClr val="tx2"/>
          </a:solidFill>
          <a:ln w="12700">
            <a:solidFill>
              <a:schemeClr val="tx2"/>
            </a:solidFill>
            <a:prstDash val="solid"/>
          </a:ln>
        </p:spPr>
      </p:sp>
      <p:sp>
        <p:nvSpPr>
          <p:cNvPr id="7" name="Text 5"/>
          <p:cNvSpPr txBox="1"/>
          <p:nvPr/>
        </p:nvSpPr>
        <p:spPr>
          <a:xfrm>
            <a:off x="1874520" y="1508760"/>
            <a:ext cx="2011680" cy="914400"/>
          </a:xfrm>
          <a:prstGeom prst="rect">
            <a:avLst/>
          </a:prstGeom>
          <a:noFill/>
          <a:ln/>
        </p:spPr>
        <p:txBody>
          <a:bodyPr wrap="square" lIns="0" tIns="0" rIns="0" bIns="0" rtlCol="0" anchor="ctr"/>
          <a:lstStyle/>
          <a:p>
            <a:pPr algn="ctr" indent="0" marL="0">
              <a:buNone/>
            </a:pPr>
            <a:r>
              <a:rPr lang="en-US" sz="1600" b="1" dirty="0">
                <a:solidFill>
                  <a:schemeClr val="bg1"/>
                </a:solidFill>
              </a:rPr>
              <a:t>Write or update</a:t>
            </a:r>
            <a:endParaRPr lang="en-US" sz="1600" dirty="0"/>
          </a:p>
          <a:p>
            <a:pPr algn="ctr" indent="0" marL="0">
              <a:buNone/>
            </a:pPr>
            <a:r>
              <a:rPr lang="en-US" sz="1200" dirty="0">
                <a:solidFill>
                  <a:srgbClr val="AEB8CC"/>
                </a:solidFill>
              </a:rPr>
              <a:t>report and figures</a:t>
            </a:r>
            <a:endParaRPr lang="en-US" sz="1600" dirty="0"/>
          </a:p>
        </p:txBody>
      </p:sp>
      <p:sp>
        <p:nvSpPr>
          <p:cNvPr id="8" name="loop node Criticise"/>
          <p:cNvSpPr/>
          <p:nvPr/>
        </p:nvSpPr>
        <p:spPr>
          <a:xfrm>
            <a:off x="3418713" y="4183380"/>
            <a:ext cx="2011680" cy="914400"/>
          </a:xfrm>
          <a:prstGeom prst="roundRect">
            <a:avLst>
              <a:gd name="adj" fmla="val 10000"/>
            </a:avLst>
          </a:prstGeom>
          <a:solidFill>
            <a:schemeClr val="tx2"/>
          </a:solidFill>
          <a:ln w="12700">
            <a:solidFill>
              <a:schemeClr val="tx2"/>
            </a:solidFill>
            <a:prstDash val="solid"/>
          </a:ln>
        </p:spPr>
      </p:sp>
      <p:sp>
        <p:nvSpPr>
          <p:cNvPr id="9" name="Text 7"/>
          <p:cNvSpPr txBox="1"/>
          <p:nvPr/>
        </p:nvSpPr>
        <p:spPr>
          <a:xfrm>
            <a:off x="3418713" y="4183380"/>
            <a:ext cx="2011680" cy="914400"/>
          </a:xfrm>
          <a:prstGeom prst="rect">
            <a:avLst/>
          </a:prstGeom>
          <a:noFill/>
          <a:ln/>
        </p:spPr>
        <p:txBody>
          <a:bodyPr wrap="square" lIns="0" tIns="0" rIns="0" bIns="0" rtlCol="0" anchor="ctr"/>
          <a:lstStyle/>
          <a:p>
            <a:pPr algn="ctr" indent="0" marL="0">
              <a:buNone/>
            </a:pPr>
            <a:r>
              <a:rPr lang="en-US" sz="1600" b="1" dirty="0">
                <a:solidFill>
                  <a:schemeClr val="bg1"/>
                </a:solidFill>
              </a:rPr>
              <a:t>Criticise</a:t>
            </a:r>
            <a:endParaRPr lang="en-US" sz="1600" dirty="0"/>
          </a:p>
          <a:p>
            <a:pPr algn="ctr" indent="0" marL="0">
              <a:buNone/>
            </a:pPr>
            <a:r>
              <a:rPr lang="en-US" sz="1200" dirty="0">
                <a:solidFill>
                  <a:srgbClr val="AEB8CC"/>
                </a:solidFill>
              </a:rPr>
              <a:t>ChatGPT audits</a:t>
            </a:r>
            <a:endParaRPr lang="en-US" sz="1600" dirty="0"/>
          </a:p>
        </p:txBody>
      </p:sp>
      <p:sp>
        <p:nvSpPr>
          <p:cNvPr id="10" name="loop node Re-check"/>
          <p:cNvSpPr/>
          <p:nvPr/>
        </p:nvSpPr>
        <p:spPr>
          <a:xfrm>
            <a:off x="330327" y="4183380"/>
            <a:ext cx="2011680" cy="914400"/>
          </a:xfrm>
          <a:prstGeom prst="roundRect">
            <a:avLst>
              <a:gd name="adj" fmla="val 10000"/>
            </a:avLst>
          </a:prstGeom>
          <a:solidFill>
            <a:schemeClr val="tx2"/>
          </a:solidFill>
          <a:ln w="12700">
            <a:solidFill>
              <a:schemeClr val="tx2"/>
            </a:solidFill>
            <a:prstDash val="solid"/>
          </a:ln>
        </p:spPr>
      </p:sp>
      <p:sp>
        <p:nvSpPr>
          <p:cNvPr id="11" name="Text 9"/>
          <p:cNvSpPr txBox="1"/>
          <p:nvPr/>
        </p:nvSpPr>
        <p:spPr>
          <a:xfrm>
            <a:off x="330327" y="4183380"/>
            <a:ext cx="2011680" cy="914400"/>
          </a:xfrm>
          <a:prstGeom prst="rect">
            <a:avLst/>
          </a:prstGeom>
          <a:noFill/>
          <a:ln/>
        </p:spPr>
        <p:txBody>
          <a:bodyPr wrap="square" lIns="0" tIns="0" rIns="0" bIns="0" rtlCol="0" anchor="ctr"/>
          <a:lstStyle/>
          <a:p>
            <a:pPr algn="ctr" indent="0" marL="0">
              <a:buNone/>
            </a:pPr>
            <a:r>
              <a:rPr lang="en-US" sz="1600" b="1" dirty="0">
                <a:solidFill>
                  <a:schemeClr val="bg1"/>
                </a:solidFill>
              </a:rPr>
              <a:t>Re-check</a:t>
            </a:r>
            <a:endParaRPr lang="en-US" sz="1600" dirty="0"/>
          </a:p>
          <a:p>
            <a:pPr algn="ctr" indent="0" marL="0">
              <a:buNone/>
            </a:pPr>
            <a:r>
              <a:rPr lang="en-US" sz="1200" dirty="0">
                <a:solidFill>
                  <a:srgbClr val="AEB8CC"/>
                </a:solidFill>
              </a:rPr>
              <a:t>every number vs run22.log</a:t>
            </a:r>
            <a:endParaRPr lang="en-US" sz="1600" dirty="0"/>
          </a:p>
        </p:txBody>
      </p:sp>
      <p:sp>
        <p:nvSpPr>
          <p:cNvPr id="12" name="failure Missed the PDL problem"/>
          <p:cNvSpPr/>
          <p:nvPr/>
        </p:nvSpPr>
        <p:spPr>
          <a:xfrm>
            <a:off x="5669280" y="1188720"/>
            <a:ext cx="5973775" cy="1060704"/>
          </a:xfrm>
          <a:prstGeom prst="roundRect">
            <a:avLst>
              <a:gd name="adj" fmla="val 8621"/>
            </a:avLst>
          </a:prstGeom>
          <a:solidFill>
            <a:schemeClr val="bg2"/>
          </a:solidFill>
          <a:ln w="12700">
            <a:solidFill>
              <a:schemeClr val="bg2"/>
            </a:solidFill>
            <a:prstDash val="solid"/>
          </a:ln>
        </p:spPr>
      </p:sp>
      <p:sp>
        <p:nvSpPr>
          <p:cNvPr id="13" name="Text 11"/>
          <p:cNvSpPr txBox="1"/>
          <p:nvPr/>
        </p:nvSpPr>
        <p:spPr>
          <a:xfrm>
            <a:off x="5897880" y="1280160"/>
            <a:ext cx="5516575" cy="923544"/>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Missed the PDL problem</a:t>
            </a:r>
            <a:endParaRPr lang="en-US" sz="1600" dirty="0"/>
          </a:p>
          <a:p>
            <a:pPr indent="0" marL="0">
              <a:spcAft>
                <a:spcPts val="200"/>
              </a:spcAft>
              <a:buNone/>
            </a:pPr>
            <a:r>
              <a:rPr lang="en-US" sz="1300" dirty="0">
                <a:solidFill>
                  <a:schemeClr val="tx1"/>
                </a:solidFill>
              </a:rPr>
              <a:t>Ran the 2019 code faithfully and accepted 103,570 as “PDL is just slow”. I caught it.</a:t>
            </a:r>
            <a:endParaRPr lang="en-US" sz="1600" dirty="0"/>
          </a:p>
        </p:txBody>
      </p:sp>
      <p:sp>
        <p:nvSpPr>
          <p:cNvPr id="14" name="failure Silent drift"/>
          <p:cNvSpPr/>
          <p:nvPr/>
        </p:nvSpPr>
        <p:spPr>
          <a:xfrm>
            <a:off x="5669280" y="2359152"/>
            <a:ext cx="5973775" cy="1060704"/>
          </a:xfrm>
          <a:prstGeom prst="roundRect">
            <a:avLst>
              <a:gd name="adj" fmla="val 8621"/>
            </a:avLst>
          </a:prstGeom>
          <a:solidFill>
            <a:schemeClr val="bg2"/>
          </a:solidFill>
          <a:ln w="12700">
            <a:solidFill>
              <a:schemeClr val="bg2"/>
            </a:solidFill>
            <a:prstDash val="solid"/>
          </a:ln>
        </p:spPr>
      </p:sp>
      <p:sp>
        <p:nvSpPr>
          <p:cNvPr id="15" name="Text 13"/>
          <p:cNvSpPr txBox="1"/>
          <p:nvPr/>
        </p:nvSpPr>
        <p:spPr>
          <a:xfrm>
            <a:off x="5897880" y="2450592"/>
            <a:ext cx="5516575" cy="923544"/>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Silent drift</a:t>
            </a:r>
            <a:endParaRPr lang="en-US" sz="1600" dirty="0"/>
          </a:p>
          <a:p>
            <a:pPr indent="0" marL="0">
              <a:spcAft>
                <a:spcPts val="200"/>
              </a:spcAft>
              <a:buNone/>
            </a:pPr>
            <a:r>
              <a:rPr lang="en-US" sz="1300" dirty="0">
                <a:solidFill>
                  <a:schemeClr val="tx1"/>
                </a:solidFill>
              </a:rPr>
              <a:t>Fixed the prose but not the table, or the reverse. ChatGPT's audits caught it (examples in the backup slides).</a:t>
            </a:r>
            <a:endParaRPr lang="en-US" sz="1600" dirty="0"/>
          </a:p>
        </p:txBody>
      </p:sp>
      <p:sp>
        <p:nvSpPr>
          <p:cNvPr id="16" name="failure No sense of what's interesting"/>
          <p:cNvSpPr/>
          <p:nvPr/>
        </p:nvSpPr>
        <p:spPr>
          <a:xfrm>
            <a:off x="5669280" y="3529584"/>
            <a:ext cx="5973775" cy="1060704"/>
          </a:xfrm>
          <a:prstGeom prst="roundRect">
            <a:avLst>
              <a:gd name="adj" fmla="val 8621"/>
            </a:avLst>
          </a:prstGeom>
          <a:solidFill>
            <a:schemeClr val="bg2"/>
          </a:solidFill>
          <a:ln w="12700">
            <a:solidFill>
              <a:schemeClr val="bg2"/>
            </a:solidFill>
            <a:prstDash val="solid"/>
          </a:ln>
        </p:spPr>
      </p:sp>
      <p:sp>
        <p:nvSpPr>
          <p:cNvPr id="17" name="Text 15"/>
          <p:cNvSpPr txBox="1"/>
          <p:nvPr/>
        </p:nvSpPr>
        <p:spPr>
          <a:xfrm>
            <a:off x="5897880" y="3621024"/>
            <a:ext cx="5516575" cy="923544"/>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No sense of what's interesting</a:t>
            </a:r>
            <a:endParaRPr lang="en-US" sz="1600" dirty="0"/>
          </a:p>
          <a:p>
            <a:pPr indent="0" marL="0">
              <a:spcAft>
                <a:spcPts val="200"/>
              </a:spcAft>
              <a:buNone/>
            </a:pPr>
            <a:r>
              <a:rPr lang="en-US" sz="1300" dirty="0">
                <a:solidFill>
                  <a:schemeClr val="tx1"/>
                </a:solidFill>
              </a:rPr>
              <a:t>Asked what to add, it gave a long, flat list; choosing was my job.</a:t>
            </a:r>
            <a:endParaRPr lang="en-US" sz="1600" dirty="0"/>
          </a:p>
        </p:txBody>
      </p:sp>
      <p:sp>
        <p:nvSpPr>
          <p:cNvPr id="18" name="failure I didn't write the ports"/>
          <p:cNvSpPr/>
          <p:nvPr/>
        </p:nvSpPr>
        <p:spPr>
          <a:xfrm>
            <a:off x="5669280" y="4700016"/>
            <a:ext cx="5973775" cy="1261872"/>
          </a:xfrm>
          <a:prstGeom prst="roundRect">
            <a:avLst>
              <a:gd name="adj" fmla="val 7246"/>
            </a:avLst>
          </a:prstGeom>
          <a:solidFill>
            <a:srgbClr val="FDE7E4"/>
          </a:solidFill>
          <a:ln w="12700">
            <a:solidFill>
              <a:srgbClr val="FDE7E4"/>
            </a:solidFill>
            <a:prstDash val="solid"/>
          </a:ln>
        </p:spPr>
      </p:sp>
      <p:sp>
        <p:nvSpPr>
          <p:cNvPr id="19" name="Text 17"/>
          <p:cNvSpPr txBox="1"/>
          <p:nvPr/>
        </p:nvSpPr>
        <p:spPr>
          <a:xfrm>
            <a:off x="5897880" y="4791456"/>
            <a:ext cx="5516575" cy="1124712"/>
          </a:xfrm>
          <a:prstGeom prst="rect">
            <a:avLst/>
          </a:prstGeom>
          <a:noFill/>
          <a:ln/>
        </p:spPr>
        <p:txBody>
          <a:bodyPr wrap="square" lIns="0" tIns="0" rIns="0" bIns="0" rtlCol="0" anchor="t"/>
          <a:lstStyle/>
          <a:p>
            <a:pPr indent="0" marL="0">
              <a:spcAft>
                <a:spcPts val="200"/>
              </a:spcAft>
              <a:buNone/>
            </a:pPr>
            <a:r>
              <a:rPr lang="en-US" sz="1600" b="1" dirty="0">
                <a:solidFill>
                  <a:srgbClr val="D73027"/>
                </a:solidFill>
              </a:rPr>
              <a:t>I didn't write the ports</a:t>
            </a:r>
            <a:endParaRPr lang="en-US" sz="1600" dirty="0"/>
          </a:p>
          <a:p>
            <a:pPr indent="0" marL="0">
              <a:spcAft>
                <a:spcPts val="200"/>
              </a:spcAft>
              <a:buNone/>
            </a:pPr>
            <a:r>
              <a:rPr lang="en-US" sz="1300" dirty="0">
                <a:solidFill>
                  <a:schemeClr val="tx1"/>
                </a:solidFill>
              </a:rPr>
              <a:t>Unlike Keith, I trusted the LLM's code. His write-up shows how much layout and idiom matter, and I can't vouch that each port is what an expert would write.</a:t>
            </a:r>
            <a:endParaRPr lang="en-US" sz="1600" dirty="0"/>
          </a:p>
        </p:txBody>
      </p:sp>
      <p:sp>
        <p:nvSpPr>
          <p:cNvPr id="20" name="Text 18"/>
          <p:cNvSpPr txBox="1"/>
          <p:nvPr/>
        </p:nvSpPr>
        <p:spPr>
          <a:xfrm>
            <a:off x="5669280" y="5989320"/>
            <a:ext cx="5973775" cy="320040"/>
          </a:xfrm>
          <a:prstGeom prst="rect">
            <a:avLst/>
          </a:prstGeom>
          <a:noFill/>
          <a:ln/>
        </p:spPr>
        <p:txBody>
          <a:bodyPr wrap="square" lIns="0" tIns="0" rIns="0" bIns="0" rtlCol="0" anchor="t"/>
          <a:lstStyle/>
          <a:p>
            <a:pPr indent="0" marL="0">
              <a:buNone/>
            </a:pPr>
            <a:r>
              <a:rPr lang="en-US" sz="1300" b="1" dirty="0">
                <a:solidFill>
                  <a:schemeClr val="tx2"/>
                </a:solidFill>
              </a:rPr>
              <a:t>Future work: expert and multi-LLM review of the kernels themselves, not just the numbers.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What to tell a working astronomer</a:t>
            </a:r>
            <a:endParaRPr lang="en-US" sz="3200" dirty="0"/>
          </a:p>
        </p:txBody>
      </p:sp>
      <p:sp>
        <p:nvSpPr>
          <p:cNvPr id="3" name="recommendation 1"/>
          <p:cNvSpPr/>
          <p:nvPr/>
        </p:nvSpPr>
        <p:spPr>
          <a:xfrm>
            <a:off x="548640" y="1234440"/>
            <a:ext cx="3515258" cy="2331720"/>
          </a:xfrm>
          <a:prstGeom prst="roundRect">
            <a:avLst>
              <a:gd name="adj" fmla="val 3922"/>
            </a:avLst>
          </a:prstGeom>
          <a:solidFill>
            <a:schemeClr val="bg2"/>
          </a:solidFill>
          <a:ln w="12700">
            <a:solidFill>
              <a:schemeClr val="bg2"/>
            </a:solidFill>
            <a:prstDash val="solid"/>
          </a:ln>
        </p:spPr>
      </p:sp>
      <p:sp>
        <p:nvSpPr>
          <p:cNvPr id="4" name="number 1"/>
          <p:cNvSpPr/>
          <p:nvPr/>
        </p:nvSpPr>
        <p:spPr>
          <a:xfrm>
            <a:off x="777240" y="1463040"/>
            <a:ext cx="548640" cy="548640"/>
          </a:xfrm>
          <a:prstGeom prst="ellipse">
            <a:avLst/>
          </a:prstGeom>
          <a:solidFill>
            <a:srgbClr val="1A9850"/>
          </a:solidFill>
          <a:ln w="12700">
            <a:solidFill>
              <a:srgbClr val="1A9850"/>
            </a:solidFill>
            <a:prstDash val="solid"/>
          </a:ln>
        </p:spPr>
      </p:sp>
      <p:sp>
        <p:nvSpPr>
          <p:cNvPr id="5" name="Text 3"/>
          <p:cNvSpPr txBox="1"/>
          <p:nvPr/>
        </p:nvSpPr>
        <p:spPr>
          <a:xfrm>
            <a:off x="777240" y="1463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777240" y="2148840"/>
            <a:ext cx="3058058"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Try numba first</a:t>
            </a:r>
            <a:endParaRPr lang="en-US" sz="1800" dirty="0"/>
          </a:p>
        </p:txBody>
      </p:sp>
      <p:sp>
        <p:nvSpPr>
          <p:cNvPr id="7" name="Text 5"/>
          <p:cNvSpPr txBox="1"/>
          <p:nvPr/>
        </p:nvSpPr>
        <p:spPr>
          <a:xfrm>
            <a:off x="777240" y="2606040"/>
            <a:ext cx="3058058" cy="822960"/>
          </a:xfrm>
          <a:prstGeom prst="rect">
            <a:avLst/>
          </a:prstGeom>
          <a:noFill/>
          <a:ln/>
        </p:spPr>
        <p:txBody>
          <a:bodyPr wrap="square" lIns="0" tIns="0" rIns="0" bIns="0" rtlCol="0" anchor="t"/>
          <a:lstStyle/>
          <a:p>
            <a:pPr indent="0" marL="0">
              <a:buNone/>
            </a:pPr>
            <a:r>
              <a:rPr lang="en-US" sz="1500" dirty="0">
                <a:solidFill>
                  <a:schemeClr val="tx1"/>
                </a:solidFill>
              </a:rPr>
              <a:t>Before rewriting a hot loop in C, add one decorator: @numba.jit.</a:t>
            </a:r>
            <a:endParaRPr lang="en-US" sz="1500" dirty="0"/>
          </a:p>
        </p:txBody>
      </p:sp>
      <p:sp>
        <p:nvSpPr>
          <p:cNvPr id="8" name="recommendation 2"/>
          <p:cNvSpPr/>
          <p:nvPr/>
        </p:nvSpPr>
        <p:spPr>
          <a:xfrm>
            <a:off x="4338218" y="1234440"/>
            <a:ext cx="3515258" cy="2331720"/>
          </a:xfrm>
          <a:prstGeom prst="roundRect">
            <a:avLst>
              <a:gd name="adj" fmla="val 3922"/>
            </a:avLst>
          </a:prstGeom>
          <a:solidFill>
            <a:schemeClr val="bg2"/>
          </a:solidFill>
          <a:ln w="12700">
            <a:solidFill>
              <a:schemeClr val="bg2"/>
            </a:solidFill>
            <a:prstDash val="solid"/>
          </a:ln>
        </p:spPr>
      </p:sp>
      <p:sp>
        <p:nvSpPr>
          <p:cNvPr id="9" name="number 2"/>
          <p:cNvSpPr/>
          <p:nvPr/>
        </p:nvSpPr>
        <p:spPr>
          <a:xfrm>
            <a:off x="4566818" y="1463040"/>
            <a:ext cx="548640" cy="548640"/>
          </a:xfrm>
          <a:prstGeom prst="ellipse">
            <a:avLst/>
          </a:prstGeom>
          <a:solidFill>
            <a:srgbClr val="1A9850"/>
          </a:solidFill>
          <a:ln w="12700">
            <a:solidFill>
              <a:srgbClr val="1A9850"/>
            </a:solidFill>
            <a:prstDash val="solid"/>
          </a:ln>
        </p:spPr>
      </p:sp>
      <p:sp>
        <p:nvSpPr>
          <p:cNvPr id="10" name="Text 8"/>
          <p:cNvSpPr txBox="1"/>
          <p:nvPr/>
        </p:nvSpPr>
        <p:spPr>
          <a:xfrm>
            <a:off x="4566818" y="1463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1" name="Text 9"/>
          <p:cNvSpPr txBox="1"/>
          <p:nvPr/>
        </p:nvSpPr>
        <p:spPr>
          <a:xfrm>
            <a:off x="4566818" y="2148840"/>
            <a:ext cx="3058058"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PyPy for pure Python only</a:t>
            </a:r>
            <a:endParaRPr lang="en-US" sz="1800" dirty="0"/>
          </a:p>
        </p:txBody>
      </p:sp>
      <p:sp>
        <p:nvSpPr>
          <p:cNvPr id="12" name="Text 10"/>
          <p:cNvSpPr txBox="1"/>
          <p:nvPr/>
        </p:nvSpPr>
        <p:spPr>
          <a:xfrm>
            <a:off x="4566818" y="2606040"/>
            <a:ext cx="3058058" cy="822960"/>
          </a:xfrm>
          <a:prstGeom prst="rect">
            <a:avLst/>
          </a:prstGeom>
          <a:noFill/>
          <a:ln/>
        </p:spPr>
        <p:txBody>
          <a:bodyPr wrap="square" lIns="0" tIns="0" rIns="0" bIns="0" rtlCol="0" anchor="t"/>
          <a:lstStyle/>
          <a:p>
            <a:pPr indent="0" marL="0">
              <a:buNone/>
            </a:pPr>
            <a:r>
              <a:rPr lang="en-US" sz="1500" dirty="0">
                <a:solidFill>
                  <a:schemeClr val="tx1"/>
                </a:solidFill>
              </a:rPr>
              <a:t>Never with numpy: it is the slowest mainstream setup here.</a:t>
            </a:r>
            <a:endParaRPr lang="en-US" sz="1500" dirty="0"/>
          </a:p>
        </p:txBody>
      </p:sp>
      <p:sp>
        <p:nvSpPr>
          <p:cNvPr id="13" name="recommendation 3"/>
          <p:cNvSpPr/>
          <p:nvPr/>
        </p:nvSpPr>
        <p:spPr>
          <a:xfrm>
            <a:off x="8127797" y="1234440"/>
            <a:ext cx="3515258" cy="2331720"/>
          </a:xfrm>
          <a:prstGeom prst="roundRect">
            <a:avLst>
              <a:gd name="adj" fmla="val 3922"/>
            </a:avLst>
          </a:prstGeom>
          <a:solidFill>
            <a:schemeClr val="bg2"/>
          </a:solidFill>
          <a:ln w="12700">
            <a:solidFill>
              <a:schemeClr val="bg2"/>
            </a:solidFill>
            <a:prstDash val="solid"/>
          </a:ln>
        </p:spPr>
      </p:sp>
      <p:sp>
        <p:nvSpPr>
          <p:cNvPr id="14" name="number 3"/>
          <p:cNvSpPr/>
          <p:nvPr/>
        </p:nvSpPr>
        <p:spPr>
          <a:xfrm>
            <a:off x="8356397" y="1463040"/>
            <a:ext cx="548640" cy="548640"/>
          </a:xfrm>
          <a:prstGeom prst="ellipse">
            <a:avLst/>
          </a:prstGeom>
          <a:solidFill>
            <a:srgbClr val="1A9850"/>
          </a:solidFill>
          <a:ln w="12700">
            <a:solidFill>
              <a:srgbClr val="1A9850"/>
            </a:solidFill>
            <a:prstDash val="solid"/>
          </a:ln>
        </p:spPr>
      </p:sp>
      <p:sp>
        <p:nvSpPr>
          <p:cNvPr id="15" name="Text 13"/>
          <p:cNvSpPr txBox="1"/>
          <p:nvPr/>
        </p:nvSpPr>
        <p:spPr>
          <a:xfrm>
            <a:off x="8356397" y="1463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6" name="Text 14"/>
          <p:cNvSpPr txBox="1"/>
          <p:nvPr/>
        </p:nvSpPr>
        <p:spPr>
          <a:xfrm>
            <a:off x="8356397" y="2148840"/>
            <a:ext cx="3058058"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Don't loop over numpy</a:t>
            </a:r>
            <a:endParaRPr lang="en-US" sz="1800" dirty="0"/>
          </a:p>
        </p:txBody>
      </p:sp>
      <p:sp>
        <p:nvSpPr>
          <p:cNvPr id="17" name="Text 15"/>
          <p:cNvSpPr txBox="1"/>
          <p:nvPr/>
        </p:nvSpPr>
        <p:spPr>
          <a:xfrm>
            <a:off x="8356397" y="2606040"/>
            <a:ext cx="3058058" cy="822960"/>
          </a:xfrm>
          <a:prstGeom prst="rect">
            <a:avLst/>
          </a:prstGeom>
          <a:noFill/>
          <a:ln/>
        </p:spPr>
        <p:txBody>
          <a:bodyPr wrap="square" lIns="0" tIns="0" rIns="0" bIns="0" rtlCol="0" anchor="t"/>
          <a:lstStyle/>
          <a:p>
            <a:pPr indent="0" marL="0">
              <a:buNone/>
            </a:pPr>
            <a:r>
              <a:rPr lang="en-US" sz="1500" dirty="0">
                <a:solidFill>
                  <a:schemeClr val="tx1"/>
                </a:solidFill>
              </a:rPr>
              <a:t>Element-by-element numpy is 4.5× slower than plain lists.</a:t>
            </a:r>
            <a:endParaRPr lang="en-US" sz="1500" dirty="0"/>
          </a:p>
        </p:txBody>
      </p:sp>
      <p:sp>
        <p:nvSpPr>
          <p:cNvPr id="18" name="recommendation 4"/>
          <p:cNvSpPr/>
          <p:nvPr/>
        </p:nvSpPr>
        <p:spPr>
          <a:xfrm>
            <a:off x="548640" y="3840480"/>
            <a:ext cx="3515258" cy="2331720"/>
          </a:xfrm>
          <a:prstGeom prst="roundRect">
            <a:avLst>
              <a:gd name="adj" fmla="val 3922"/>
            </a:avLst>
          </a:prstGeom>
          <a:solidFill>
            <a:schemeClr val="bg2"/>
          </a:solidFill>
          <a:ln w="12700">
            <a:solidFill>
              <a:schemeClr val="bg2"/>
            </a:solidFill>
            <a:prstDash val="solid"/>
          </a:ln>
        </p:spPr>
      </p:sp>
      <p:sp>
        <p:nvSpPr>
          <p:cNvPr id="19" name="number 4"/>
          <p:cNvSpPr/>
          <p:nvPr/>
        </p:nvSpPr>
        <p:spPr>
          <a:xfrm>
            <a:off x="777240" y="4069080"/>
            <a:ext cx="548640" cy="548640"/>
          </a:xfrm>
          <a:prstGeom prst="ellipse">
            <a:avLst/>
          </a:prstGeom>
          <a:solidFill>
            <a:srgbClr val="1A9850"/>
          </a:solidFill>
          <a:ln w="12700">
            <a:solidFill>
              <a:srgbClr val="1A9850"/>
            </a:solidFill>
            <a:prstDash val="solid"/>
          </a:ln>
        </p:spPr>
      </p:sp>
      <p:sp>
        <p:nvSpPr>
          <p:cNvPr id="20" name="Text 18"/>
          <p:cNvSpPr txBox="1"/>
          <p:nvPr/>
        </p:nvSpPr>
        <p:spPr>
          <a:xfrm>
            <a:off x="777240" y="4069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1" name="Text 19"/>
          <p:cNvSpPr txBox="1"/>
          <p:nvPr/>
        </p:nvSpPr>
        <p:spPr>
          <a:xfrm>
            <a:off x="777240" y="4754880"/>
            <a:ext cx="3058058"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PDL: -&gt;at, -&gt;set, or PP</a:t>
            </a:r>
            <a:endParaRPr lang="en-US" sz="1800" dirty="0"/>
          </a:p>
        </p:txBody>
      </p:sp>
      <p:sp>
        <p:nvSpPr>
          <p:cNvPr id="22" name="Text 20"/>
          <p:cNvSpPr txBox="1"/>
          <p:nvPr/>
        </p:nvSpPr>
        <p:spPr>
          <a:xfrm>
            <a:off x="777240" y="5212080"/>
            <a:ext cx="3058058" cy="822960"/>
          </a:xfrm>
          <a:prstGeom prst="rect">
            <a:avLst/>
          </a:prstGeom>
          <a:noFill/>
          <a:ln/>
        </p:spPr>
        <p:txBody>
          <a:bodyPr wrap="square" lIns="0" tIns="0" rIns="0" bIns="0" rtlCol="0" anchor="t"/>
          <a:lstStyle/>
          <a:p>
            <a:pPr indent="0" marL="0">
              <a:buNone/>
            </a:pPr>
            <a:r>
              <a:rPr lang="en-US" sz="1500" dirty="0">
                <a:solidFill>
                  <a:schemeClr val="tx1"/>
                </a:solidFill>
              </a:rPr>
              <a:t>For speed, broadcast or use PDL::PP. Don't slice single elements.</a:t>
            </a:r>
            <a:endParaRPr lang="en-US" sz="1500" dirty="0"/>
          </a:p>
        </p:txBody>
      </p:sp>
      <p:sp>
        <p:nvSpPr>
          <p:cNvPr id="23" name="recommendation 5"/>
          <p:cNvSpPr/>
          <p:nvPr/>
        </p:nvSpPr>
        <p:spPr>
          <a:xfrm>
            <a:off x="4338218" y="3840480"/>
            <a:ext cx="3515258" cy="2331720"/>
          </a:xfrm>
          <a:prstGeom prst="roundRect">
            <a:avLst>
              <a:gd name="adj" fmla="val 3922"/>
            </a:avLst>
          </a:prstGeom>
          <a:solidFill>
            <a:schemeClr val="bg2"/>
          </a:solidFill>
          <a:ln w="12700">
            <a:solidFill>
              <a:schemeClr val="bg2"/>
            </a:solidFill>
            <a:prstDash val="solid"/>
          </a:ln>
        </p:spPr>
      </p:sp>
      <p:sp>
        <p:nvSpPr>
          <p:cNvPr id="24" name="number 5"/>
          <p:cNvSpPr/>
          <p:nvPr/>
        </p:nvSpPr>
        <p:spPr>
          <a:xfrm>
            <a:off x="4566818" y="4069080"/>
            <a:ext cx="548640" cy="548640"/>
          </a:xfrm>
          <a:prstGeom prst="ellipse">
            <a:avLst/>
          </a:prstGeom>
          <a:solidFill>
            <a:srgbClr val="1A9850"/>
          </a:solidFill>
          <a:ln w="12700">
            <a:solidFill>
              <a:srgbClr val="1A9850"/>
            </a:solidFill>
            <a:prstDash val="solid"/>
          </a:ln>
        </p:spPr>
      </p:sp>
      <p:sp>
        <p:nvSpPr>
          <p:cNvPr id="25" name="Text 23"/>
          <p:cNvSpPr txBox="1"/>
          <p:nvPr/>
        </p:nvSpPr>
        <p:spPr>
          <a:xfrm>
            <a:off x="4566818" y="4069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5</a:t>
            </a:r>
            <a:endParaRPr lang="en-US" sz="2000" dirty="0"/>
          </a:p>
        </p:txBody>
      </p:sp>
      <p:sp>
        <p:nvSpPr>
          <p:cNvPr id="26" name="Text 24"/>
          <p:cNvSpPr txBox="1"/>
          <p:nvPr/>
        </p:nvSpPr>
        <p:spPr>
          <a:xfrm>
            <a:off x="4566818" y="4754880"/>
            <a:ext cx="3058058"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Apple Silicon is fine</a:t>
            </a:r>
            <a:endParaRPr lang="en-US" sz="1800" dirty="0"/>
          </a:p>
        </p:txBody>
      </p:sp>
      <p:sp>
        <p:nvSpPr>
          <p:cNvPr id="27" name="Text 25"/>
          <p:cNvSpPr txBox="1"/>
          <p:nvPr/>
        </p:nvSpPr>
        <p:spPr>
          <a:xfrm>
            <a:off x="4566818" y="5212080"/>
            <a:ext cx="3058058" cy="822960"/>
          </a:xfrm>
          <a:prstGeom prst="rect">
            <a:avLst/>
          </a:prstGeom>
          <a:noFill/>
          <a:ln/>
        </p:spPr>
        <p:txBody>
          <a:bodyPr wrap="square" lIns="0" tIns="0" rIns="0" bIns="0" rtlCol="0" anchor="t"/>
          <a:lstStyle/>
          <a:p>
            <a:pPr indent="0" marL="0">
              <a:buNone/>
            </a:pPr>
            <a:r>
              <a:rPr lang="en-US" sz="1500" dirty="0">
                <a:solidFill>
                  <a:schemeClr val="tx1"/>
                </a:solidFill>
              </a:rPr>
              <a:t>Every toolchain ran natively on arm64, except Python 2.7, which runs translated by Rosetta 2.</a:t>
            </a:r>
            <a:endParaRPr lang="en-US" sz="1500" dirty="0"/>
          </a:p>
        </p:txBody>
      </p:sp>
      <p:sp>
        <p:nvSpPr>
          <p:cNvPr id="28" name="recommendation 6"/>
          <p:cNvSpPr/>
          <p:nvPr/>
        </p:nvSpPr>
        <p:spPr>
          <a:xfrm>
            <a:off x="8127797" y="3840480"/>
            <a:ext cx="3515258" cy="2331720"/>
          </a:xfrm>
          <a:prstGeom prst="roundRect">
            <a:avLst>
              <a:gd name="adj" fmla="val 3922"/>
            </a:avLst>
          </a:prstGeom>
          <a:solidFill>
            <a:schemeClr val="bg2"/>
          </a:solidFill>
          <a:ln w="12700">
            <a:solidFill>
              <a:schemeClr val="bg2"/>
            </a:solidFill>
            <a:prstDash val="solid"/>
          </a:ln>
        </p:spPr>
      </p:sp>
      <p:sp>
        <p:nvSpPr>
          <p:cNvPr id="29" name="number 6"/>
          <p:cNvSpPr/>
          <p:nvPr/>
        </p:nvSpPr>
        <p:spPr>
          <a:xfrm>
            <a:off x="8356397" y="4069080"/>
            <a:ext cx="548640" cy="548640"/>
          </a:xfrm>
          <a:prstGeom prst="ellipse">
            <a:avLst/>
          </a:prstGeom>
          <a:solidFill>
            <a:srgbClr val="1A9850"/>
          </a:solidFill>
          <a:ln w="12700">
            <a:solidFill>
              <a:srgbClr val="1A9850"/>
            </a:solidFill>
            <a:prstDash val="solid"/>
          </a:ln>
        </p:spPr>
      </p:sp>
      <p:sp>
        <p:nvSpPr>
          <p:cNvPr id="30" name="Text 28"/>
          <p:cNvSpPr txBox="1"/>
          <p:nvPr/>
        </p:nvSpPr>
        <p:spPr>
          <a:xfrm>
            <a:off x="8356397" y="4069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6</a:t>
            </a:r>
            <a:endParaRPr lang="en-US" sz="2000" dirty="0"/>
          </a:p>
        </p:txBody>
      </p:sp>
      <p:sp>
        <p:nvSpPr>
          <p:cNvPr id="31" name="Text 29"/>
          <p:cNvSpPr txBox="1"/>
          <p:nvPr/>
        </p:nvSpPr>
        <p:spPr>
          <a:xfrm>
            <a:off x="8356397" y="4754880"/>
            <a:ext cx="3058058" cy="45720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Audit your LLM co-author</a:t>
            </a:r>
            <a:endParaRPr lang="en-US" sz="1800" dirty="0"/>
          </a:p>
        </p:txBody>
      </p:sp>
      <p:sp>
        <p:nvSpPr>
          <p:cNvPr id="32" name="Text 30"/>
          <p:cNvSpPr txBox="1"/>
          <p:nvPr/>
        </p:nvSpPr>
        <p:spPr>
          <a:xfrm>
            <a:off x="8356397" y="5212080"/>
            <a:ext cx="3058058" cy="822960"/>
          </a:xfrm>
          <a:prstGeom prst="rect">
            <a:avLst/>
          </a:prstGeom>
          <a:noFill/>
          <a:ln/>
        </p:spPr>
        <p:txBody>
          <a:bodyPr wrap="square" lIns="0" tIns="0" rIns="0" bIns="0" rtlCol="0" anchor="t"/>
          <a:lstStyle/>
          <a:p>
            <a:pPr indent="0" marL="0">
              <a:buNone/>
            </a:pPr>
            <a:r>
              <a:rPr lang="en-US" sz="1500" dirty="0">
                <a:solidFill>
                  <a:schemeClr val="tx1"/>
                </a:solidFill>
              </a:rPr>
              <a:t>An audit loop for the numbers; domain experts for the code.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1371600"/>
          </a:xfrm>
          <a:prstGeom prst="rect">
            <a:avLst/>
          </a:prstGeom>
          <a:noFill/>
          <a:ln/>
        </p:spPr>
        <p:txBody>
          <a:bodyPr wrap="square" lIns="0" tIns="0" rIns="0" bIns="0" rtlCol="0" anchor="b"/>
          <a:lstStyle/>
          <a:p>
            <a:pPr algn="l" indent="0" marL="0">
              <a:buNone/>
            </a:pPr>
            <a:r>
              <a:rPr lang="en-US" sz="4400" b="1" dirty="0">
                <a:solidFill>
                  <a:schemeClr val="bg1"/>
                </a:solidFill>
                <a:latin typeface="+mj-lt" pitchFamily="34" charset="0"/>
                <a:ea typeface="+mj-lt" pitchFamily="34" charset="-122"/>
                <a:cs typeface="+mj-lt" pitchFamily="34" charset="-120"/>
              </a:rPr>
              <a:t>Thank you, Keith</a:t>
            </a:r>
            <a:endParaRPr lang="en-US" sz="4400" dirty="0"/>
          </a:p>
        </p:txBody>
      </p:sp>
      <p:sp>
        <p:nvSpPr>
          <p:cNvPr id="3" name="Text 0"/>
          <p:cNvSpPr/>
          <p:nvPr>
            <p:ph idx="101" type="body" hasCustomPrompt="1"/>
          </p:nvPr>
        </p:nvSpPr>
        <p:spPr>
          <a:xfrm>
            <a:off x="548640" y="2286000"/>
            <a:ext cx="11094415" cy="1463040"/>
          </a:xfrm>
          <a:prstGeom prst="rect">
            <a:avLst/>
          </a:prstGeom>
          <a:noFill/>
          <a:ln/>
        </p:spPr>
        <p:txBody>
          <a:bodyPr wrap="square" lIns="0" tIns="0" rIns="0" bIns="0" rtlCol="0" anchor="t"/>
          <a:lstStyle/>
          <a:p>
            <a:pPr indent="0" marL="0">
              <a:buNone/>
            </a:pPr>
            <a:r>
              <a:rPr lang="en-US" sz="2000" dirty="0">
                <a:solidFill>
                  <a:schemeClr val="bg2"/>
                </a:solidFill>
              </a:rPr>
              <a:t>and thank you all. Questions?</a:t>
            </a:r>
            <a:endParaRPr lang="en-US" sz="2000" dirty="0"/>
          </a:p>
          <a:p>
            <a:pPr indent="0" marL="0">
              <a:buNone/>
            </a:pPr>
            <a:r>
              <a:rPr lang="en-US" sz="1000" dirty="0">
                <a:solidFill>
                  <a:schemeClr val="bg2"/>
                </a:solidFill>
              </a:rPr>
              <a:t> </a:t>
            </a:r>
            <a:endParaRPr lang="en-US" sz="2000" dirty="0"/>
          </a:p>
          <a:p>
            <a:pPr indent="0" marL="0">
              <a:buNone/>
            </a:pPr>
            <a:r>
              <a:rPr lang="en-US" sz="1600" dirty="0">
                <a:solidFill>
                  <a:srgbClr val="AEB8CC"/>
                </a:solidFill>
              </a:rPr>
              <a:t>Original suite: </a:t>
            </a:r>
            <a:pPr indent="0" marL="0">
              <a:buNone/>
            </a:pPr>
            <a:r>
              <a:rPr lang="en-US" sz="1600" u="sng" dirty="0">
                <a:solidFill>
                  <a:srgbClr val="AEB8CC"/>
                </a:solidFill>
                <a:hlinkClick r:id="rId1" invalidUrl="" action="" tgtFrame="" tooltip="" history="1" highlightClick="0" endSnd="0">
                  <a:extLst>
                    <a:ext uri="{A12FA001-AC4F-418D-AE19-62706E023703}">
                      <ahyp:hlinkClr xmlns:ahyp="http://schemas.microsoft.com/office/drawing/2018/hyperlinkcolor" val="tx"/>
                    </a:ext>
                  </a:extLst>
                </a:hlinkClick>
              </a:rPr>
              <a:t>github.com/KnaveAndVarlet/ADASS2019</a:t>
            </a:r>
            <a:endParaRPr lang="en-US" sz="2000" dirty="0"/>
          </a:p>
          <a:p>
            <a:pPr indent="0" marL="0">
              <a:buNone/>
            </a:pPr>
            <a:r>
              <a:rPr lang="en-US" sz="1600" dirty="0">
                <a:solidFill>
                  <a:srgbClr val="AEB8CC"/>
                </a:solidFill>
              </a:rPr>
              <a:t>2026 suite, report, logs and this talk: </a:t>
            </a:r>
            <a:pPr indent="0" marL="0">
              <a:buNone/>
            </a:pPr>
            <a:r>
              <a:rPr lang="en-US" sz="1600" u="sng" dirty="0">
                <a:solidFill>
                  <a:srgbClr val="AEB8CC"/>
                </a:solidFill>
                <a:hlinkClick r:id="rId2" invalidUrl="" action="" tgtFrame="" tooltip="" history="1" highlightClick="0" endSnd="0">
                  <a:extLst>
                    <a:ext uri="{A12FA001-AC4F-418D-AE19-62706E023703}">
                      <ahyp:hlinkClr xmlns:ahyp="http://schemas.microsoft.com/office/drawing/2018/hyperlinkcolor" val="tx"/>
                    </a:ext>
                  </a:extLst>
                </a:hlinkClick>
              </a:rPr>
              <a:t>github.com/karlglazebrook/ADASS2026</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Backup: reproducibility, run22 vs run23</a:t>
            </a:r>
            <a:endParaRPr lang="en-US" sz="3200" dirty="0"/>
          </a:p>
        </p:txBody>
      </p:sp>
      <p:pic>
        <p:nvPicPr>
          <p:cNvPr id="3" name="run22 vs run23" descr="Comparison of relative times between run22 (April) and run23 (May, after a full toolchain rebuild)">    </p:cNvPr>
          <p:cNvPicPr>
            <a:picLocks noChangeAspect="1"/>
          </p:cNvPicPr>
          <p:nvPr/>
        </p:nvPicPr>
        <p:blipFill>
          <a:blip r:embed="rId1"/>
          <a:srcRect l="0" r="0" t="0" b="0"/>
          <a:stretch/>
        </p:blipFill>
        <p:spPr>
          <a:xfrm>
            <a:off x="548640" y="1188720"/>
            <a:ext cx="11094415" cy="4480560"/>
          </a:xfrm>
          <a:prstGeom prst="rect">
            <a:avLst/>
          </a:prstGeom>
        </p:spPr>
      </p:pic>
      <p:sp>
        <p:nvSpPr>
          <p:cNvPr id="4" name="Text 1"/>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400" dirty="0">
                <a:solidFill>
                  <a:srgbClr val="5A6275"/>
                </a:solidFill>
              </a:rPr>
              <a:t>After a full toolchain rebuild all 131 tests passed again. The fast tiers agree within noise; slow entries moved (Octave loop −44%, Rust unoptimised +30%, Ruby Numo +22–25%).</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Backup: Keith's 2019 times against 2026, test by test</a:t>
            </a:r>
            <a:endParaRPr lang="en-US" sz="3200" dirty="0"/>
          </a:p>
        </p:txBody>
      </p:sp>
      <p:graphicFrame>
        <p:nvGraphicFramePr>
          <p:cNvPr id="3" name="2019 vs 2026 scatter" descr=""/>
          <p:cNvGraphicFramePr/>
          <p:nvPr/>
        </p:nvGraphicFramePr>
        <p:xfrm>
          <a:off x="548640" y="1143000"/>
          <a:ext cx="6949440" cy="51206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772400" y="1280160"/>
            <a:ext cx="3870655" cy="4846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89 of 101 tests sit below the line: relatively faster in 2026 than in 2019.</a:t>
            </a:r>
            <a:endParaRPr lang="en-US" sz="1500" dirty="0"/>
          </a:p>
          <a:p>
            <a:pPr marL="342900" indent="-342900">
              <a:spcAft>
                <a:spcPts val="1000"/>
              </a:spcAft>
              <a:buSzPct val="100000"/>
              <a:buChar char="•"/>
            </a:pPr>
            <a:r>
              <a:rPr lang="en-US" sz="1500" dirty="0">
                <a:solidFill>
                  <a:schemeClr val="tx1"/>
                </a:solidFill>
              </a:rPr>
              <a:t>Both studies rescaled to the same test, C element lookup with clang -O3 native, because the 2019 reference was x86 AVX and the 2026 one is arm64 NEON.</a:t>
            </a:r>
            <a:endParaRPr lang="en-US" sz="1500" dirty="0"/>
          </a:p>
          <a:p>
            <a:pPr marL="342900" indent="-342900">
              <a:spcAft>
                <a:spcPts val="1000"/>
              </a:spcAft>
              <a:buSzPct val="100000"/>
              <a:buChar char="•"/>
            </a:pPr>
            <a:r>
              <a:rPr lang="en-US" sz="1500" dirty="0">
                <a:solidFill>
                  <a:schemeClr val="tx1"/>
                </a:solidFill>
              </a:rPr>
              <a:t>PDL element lookup (red) changed code, so it is not a like-for-like point.</a:t>
            </a:r>
            <a:endParaRPr lang="en-US" sz="1500" dirty="0"/>
          </a:p>
          <a:p>
            <a:pPr marL="342900" indent="-342900">
              <a:spcAft>
                <a:spcPts val="1000"/>
              </a:spcAft>
              <a:buSzPct val="100000"/>
              <a:buChar char="•"/>
            </a:pPr>
            <a:r>
              <a:rPr lang="en-US" sz="1500" dirty="0">
                <a:solidFill>
                  <a:schemeClr val="tx1"/>
                </a:solidFill>
              </a:rPr>
              <a:t>2019 values: Keith's own Run.py summary in his Nov 2019 write-up (report/shortridge2019_summary.txt).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Backup: what the ChatGPT red team caught</a:t>
            </a:r>
            <a:endParaRPr lang="en-US" sz="3200" dirty="0"/>
          </a:p>
        </p:txBody>
      </p:sp>
      <p:sp>
        <p:nvSpPr>
          <p:cNvPr id="3" name="catch Stale numbers"/>
          <p:cNvSpPr/>
          <p:nvPr/>
        </p:nvSpPr>
        <p:spPr>
          <a:xfrm>
            <a:off x="548640" y="1188720"/>
            <a:ext cx="5410048" cy="1325880"/>
          </a:xfrm>
          <a:prstGeom prst="roundRect">
            <a:avLst>
              <a:gd name="adj" fmla="val 6897"/>
            </a:avLst>
          </a:prstGeom>
          <a:solidFill>
            <a:schemeClr val="bg2"/>
          </a:solidFill>
          <a:ln w="12700">
            <a:solidFill>
              <a:schemeClr val="bg2"/>
            </a:solidFill>
            <a:prstDash val="solid"/>
          </a:ln>
        </p:spPr>
      </p:sp>
      <p:sp>
        <p:nvSpPr>
          <p:cNvPr id="4" name="Text 2"/>
          <p:cNvSpPr txBox="1"/>
          <p:nvPr/>
        </p:nvSpPr>
        <p:spPr>
          <a:xfrm>
            <a:off x="777240" y="1298448"/>
            <a:ext cx="4952848" cy="114300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Stale numbers</a:t>
            </a:r>
            <a:endParaRPr lang="en-US" sz="1700" dirty="0"/>
          </a:p>
          <a:p>
            <a:pPr indent="0" marL="0">
              <a:spcAft>
                <a:spcPts val="200"/>
              </a:spcAft>
              <a:buNone/>
            </a:pPr>
            <a:r>
              <a:rPr lang="en-US" sz="1600" dirty="0">
                <a:solidFill>
                  <a:schemeClr val="tx1"/>
                </a:solidFill>
              </a:rPr>
              <a:t>About 25 numbers in the prose came from older runs after the reference moved: Crystal 3.21 → 3.67, numba 2.91 → 3.15. F# 6.85 → 7.21 even crossed into tier 4.</a:t>
            </a:r>
            <a:endParaRPr lang="en-US" sz="1700" dirty="0"/>
          </a:p>
        </p:txBody>
      </p:sp>
      <p:sp>
        <p:nvSpPr>
          <p:cNvPr id="5" name="catch Mis-tiering"/>
          <p:cNvSpPr/>
          <p:nvPr/>
        </p:nvSpPr>
        <p:spPr>
          <a:xfrm>
            <a:off x="6233008" y="1188720"/>
            <a:ext cx="5410048" cy="1325880"/>
          </a:xfrm>
          <a:prstGeom prst="roundRect">
            <a:avLst>
              <a:gd name="adj" fmla="val 6897"/>
            </a:avLst>
          </a:prstGeom>
          <a:solidFill>
            <a:schemeClr val="bg2"/>
          </a:solidFill>
          <a:ln w="12700">
            <a:solidFill>
              <a:schemeClr val="bg2"/>
            </a:solidFill>
            <a:prstDash val="solid"/>
          </a:ln>
        </p:spPr>
      </p:sp>
      <p:sp>
        <p:nvSpPr>
          <p:cNvPr id="6" name="Text 4"/>
          <p:cNvSpPr txBox="1"/>
          <p:nvPr/>
        </p:nvSpPr>
        <p:spPr>
          <a:xfrm>
            <a:off x="6461608" y="1298448"/>
            <a:ext cx="4952848" cy="114300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Mis-tiering</a:t>
            </a:r>
            <a:endParaRPr lang="en-US" sz="1700" dirty="0"/>
          </a:p>
          <a:p>
            <a:pPr indent="0" marL="0">
              <a:spcAft>
                <a:spcPts val="200"/>
              </a:spcAft>
              <a:buNone/>
            </a:pPr>
            <a:r>
              <a:rPr lang="en-US" sz="1600" dirty="0">
                <a:solidFill>
                  <a:schemeClr val="tx1"/>
                </a:solidFill>
              </a:rPr>
              <a:t>D, Zig, Crystal, Nim, Rust and OCaml listed in tier 2: none are. “Tier 6 is the most populous”: it had 5 entries against tier 3's 38.</a:t>
            </a:r>
            <a:endParaRPr lang="en-US" sz="1700" dirty="0"/>
          </a:p>
        </p:txBody>
      </p:sp>
      <p:sp>
        <p:nvSpPr>
          <p:cNvPr id="7" name="catch Wrong ratios"/>
          <p:cNvSpPr/>
          <p:nvPr/>
        </p:nvSpPr>
        <p:spPr>
          <a:xfrm>
            <a:off x="548640" y="2651760"/>
            <a:ext cx="5410048" cy="1325880"/>
          </a:xfrm>
          <a:prstGeom prst="roundRect">
            <a:avLst>
              <a:gd name="adj" fmla="val 6897"/>
            </a:avLst>
          </a:prstGeom>
          <a:solidFill>
            <a:schemeClr val="bg2"/>
          </a:solidFill>
          <a:ln w="12700">
            <a:solidFill>
              <a:schemeClr val="bg2"/>
            </a:solidFill>
            <a:prstDash val="solid"/>
          </a:ln>
        </p:spPr>
      </p:sp>
      <p:sp>
        <p:nvSpPr>
          <p:cNvPr id="8" name="Text 6"/>
          <p:cNvSpPr txBox="1"/>
          <p:nvPr/>
        </p:nvSpPr>
        <p:spPr>
          <a:xfrm>
            <a:off x="777240" y="2761488"/>
            <a:ext cx="4952848" cy="114300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Wrong ratios</a:t>
            </a:r>
            <a:endParaRPr lang="en-US" sz="1700" dirty="0"/>
          </a:p>
          <a:p>
            <a:pPr indent="0" marL="0">
              <a:spcAft>
                <a:spcPts val="200"/>
              </a:spcAft>
              <a:buNone/>
            </a:pPr>
            <a:r>
              <a:rPr lang="en-US" sz="1600" dirty="0">
                <a:solidFill>
                  <a:schemeClr val="tx1"/>
                </a:solidFill>
              </a:rPr>
              <a:t>“PyPy is 650× slower than CPython”: it is about 8×. The 650× was PyPy + numpy against PyPy lists. An OCaml “18×” was 13×.</a:t>
            </a:r>
            <a:endParaRPr lang="en-US" sz="1700" dirty="0"/>
          </a:p>
        </p:txBody>
      </p:sp>
      <p:sp>
        <p:nvSpPr>
          <p:cNvPr id="9" name="catch Overclaims"/>
          <p:cNvSpPr/>
          <p:nvPr/>
        </p:nvSpPr>
        <p:spPr>
          <a:xfrm>
            <a:off x="6233008" y="2651760"/>
            <a:ext cx="5410048" cy="1325880"/>
          </a:xfrm>
          <a:prstGeom prst="roundRect">
            <a:avLst>
              <a:gd name="adj" fmla="val 6897"/>
            </a:avLst>
          </a:prstGeom>
          <a:solidFill>
            <a:schemeClr val="bg2"/>
          </a:solidFill>
          <a:ln w="12700">
            <a:solidFill>
              <a:schemeClr val="bg2"/>
            </a:solidFill>
            <a:prstDash val="solid"/>
          </a:ln>
        </p:spPr>
      </p:sp>
      <p:sp>
        <p:nvSpPr>
          <p:cNvPr id="10" name="Text 8"/>
          <p:cNvSpPr txBox="1"/>
          <p:nvPr/>
        </p:nvSpPr>
        <p:spPr>
          <a:xfrm>
            <a:off x="6461608" y="2761488"/>
            <a:ext cx="4952848" cy="114300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Overclaims</a:t>
            </a:r>
            <a:endParaRPr lang="en-US" sz="1700" dirty="0"/>
          </a:p>
          <a:p>
            <a:pPr indent="0" marL="0">
              <a:spcAft>
                <a:spcPts val="200"/>
              </a:spcAft>
              <a:buNone/>
            </a:pPr>
            <a:r>
              <a:rPr lang="en-US" sz="1600" dirty="0">
                <a:solidFill>
                  <a:schemeClr val="tx1"/>
                </a:solidFill>
              </a:rPr>
              <a:t>A “million-fold spread” in 2026 that is under half a million (4.8 × 10⁵).</a:t>
            </a:r>
            <a:endParaRPr lang="en-US" sz="1700" dirty="0"/>
          </a:p>
        </p:txBody>
      </p:sp>
      <p:sp>
        <p:nvSpPr>
          <p:cNvPr id="11" name="catch Wrong comparisons"/>
          <p:cNvSpPr/>
          <p:nvPr/>
        </p:nvSpPr>
        <p:spPr>
          <a:xfrm>
            <a:off x="548640" y="4114800"/>
            <a:ext cx="5410048" cy="1325880"/>
          </a:xfrm>
          <a:prstGeom prst="roundRect">
            <a:avLst>
              <a:gd name="adj" fmla="val 6897"/>
            </a:avLst>
          </a:prstGeom>
          <a:solidFill>
            <a:schemeClr val="bg2"/>
          </a:solidFill>
          <a:ln w="12700">
            <a:solidFill>
              <a:schemeClr val="bg2"/>
            </a:solidFill>
            <a:prstDash val="solid"/>
          </a:ln>
        </p:spPr>
      </p:sp>
      <p:sp>
        <p:nvSpPr>
          <p:cNvPr id="12" name="Text 10"/>
          <p:cNvSpPr txBox="1"/>
          <p:nvPr/>
        </p:nvSpPr>
        <p:spPr>
          <a:xfrm>
            <a:off x="777240" y="4224528"/>
            <a:ext cx="4952848" cy="114300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Wrong comparisons</a:t>
            </a:r>
            <a:endParaRPr lang="en-US" sz="1700" dirty="0"/>
          </a:p>
          <a:p>
            <a:pPr indent="0" marL="0">
              <a:spcAft>
                <a:spcPts val="200"/>
              </a:spcAft>
              <a:buNone/>
            </a:pPr>
            <a:r>
              <a:rPr lang="en-US" sz="1600" dirty="0">
                <a:solidFill>
                  <a:schemeClr val="tx1"/>
                </a:solidFill>
              </a:rPr>
              <a:t>“J beats every array library”: PDL::PP was faster. “Octave has the biggest gap within one language”: PDL's was bigger.</a:t>
            </a:r>
            <a:endParaRPr lang="en-US" sz="1700" dirty="0"/>
          </a:p>
        </p:txBody>
      </p:sp>
      <p:sp>
        <p:nvSpPr>
          <p:cNvPr id="13" name="catch Counting"/>
          <p:cNvSpPr/>
          <p:nvPr/>
        </p:nvSpPr>
        <p:spPr>
          <a:xfrm>
            <a:off x="6233008" y="4114800"/>
            <a:ext cx="5410048" cy="1325880"/>
          </a:xfrm>
          <a:prstGeom prst="roundRect">
            <a:avLst>
              <a:gd name="adj" fmla="val 6897"/>
            </a:avLst>
          </a:prstGeom>
          <a:solidFill>
            <a:schemeClr val="bg2"/>
          </a:solidFill>
          <a:ln w="12700">
            <a:solidFill>
              <a:schemeClr val="bg2"/>
            </a:solidFill>
            <a:prstDash val="solid"/>
          </a:ln>
        </p:spPr>
      </p:sp>
      <p:sp>
        <p:nvSpPr>
          <p:cNvPr id="14" name="Text 12"/>
          <p:cNvSpPr txBox="1"/>
          <p:nvPr/>
        </p:nvSpPr>
        <p:spPr>
          <a:xfrm>
            <a:off x="6461608" y="4224528"/>
            <a:ext cx="4952848" cy="114300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Counting</a:t>
            </a:r>
            <a:endParaRPr lang="en-US" sz="1700" dirty="0"/>
          </a:p>
          <a:p>
            <a:pPr indent="0" marL="0">
              <a:spcAft>
                <a:spcPts val="200"/>
              </a:spcAft>
              <a:buNone/>
            </a:pPr>
            <a:r>
              <a:rPr lang="en-US" sz="1600" dirty="0">
                <a:solidFill>
                  <a:schemeClr val="tx1"/>
                </a:solidFill>
              </a:rPr>
              <a:t>“Eleven new languages” that were sixteen. (Fifteen, counted strictly as Keith did: that one we only noticed this week.)</a:t>
            </a:r>
            <a:endParaRPr lang="en-US" sz="1700" dirty="0"/>
          </a:p>
        </p:txBody>
      </p:sp>
      <p:sp>
        <p:nvSpPr>
          <p:cNvPr id="15" name="Text 13"/>
          <p:cNvSpPr txBox="1"/>
          <p:nvPr/>
        </p:nvSpPr>
        <p:spPr>
          <a:xfrm>
            <a:off x="548640" y="5669280"/>
            <a:ext cx="11094415" cy="548640"/>
          </a:xfrm>
          <a:prstGeom prst="rect">
            <a:avLst/>
          </a:prstGeom>
          <a:no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About 7 rounds, 14 errors in the first four: claims that didn't match the log. Nobody reviewed the code.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11094415" cy="548640"/>
          </a:xfrm>
          <a:prstGeom prst="rect">
            <a:avLst/>
          </a:prstGeom>
          <a:noFill/>
          <a:ln/>
        </p:spPr>
        <p:txBody>
          <a:bodyPr wrap="square" lIns="0" tIns="0" rIns="0" bIns="0" rtlCol="0" anchor="ctr"/>
          <a:lstStyle/>
          <a:p>
            <a:pPr indent="0" marL="0">
              <a:buNone/>
            </a:pPr>
            <a:r>
              <a:rPr lang="en-US" sz="2600" b="1" dirty="0">
                <a:solidFill>
                  <a:schemeClr val="bg1"/>
                </a:solidFill>
                <a:latin typeface="+mj-lt" pitchFamily="34" charset="0"/>
                <a:ea typeface="+mj-lt" pitchFamily="34" charset="-122"/>
                <a:cs typeface="+mj-lt" pitchFamily="34" charset="-120"/>
              </a:rPr>
              <a:t>Backup: Keith's 12 languages from 2019</a:t>
            </a:r>
            <a:endParaRPr lang="en-US" sz="2600" dirty="0"/>
          </a:p>
        </p:txBody>
      </p:sp>
      <p:sp>
        <p:nvSpPr>
          <p:cNvPr id="3" name="code card Assembler (arm64 NEON)"/>
          <p:cNvSpPr/>
          <p:nvPr/>
        </p:nvSpPr>
        <p:spPr>
          <a:xfrm>
            <a:off x="548640" y="822960"/>
            <a:ext cx="3600602" cy="1346454"/>
          </a:xfrm>
          <a:prstGeom prst="roundRect">
            <a:avLst>
              <a:gd name="adj" fmla="val 6791"/>
            </a:avLst>
          </a:prstGeom>
          <a:solidFill>
            <a:srgbClr val="0D1117"/>
          </a:solidFill>
          <a:ln w="12700">
            <a:solidFill>
              <a:srgbClr val="0D1117"/>
            </a:solidFill>
            <a:prstDash val="solid"/>
          </a:ln>
        </p:spPr>
      </p:sp>
      <p:sp>
        <p:nvSpPr>
          <p:cNvPr id="4" name="Text 2"/>
          <p:cNvSpPr txBox="1"/>
          <p:nvPr/>
        </p:nvSpPr>
        <p:spPr>
          <a:xfrm>
            <a:off x="685800" y="868680"/>
            <a:ext cx="2594762" cy="219456"/>
          </a:xfrm>
          <a:prstGeom prst="rect">
            <a:avLst/>
          </a:prstGeom>
          <a:noFill/>
          <a:ln/>
        </p:spPr>
        <p:txBody>
          <a:bodyPr wrap="square" lIns="0" tIns="0" rIns="0" bIns="0" rtlCol="0" anchor="ctr"/>
          <a:lstStyle/>
          <a:p>
            <a:pPr indent="0" marL="0">
              <a:buNone/>
            </a:pPr>
            <a:r>
              <a:rPr lang="en-US" sz="1200" b="1" dirty="0">
                <a:solidFill>
                  <a:srgbClr val="E6EDF3"/>
                </a:solidFill>
              </a:rPr>
              <a:t>Assembler (arm64 NEON)</a:t>
            </a:r>
            <a:pPr indent="0" marL="0">
              <a:buNone/>
            </a:pPr>
            <a:r>
              <a:rPr lang="en-US" sz="800" dirty="0">
                <a:solidFill>
                  <a:srgbClr val="8B949E"/>
                </a:solidFill>
              </a:rPr>
              <a:t>   cnrsub_arm.s</a:t>
            </a:r>
            <a:endParaRPr lang="en-US" sz="1200" dirty="0"/>
          </a:p>
        </p:txBody>
      </p:sp>
      <p:sp>
        <p:nvSpPr>
          <p:cNvPr id="5" name="chip Assembler (arm64 NEON)"/>
          <p:cNvSpPr/>
          <p:nvPr/>
        </p:nvSpPr>
        <p:spPr>
          <a:xfrm>
            <a:off x="3280562" y="868680"/>
            <a:ext cx="731520" cy="219456"/>
          </a:xfrm>
          <a:prstGeom prst="roundRect">
            <a:avLst>
              <a:gd name="adj" fmla="val 33333"/>
            </a:avLst>
          </a:prstGeom>
          <a:solidFill>
            <a:srgbClr val="1A9850"/>
          </a:solidFill>
          <a:ln w="12700">
            <a:solidFill>
              <a:srgbClr val="1A9850"/>
            </a:solidFill>
            <a:prstDash val="solid"/>
          </a:ln>
        </p:spPr>
      </p:sp>
      <p:sp>
        <p:nvSpPr>
          <p:cNvPr id="6" name="Text 4"/>
          <p:cNvSpPr txBox="1"/>
          <p:nvPr/>
        </p:nvSpPr>
        <p:spPr>
          <a:xfrm>
            <a:off x="3280562" y="868680"/>
            <a:ext cx="731520" cy="219456"/>
          </a:xfrm>
          <a:prstGeom prst="rect">
            <a:avLst/>
          </a:prstGeom>
          <a:noFill/>
          <a:ln/>
        </p:spPr>
        <p:txBody>
          <a:bodyPr wrap="square" lIns="0" tIns="0" rIns="0" bIns="0" rtlCol="0" anchor="ctr"/>
          <a:lstStyle/>
          <a:p>
            <a:pPr algn="ctr" indent="0" marL="0">
              <a:buNone/>
            </a:pPr>
            <a:r>
              <a:rPr lang="en-US" sz="1000" b="1" dirty="0">
                <a:solidFill>
                  <a:srgbClr val="FFFFFF"/>
                </a:solidFill>
              </a:rPr>
              <a:t>1.00</a:t>
            </a:r>
            <a:endParaRPr lang="en-US" sz="1000" dirty="0"/>
          </a:p>
        </p:txBody>
      </p:sp>
      <p:sp>
        <p:nvSpPr>
          <p:cNvPr id="7" name="code Assembler (arm64 NEON)"/>
          <p:cNvSpPr txBox="1"/>
          <p:nvPr/>
        </p:nvSpPr>
        <p:spPr>
          <a:xfrm>
            <a:off x="685800" y="1133856"/>
            <a:ext cx="3326282" cy="980694"/>
          </a:xfrm>
          <a:prstGeom prst="rect">
            <a:avLst/>
          </a:prstGeom>
          <a:noFill/>
          <a:ln/>
        </p:spPr>
        <p:txBody>
          <a:bodyPr wrap="square" lIns="0" tIns="0" rIns="0" bIns="0" rtlCol="0" anchor="t"/>
          <a:lstStyle/>
          <a:p>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IxLoop:</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D2A8FF"/>
                </a:solidFill>
                <a:latin typeface="Courier New" pitchFamily="34" charset="0"/>
                <a:ea typeface="Courier New" pitchFamily="34" charset="-122"/>
                <a:cs typeface="Courier New" pitchFamily="34" charset="-120"/>
              </a:rPr>
              <a:t>ldp</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q17</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q18</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x14</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A5D6FF"/>
                </a:solidFill>
                <a:latin typeface="Courier New" pitchFamily="34" charset="0"/>
                <a:ea typeface="Courier New" pitchFamily="34" charset="-122"/>
                <a:cs typeface="Courier New" pitchFamily="34" charset="-120"/>
              </a:rPr>
              <a:t>#64</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D2A8FF"/>
                </a:solidFill>
                <a:latin typeface="Courier New" pitchFamily="34" charset="0"/>
                <a:ea typeface="Courier New" pitchFamily="34" charset="-122"/>
                <a:cs typeface="Courier New" pitchFamily="34" charset="-120"/>
              </a:rPr>
              <a:t>ldp</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q19</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q20</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x15</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A5D6FF"/>
                </a:solidFill>
                <a:latin typeface="Courier New" pitchFamily="34" charset="0"/>
                <a:ea typeface="Courier New" pitchFamily="34" charset="-122"/>
                <a:cs typeface="Courier New" pitchFamily="34" charset="-120"/>
              </a:rPr>
              <a:t>#64</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D2A8FF"/>
                </a:solidFill>
                <a:latin typeface="Courier New" pitchFamily="34" charset="0"/>
                <a:ea typeface="Courier New" pitchFamily="34" charset="-122"/>
                <a:cs typeface="Courier New" pitchFamily="34" charset="-120"/>
              </a:rPr>
              <a:t>fadd.4s</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v17</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v17</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v7</a:t>
            </a:r>
            <a:endParaRPr lang="en-US" sz="750" dirty="0"/>
          </a:p>
          <a:p>
            <a:pPr indent="0" marL="0">
              <a:lnSpc>
                <a:spcPts val="788"/>
              </a:lnSpc>
              <a:buNone/>
            </a:pPr>
            <a:r>
              <a:rPr lang="en-US" sz="750" dirty="0">
                <a:solidFill>
                  <a:srgbClr val="8B949E"/>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D2A8FF"/>
                </a:solidFill>
                <a:latin typeface="Courier New" pitchFamily="34" charset="0"/>
                <a:ea typeface="Courier New" pitchFamily="34" charset="-122"/>
                <a:cs typeface="Courier New" pitchFamily="34" charset="-120"/>
              </a:rPr>
              <a:t>stp</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q17</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q18</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x16</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A5D6FF"/>
                </a:solidFill>
                <a:latin typeface="Courier New" pitchFamily="34" charset="0"/>
                <a:ea typeface="Courier New" pitchFamily="34" charset="-122"/>
                <a:cs typeface="Courier New" pitchFamily="34" charset="-120"/>
              </a:rPr>
              <a:t>#64</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D2A8FF"/>
                </a:solidFill>
                <a:latin typeface="Courier New" pitchFamily="34" charset="0"/>
                <a:ea typeface="Courier New" pitchFamily="34" charset="-122"/>
                <a:cs typeface="Courier New" pitchFamily="34" charset="-120"/>
              </a:rPr>
              <a:t>stp</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q19</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q20</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x17</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A5D6FF"/>
                </a:solidFill>
                <a:latin typeface="Courier New" pitchFamily="34" charset="0"/>
                <a:ea typeface="Courier New" pitchFamily="34" charset="-122"/>
                <a:cs typeface="Courier New" pitchFamily="34" charset="-120"/>
              </a:rPr>
              <a:t>#64</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D2A8FF"/>
                </a:solidFill>
                <a:latin typeface="Courier New" pitchFamily="34" charset="0"/>
                <a:ea typeface="Courier New" pitchFamily="34" charset="-122"/>
                <a:cs typeface="Courier New" pitchFamily="34" charset="-120"/>
              </a:rPr>
              <a:t>subs</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x13</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x13</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A5D6FF"/>
                </a:solidFill>
                <a:latin typeface="Courier New" pitchFamily="34" charset="0"/>
                <a:ea typeface="Courier New" pitchFamily="34" charset="-122"/>
                <a:cs typeface="Courier New" pitchFamily="34" charset="-120"/>
              </a:rPr>
              <a:t>#1</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D2A8FF"/>
                </a:solidFill>
                <a:latin typeface="Courier New" pitchFamily="34" charset="0"/>
                <a:ea typeface="Courier New" pitchFamily="34" charset="-122"/>
                <a:cs typeface="Courier New" pitchFamily="34" charset="-120"/>
              </a:rPr>
              <a:t>b.ne</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79C0FF"/>
                </a:solidFill>
                <a:latin typeface="Courier New" pitchFamily="34" charset="0"/>
                <a:ea typeface="Courier New" pitchFamily="34" charset="-122"/>
                <a:cs typeface="Courier New" pitchFamily="34" charset="-120"/>
              </a:rPr>
              <a:t>IxLoop</a:t>
            </a:r>
            <a:endParaRPr lang="en-US" sz="750" dirty="0"/>
          </a:p>
        </p:txBody>
      </p:sp>
      <p:sp>
        <p:nvSpPr>
          <p:cNvPr id="8" name="code card C (Numerical Recipes)"/>
          <p:cNvSpPr/>
          <p:nvPr/>
        </p:nvSpPr>
        <p:spPr>
          <a:xfrm>
            <a:off x="4295546" y="822960"/>
            <a:ext cx="3600602" cy="1346454"/>
          </a:xfrm>
          <a:prstGeom prst="roundRect">
            <a:avLst>
              <a:gd name="adj" fmla="val 6791"/>
            </a:avLst>
          </a:prstGeom>
          <a:solidFill>
            <a:srgbClr val="0D1117"/>
          </a:solidFill>
          <a:ln w="12700">
            <a:solidFill>
              <a:srgbClr val="0D1117"/>
            </a:solidFill>
            <a:prstDash val="solid"/>
          </a:ln>
        </p:spPr>
      </p:sp>
      <p:sp>
        <p:nvSpPr>
          <p:cNvPr id="9" name="Text 7"/>
          <p:cNvSpPr txBox="1"/>
          <p:nvPr/>
        </p:nvSpPr>
        <p:spPr>
          <a:xfrm>
            <a:off x="4432706" y="868680"/>
            <a:ext cx="2594762" cy="219456"/>
          </a:xfrm>
          <a:prstGeom prst="rect">
            <a:avLst/>
          </a:prstGeom>
          <a:noFill/>
          <a:ln/>
        </p:spPr>
        <p:txBody>
          <a:bodyPr wrap="square" lIns="0" tIns="0" rIns="0" bIns="0" rtlCol="0" anchor="ctr"/>
          <a:lstStyle/>
          <a:p>
            <a:pPr indent="0" marL="0">
              <a:buNone/>
            </a:pPr>
            <a:r>
              <a:rPr lang="en-US" sz="1200" b="1" dirty="0">
                <a:solidFill>
                  <a:srgbClr val="E6EDF3"/>
                </a:solidFill>
              </a:rPr>
              <a:t>C (Numerical Recipes)</a:t>
            </a:r>
            <a:pPr indent="0" marL="0">
              <a:buNone/>
            </a:pPr>
            <a:r>
              <a:rPr lang="en-US" sz="800" dirty="0">
                <a:solidFill>
                  <a:srgbClr val="8B949E"/>
                </a:solidFill>
              </a:rPr>
              <a:t>   cnrsub.cpp</a:t>
            </a:r>
            <a:endParaRPr lang="en-US" sz="1200" dirty="0"/>
          </a:p>
        </p:txBody>
      </p:sp>
      <p:sp>
        <p:nvSpPr>
          <p:cNvPr id="10" name="chip C (Numerical Recipes)"/>
          <p:cNvSpPr/>
          <p:nvPr/>
        </p:nvSpPr>
        <p:spPr>
          <a:xfrm>
            <a:off x="7027469" y="868680"/>
            <a:ext cx="731520" cy="219456"/>
          </a:xfrm>
          <a:prstGeom prst="roundRect">
            <a:avLst>
              <a:gd name="adj" fmla="val 33333"/>
            </a:avLst>
          </a:prstGeom>
          <a:solidFill>
            <a:srgbClr val="66BD63"/>
          </a:solidFill>
          <a:ln w="12700">
            <a:solidFill>
              <a:srgbClr val="66BD63"/>
            </a:solidFill>
            <a:prstDash val="solid"/>
          </a:ln>
        </p:spPr>
      </p:sp>
      <p:sp>
        <p:nvSpPr>
          <p:cNvPr id="11" name="Text 9"/>
          <p:cNvSpPr txBox="1"/>
          <p:nvPr/>
        </p:nvSpPr>
        <p:spPr>
          <a:xfrm>
            <a:off x="7027469" y="86868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1.22</a:t>
            </a:r>
            <a:endParaRPr lang="en-US" sz="1000" dirty="0"/>
          </a:p>
        </p:txBody>
      </p:sp>
      <p:sp>
        <p:nvSpPr>
          <p:cNvPr id="12" name="code C (Numerical Recipes)"/>
          <p:cNvSpPr txBox="1"/>
          <p:nvPr/>
        </p:nvSpPr>
        <p:spPr>
          <a:xfrm>
            <a:off x="4432706" y="1133856"/>
            <a:ext cx="3326282" cy="980694"/>
          </a:xfrm>
          <a:prstGeom prst="rect">
            <a:avLst/>
          </a:prstGeom>
          <a:noFill/>
          <a:ln/>
        </p:spPr>
        <p:txBody>
          <a:bodyPr wrap="square" lIns="0" tIns="0" rIns="0" bIns="0" rtlCol="0" anchor="t"/>
          <a:lstStyle/>
          <a:p>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void</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subr</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float</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In[],</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int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Nx,</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int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Ny,</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float</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Out[])</a:t>
            </a:r>
            <a:endParaRPr lang="en-US" sz="750" dirty="0"/>
          </a:p>
          <a:p>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8B949E"/>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for</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int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Iy</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A5D6FF"/>
                </a:solidFill>
                <a:latin typeface="Courier New" pitchFamily="34" charset="0"/>
                <a:ea typeface="Courier New" pitchFamily="34" charset="-122"/>
                <a:cs typeface="Courier New" pitchFamily="34" charset="-120"/>
              </a:rPr>
              <a:t>0</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Iy</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&lt;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Ny;</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Iy</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for</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int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Ix</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A5D6FF"/>
                </a:solidFill>
                <a:latin typeface="Courier New" pitchFamily="34" charset="0"/>
                <a:ea typeface="Courier New" pitchFamily="34" charset="-122"/>
                <a:cs typeface="Courier New" pitchFamily="34" charset="-120"/>
              </a:rPr>
              <a:t>0</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Ix</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&lt;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Nx;</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Ix</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Out[Iy][Ix]</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In[Iy][Ix]</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Ix</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Iy;</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endParaRPr lang="en-US" sz="750" dirty="0"/>
          </a:p>
        </p:txBody>
      </p:sp>
      <p:sp>
        <p:nvSpPr>
          <p:cNvPr id="13" name="code card Fortran"/>
          <p:cNvSpPr/>
          <p:nvPr/>
        </p:nvSpPr>
        <p:spPr>
          <a:xfrm>
            <a:off x="8042453" y="822960"/>
            <a:ext cx="3600602" cy="1346454"/>
          </a:xfrm>
          <a:prstGeom prst="roundRect">
            <a:avLst>
              <a:gd name="adj" fmla="val 6791"/>
            </a:avLst>
          </a:prstGeom>
          <a:solidFill>
            <a:srgbClr val="0D1117"/>
          </a:solidFill>
          <a:ln w="12700">
            <a:solidFill>
              <a:srgbClr val="0D1117"/>
            </a:solidFill>
            <a:prstDash val="solid"/>
          </a:ln>
        </p:spPr>
      </p:sp>
      <p:sp>
        <p:nvSpPr>
          <p:cNvPr id="14" name="Text 12"/>
          <p:cNvSpPr txBox="1"/>
          <p:nvPr/>
        </p:nvSpPr>
        <p:spPr>
          <a:xfrm>
            <a:off x="8179613" y="868680"/>
            <a:ext cx="2594762" cy="219456"/>
          </a:xfrm>
          <a:prstGeom prst="rect">
            <a:avLst/>
          </a:prstGeom>
          <a:noFill/>
          <a:ln/>
        </p:spPr>
        <p:txBody>
          <a:bodyPr wrap="square" lIns="0" tIns="0" rIns="0" bIns="0" rtlCol="0" anchor="ctr"/>
          <a:lstStyle/>
          <a:p>
            <a:pPr indent="0" marL="0">
              <a:buNone/>
            </a:pPr>
            <a:r>
              <a:rPr lang="en-US" sz="1200" b="1" dirty="0">
                <a:solidFill>
                  <a:srgbClr val="E6EDF3"/>
                </a:solidFill>
              </a:rPr>
              <a:t>Fortran</a:t>
            </a:r>
            <a:pPr indent="0" marL="0">
              <a:buNone/>
            </a:pPr>
            <a:r>
              <a:rPr lang="en-US" sz="800" dirty="0">
                <a:solidFill>
                  <a:srgbClr val="8B949E"/>
                </a:solidFill>
              </a:rPr>
              <a:t>   cfsub.f</a:t>
            </a:r>
            <a:endParaRPr lang="en-US" sz="1200" dirty="0"/>
          </a:p>
        </p:txBody>
      </p:sp>
      <p:sp>
        <p:nvSpPr>
          <p:cNvPr id="15" name="chip Fortran"/>
          <p:cNvSpPr/>
          <p:nvPr/>
        </p:nvSpPr>
        <p:spPr>
          <a:xfrm>
            <a:off x="10774375" y="868680"/>
            <a:ext cx="731520" cy="219456"/>
          </a:xfrm>
          <a:prstGeom prst="roundRect">
            <a:avLst>
              <a:gd name="adj" fmla="val 33333"/>
            </a:avLst>
          </a:prstGeom>
          <a:solidFill>
            <a:srgbClr val="66BD63"/>
          </a:solidFill>
          <a:ln w="12700">
            <a:solidFill>
              <a:srgbClr val="66BD63"/>
            </a:solidFill>
            <a:prstDash val="solid"/>
          </a:ln>
        </p:spPr>
      </p:sp>
      <p:sp>
        <p:nvSpPr>
          <p:cNvPr id="16" name="Text 14"/>
          <p:cNvSpPr txBox="1"/>
          <p:nvPr/>
        </p:nvSpPr>
        <p:spPr>
          <a:xfrm>
            <a:off x="10774375" y="868680"/>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2.05</a:t>
            </a:r>
            <a:endParaRPr lang="en-US" sz="1000" dirty="0"/>
          </a:p>
        </p:txBody>
      </p:sp>
      <p:sp>
        <p:nvSpPr>
          <p:cNvPr id="17" name="code Fortran"/>
          <p:cNvSpPr txBox="1"/>
          <p:nvPr/>
        </p:nvSpPr>
        <p:spPr>
          <a:xfrm>
            <a:off x="8179613" y="1133856"/>
            <a:ext cx="3326282" cy="980694"/>
          </a:xfrm>
          <a:prstGeom prst="rect">
            <a:avLst/>
          </a:prstGeom>
          <a:noFill/>
          <a:ln/>
        </p:spPr>
        <p:txBody>
          <a:bodyPr wrap="square" lIns="0" tIns="0" rIns="0" bIns="0" rtlCol="0" anchor="t"/>
          <a:lstStyle/>
          <a:p>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subroutine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sub</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(In,Nx,Ny,Out)</a:t>
            </a:r>
            <a:endParaRPr lang="en-US" sz="800" dirty="0"/>
          </a:p>
          <a:p>
            <a:pPr indent="0" marL="0">
              <a:lnSpc>
                <a:spcPts val="840"/>
              </a:lnSpc>
              <a:buNone/>
            </a:pPr>
            <a:r>
              <a:rPr lang="en-US" sz="800" dirty="0">
                <a:solidFill>
                  <a:srgbClr val="8B949E"/>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do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A5D6FF"/>
                </a:solidFill>
                <a:latin typeface="Courier New" pitchFamily="34" charset="0"/>
                <a:ea typeface="Courier New" pitchFamily="34" charset="-122"/>
                <a:cs typeface="Courier New" pitchFamily="34" charset="-120"/>
              </a:rPr>
              <a:t>1</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,Ny</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do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A5D6FF"/>
                </a:solidFill>
                <a:latin typeface="Courier New" pitchFamily="34" charset="0"/>
                <a:ea typeface="Courier New" pitchFamily="34" charset="-122"/>
                <a:cs typeface="Courier New" pitchFamily="34" charset="-120"/>
              </a:rPr>
              <a:t>1</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,Nx</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Out(Ix,Iy)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In(Ix,Iy)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end do</a:t>
            </a:r>
            <a:endParaRPr lang="en-US" sz="800" dirty="0"/>
          </a:p>
          <a:p>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end do</a:t>
            </a:r>
            <a:endParaRPr lang="en-US" sz="800" dirty="0"/>
          </a:p>
          <a:p>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end</a:t>
            </a:r>
            <a:endParaRPr lang="en-US" sz="800" dirty="0"/>
          </a:p>
        </p:txBody>
      </p:sp>
      <p:sp>
        <p:nvSpPr>
          <p:cNvPr id="18" name="code card Python + numba"/>
          <p:cNvSpPr/>
          <p:nvPr/>
        </p:nvSpPr>
        <p:spPr>
          <a:xfrm>
            <a:off x="548640" y="2279142"/>
            <a:ext cx="3600602" cy="1346454"/>
          </a:xfrm>
          <a:prstGeom prst="roundRect">
            <a:avLst>
              <a:gd name="adj" fmla="val 6791"/>
            </a:avLst>
          </a:prstGeom>
          <a:solidFill>
            <a:srgbClr val="0D1117"/>
          </a:solidFill>
          <a:ln w="12700">
            <a:solidFill>
              <a:srgbClr val="0D1117"/>
            </a:solidFill>
            <a:prstDash val="solid"/>
          </a:ln>
        </p:spPr>
      </p:sp>
      <p:sp>
        <p:nvSpPr>
          <p:cNvPr id="19" name="Text 17"/>
          <p:cNvSpPr txBox="1"/>
          <p:nvPr/>
        </p:nvSpPr>
        <p:spPr>
          <a:xfrm>
            <a:off x="685800" y="2324862"/>
            <a:ext cx="2594762" cy="219456"/>
          </a:xfrm>
          <a:prstGeom prst="rect">
            <a:avLst/>
          </a:prstGeom>
          <a:noFill/>
          <a:ln/>
        </p:spPr>
        <p:txBody>
          <a:bodyPr wrap="square" lIns="0" tIns="0" rIns="0" bIns="0" rtlCol="0" anchor="ctr"/>
          <a:lstStyle/>
          <a:p>
            <a:pPr indent="0" marL="0">
              <a:buNone/>
            </a:pPr>
            <a:r>
              <a:rPr lang="en-US" sz="1200" b="1" dirty="0">
                <a:solidFill>
                  <a:srgbClr val="E6EDF3"/>
                </a:solidFill>
              </a:rPr>
              <a:t>Python + numba</a:t>
            </a:r>
            <a:pPr indent="0" marL="0">
              <a:buNone/>
            </a:pPr>
            <a:r>
              <a:rPr lang="en-US" sz="800" dirty="0">
                <a:solidFill>
                  <a:srgbClr val="8B949E"/>
                </a:solidFill>
              </a:rPr>
              <a:t>   csubnp-numba.py</a:t>
            </a:r>
            <a:endParaRPr lang="en-US" sz="1200" dirty="0"/>
          </a:p>
        </p:txBody>
      </p:sp>
      <p:sp>
        <p:nvSpPr>
          <p:cNvPr id="20" name="chip Python + numba"/>
          <p:cNvSpPr/>
          <p:nvPr/>
        </p:nvSpPr>
        <p:spPr>
          <a:xfrm>
            <a:off x="3280562" y="2324862"/>
            <a:ext cx="731520" cy="219456"/>
          </a:xfrm>
          <a:prstGeom prst="roundRect">
            <a:avLst>
              <a:gd name="adj" fmla="val 33333"/>
            </a:avLst>
          </a:prstGeom>
          <a:solidFill>
            <a:srgbClr val="A6D96A"/>
          </a:solidFill>
          <a:ln w="12700">
            <a:solidFill>
              <a:srgbClr val="A6D96A"/>
            </a:solidFill>
            <a:prstDash val="solid"/>
          </a:ln>
        </p:spPr>
      </p:sp>
      <p:sp>
        <p:nvSpPr>
          <p:cNvPr id="21" name="Text 19"/>
          <p:cNvSpPr txBox="1"/>
          <p:nvPr/>
        </p:nvSpPr>
        <p:spPr>
          <a:xfrm>
            <a:off x="3280562" y="2324862"/>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3.15</a:t>
            </a:r>
            <a:endParaRPr lang="en-US" sz="1000" dirty="0"/>
          </a:p>
        </p:txBody>
      </p:sp>
      <p:sp>
        <p:nvSpPr>
          <p:cNvPr id="22" name="code Python + numba"/>
          <p:cNvSpPr txBox="1"/>
          <p:nvPr/>
        </p:nvSpPr>
        <p:spPr>
          <a:xfrm>
            <a:off x="685800" y="2590038"/>
            <a:ext cx="3326282" cy="980694"/>
          </a:xfrm>
          <a:prstGeom prst="rect">
            <a:avLst/>
          </a:prstGeom>
          <a:noFill/>
          <a:ln/>
        </p:spPr>
        <p:txBody>
          <a:bodyPr wrap="square" lIns="0" tIns="0" rIns="0" bIns="0" rtlCol="0" anchor="t"/>
          <a:lstStyle/>
          <a:p>
            <a:pPr indent="0" marL="0">
              <a:lnSpc>
                <a:spcPts val="840"/>
              </a:lnSpc>
              <a:buNone/>
            </a:pPr>
            <a:r>
              <a:rPr lang="en-US" sz="800" b="1" dirty="0">
                <a:solidFill>
                  <a:srgbClr val="D2A8FF"/>
                </a:solidFill>
                <a:latin typeface="Courier New" pitchFamily="34" charset="0"/>
                <a:ea typeface="Courier New" pitchFamily="34" charset="-122"/>
                <a:cs typeface="Courier New" pitchFamily="34" charset="-120"/>
              </a:rPr>
              <a:t>@numba</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jit</a:t>
            </a:r>
            <a:endParaRPr lang="en-US" sz="800" dirty="0"/>
          </a:p>
          <a:p>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def</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D2A8FF"/>
                </a:solidFill>
                <a:latin typeface="Courier New" pitchFamily="34" charset="0"/>
                <a:ea typeface="Courier New" pitchFamily="34" charset="-122"/>
                <a:cs typeface="Courier New" pitchFamily="34" charset="-120"/>
              </a:rPr>
              <a:t>subr</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(ina,nx,ny,out):</a:t>
            </a:r>
            <a:endParaRPr lang="en-US" sz="800" dirty="0"/>
          </a:p>
          <a:p>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for</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 iy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in</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 range(ny):</a:t>
            </a:r>
            <a:endParaRPr lang="en-US" sz="800" dirty="0"/>
          </a:p>
          <a:p>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for</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 ix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in</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 range(nx):</a:t>
            </a:r>
            <a:endParaRPr lang="en-US" sz="800" dirty="0"/>
          </a:p>
          <a:p>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         out[iy,ix]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 ina[iy,ix]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 ix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 iy</a:t>
            </a:r>
            <a:endParaRPr lang="en-US" sz="800" dirty="0"/>
          </a:p>
        </p:txBody>
      </p:sp>
      <p:sp>
        <p:nvSpPr>
          <p:cNvPr id="23" name="code card Julia"/>
          <p:cNvSpPr/>
          <p:nvPr/>
        </p:nvSpPr>
        <p:spPr>
          <a:xfrm>
            <a:off x="4295546" y="2279142"/>
            <a:ext cx="3600602" cy="1346454"/>
          </a:xfrm>
          <a:prstGeom prst="roundRect">
            <a:avLst>
              <a:gd name="adj" fmla="val 6791"/>
            </a:avLst>
          </a:prstGeom>
          <a:solidFill>
            <a:srgbClr val="0D1117"/>
          </a:solidFill>
          <a:ln w="12700">
            <a:solidFill>
              <a:srgbClr val="0D1117"/>
            </a:solidFill>
            <a:prstDash val="solid"/>
          </a:ln>
        </p:spPr>
      </p:sp>
      <p:sp>
        <p:nvSpPr>
          <p:cNvPr id="24" name="Text 22"/>
          <p:cNvSpPr txBox="1"/>
          <p:nvPr/>
        </p:nvSpPr>
        <p:spPr>
          <a:xfrm>
            <a:off x="4432706" y="2324862"/>
            <a:ext cx="2594762" cy="219456"/>
          </a:xfrm>
          <a:prstGeom prst="rect">
            <a:avLst/>
          </a:prstGeom>
          <a:noFill/>
          <a:ln/>
        </p:spPr>
        <p:txBody>
          <a:bodyPr wrap="square" lIns="0" tIns="0" rIns="0" bIns="0" rtlCol="0" anchor="ctr"/>
          <a:lstStyle/>
          <a:p>
            <a:pPr indent="0" marL="0">
              <a:buNone/>
            </a:pPr>
            <a:r>
              <a:rPr lang="en-US" sz="1200" b="1" dirty="0">
                <a:solidFill>
                  <a:srgbClr val="E6EDF3"/>
                </a:solidFill>
              </a:rPr>
              <a:t>Julia</a:t>
            </a:r>
            <a:pPr indent="0" marL="0">
              <a:buNone/>
            </a:pPr>
            <a:r>
              <a:rPr lang="en-US" sz="800" dirty="0">
                <a:solidFill>
                  <a:srgbClr val="8B949E"/>
                </a:solidFill>
              </a:rPr>
              <a:t>   csub.jl</a:t>
            </a:r>
            <a:endParaRPr lang="en-US" sz="1200" dirty="0"/>
          </a:p>
        </p:txBody>
      </p:sp>
      <p:sp>
        <p:nvSpPr>
          <p:cNvPr id="25" name="chip Julia"/>
          <p:cNvSpPr/>
          <p:nvPr/>
        </p:nvSpPr>
        <p:spPr>
          <a:xfrm>
            <a:off x="7027469" y="2324862"/>
            <a:ext cx="731520" cy="219456"/>
          </a:xfrm>
          <a:prstGeom prst="roundRect">
            <a:avLst>
              <a:gd name="adj" fmla="val 33333"/>
            </a:avLst>
          </a:prstGeom>
          <a:solidFill>
            <a:srgbClr val="A6D96A"/>
          </a:solidFill>
          <a:ln w="12700">
            <a:solidFill>
              <a:srgbClr val="A6D96A"/>
            </a:solidFill>
            <a:prstDash val="solid"/>
          </a:ln>
        </p:spPr>
      </p:sp>
      <p:sp>
        <p:nvSpPr>
          <p:cNvPr id="26" name="Text 24"/>
          <p:cNvSpPr txBox="1"/>
          <p:nvPr/>
        </p:nvSpPr>
        <p:spPr>
          <a:xfrm>
            <a:off x="7027469" y="2324862"/>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3.40</a:t>
            </a:r>
            <a:endParaRPr lang="en-US" sz="1000" dirty="0"/>
          </a:p>
        </p:txBody>
      </p:sp>
      <p:sp>
        <p:nvSpPr>
          <p:cNvPr id="27" name="code Julia"/>
          <p:cNvSpPr txBox="1"/>
          <p:nvPr/>
        </p:nvSpPr>
        <p:spPr>
          <a:xfrm>
            <a:off x="4432706" y="2590038"/>
            <a:ext cx="3326282" cy="980694"/>
          </a:xfrm>
          <a:prstGeom prst="rect">
            <a:avLst/>
          </a:prstGeom>
          <a:noFill/>
          <a:ln/>
        </p:spPr>
        <p:txBody>
          <a:bodyPr wrap="square" lIns="0" tIns="0" rIns="0" bIns="0" rtlCol="0" anchor="t"/>
          <a:lstStyle/>
          <a:p>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function</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subr!(</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in</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,nx,ny,out)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for</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A5D6FF"/>
                </a:solidFill>
                <a:latin typeface="Courier New" pitchFamily="34" charset="0"/>
                <a:ea typeface="Courier New" pitchFamily="34" charset="-122"/>
                <a:cs typeface="Courier New" pitchFamily="34" charset="-120"/>
              </a:rPr>
              <a:t>1</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ny</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for</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A5D6FF"/>
                </a:solidFill>
                <a:latin typeface="Courier New" pitchFamily="34" charset="0"/>
                <a:ea typeface="Courier New" pitchFamily="34" charset="-122"/>
                <a:cs typeface="Courier New" pitchFamily="34" charset="-120"/>
              </a:rPr>
              <a:t>1</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nx</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out[ix,iy]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in</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[ix,iy]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end</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end</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return</a:t>
            </a:r>
            <a:endParaRPr lang="en-US" sz="800" dirty="0"/>
          </a:p>
          <a:p>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end</a:t>
            </a:r>
            <a:endParaRPr lang="en-US" sz="800" dirty="0"/>
          </a:p>
        </p:txBody>
      </p:sp>
      <p:sp>
        <p:nvSpPr>
          <p:cNvPr id="28" name="code card Java"/>
          <p:cNvSpPr/>
          <p:nvPr/>
        </p:nvSpPr>
        <p:spPr>
          <a:xfrm>
            <a:off x="8042453" y="2279142"/>
            <a:ext cx="3600602" cy="1346454"/>
          </a:xfrm>
          <a:prstGeom prst="roundRect">
            <a:avLst>
              <a:gd name="adj" fmla="val 6791"/>
            </a:avLst>
          </a:prstGeom>
          <a:solidFill>
            <a:srgbClr val="0D1117"/>
          </a:solidFill>
          <a:ln w="12700">
            <a:solidFill>
              <a:srgbClr val="0D1117"/>
            </a:solidFill>
            <a:prstDash val="solid"/>
          </a:ln>
        </p:spPr>
      </p:sp>
      <p:sp>
        <p:nvSpPr>
          <p:cNvPr id="29" name="Text 27"/>
          <p:cNvSpPr txBox="1"/>
          <p:nvPr/>
        </p:nvSpPr>
        <p:spPr>
          <a:xfrm>
            <a:off x="8179613" y="2324862"/>
            <a:ext cx="2594762" cy="219456"/>
          </a:xfrm>
          <a:prstGeom prst="rect">
            <a:avLst/>
          </a:prstGeom>
          <a:noFill/>
          <a:ln/>
        </p:spPr>
        <p:txBody>
          <a:bodyPr wrap="square" lIns="0" tIns="0" rIns="0" bIns="0" rtlCol="0" anchor="ctr"/>
          <a:lstStyle/>
          <a:p>
            <a:pPr indent="0" marL="0">
              <a:buNone/>
            </a:pPr>
            <a:r>
              <a:rPr lang="en-US" sz="1200" b="1" dirty="0">
                <a:solidFill>
                  <a:srgbClr val="E6EDF3"/>
                </a:solidFill>
              </a:rPr>
              <a:t>Java</a:t>
            </a:r>
            <a:pPr indent="0" marL="0">
              <a:buNone/>
            </a:pPr>
            <a:r>
              <a:rPr lang="en-US" sz="800" dirty="0">
                <a:solidFill>
                  <a:srgbClr val="8B949E"/>
                </a:solidFill>
              </a:rPr>
              <a:t>   csub.java</a:t>
            </a:r>
            <a:endParaRPr lang="en-US" sz="1200" dirty="0"/>
          </a:p>
        </p:txBody>
      </p:sp>
      <p:sp>
        <p:nvSpPr>
          <p:cNvPr id="30" name="chip Java"/>
          <p:cNvSpPr/>
          <p:nvPr/>
        </p:nvSpPr>
        <p:spPr>
          <a:xfrm>
            <a:off x="10774375" y="2324862"/>
            <a:ext cx="731520" cy="219456"/>
          </a:xfrm>
          <a:prstGeom prst="roundRect">
            <a:avLst>
              <a:gd name="adj" fmla="val 33333"/>
            </a:avLst>
          </a:prstGeom>
          <a:solidFill>
            <a:srgbClr val="A6D96A"/>
          </a:solidFill>
          <a:ln w="12700">
            <a:solidFill>
              <a:srgbClr val="A6D96A"/>
            </a:solidFill>
            <a:prstDash val="solid"/>
          </a:ln>
        </p:spPr>
      </p:sp>
      <p:sp>
        <p:nvSpPr>
          <p:cNvPr id="31" name="Text 29"/>
          <p:cNvSpPr txBox="1"/>
          <p:nvPr/>
        </p:nvSpPr>
        <p:spPr>
          <a:xfrm>
            <a:off x="10774375" y="2324862"/>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3.70</a:t>
            </a:r>
            <a:endParaRPr lang="en-US" sz="1000" dirty="0"/>
          </a:p>
        </p:txBody>
      </p:sp>
      <p:sp>
        <p:nvSpPr>
          <p:cNvPr id="32" name="code Java"/>
          <p:cNvSpPr txBox="1"/>
          <p:nvPr/>
        </p:nvSpPr>
        <p:spPr>
          <a:xfrm>
            <a:off x="8179613" y="2590038"/>
            <a:ext cx="3326282" cy="980694"/>
          </a:xfrm>
          <a:prstGeom prst="rect">
            <a:avLst/>
          </a:prstGeom>
          <a:noFill/>
          <a:ln/>
        </p:spPr>
        <p:txBody>
          <a:bodyPr wrap="square" lIns="0" tIns="0" rIns="0" bIns="0" rtlCol="0" anchor="t"/>
          <a:lstStyle/>
          <a:p>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public</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static</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void</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D2A8FF"/>
                </a:solidFill>
                <a:latin typeface="Courier New" pitchFamily="34" charset="0"/>
                <a:ea typeface="Courier New" pitchFamily="34" charset="-122"/>
                <a:cs typeface="Courier New" pitchFamily="34" charset="-120"/>
              </a:rPr>
              <a:t>subr</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float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in</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int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nx,</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int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ny,</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float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out</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int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ix,iy;</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&lt;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&lt;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nx;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out</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in</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ix;</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p:txBody>
      </p:sp>
      <p:sp>
        <p:nvSpPr>
          <p:cNvPr id="33" name="code card Rust"/>
          <p:cNvSpPr/>
          <p:nvPr/>
        </p:nvSpPr>
        <p:spPr>
          <a:xfrm>
            <a:off x="548640" y="3735324"/>
            <a:ext cx="3600602" cy="1346454"/>
          </a:xfrm>
          <a:prstGeom prst="roundRect">
            <a:avLst>
              <a:gd name="adj" fmla="val 6791"/>
            </a:avLst>
          </a:prstGeom>
          <a:solidFill>
            <a:srgbClr val="0D1117"/>
          </a:solidFill>
          <a:ln w="12700">
            <a:solidFill>
              <a:srgbClr val="0D1117"/>
            </a:solidFill>
            <a:prstDash val="solid"/>
          </a:ln>
        </p:spPr>
      </p:sp>
      <p:sp>
        <p:nvSpPr>
          <p:cNvPr id="34" name="Text 32"/>
          <p:cNvSpPr txBox="1"/>
          <p:nvPr/>
        </p:nvSpPr>
        <p:spPr>
          <a:xfrm>
            <a:off x="685800" y="3781044"/>
            <a:ext cx="2594762" cy="219456"/>
          </a:xfrm>
          <a:prstGeom prst="rect">
            <a:avLst/>
          </a:prstGeom>
          <a:noFill/>
          <a:ln/>
        </p:spPr>
        <p:txBody>
          <a:bodyPr wrap="square" lIns="0" tIns="0" rIns="0" bIns="0" rtlCol="0" anchor="ctr"/>
          <a:lstStyle/>
          <a:p>
            <a:pPr indent="0" marL="0">
              <a:buNone/>
            </a:pPr>
            <a:r>
              <a:rPr lang="en-US" sz="1200" b="1" dirty="0">
                <a:solidFill>
                  <a:srgbClr val="E6EDF3"/>
                </a:solidFill>
              </a:rPr>
              <a:t>Rust</a:t>
            </a:r>
            <a:pPr indent="0" marL="0">
              <a:buNone/>
            </a:pPr>
            <a:r>
              <a:rPr lang="en-US" sz="800" dirty="0">
                <a:solidFill>
                  <a:srgbClr val="8B949E"/>
                </a:solidFill>
              </a:rPr>
              <a:t>   crssub.rs</a:t>
            </a:r>
            <a:endParaRPr lang="en-US" sz="1200" dirty="0"/>
          </a:p>
        </p:txBody>
      </p:sp>
      <p:sp>
        <p:nvSpPr>
          <p:cNvPr id="35" name="chip Rust"/>
          <p:cNvSpPr/>
          <p:nvPr/>
        </p:nvSpPr>
        <p:spPr>
          <a:xfrm>
            <a:off x="3280562" y="3781044"/>
            <a:ext cx="731520" cy="219456"/>
          </a:xfrm>
          <a:prstGeom prst="roundRect">
            <a:avLst>
              <a:gd name="adj" fmla="val 33333"/>
            </a:avLst>
          </a:prstGeom>
          <a:solidFill>
            <a:srgbClr val="FEE08B"/>
          </a:solidFill>
          <a:ln w="12700">
            <a:solidFill>
              <a:srgbClr val="FEE08B"/>
            </a:solidFill>
            <a:prstDash val="solid"/>
          </a:ln>
        </p:spPr>
      </p:sp>
      <p:sp>
        <p:nvSpPr>
          <p:cNvPr id="36" name="Text 34"/>
          <p:cNvSpPr txBox="1"/>
          <p:nvPr/>
        </p:nvSpPr>
        <p:spPr>
          <a:xfrm>
            <a:off x="3280562" y="3781044"/>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12.04</a:t>
            </a:r>
            <a:endParaRPr lang="en-US" sz="1000" dirty="0"/>
          </a:p>
        </p:txBody>
      </p:sp>
      <p:sp>
        <p:nvSpPr>
          <p:cNvPr id="37" name="code Rust"/>
          <p:cNvSpPr txBox="1"/>
          <p:nvPr/>
        </p:nvSpPr>
        <p:spPr>
          <a:xfrm>
            <a:off x="685800" y="4046220"/>
            <a:ext cx="3326282" cy="980694"/>
          </a:xfrm>
          <a:prstGeom prst="rect">
            <a:avLst/>
          </a:prstGeom>
          <a:noFill/>
          <a:ln/>
        </p:spPr>
        <p:txBody>
          <a:bodyPr wrap="square" lIns="0" tIns="0" rIns="0" bIns="0" rtlCol="0" anchor="t"/>
          <a:lstStyle/>
          <a:p>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for</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iy</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in</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A5D6FF"/>
                </a:solidFill>
                <a:latin typeface="Courier New" pitchFamily="34" charset="0"/>
                <a:ea typeface="Courier New" pitchFamily="34" charset="-122"/>
                <a:cs typeface="Courier New" pitchFamily="34" charset="-120"/>
              </a:rPr>
              <a:t>0</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ny</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for</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in</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A5D6FF"/>
                </a:solidFill>
                <a:latin typeface="Courier New" pitchFamily="34" charset="0"/>
                <a:ea typeface="Courier New" pitchFamily="34" charset="-122"/>
                <a:cs typeface="Courier New" pitchFamily="34" charset="-120"/>
              </a:rPr>
              <a:t>0</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nx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output_array[iy][ix]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input_array[iy][ix]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(ix</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b="1" dirty="0">
                <a:solidFill>
                  <a:srgbClr val="FF7B72"/>
                </a:solidFill>
                <a:latin typeface="Courier New" pitchFamily="34" charset="0"/>
                <a:ea typeface="Courier New" pitchFamily="34" charset="-122"/>
                <a:cs typeface="Courier New" pitchFamily="34" charset="-120"/>
              </a:rPr>
              <a:t>+</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iy)</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as</a:t>
            </a:r>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FF7B72"/>
                </a:solidFill>
                <a:latin typeface="Courier New" pitchFamily="34" charset="0"/>
                <a:ea typeface="Courier New" pitchFamily="34" charset="-122"/>
                <a:cs typeface="Courier New" pitchFamily="34" charset="-120"/>
              </a:rPr>
              <a:t>f32</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6E7681"/>
                </a:solidFill>
                <a:latin typeface="Courier New" pitchFamily="34" charset="0"/>
                <a:ea typeface="Courier New" pitchFamily="34" charset="-122"/>
                <a:cs typeface="Courier New" pitchFamily="34" charset="-120"/>
              </a:rPr>
              <a:t>   </a:t>
            </a:r>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a:p>
            <a:pPr indent="0" marL="0">
              <a:lnSpc>
                <a:spcPts val="630"/>
              </a:lnSpc>
              <a:buNone/>
            </a:pPr>
            <a:r>
              <a:rPr lang="en-US" sz="600" dirty="0">
                <a:solidFill>
                  <a:srgbClr val="E6EDF3"/>
                </a:solidFill>
                <a:latin typeface="Courier New" pitchFamily="34" charset="0"/>
                <a:ea typeface="Courier New" pitchFamily="34" charset="-122"/>
                <a:cs typeface="Courier New" pitchFamily="34" charset="-120"/>
              </a:rPr>
              <a:t>}</a:t>
            </a:r>
            <a:endParaRPr lang="en-US" sz="600" dirty="0"/>
          </a:p>
        </p:txBody>
      </p:sp>
      <p:sp>
        <p:nvSpPr>
          <p:cNvPr id="38" name="code card Swift"/>
          <p:cNvSpPr/>
          <p:nvPr/>
        </p:nvSpPr>
        <p:spPr>
          <a:xfrm>
            <a:off x="4295546" y="3735324"/>
            <a:ext cx="3600602" cy="1346454"/>
          </a:xfrm>
          <a:prstGeom prst="roundRect">
            <a:avLst>
              <a:gd name="adj" fmla="val 6791"/>
            </a:avLst>
          </a:prstGeom>
          <a:solidFill>
            <a:srgbClr val="0D1117"/>
          </a:solidFill>
          <a:ln w="12700">
            <a:solidFill>
              <a:srgbClr val="0D1117"/>
            </a:solidFill>
            <a:prstDash val="solid"/>
          </a:ln>
        </p:spPr>
      </p:sp>
      <p:sp>
        <p:nvSpPr>
          <p:cNvPr id="39" name="Text 37"/>
          <p:cNvSpPr txBox="1"/>
          <p:nvPr/>
        </p:nvSpPr>
        <p:spPr>
          <a:xfrm>
            <a:off x="4432706" y="3781044"/>
            <a:ext cx="2594762" cy="219456"/>
          </a:xfrm>
          <a:prstGeom prst="rect">
            <a:avLst/>
          </a:prstGeom>
          <a:noFill/>
          <a:ln/>
        </p:spPr>
        <p:txBody>
          <a:bodyPr wrap="square" lIns="0" tIns="0" rIns="0" bIns="0" rtlCol="0" anchor="ctr"/>
          <a:lstStyle/>
          <a:p>
            <a:pPr indent="0" marL="0">
              <a:buNone/>
            </a:pPr>
            <a:r>
              <a:rPr lang="en-US" sz="1200" b="1" dirty="0">
                <a:solidFill>
                  <a:srgbClr val="E6EDF3"/>
                </a:solidFill>
              </a:rPr>
              <a:t>Swift</a:t>
            </a:r>
            <a:pPr indent="0" marL="0">
              <a:buNone/>
            </a:pPr>
            <a:r>
              <a:rPr lang="en-US" sz="800" dirty="0">
                <a:solidFill>
                  <a:srgbClr val="8B949E"/>
                </a:solidFill>
              </a:rPr>
              <a:t>   cstest.swift</a:t>
            </a:r>
            <a:endParaRPr lang="en-US" sz="1200" dirty="0"/>
          </a:p>
        </p:txBody>
      </p:sp>
      <p:sp>
        <p:nvSpPr>
          <p:cNvPr id="40" name="chip Swift"/>
          <p:cNvSpPr/>
          <p:nvPr/>
        </p:nvSpPr>
        <p:spPr>
          <a:xfrm>
            <a:off x="7027469" y="3781044"/>
            <a:ext cx="731520" cy="219456"/>
          </a:xfrm>
          <a:prstGeom prst="roundRect">
            <a:avLst>
              <a:gd name="adj" fmla="val 33333"/>
            </a:avLst>
          </a:prstGeom>
          <a:solidFill>
            <a:srgbClr val="FDAE61"/>
          </a:solidFill>
          <a:ln w="12700">
            <a:solidFill>
              <a:srgbClr val="FDAE61"/>
            </a:solidFill>
            <a:prstDash val="solid"/>
          </a:ln>
        </p:spPr>
      </p:sp>
      <p:sp>
        <p:nvSpPr>
          <p:cNvPr id="41" name="Text 39"/>
          <p:cNvSpPr txBox="1"/>
          <p:nvPr/>
        </p:nvSpPr>
        <p:spPr>
          <a:xfrm>
            <a:off x="7027469" y="3781044"/>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18.14</a:t>
            </a:r>
            <a:endParaRPr lang="en-US" sz="1000" dirty="0"/>
          </a:p>
        </p:txBody>
      </p:sp>
      <p:sp>
        <p:nvSpPr>
          <p:cNvPr id="42" name="code Swift"/>
          <p:cNvSpPr txBox="1"/>
          <p:nvPr/>
        </p:nvSpPr>
        <p:spPr>
          <a:xfrm>
            <a:off x="4432706" y="4046220"/>
            <a:ext cx="3326282" cy="980694"/>
          </a:xfrm>
          <a:prstGeom prst="rect">
            <a:avLst/>
          </a:prstGeom>
          <a:noFill/>
          <a:ln/>
        </p:spPr>
        <p:txBody>
          <a:bodyPr wrap="square" lIns="0" tIns="0" rIns="0" bIns="0" rtlCol="0" anchor="t"/>
          <a:lstStyle/>
          <a:p>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func</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D2A8FF"/>
                </a:solidFill>
                <a:latin typeface="Courier New" pitchFamily="34" charset="0"/>
                <a:ea typeface="Courier New" pitchFamily="34" charset="-122"/>
                <a:cs typeface="Courier New" pitchFamily="34" charset="-120"/>
              </a:rPr>
              <a:t>Subr</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(Input: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Array&lt;Array&lt;Float&gt;</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&gt;</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Nx: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Int,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Ny</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Int,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Output: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inout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Array&lt;Array&lt;Float&gt;</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&gt;</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for</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Iy</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in</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A5D6FF"/>
                </a:solidFill>
                <a:latin typeface="Courier New" pitchFamily="34" charset="0"/>
                <a:ea typeface="Courier New" pitchFamily="34" charset="-122"/>
                <a:cs typeface="Courier New" pitchFamily="34" charset="-120"/>
              </a:rPr>
              <a:t>0.</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..Ny</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A5D6FF"/>
                </a:solidFill>
                <a:latin typeface="Courier New" pitchFamily="34" charset="0"/>
                <a:ea typeface="Courier New" pitchFamily="34" charset="-122"/>
                <a:cs typeface="Courier New" pitchFamily="34" charset="-120"/>
              </a:rPr>
              <a:t>1</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for</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FF7B72"/>
                </a:solidFill>
                <a:latin typeface="Courier New" pitchFamily="34" charset="0"/>
                <a:ea typeface="Courier New" pitchFamily="34" charset="-122"/>
                <a:cs typeface="Courier New" pitchFamily="34" charset="-120"/>
              </a:rPr>
              <a:t>in</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A5D6FF"/>
                </a:solidFill>
                <a:latin typeface="Courier New" pitchFamily="34" charset="0"/>
                <a:ea typeface="Courier New" pitchFamily="34" charset="-122"/>
                <a:cs typeface="Courier New" pitchFamily="34" charset="-120"/>
              </a:rPr>
              <a:t>0.</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..Nx</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A5D6FF"/>
                </a:solidFill>
                <a:latin typeface="Courier New" pitchFamily="34" charset="0"/>
                <a:ea typeface="Courier New" pitchFamily="34" charset="-122"/>
                <a:cs typeface="Courier New" pitchFamily="34" charset="-120"/>
              </a:rPr>
              <a:t>1</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Output[Iy][Ix]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Input[Iy][Ix]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Float(Ix</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b="1" dirty="0">
                <a:solidFill>
                  <a:srgbClr val="FF7B72"/>
                </a:solidFill>
                <a:latin typeface="Courier New" pitchFamily="34" charset="0"/>
                <a:ea typeface="Courier New" pitchFamily="34" charset="-122"/>
                <a:cs typeface="Courier New" pitchFamily="34" charset="-120"/>
              </a:rPr>
              <a:t>+</a:t>
            </a:r>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Iy)</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6E7681"/>
                </a:solidFill>
                <a:latin typeface="Courier New" pitchFamily="34" charset="0"/>
                <a:ea typeface="Courier New" pitchFamily="34" charset="-122"/>
                <a:cs typeface="Courier New" pitchFamily="34" charset="-120"/>
              </a:rPr>
              <a:t>   </a:t>
            </a:r>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lnSpc>
                <a:spcPts val="735"/>
              </a:lnSpc>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43" name="code card JavaScript (Node.js)"/>
          <p:cNvSpPr/>
          <p:nvPr/>
        </p:nvSpPr>
        <p:spPr>
          <a:xfrm>
            <a:off x="8042453" y="3735324"/>
            <a:ext cx="3600602" cy="1346454"/>
          </a:xfrm>
          <a:prstGeom prst="roundRect">
            <a:avLst>
              <a:gd name="adj" fmla="val 6791"/>
            </a:avLst>
          </a:prstGeom>
          <a:solidFill>
            <a:srgbClr val="0D1117"/>
          </a:solidFill>
          <a:ln w="12700">
            <a:solidFill>
              <a:srgbClr val="0D1117"/>
            </a:solidFill>
            <a:prstDash val="solid"/>
          </a:ln>
        </p:spPr>
      </p:sp>
      <p:sp>
        <p:nvSpPr>
          <p:cNvPr id="44" name="Text 42"/>
          <p:cNvSpPr txBox="1"/>
          <p:nvPr/>
        </p:nvSpPr>
        <p:spPr>
          <a:xfrm>
            <a:off x="8179613" y="3781044"/>
            <a:ext cx="2594762" cy="219456"/>
          </a:xfrm>
          <a:prstGeom prst="rect">
            <a:avLst/>
          </a:prstGeom>
          <a:noFill/>
          <a:ln/>
        </p:spPr>
        <p:txBody>
          <a:bodyPr wrap="square" lIns="0" tIns="0" rIns="0" bIns="0" rtlCol="0" anchor="ctr"/>
          <a:lstStyle/>
          <a:p>
            <a:pPr indent="0" marL="0">
              <a:buNone/>
            </a:pPr>
            <a:r>
              <a:rPr lang="en-US" sz="1200" b="1" dirty="0">
                <a:solidFill>
                  <a:srgbClr val="E6EDF3"/>
                </a:solidFill>
              </a:rPr>
              <a:t>JavaScript (Node.js)</a:t>
            </a:r>
            <a:pPr indent="0" marL="0">
              <a:buNone/>
            </a:pPr>
            <a:r>
              <a:rPr lang="en-US" sz="800" dirty="0">
                <a:solidFill>
                  <a:srgbClr val="8B949E"/>
                </a:solidFill>
              </a:rPr>
              <a:t>   cjstest.js</a:t>
            </a:r>
            <a:endParaRPr lang="en-US" sz="1200" dirty="0"/>
          </a:p>
        </p:txBody>
      </p:sp>
      <p:sp>
        <p:nvSpPr>
          <p:cNvPr id="45" name="chip JavaScript (Node.js)"/>
          <p:cNvSpPr/>
          <p:nvPr/>
        </p:nvSpPr>
        <p:spPr>
          <a:xfrm>
            <a:off x="10774375" y="3781044"/>
            <a:ext cx="731520" cy="219456"/>
          </a:xfrm>
          <a:prstGeom prst="roundRect">
            <a:avLst>
              <a:gd name="adj" fmla="val 33333"/>
            </a:avLst>
          </a:prstGeom>
          <a:solidFill>
            <a:srgbClr val="FDAE61"/>
          </a:solidFill>
          <a:ln w="12700">
            <a:solidFill>
              <a:srgbClr val="FDAE61"/>
            </a:solidFill>
            <a:prstDash val="solid"/>
          </a:ln>
        </p:spPr>
      </p:sp>
      <p:sp>
        <p:nvSpPr>
          <p:cNvPr id="46" name="Text 44"/>
          <p:cNvSpPr txBox="1"/>
          <p:nvPr/>
        </p:nvSpPr>
        <p:spPr>
          <a:xfrm>
            <a:off x="10774375" y="3781044"/>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25.88</a:t>
            </a:r>
            <a:endParaRPr lang="en-US" sz="1000" dirty="0"/>
          </a:p>
        </p:txBody>
      </p:sp>
      <p:sp>
        <p:nvSpPr>
          <p:cNvPr id="47" name="code JavaScript (Node.js)"/>
          <p:cNvSpPr txBox="1"/>
          <p:nvPr/>
        </p:nvSpPr>
        <p:spPr>
          <a:xfrm>
            <a:off x="8179613" y="4046220"/>
            <a:ext cx="3326282" cy="980694"/>
          </a:xfrm>
          <a:prstGeom prst="rect">
            <a:avLst/>
          </a:prstGeom>
          <a:noFill/>
          <a:ln/>
        </p:spPr>
        <p:txBody>
          <a:bodyPr wrap="square" lIns="0" tIns="0" rIns="0" bIns="0" rtlCol="0" anchor="t"/>
          <a:lstStyle/>
          <a:p>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function</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subr(inp,nx,ny,out)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for</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var</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A5D6FF"/>
                </a:solidFill>
                <a:latin typeface="Courier New" pitchFamily="34" charset="0"/>
                <a:ea typeface="Courier New" pitchFamily="34" charset="-122"/>
                <a:cs typeface="Courier New" pitchFamily="34" charset="-120"/>
              </a:rPr>
              <a:t>0</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&lt;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for</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var</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A5D6FF"/>
                </a:solidFill>
                <a:latin typeface="Courier New" pitchFamily="34" charset="0"/>
                <a:ea typeface="Courier New" pitchFamily="34" charset="-122"/>
                <a:cs typeface="Courier New" pitchFamily="34" charset="-120"/>
              </a:rPr>
              <a:t>0</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&lt;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out[iy][ix]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inp[iy][ix]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ix</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iy;</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p:txBody>
      </p:sp>
      <p:sp>
        <p:nvSpPr>
          <p:cNvPr id="48" name="code card R (outer)"/>
          <p:cNvSpPr/>
          <p:nvPr/>
        </p:nvSpPr>
        <p:spPr>
          <a:xfrm>
            <a:off x="548640" y="5191506"/>
            <a:ext cx="3600602" cy="1346454"/>
          </a:xfrm>
          <a:prstGeom prst="roundRect">
            <a:avLst>
              <a:gd name="adj" fmla="val 6791"/>
            </a:avLst>
          </a:prstGeom>
          <a:solidFill>
            <a:srgbClr val="0D1117"/>
          </a:solidFill>
          <a:ln w="12700">
            <a:solidFill>
              <a:srgbClr val="0D1117"/>
            </a:solidFill>
            <a:prstDash val="solid"/>
          </a:ln>
        </p:spPr>
      </p:sp>
      <p:sp>
        <p:nvSpPr>
          <p:cNvPr id="49" name="Text 47"/>
          <p:cNvSpPr txBox="1"/>
          <p:nvPr/>
        </p:nvSpPr>
        <p:spPr>
          <a:xfrm>
            <a:off x="685800" y="5237226"/>
            <a:ext cx="2594762" cy="219456"/>
          </a:xfrm>
          <a:prstGeom prst="rect">
            <a:avLst/>
          </a:prstGeom>
          <a:noFill/>
          <a:ln/>
        </p:spPr>
        <p:txBody>
          <a:bodyPr wrap="square" lIns="0" tIns="0" rIns="0" bIns="0" rtlCol="0" anchor="ctr"/>
          <a:lstStyle/>
          <a:p>
            <a:pPr indent="0" marL="0">
              <a:buNone/>
            </a:pPr>
            <a:r>
              <a:rPr lang="en-US" sz="1200" b="1" dirty="0">
                <a:solidFill>
                  <a:srgbClr val="E6EDF3"/>
                </a:solidFill>
              </a:rPr>
              <a:t>R (outer)</a:t>
            </a:r>
            <a:pPr indent="0" marL="0">
              <a:buNone/>
            </a:pPr>
            <a:r>
              <a:rPr lang="en-US" sz="800" dirty="0">
                <a:solidFill>
                  <a:srgbClr val="8B949E"/>
                </a:solidFill>
              </a:rPr>
              <a:t>   csubouter.r</a:t>
            </a:r>
            <a:endParaRPr lang="en-US" sz="1200" dirty="0"/>
          </a:p>
        </p:txBody>
      </p:sp>
      <p:sp>
        <p:nvSpPr>
          <p:cNvPr id="50" name="chip R (outer)"/>
          <p:cNvSpPr/>
          <p:nvPr/>
        </p:nvSpPr>
        <p:spPr>
          <a:xfrm>
            <a:off x="3280562" y="5237226"/>
            <a:ext cx="731520" cy="219456"/>
          </a:xfrm>
          <a:prstGeom prst="roundRect">
            <a:avLst>
              <a:gd name="adj" fmla="val 33333"/>
            </a:avLst>
          </a:prstGeom>
          <a:solidFill>
            <a:srgbClr val="F46D43"/>
          </a:solidFill>
          <a:ln w="12700">
            <a:solidFill>
              <a:srgbClr val="F46D43"/>
            </a:solidFill>
            <a:prstDash val="solid"/>
          </a:ln>
        </p:spPr>
      </p:sp>
      <p:sp>
        <p:nvSpPr>
          <p:cNvPr id="51" name="Text 49"/>
          <p:cNvSpPr txBox="1"/>
          <p:nvPr/>
        </p:nvSpPr>
        <p:spPr>
          <a:xfrm>
            <a:off x="3280562" y="5237226"/>
            <a:ext cx="731520" cy="219456"/>
          </a:xfrm>
          <a:prstGeom prst="rect">
            <a:avLst/>
          </a:prstGeom>
          <a:noFill/>
          <a:ln/>
        </p:spPr>
        <p:txBody>
          <a:bodyPr wrap="square" lIns="0" tIns="0" rIns="0" bIns="0" rtlCol="0" anchor="ctr"/>
          <a:lstStyle/>
          <a:p>
            <a:pPr algn="ctr" indent="0" marL="0">
              <a:buNone/>
            </a:pPr>
            <a:r>
              <a:rPr lang="en-US" sz="1000" b="1" dirty="0">
                <a:solidFill>
                  <a:srgbClr val="1B1F2B"/>
                </a:solidFill>
              </a:rPr>
              <a:t>150</a:t>
            </a:r>
            <a:endParaRPr lang="en-US" sz="1000" dirty="0"/>
          </a:p>
        </p:txBody>
      </p:sp>
      <p:sp>
        <p:nvSpPr>
          <p:cNvPr id="52" name="code R (outer)"/>
          <p:cNvSpPr txBox="1"/>
          <p:nvPr/>
        </p:nvSpPr>
        <p:spPr>
          <a:xfrm>
            <a:off x="685800" y="5502402"/>
            <a:ext cx="3326282" cy="980694"/>
          </a:xfrm>
          <a:prstGeom prst="rect">
            <a:avLst/>
          </a:prstGeom>
          <a:noFill/>
          <a:ln/>
        </p:spPr>
        <p:txBody>
          <a:bodyPr wrap="square" lIns="0" tIns="0" rIns="0" bIns="0" rtlCol="0" anchor="t"/>
          <a:lstStyle/>
          <a:p>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csub</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&lt;-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function</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(ina,nx,ny)</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FF7B72"/>
                </a:solidFill>
                <a:latin typeface="Courier New" pitchFamily="34" charset="0"/>
                <a:ea typeface="Courier New" pitchFamily="34" charset="-122"/>
                <a:cs typeface="Courier New" pitchFamily="34" charset="-120"/>
              </a:rPr>
              <a:t>return</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(ina</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6E7681"/>
                </a:solidFill>
                <a:latin typeface="Courier New" pitchFamily="34" charset="0"/>
                <a:ea typeface="Courier New" pitchFamily="34" charset="-122"/>
                <a:cs typeface="Courier New" pitchFamily="34" charset="-120"/>
              </a:rPr>
              <a:t> </a:t>
            </a:r>
            <a:pPr indent="0" marL="0">
              <a:lnSpc>
                <a:spcPts val="840"/>
              </a:lnSpc>
              <a:buNone/>
            </a:pPr>
            <a:r>
              <a:rPr lang="en-US" sz="800" b="1" dirty="0">
                <a:solidFill>
                  <a:srgbClr val="D2A8FF"/>
                </a:solidFill>
                <a:latin typeface="Courier New" pitchFamily="34" charset="0"/>
                <a:ea typeface="Courier New" pitchFamily="34" charset="-122"/>
                <a:cs typeface="Courier New" pitchFamily="34" charset="-120"/>
              </a:rPr>
              <a:t>outer</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A5D6FF"/>
                </a:solidFill>
                <a:latin typeface="Courier New" pitchFamily="34" charset="0"/>
                <a:ea typeface="Courier New" pitchFamily="34" charset="-122"/>
                <a:cs typeface="Courier New" pitchFamily="34" charset="-120"/>
              </a:rPr>
              <a:t>1</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nx,</a:t>
            </a:r>
            <a:pPr indent="0" marL="0">
              <a:lnSpc>
                <a:spcPts val="840"/>
              </a:lnSpc>
              <a:buNone/>
            </a:pPr>
            <a:r>
              <a:rPr lang="en-US" sz="800" dirty="0">
                <a:solidFill>
                  <a:srgbClr val="A5D6FF"/>
                </a:solidFill>
                <a:latin typeface="Courier New" pitchFamily="34" charset="0"/>
                <a:ea typeface="Courier New" pitchFamily="34" charset="-122"/>
                <a:cs typeface="Courier New" pitchFamily="34" charset="-120"/>
              </a:rPr>
              <a:t>1</a:t>
            </a:r>
            <a:pPr indent="0" marL="0">
              <a:lnSpc>
                <a:spcPts val="840"/>
              </a:lnSpc>
              <a:buNone/>
            </a:pPr>
            <a:r>
              <a:rPr lang="en-US" sz="800" b="1" dirty="0">
                <a:solidFill>
                  <a:srgbClr val="FF7B72"/>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ny,</a:t>
            </a:r>
            <a:pPr indent="0" marL="0">
              <a:lnSpc>
                <a:spcPts val="840"/>
              </a:lnSpc>
              <a:buNone/>
            </a:pPr>
            <a:r>
              <a:rPr lang="en-US" sz="800" dirty="0">
                <a:solidFill>
                  <a:srgbClr val="A5D6FF"/>
                </a:solidFill>
                <a:latin typeface="Courier New" pitchFamily="34" charset="0"/>
                <a:ea typeface="Courier New" pitchFamily="34" charset="-122"/>
                <a:cs typeface="Courier New" pitchFamily="34" charset="-120"/>
              </a:rPr>
              <a:t>'+'</a:t>
            </a:r>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lnSpc>
                <a:spcPts val="840"/>
              </a:lnSpc>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p:txBody>
      </p:sp>
      <p:sp>
        <p:nvSpPr>
          <p:cNvPr id="53" name="code card PDL element lookup (-&gt;at, -&gt;set)"/>
          <p:cNvSpPr/>
          <p:nvPr/>
        </p:nvSpPr>
        <p:spPr>
          <a:xfrm>
            <a:off x="4295546" y="5191506"/>
            <a:ext cx="3600602" cy="1346454"/>
          </a:xfrm>
          <a:prstGeom prst="roundRect">
            <a:avLst>
              <a:gd name="adj" fmla="val 6791"/>
            </a:avLst>
          </a:prstGeom>
          <a:solidFill>
            <a:srgbClr val="0D1117"/>
          </a:solidFill>
          <a:ln w="12700">
            <a:solidFill>
              <a:srgbClr val="0D1117"/>
            </a:solidFill>
            <a:prstDash val="solid"/>
          </a:ln>
        </p:spPr>
      </p:sp>
      <p:sp>
        <p:nvSpPr>
          <p:cNvPr id="54" name="Text 52"/>
          <p:cNvSpPr txBox="1"/>
          <p:nvPr/>
        </p:nvSpPr>
        <p:spPr>
          <a:xfrm>
            <a:off x="4432706" y="5237226"/>
            <a:ext cx="2594762" cy="219456"/>
          </a:xfrm>
          <a:prstGeom prst="rect">
            <a:avLst/>
          </a:prstGeom>
          <a:noFill/>
          <a:ln/>
        </p:spPr>
        <p:txBody>
          <a:bodyPr wrap="square" lIns="0" tIns="0" rIns="0" bIns="0" rtlCol="0" anchor="ctr"/>
          <a:lstStyle/>
          <a:p>
            <a:pPr indent="0" marL="0">
              <a:buNone/>
            </a:pPr>
            <a:r>
              <a:rPr lang="en-US" sz="1200" b="1" dirty="0">
                <a:solidFill>
                  <a:srgbClr val="E6EDF3"/>
                </a:solidFill>
              </a:rPr>
              <a:t>PDL element lookup (-&gt;at, -&gt;set)</a:t>
            </a:r>
            <a:pPr indent="0" marL="0">
              <a:buNone/>
            </a:pPr>
            <a:r>
              <a:rPr lang="en-US" sz="800" dirty="0">
                <a:solidFill>
                  <a:srgbClr val="8B949E"/>
                </a:solidFill>
              </a:rPr>
              <a:t>   csubpdl.pl</a:t>
            </a:r>
            <a:endParaRPr lang="en-US" sz="1200" dirty="0"/>
          </a:p>
        </p:txBody>
      </p:sp>
      <p:sp>
        <p:nvSpPr>
          <p:cNvPr id="55" name="chip PDL element lookup (-&gt;at, -&gt;set)"/>
          <p:cNvSpPr/>
          <p:nvPr/>
        </p:nvSpPr>
        <p:spPr>
          <a:xfrm>
            <a:off x="7027469" y="5237226"/>
            <a:ext cx="731520" cy="219456"/>
          </a:xfrm>
          <a:prstGeom prst="roundRect">
            <a:avLst>
              <a:gd name="adj" fmla="val 33333"/>
            </a:avLst>
          </a:prstGeom>
          <a:solidFill>
            <a:srgbClr val="D73027"/>
          </a:solidFill>
          <a:ln w="12700">
            <a:solidFill>
              <a:srgbClr val="D73027"/>
            </a:solidFill>
            <a:prstDash val="solid"/>
          </a:ln>
        </p:spPr>
      </p:sp>
      <p:sp>
        <p:nvSpPr>
          <p:cNvPr id="56" name="Text 54"/>
          <p:cNvSpPr txBox="1"/>
          <p:nvPr/>
        </p:nvSpPr>
        <p:spPr>
          <a:xfrm>
            <a:off x="7027469" y="5237226"/>
            <a:ext cx="731520" cy="219456"/>
          </a:xfrm>
          <a:prstGeom prst="rect">
            <a:avLst/>
          </a:prstGeom>
          <a:noFill/>
          <a:ln/>
        </p:spPr>
        <p:txBody>
          <a:bodyPr wrap="square" lIns="0" tIns="0" rIns="0" bIns="0" rtlCol="0" anchor="ctr"/>
          <a:lstStyle/>
          <a:p>
            <a:pPr algn="ctr" indent="0" marL="0">
              <a:buNone/>
            </a:pPr>
            <a:r>
              <a:rPr lang="en-US" sz="1000" b="1" dirty="0">
                <a:solidFill>
                  <a:srgbClr val="FFFFFF"/>
                </a:solidFill>
              </a:rPr>
              <a:t>9,207</a:t>
            </a:r>
            <a:endParaRPr lang="en-US" sz="1000" dirty="0"/>
          </a:p>
        </p:txBody>
      </p:sp>
      <p:sp>
        <p:nvSpPr>
          <p:cNvPr id="57" name="code PDL element lookup (-&gt;at, -&gt;set)"/>
          <p:cNvSpPr txBox="1"/>
          <p:nvPr/>
        </p:nvSpPr>
        <p:spPr>
          <a:xfrm>
            <a:off x="4432706" y="5502402"/>
            <a:ext cx="3326282" cy="980694"/>
          </a:xfrm>
          <a:prstGeom prst="rect">
            <a:avLst/>
          </a:prstGeom>
          <a:noFill/>
          <a:ln/>
        </p:spPr>
        <p:txBody>
          <a:bodyPr wrap="square" lIns="0" tIns="0" rIns="0" bIns="0" rtlCol="0" anchor="t"/>
          <a:lstStyle/>
          <a:p>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sub</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D2A8FF"/>
                </a:solidFill>
                <a:latin typeface="Courier New" pitchFamily="34" charset="0"/>
                <a:ea typeface="Courier New" pitchFamily="34" charset="-122"/>
                <a:cs typeface="Courier New" pitchFamily="34" charset="-120"/>
              </a:rPr>
              <a:t>csub</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my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$Input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$Nx</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$Ny</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$Output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@_</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my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&lt;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$Ny</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$iy</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for</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FF7B72"/>
                </a:solidFill>
                <a:latin typeface="Courier New" pitchFamily="34" charset="0"/>
                <a:ea typeface="Courier New" pitchFamily="34" charset="-122"/>
                <a:cs typeface="Courier New" pitchFamily="34" charset="-120"/>
              </a:rPr>
              <a:t>my</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A5D6FF"/>
                </a:solidFill>
                <a:latin typeface="Courier New" pitchFamily="34" charset="0"/>
                <a:ea typeface="Courier New" pitchFamily="34" charset="-122"/>
                <a:cs typeface="Courier New" pitchFamily="34" charset="-120"/>
              </a:rPr>
              <a:t>0</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&lt;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$Nx</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$ix</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$Output</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-&gt;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set(</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$Input</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-&gt;</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$ix</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b="1" dirty="0">
                <a:solidFill>
                  <a:srgbClr val="FF7B72"/>
                </a:solidFill>
                <a:latin typeface="Courier New" pitchFamily="34" charset="0"/>
                <a:ea typeface="Courier New" pitchFamily="34" charset="-122"/>
                <a:cs typeface="Courier New" pitchFamily="34" charset="-120"/>
              </a:rPr>
              <a:t>+</a:t>
            </a:r>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79C0FF"/>
                </a:solidFill>
                <a:latin typeface="Courier New" pitchFamily="34" charset="0"/>
                <a:ea typeface="Courier New" pitchFamily="34" charset="-122"/>
                <a:cs typeface="Courier New" pitchFamily="34" charset="-120"/>
              </a:rPr>
              <a:t>$iy</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6E7681"/>
                </a:solidFill>
                <a:latin typeface="Courier New" pitchFamily="34" charset="0"/>
                <a:ea typeface="Courier New" pitchFamily="34" charset="-122"/>
                <a:cs typeface="Courier New" pitchFamily="34" charset="-120"/>
              </a:rPr>
              <a:t>   </a:t>
            </a:r>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a:p>
            <a:pPr indent="0" marL="0">
              <a:lnSpc>
                <a:spcPts val="683"/>
              </a:lnSpc>
              <a:buNone/>
            </a:pPr>
            <a:r>
              <a:rPr lang="en-US" sz="650" dirty="0">
                <a:solidFill>
                  <a:srgbClr val="E6EDF3"/>
                </a:solidFill>
                <a:latin typeface="Courier New" pitchFamily="34" charset="0"/>
                <a:ea typeface="Courier New" pitchFamily="34" charset="-122"/>
                <a:cs typeface="Courier New" pitchFamily="34" charset="-120"/>
              </a:rPr>
              <a:t>}</a:t>
            </a:r>
            <a:endParaRPr lang="en-US" sz="650" dirty="0"/>
          </a:p>
        </p:txBody>
      </p:sp>
      <p:sp>
        <p:nvSpPr>
          <p:cNvPr id="58" name="code card Tcl"/>
          <p:cNvSpPr/>
          <p:nvPr/>
        </p:nvSpPr>
        <p:spPr>
          <a:xfrm>
            <a:off x="8042453" y="5191506"/>
            <a:ext cx="3600602" cy="1346454"/>
          </a:xfrm>
          <a:prstGeom prst="roundRect">
            <a:avLst>
              <a:gd name="adj" fmla="val 6791"/>
            </a:avLst>
          </a:prstGeom>
          <a:solidFill>
            <a:srgbClr val="0D1117"/>
          </a:solidFill>
          <a:ln w="12700">
            <a:solidFill>
              <a:srgbClr val="0D1117"/>
            </a:solidFill>
            <a:prstDash val="solid"/>
          </a:ln>
        </p:spPr>
      </p:sp>
      <p:sp>
        <p:nvSpPr>
          <p:cNvPr id="59" name="Text 57"/>
          <p:cNvSpPr txBox="1"/>
          <p:nvPr/>
        </p:nvSpPr>
        <p:spPr>
          <a:xfrm>
            <a:off x="8179613" y="5237226"/>
            <a:ext cx="2594762" cy="219456"/>
          </a:xfrm>
          <a:prstGeom prst="rect">
            <a:avLst/>
          </a:prstGeom>
          <a:noFill/>
          <a:ln/>
        </p:spPr>
        <p:txBody>
          <a:bodyPr wrap="square" lIns="0" tIns="0" rIns="0" bIns="0" rtlCol="0" anchor="ctr"/>
          <a:lstStyle/>
          <a:p>
            <a:pPr indent="0" marL="0">
              <a:buNone/>
            </a:pPr>
            <a:r>
              <a:rPr lang="en-US" sz="1200" b="1" dirty="0">
                <a:solidFill>
                  <a:srgbClr val="E6EDF3"/>
                </a:solidFill>
              </a:rPr>
              <a:t>Tcl</a:t>
            </a:r>
            <a:pPr indent="0" marL="0">
              <a:buNone/>
            </a:pPr>
            <a:r>
              <a:rPr lang="en-US" sz="800" dirty="0">
                <a:solidFill>
                  <a:srgbClr val="8B949E"/>
                </a:solidFill>
              </a:rPr>
              <a:t>   ctest.tcl</a:t>
            </a:r>
            <a:endParaRPr lang="en-US" sz="1200" dirty="0"/>
          </a:p>
        </p:txBody>
      </p:sp>
      <p:sp>
        <p:nvSpPr>
          <p:cNvPr id="60" name="chip Tcl"/>
          <p:cNvSpPr/>
          <p:nvPr/>
        </p:nvSpPr>
        <p:spPr>
          <a:xfrm>
            <a:off x="10774375" y="5237226"/>
            <a:ext cx="731520" cy="219456"/>
          </a:xfrm>
          <a:prstGeom prst="roundRect">
            <a:avLst>
              <a:gd name="adj" fmla="val 33333"/>
            </a:avLst>
          </a:prstGeom>
          <a:solidFill>
            <a:srgbClr val="D73027"/>
          </a:solidFill>
          <a:ln w="12700">
            <a:solidFill>
              <a:srgbClr val="D73027"/>
            </a:solidFill>
            <a:prstDash val="solid"/>
          </a:ln>
        </p:spPr>
      </p:sp>
      <p:sp>
        <p:nvSpPr>
          <p:cNvPr id="61" name="Text 59"/>
          <p:cNvSpPr txBox="1"/>
          <p:nvPr/>
        </p:nvSpPr>
        <p:spPr>
          <a:xfrm>
            <a:off x="10774375" y="5237226"/>
            <a:ext cx="731520" cy="219456"/>
          </a:xfrm>
          <a:prstGeom prst="rect">
            <a:avLst/>
          </a:prstGeom>
          <a:noFill/>
          <a:ln/>
        </p:spPr>
        <p:txBody>
          <a:bodyPr wrap="square" lIns="0" tIns="0" rIns="0" bIns="0" rtlCol="0" anchor="ctr"/>
          <a:lstStyle/>
          <a:p>
            <a:pPr algn="ctr" indent="0" marL="0">
              <a:buNone/>
            </a:pPr>
            <a:r>
              <a:rPr lang="en-US" sz="1000" b="1" dirty="0">
                <a:solidFill>
                  <a:srgbClr val="FFFFFF"/>
                </a:solidFill>
              </a:rPr>
              <a:t>13,456</a:t>
            </a:r>
            <a:endParaRPr lang="en-US" sz="1000" dirty="0"/>
          </a:p>
        </p:txBody>
      </p:sp>
      <p:sp>
        <p:nvSpPr>
          <p:cNvPr id="62" name="code Tcl"/>
          <p:cNvSpPr txBox="1"/>
          <p:nvPr/>
        </p:nvSpPr>
        <p:spPr>
          <a:xfrm>
            <a:off x="8179613" y="5502402"/>
            <a:ext cx="3326282" cy="980694"/>
          </a:xfrm>
          <a:prstGeom prst="rect">
            <a:avLst/>
          </a:prstGeom>
          <a:noFill/>
          <a:ln/>
        </p:spPr>
        <p:txBody>
          <a:bodyPr wrap="square" lIns="0" tIns="0" rIns="0" bIns="0" rtlCol="0" anchor="t"/>
          <a:lstStyle/>
          <a:p>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proc</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subr</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inary</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nx</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ny</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outary</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8B949E"/>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for</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{set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iy</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A5D6FF"/>
                </a:solidFill>
                <a:latin typeface="Courier New" pitchFamily="34" charset="0"/>
                <a:ea typeface="Courier New" pitchFamily="34" charset="-122"/>
                <a:cs typeface="Courier New" pitchFamily="34" charset="-120"/>
              </a:rPr>
              <a:t>0</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$iy</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&lt;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$ny</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incr</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iy</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for</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{set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ix</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A5D6FF"/>
                </a:solidFill>
                <a:latin typeface="Courier New" pitchFamily="34" charset="0"/>
                <a:ea typeface="Courier New" pitchFamily="34" charset="-122"/>
                <a:cs typeface="Courier New" pitchFamily="34" charset="-120"/>
              </a:rPr>
              <a:t>0</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$ix</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&lt;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$nx</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incr</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ix</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set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inelem</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$in</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$iy</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$ix</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set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out</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$iy</a:t>
            </a:r>
            <a:pPr indent="0" marL="0">
              <a:lnSpc>
                <a:spcPts val="788"/>
              </a:lnSpc>
              <a:buNone/>
            </a:pPr>
            <a:r>
              <a:rPr lang="en-US" sz="750" dirty="0">
                <a:solidFill>
                  <a:srgbClr val="E6EDF3"/>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$ix</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[expr</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$inelem</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$ix</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b="1" dirty="0">
                <a:solidFill>
                  <a:srgbClr val="FF7B72"/>
                </a:solidFill>
                <a:latin typeface="Courier New" pitchFamily="34" charset="0"/>
                <a:ea typeface="Courier New" pitchFamily="34" charset="-122"/>
                <a:cs typeface="Courier New" pitchFamily="34" charset="-120"/>
              </a:rPr>
              <a:t>+</a:t>
            </a:r>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79C0FF"/>
                </a:solidFill>
                <a:latin typeface="Courier New" pitchFamily="34" charset="0"/>
                <a:ea typeface="Courier New" pitchFamily="34" charset="-122"/>
                <a:cs typeface="Courier New" pitchFamily="34" charset="-120"/>
              </a:rPr>
              <a:t>$iy</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6E7681"/>
                </a:solidFill>
                <a:latin typeface="Courier New" pitchFamily="34" charset="0"/>
                <a:ea typeface="Courier New" pitchFamily="34" charset="-122"/>
                <a:cs typeface="Courier New" pitchFamily="34" charset="-120"/>
              </a:rPr>
              <a:t>   </a:t>
            </a:r>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endParaRPr lang="en-US" sz="750" dirty="0"/>
          </a:p>
          <a:p>
            <a:pPr indent="0" marL="0">
              <a:lnSpc>
                <a:spcPts val="788"/>
              </a:lnSpc>
              <a:buNone/>
            </a:pPr>
            <a:r>
              <a:rPr lang="en-US" sz="750" dirty="0">
                <a:solidFill>
                  <a:srgbClr val="FF7B72"/>
                </a:solidFill>
                <a:latin typeface="Courier New" pitchFamily="34" charset="0"/>
                <a:ea typeface="Courier New" pitchFamily="34" charset="-122"/>
                <a:cs typeface="Courier New" pitchFamily="34" charset="-120"/>
              </a:rPr>
              <a:t>}</a:t>
            </a:r>
            <a:endParaRPr lang="en-US" sz="750" dirty="0"/>
          </a:p>
        </p:txBody>
      </p:sp>
      <p:sp>
        <p:nvSpPr>
          <p:cNvPr id="25" name="Slide Number Placeholder 0"/>
          <p:cNvSpPr>
            <a:spLocks noGrp="1"/>
          </p:cNvSpPr>
          <p:nvPr>
            <p:ph type="sldNum" sz="quarter" idx="4294967295"/>
          </p:nvPr>
        </p:nvSpPr>
        <p:spPr>
          <a:xfrm>
            <a:off x="11094415" y="658368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EB8C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Backup: every family at a glance</a:t>
            </a:r>
            <a:endParaRPr lang="en-US" sz="3200" dirty="0"/>
          </a:p>
        </p:txBody>
      </p:sp>
      <p:pic>
        <p:nvPicPr>
          <p:cNvPr id="3" name="fig3 families" descr="Per-family best variant with min-max range and geometric mean; families new in 2026 labelled in red">    </p:cNvPr>
          <p:cNvPicPr>
            <a:picLocks noChangeAspect="1"/>
          </p:cNvPicPr>
          <p:nvPr/>
        </p:nvPicPr>
        <p:blipFill>
          <a:blip r:embed="rId1"/>
          <a:stretch>
            <a:fillRect/>
          </a:stretch>
        </p:blipFill>
        <p:spPr>
          <a:xfrm>
            <a:off x="548640" y="1188720"/>
            <a:ext cx="5067650" cy="5029200"/>
          </a:xfrm>
          <a:prstGeom prst="rect">
            <a:avLst/>
          </a:prstGeom>
        </p:spPr>
      </p:pic>
      <p:sp>
        <p:nvSpPr>
          <p:cNvPr id="4" name="Text 1"/>
          <p:cNvSpPr txBox="1"/>
          <p:nvPr/>
        </p:nvSpPr>
        <p:spPr>
          <a:xfrm>
            <a:off x="5982050" y="1280160"/>
            <a:ext cx="5661006" cy="1371600"/>
          </a:xfrm>
          <a:prstGeom prst="rect">
            <a:avLst/>
          </a:prstGeom>
          <a:noFill/>
          <a:ln/>
        </p:spPr>
        <p:txBody>
          <a:bodyPr wrap="square" lIns="0" tIns="0" rIns="0" bIns="0" rtlCol="0" anchor="t"/>
          <a:lstStyle/>
          <a:p>
            <a:pPr indent="0" marL="0">
              <a:buNone/>
            </a:pPr>
            <a:r>
              <a:rPr lang="en-US" sz="1600" dirty="0">
                <a:solidFill>
                  <a:srgbClr val="5A6275"/>
                </a:solidFill>
              </a:rPr>
              <a:t>Bar = best variant; whisker = range across that family's variants; diamond = geometric mean. Red labels: languages new in 2026.</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ASS 2026 Tiers">
  <a:themeElements>
    <a:clrScheme name="ADASS 2026 Tiers">
      <a:dk1>
        <a:srgbClr val="1B1F2B"/>
      </a:dk1>
      <a:lt1>
        <a:srgbClr val="FFFFFF"/>
      </a:lt1>
      <a:dk2>
        <a:srgbClr val="14213D"/>
      </a:dk2>
      <a:lt2>
        <a:srgbClr val="EEF1F6"/>
      </a:lt2>
      <a:accent1>
        <a:srgbClr val="1A9850"/>
      </a:accent1>
      <a:accent2>
        <a:srgbClr val="FDAE61"/>
      </a:accent2>
      <a:accent3>
        <a:srgbClr val="D73027"/>
      </a:accent3>
      <a:accent4>
        <a:srgbClr val="7A0177"/>
      </a:accent4>
      <a:accent5>
        <a:srgbClr val="3B6FB6"/>
      </a:accent5>
      <a:accent6>
        <a:srgbClr val="FEE08B"/>
      </a:accent6>
      <a:hlink>
        <a:srgbClr val="3B6FB6"/>
      </a:hlink>
      <a:folHlink>
        <a:srgbClr val="7A0177"/>
      </a:folHlink>
    </a:clrScheme>
    <a:fontScheme name="ADASS 2026 Ti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Same Source, Three Orders of Magnitude</dc:title>
  <dc:subject>PptxGenJS Presentation</dc:subject>
  <dc:creator>Karl Glazebrook</dc:creator>
  <cp:lastModifiedBy>Karl Glazebrook</cp:lastModifiedBy>
  <cp:revision>1</cp:revision>
  <dcterms:created xsi:type="dcterms:W3CDTF">2026-11-01T01:04:58Z</dcterms:created>
  <dcterms:modified xsi:type="dcterms:W3CDTF">2026-11-01T01:04:58Z</dcterms:modified>
</cp:coreProperties>
</file>