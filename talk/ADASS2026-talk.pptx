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7a6859c1-df25-aa42-7bec-141ab0e30ab0}">
          <p14:sldIdLst>
            <p14:sldId id="256"/>
            <p14:sldId id="257"/>
            <p14:sldId id="258"/>
            <p14:sldId id="259"/>
          </p14:sldIdLst>
        </p14:section>
        <p14:section name="Results" id="{fe31cba2-e7f9-8e1b-9a29-cf4a60aaf862}">
          <p14:sldIdLst>
            <p14:sldId id="260"/>
            <p14:sldId id="261"/>
            <p14:sldId id="262"/>
            <p14:sldId id="263"/>
            <p14:sldId id="264"/>
            <p14:sldId id="265"/>
          </p14:sldIdLst>
        </p14:section>
        <p14:section name="The LLM" id="{cf0be1b1-53b5-399e-71a1-15a9e6a9749a}">
          <p14:sldIdLst>
            <p14:sldId id="266"/>
            <p14:sldId id="267"/>
            <p14:sldId id="268"/>
          </p14:sldIdLst>
        </p14:section>
        <p14:section name="Backup" id="{c16c54e0-8730-4fbb-cefd-bf35e870e2bd}">
          <p14:sldIdLst>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7A017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7A0177"/>
              </a:solidFill>
              <a:effectLst/>
            </c:spPr>
          </c:dPt>
          <c:dPt>
            <c:idx val="1"/>
            <c:invertIfNegative val="0"/>
            <c:bubble3D val="0"/>
            <c:spPr>
              <a:solidFill>
                <a:srgbClr val="D73027"/>
              </a:solidFill>
              <a:effectLst/>
            </c:spPr>
          </c:dPt>
          <c:dPt>
            <c:idx val="2"/>
            <c:invertIfNegative val="0"/>
            <c:bubble3D val="0"/>
            <c:spPr>
              <a:solidFill>
                <a:srgbClr val="D73027"/>
              </a:solidFill>
              <a:effectLst/>
            </c:spPr>
          </c:dPt>
          <c:dPt>
            <c:idx val="3"/>
            <c:invertIfNegative val="0"/>
            <c:bubble3D val="0"/>
            <c:spPr>
              <a:solidFill>
                <a:srgbClr val="FDAE61"/>
              </a:solidFill>
              <a:effectLst/>
            </c:spPr>
          </c:dPt>
          <c:dPt>
            <c:idx val="4"/>
            <c:invertIfNegative val="0"/>
            <c:bubble3D val="0"/>
            <c:spPr>
              <a:solidFill>
                <a:srgbClr val="9AA3B2"/>
              </a:solidFill>
              <a:effectLst/>
            </c:spPr>
          </c:dPt>
          <c:dPt>
            <c:idx val="5"/>
            <c:invertIfNegative val="0"/>
            <c:bubble3D val="0"/>
            <c:spPr>
              <a:solidFill>
                <a:srgbClr val="A6D96A"/>
              </a:solidFill>
              <a:effectLst/>
            </c:spPr>
          </c:dPt>
          <c:cat>
            <c:multiLvlStrRef>
              <c:f>Sheet1!$A$2:$A$7</c:f>
              <c:multiLvlStrCache>
                <c:ptCount val="6"/>
                <c:lvl>
                  <c:pt idx="0">
                    <c:v>PyPy + numpy, element lookup</c:v>
                  </c:pt>
                  <c:pt idx="1">
                    <c:v>CPython + numpy, element lookup</c:v>
                  </c:pt>
                  <c:pt idx="2">
                    <c:v>CPython, plain lists</c:v>
                  </c:pt>
                  <c:pt idx="3">
                    <c:v>PyPy, plain lists</c:v>
                  </c:pt>
                  <c:pt idx="4">
                    <c:v>numpy one-liner (rewrite)</c:v>
                  </c:pt>
                  <c:pt idx="5">
                    <c:v>numba @jit, element loop</c:v>
                  </c:pt>
                </c:lvl>
              </c:multiLvlStrCache>
            </c:multiLvlStrRef>
          </c:cat>
          <c:val>
            <c:numRef>
              <c:f>Sheet1!$B$2:$B$7</c:f>
              <c:numCache>
                <c:formatCode>General</c:formatCode>
                <c:ptCount val="6"/>
                <c:pt idx="0">
                  <c:v>22015.37</c:v>
                </c:pt>
                <c:pt idx="1">
                  <c:v>2882.58</c:v>
                </c:pt>
                <c:pt idx="2">
                  <c:v>644.02</c:v>
                </c:pt>
                <c:pt idx="3">
                  <c:v>36.17</c:v>
                </c:pt>
                <c:pt idx="4">
                  <c:v>17.8</c:v>
                </c:pt>
                <c:pt idx="5">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element lookup: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element lookup,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element lookup,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on the poster: 'a deliberately attention-grabbing headline claim'.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and I got nerd-sniped (xkcd 356).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don't read the timeline out. Then Claude Code arrived and I used it to port the suite to a few more languages, for fun. Day one: 58 of Keith's 103 tests passing on this Mac; all 103 by the next day (run2), none ever dropped. Only the x86 assembler had to be swapped for Keith's arm64 one. Then we extended it: 28 new tests. By day five, 27 languages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Reference first: 1.00 is Keith's hand-written NEON assembler; the best C is 1.19, so a good C compiler gets within 20% of hand-written assembler (the 1.19 test is labelled g++ in Run.py, but g++ on macOS is Apple clang; the clang-named run is 1.20). 27 languages, 15 of them new, counted the way Keith counted his 12 (C/C++ as one, Perl/PDL as one). 131 variants, all passing in run22, the frozen reference. The range is 4.8e5 rather than Keith's million, partly from the new reference and partly the PDL correction. Three peaks. CLICK: native code, 1 to 15x, where tier 3 (2.5 to 7x) is the crowd, 41 of 131. CLICK: whole-array expressions and half measures, 15 to 100x. CLICK: an interpreter doing element lookup, the spike near 600 to 1,000x, and the last arrow, pathological, beyond 20,000x, where every element crosses a library boundary: PyPy + numpy, the Octave loop, R reference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Each of the 15 languages new in 2026, plus Keith's own C kernel as the reference, pulled verbatim from its source file in the repo (file names on the cards) and highlighted; the chip is its run22 time relative to the assembler. The same element-lookup kernel throughout, except J, which says it as one whole-array expression. Ordered fastest first: D and Zig sit just behind C; Octave's loop is at the far end, 46,705. Most of the 2026 ports are 64-bit doubles against Keith's 32-bit floats (the precision caveat later). Keith's 12 languages are on a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Two pairs share source: the list loop (CPython 644, PyPy 36) and the numpy element loop (CPython 2,883, PyPy 22,015, numba 3.15); the grey bar is my whole-array one-liner from slide 3, for comparison. Credit Keith: numba was his 2019 finding (over 2,500x on x86); what 2026 adds is PyPy, and the PyPy + numpy trap. The default pattern for someone told 'use numpy' — looping over numpy elements — is 4.5x slower than plain lists. Worse still, the top bar: the same numpy loop under PyPy, 22,015, because every element access crosses PyPy's C-extension emulation layer (more on that in the surprises).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Takeaways: a good JIT is what separates fast dynamic languages from slow ones (LuaJIT, PyPy, V8, Bun), but YJIT shows not every JIT gets there on this kernel (Ruby 755 to 284). The oldest runtime here is the fastest. And C#'s JIT and native AOT are within 2%: for a hot loop, warm JIT code is as good as compiled. Bun is about 2x Node.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element-lookup test (Keith's 'raw')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partner, not a search bar. Weeks of porting done in days. The unglamorous bulk was the environment: tools hijacking each other's python, perl and gfortran. It kept the report tied to one log and made the toolchain reproducible. Its first drafts of the report and of these slides were decent; its abstract was not, and I rewrote it. Then the limits. It did not catch the PDL problem: domain expertise did. Its worst habit is silent numerical drift, which is why we ran an audit loop with ChatGPT as critic, about seven rounds (the exact ChatGPT model wasn't recorded); the errors were transcriptions from the logs, not bugs in the kernels, each of which checks its own output. The big caveat: unlike Keith, I did not write the ported code; I trusted it. Keith's 53-page write-up is full of language-specific gotchas an expert would spot. One we know about: the 2026 ports use 64-bit doubles where Keith's kernels use 32-bit floats. Future work: have experts, and other LLMs, review the kernels themselves. If asked about INTERCAL: it compiled, but C-INTERCAL's runtime has an arm64 va_arg bug that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Keith's 2019 conclusions, all of which still hold: the range is the result; optimisation flags are the cheapest win; compilers make hand-written assembler not worth it; element-at-a-time numpy or PDL is pathological; and 'the solution to long execution times is very rarely to change the implementation language'. Points 2 and 4 are Keith's, confirmed; Keith also said 'JIT compilers (Javascript, Python/Numba) can be very efficient'. What 2026 adds: PyPy, LuaJIT, YJIT and Bun, the PyPy + numpy trap, the PDL correction, and the LLM lesson. 1: numba is the one decorator on the Python ladder slide; never PyPy with numpy (22,015). 2: caveat, Keith's C and the assembler are 32-bit floats, the 2026 ports are 64-bit doubles, so part of this spread is precision. Swift's 17.9 is its arrays of arrays: each row a separate copy-on-write object; bounds checks are not the cost (-Ounchecked 17.9). 3: element-by-element numpy is 4.5x slower than plain Python lists; in PDL use -&gt;at/-&gt;set or, better, broadcast or PP; Octave vectorised builds its index vectors outside the timed loop, so flag it. 4: Keith's 2019 point, still true on arm64. Boost without asserts, unoptimised 878 to 3.2 at -O3. 5: as far as we know the LLM's kernels are correct (each one verifies its output); the errors the ChatGPT audits caught were numbers mis-transcribed from the logs into the report prose and tables. This is the weakest-supported point: one project, and the kernels have not been reviewed by people expert in each language. If asked about Apple Silicon: every toolchain ran natively on arm64 except Python 2.7, an x86_64 conda build running under Rosetta 2. If asked about reproducibility: fast tiers agree within a few percent between runs, slow entries move 25-45%: trust the tier, not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cartoon: consider yourself nerd-sniped. Pull requests welcome, and INTERCAL is still waiting for someone. 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One column per language, counted the way Keith counted his 12, sorted by each language's best variant. Dots are variants; the bar spans best to worst. The new languages mostly have a single, optimised variant, so they sit as single dots in tiers 3 and 4: D and Zig right behind C and Fortran. The tall bars are where the story is: the same language spanning three to five decades depending on compiler flags, runtime or idiom. Figure from talk/make_language_ranges.py, reading run22.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pasted each draft of the report into ChatGPT (model not recorded) and asked it to attack it; Claude then fixed and re-checked every number against run22.log. Typical catches: numbers left over from older runs after the reference moved by ~10%, tier assignments that contradicted the tier table, ratios computed against the wrong baseline, and rhetorical overclaims. Some of these claims are from earlier runs and drafts; the numbers on this slide are what the audits flagged at the time. The pattern: the LLM is fluent and confident, and checking against the raw log is not optional. And the audits only checked claims against the log; nobody checked the kernels.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kernel from each of Keith's 12 languages (C/C++ and Perl/PDL as one each), pulled verbatim from the 2019 sources and timed in run22. The PDL element-lookup card is the corrected -&gt;at/-&gt;set form. R uses outer(), one whole-array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image" Target="../media/image-13-1.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400" dirty="0">
                <a:solidFill>
                  <a:schemeClr val="tx1"/>
                </a:solidFill>
              </a:rPr>
              <a:t>I sent Keith one-line whole-array forms for both PDL and numpy (below); he credits both in the code. He already doubted his PDL element-lookup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4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400" dirty="0">
                <a:solidFill>
                  <a:schemeClr val="tx1"/>
                </a:solidFill>
              </a:rPr>
              <a:t>Setting the C flags on PDL::PP's compiled kernel: 9.3 s at -O0 → 2.2 s at -O2 on my M1. Keith replies with his assembler: “the improvements you get over C are marginal and not worth the effort.”</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a:p>
            <a:pPr indent="0" marL="0">
              <a:spcAft>
                <a:spcPts val="500"/>
              </a:spcAft>
              <a:buNone/>
            </a:pPr>
            <a:r>
              <a:rPr lang="en-US" sz="1400" i="1" dirty="0">
                <a:solidFill>
                  <a:srgbClr val="5A6275"/>
                </a:solidFill>
              </a:rPr>
              <a:t>Declared bias: I wrote it, in 1996.</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257800" y="4206240"/>
            <a:ext cx="3337560" cy="2011680"/>
          </a:xfrm>
          <a:prstGeom prst="rect">
            <a:avLst/>
          </a:prstGeom>
          <a:noFill/>
          <a:ln/>
        </p:spPr>
        <p:txBody>
          <a:bodyPr wrap="square" lIns="0" tIns="0" rIns="0" bIns="0" rtlCol="0" anchor="ctr"/>
          <a:lstStyle/>
          <a:p>
            <a:pPr indent="0" marL="0">
              <a:buNone/>
            </a:pPr>
            <a:r>
              <a:rPr lang="en-US" sz="1200" dirty="0">
                <a:solidFill>
                  <a:srgbClr val="AEB8CC"/>
                </a:solidFill>
                <a:latin typeface="Courier New" pitchFamily="34" charset="0"/>
                <a:ea typeface="Courier New" pitchFamily="34" charset="-122"/>
                <a:cs typeface="Courier New" pitchFamily="34" charset="-120"/>
              </a:rPr>
              <a:t># PDL, csubpdlary.pl: 25.1×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$Output .= $Input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sequence($Nx)</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sequence($Ny)-&gt;dummy(0,1);</a:t>
            </a:r>
            <a:endParaRPr lang="en-US" sz="1200" dirty="0"/>
          </a:p>
          <a:p>
            <a:pPr indent="0" marL="0">
              <a:buNone/>
            </a:pPr>
            <a:r>
              <a:rPr lang="en-US" sz="6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AEB8CC"/>
                </a:solidFill>
                <a:latin typeface="Courier New" pitchFamily="34" charset="0"/>
                <a:ea typeface="Courier New" pitchFamily="34" charset="-122"/>
                <a:cs typeface="Courier New" pitchFamily="34" charset="-120"/>
              </a:rPr>
              <a:t># numpy, csubnpna.py: 17.8×</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 = ina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numpy.arange(nx)[NA,:]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numpy.arange(ny)[:,NA]</a:t>
            </a:r>
            <a:endParaRPr lang="en-US" sz="1200" dirty="0"/>
          </a:p>
        </p:txBody>
      </p:sp>
      <p:pic>
        <p:nvPicPr>
          <p:cNvPr id="20" name="xkcd nerd sniping" descr="xkcd 356 first panel: there's a certain type of brain that's easily disabled; if you show it an interesting problem, it involuntarily drops everything else to work on it">    </p:cNvPr>
          <p:cNvPicPr>
            <a:picLocks noChangeAspect="1"/>
          </p:cNvPicPr>
          <p:nvPr/>
        </p:nvPicPr>
        <p:blipFill>
          <a:blip r:embed="rId1"/>
          <a:stretch>
            <a:fillRect/>
          </a:stretch>
        </p:blipFill>
        <p:spPr>
          <a:xfrm>
            <a:off x="9494523" y="4160520"/>
            <a:ext cx="1843729" cy="1737360"/>
          </a:xfrm>
          <a:prstGeom prst="rect">
            <a:avLst/>
          </a:prstGeom>
        </p:spPr>
      </p:pic>
      <p:sp>
        <p:nvSpPr>
          <p:cNvPr id="21" name="Text 18"/>
          <p:cNvSpPr txBox="1"/>
          <p:nvPr/>
        </p:nvSpPr>
        <p:spPr>
          <a:xfrm>
            <a:off x="9189720" y="5943600"/>
            <a:ext cx="2453335" cy="384048"/>
          </a:xfrm>
          <a:prstGeom prst="rect">
            <a:avLst/>
          </a:prstGeom>
          <a:noFill/>
          <a:ln/>
        </p:spPr>
        <p:txBody>
          <a:bodyPr wrap="square" lIns="0" tIns="0" rIns="0" bIns="0" rtlCol="0" anchor="t"/>
          <a:lstStyle/>
          <a:p>
            <a:pPr algn="ctr" indent="0" marL="0">
              <a:buNone/>
            </a:pPr>
            <a:r>
              <a:rPr lang="en-US" sz="1300" b="1" dirty="0">
                <a:solidFill>
                  <a:schemeClr val="tx2"/>
                </a:solidFill>
              </a:rPr>
              <a:t>I got nerd-sniped.</a:t>
            </a:r>
            <a:endParaRPr lang="en-US" sz="1300" dirty="0"/>
          </a:p>
          <a:p>
            <a:pPr algn="ctr" indent="0" marL="0">
              <a:buNone/>
            </a:pPr>
            <a:r>
              <a:rPr lang="en-US" sz="900" dirty="0">
                <a:solidFill>
                  <a:srgbClr val="5A6275"/>
                </a:solidFill>
              </a:rPr>
              <a:t>xkcd.com/356 · Randall Munroe · CC BY-NC 2.5</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27</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its 103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All 103 of Keith's tests pass. Then extend: 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18872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27</a:t>
            </a:r>
            <a:endParaRPr lang="en-US" sz="4800" dirty="0"/>
          </a:p>
        </p:txBody>
      </p:sp>
      <p:sp>
        <p:nvSpPr>
          <p:cNvPr id="4" name="Text 2"/>
          <p:cNvSpPr txBox="1"/>
          <p:nvPr/>
        </p:nvSpPr>
        <p:spPr>
          <a:xfrm>
            <a:off x="548640" y="205740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languages</a:t>
            </a:r>
            <a:endParaRPr lang="en-US" sz="1600" dirty="0"/>
          </a:p>
          <a:p>
            <a:pPr indent="0" marL="0">
              <a:buNone/>
            </a:pPr>
            <a:r>
              <a:rPr lang="en-US" sz="1400" dirty="0">
                <a:solidFill>
                  <a:srgbClr val="5A6275"/>
                </a:solidFill>
              </a:rPr>
              <a:t>15 new (the abstract's 29 splits C/C++, Perl/PDL)</a:t>
            </a:r>
            <a:endParaRPr lang="en-US" sz="1600" dirty="0"/>
          </a:p>
        </p:txBody>
      </p:sp>
      <p:sp>
        <p:nvSpPr>
          <p:cNvPr id="5" name="Text 3"/>
          <p:cNvSpPr txBox="1"/>
          <p:nvPr/>
        </p:nvSpPr>
        <p:spPr>
          <a:xfrm>
            <a:off x="548640" y="26517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5204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11480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498348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sp>
        <p:nvSpPr>
          <p:cNvPr id="9" name="reference card"/>
          <p:cNvSpPr/>
          <p:nvPr/>
        </p:nvSpPr>
        <p:spPr>
          <a:xfrm>
            <a:off x="548640" y="5577840"/>
            <a:ext cx="3840480" cy="713232"/>
          </a:xfrm>
          <a:prstGeom prst="roundRect">
            <a:avLst>
              <a:gd name="adj" fmla="val 12821"/>
            </a:avLst>
          </a:prstGeom>
          <a:solidFill>
            <a:schemeClr val="bg2"/>
          </a:solidFill>
          <a:ln w="12700">
            <a:solidFill>
              <a:schemeClr val="bg2"/>
            </a:solidFill>
            <a:prstDash val="solid"/>
          </a:ln>
        </p:spPr>
      </p:sp>
      <p:sp>
        <p:nvSpPr>
          <p:cNvPr id="10" name="Text 8"/>
          <p:cNvSpPr txBox="1"/>
          <p:nvPr/>
        </p:nvSpPr>
        <p:spPr>
          <a:xfrm>
            <a:off x="685800" y="5641848"/>
            <a:ext cx="3566160" cy="585216"/>
          </a:xfrm>
          <a:prstGeom prst="rect">
            <a:avLst/>
          </a:prstGeom>
          <a:noFill/>
          <a:ln/>
        </p:spPr>
        <p:txBody>
          <a:bodyPr wrap="square" lIns="0" tIns="0" rIns="0" bIns="0" rtlCol="0" anchor="ctr"/>
          <a:lstStyle/>
          <a:p>
            <a:pPr indent="0" marL="0">
              <a:buNone/>
            </a:pPr>
            <a:r>
              <a:rPr lang="en-US" sz="1300" b="1" dirty="0">
                <a:solidFill>
                  <a:schemeClr val="tx2"/>
                </a:solidFill>
              </a:rPr>
              <a:t>Reference: </a:t>
            </a:r>
            <a:pPr indent="0" marL="0">
              <a:buNone/>
            </a:pPr>
            <a:r>
              <a:rPr lang="en-US" sz="1300" dirty="0">
                <a:solidFill>
                  <a:schemeClr val="tx1"/>
                </a:solidFill>
              </a:rPr>
              <a:t>1.00 = Keith's hand-written arm64 NEON assembler. Best C: 1.19 (clang -O3 -march=native).</a:t>
            </a:r>
            <a:endParaRPr lang="en-US" sz="1300" dirty="0"/>
          </a:p>
        </p:txBody>
      </p:sp>
      <p:pic>
        <p:nvPicPr>
          <p:cNvPr id="11" name="histogram" descr="Histogram of all 131 relative times on a log scale, coloured by the eight tiers, with three peaks">    </p:cNvPr>
          <p:cNvPicPr>
            <a:picLocks noChangeAspect="1"/>
          </p:cNvPicPr>
          <p:nvPr/>
        </p:nvPicPr>
        <p:blipFill>
          <a:blip r:embed="rId1"/>
          <a:stretch>
            <a:fillRect/>
          </a:stretch>
        </p:blipFill>
        <p:spPr>
          <a:xfrm>
            <a:off x="4754880" y="1828800"/>
            <a:ext cx="6888175" cy="2719017"/>
          </a:xfrm>
          <a:prstGeom prst="rect">
            <a:avLst/>
          </a:prstGeom>
        </p:spPr>
      </p:pic>
      <p:sp>
        <p:nvSpPr>
          <p:cNvPr id="12" name="group arrow 1"/>
          <p:cNvSpPr/>
          <p:nvPr/>
        </p:nvSpPr>
        <p:spPr>
          <a:xfrm>
            <a:off x="5387034" y="1234440"/>
            <a:ext cx="1199272" cy="502920"/>
          </a:xfrm>
          <a:prstGeom prst="leftRightArrow">
            <a:avLst/>
          </a:prstGeom>
          <a:gradFill rotWithShape="1">
            <a:gsLst>
              <a:gs pos="0">
                <a:srgbClr val="1A9850"/>
              </a:gs>
              <a:gs pos="3520">
                <a:srgbClr val="1A9850"/>
              </a:gs>
              <a:gs pos="3520">
                <a:srgbClr val="66BD63"/>
              </a:gs>
              <a:gs pos="33836">
                <a:srgbClr val="66BD63"/>
              </a:gs>
              <a:gs pos="33836">
                <a:srgbClr val="A6D96A"/>
              </a:gs>
              <a:gs pos="71857">
                <a:srgbClr val="A6D96A"/>
              </a:gs>
              <a:gs pos="71857">
                <a:srgbClr val="FEE08B"/>
              </a:gs>
              <a:gs pos="100000">
                <a:srgbClr val="FEE08B"/>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native</a:t>
            </a:r>
            <a:endParaRPr lang="en-US" sz="1300" dirty="0"/>
          </a:p>
        </p:txBody>
      </p:sp>
      <p:sp>
        <p:nvSpPr>
          <p:cNvPr id="13" name="group box 1"/>
          <p:cNvSpPr/>
          <p:nvPr/>
        </p:nvSpPr>
        <p:spPr>
          <a:xfrm>
            <a:off x="4754880" y="4639257"/>
            <a:ext cx="2204618" cy="1624383"/>
          </a:xfrm>
          <a:prstGeom prst="rect">
            <a:avLst/>
          </a:prstGeom>
          <a:solidFill>
            <a:schemeClr val="bg2"/>
          </a:solidFill>
          <a:ln w="31750">
            <a:solidFill>
              <a:srgbClr val="1A9850"/>
            </a:solidFill>
          </a:ln>
        </p:spPr>
        <p:txBody>
          <a:bodyPr wrap="square" lIns="76200" tIns="101600" rIns="101600" bIns="76200" rtlCol="0" anchor="t"/>
          <a:lstStyle/>
          <a:p>
            <a:pPr indent="0" marL="0">
              <a:spcAft>
                <a:spcPts val="300"/>
              </a:spcAft>
              <a:buNone/>
            </a:pPr>
            <a:r>
              <a:rPr lang="en-US" sz="1400" b="1" dirty="0">
                <a:solidFill>
                  <a:schemeClr val="tx2"/>
                </a:solidFill>
              </a:rPr>
              <a:t>Native code, 1–15×</a:t>
            </a:r>
            <a:endParaRPr lang="en-US" sz="1400" dirty="0"/>
          </a:p>
          <a:p>
            <a:pPr indent="0" marL="0">
              <a:spcAft>
                <a:spcPts val="300"/>
              </a:spcAft>
              <a:buNone/>
            </a:pPr>
            <a:r>
              <a:rPr lang="en-US" sz="1200" dirty="0">
                <a:solidFill>
                  <a:schemeClr val="tx1"/>
                </a:solidFill>
              </a:rPr>
              <a:t>Compiled to machine code ahead of time or by a good JIT: C, Fortran, Julia, D, Zig, Java, C#, Go, LuaJIT, Haskell. Also numba and PDL::PP, which compile the loop for Python and Perl.</a:t>
            </a:r>
            <a:endParaRPr lang="en-US" sz="1400" dirty="0"/>
          </a:p>
        </p:txBody>
      </p:sp>
      <p:sp>
        <p:nvSpPr>
          <p:cNvPr id="14" name="group arrow 2"/>
          <p:cNvSpPr/>
          <p:nvPr/>
        </p:nvSpPr>
        <p:spPr>
          <a:xfrm>
            <a:off x="6586306" y="1234440"/>
            <a:ext cx="840148" cy="502920"/>
          </a:xfrm>
          <a:prstGeom prst="leftRightArrow">
            <a:avLst/>
          </a:prstGeom>
          <a:gradFill rotWithShape="1">
            <a:gsLst>
              <a:gs pos="0">
                <a:srgbClr val="FDAE61"/>
              </a:gs>
              <a:gs pos="100000">
                <a:srgbClr val="FDAE61"/>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arrays</a:t>
            </a:r>
            <a:endParaRPr lang="en-US" sz="1300" dirty="0"/>
          </a:p>
        </p:txBody>
      </p:sp>
      <p:sp>
        <p:nvSpPr>
          <p:cNvPr id="15" name="group box 2"/>
          <p:cNvSpPr/>
          <p:nvPr/>
        </p:nvSpPr>
        <p:spPr>
          <a:xfrm>
            <a:off x="7096658" y="4639257"/>
            <a:ext cx="2204618" cy="1624383"/>
          </a:xfrm>
          <a:prstGeom prst="rect">
            <a:avLst/>
          </a:prstGeom>
          <a:solidFill>
            <a:schemeClr val="bg2"/>
          </a:solidFill>
          <a:ln w="31750">
            <a:solidFill>
              <a:srgbClr val="FDAE61"/>
            </a:solidFill>
          </a:ln>
        </p:spPr>
        <p:txBody>
          <a:bodyPr wrap="square" lIns="76200" tIns="101600" rIns="101600" bIns="76200" rtlCol="0" anchor="t"/>
          <a:lstStyle/>
          <a:p>
            <a:pPr indent="0" marL="0">
              <a:spcAft>
                <a:spcPts val="300"/>
              </a:spcAft>
              <a:buNone/>
            </a:pPr>
            <a:r>
              <a:rPr lang="en-US" sz="1400" b="1" dirty="0">
                <a:solidFill>
                  <a:schemeClr val="tx2"/>
                </a:solidFill>
              </a:rPr>
              <a:t>Whole arrays, half measures, 15–100×</a:t>
            </a:r>
            <a:endParaRPr lang="en-US" sz="1400" dirty="0"/>
          </a:p>
          <a:p>
            <a:pPr indent="0" marL="0">
              <a:spcAft>
                <a:spcPts val="300"/>
              </a:spcAft>
              <a:buNone/>
            </a:pPr>
            <a:r>
              <a:rPr lang="en-US" sz="1200" dirty="0">
                <a:solidFill>
                  <a:schemeClr val="tx1"/>
                </a:solidFill>
              </a:rPr>
              <a:t>One whole-array expression in numpy, PDL, Numo or Octave; JavaScript engines; Swift -O; PyPy on lists; C or Fortran with no optimisation.</a:t>
            </a:r>
            <a:endParaRPr lang="en-US" sz="1400" dirty="0"/>
          </a:p>
        </p:txBody>
      </p:sp>
      <p:sp>
        <p:nvSpPr>
          <p:cNvPr id="16" name="group arrow 3"/>
          <p:cNvSpPr/>
          <p:nvPr/>
        </p:nvSpPr>
        <p:spPr>
          <a:xfrm>
            <a:off x="7426453" y="1234440"/>
            <a:ext cx="2346382" cy="502920"/>
          </a:xfrm>
          <a:prstGeom prst="leftRightArrow">
            <a:avLst/>
          </a:prstGeom>
          <a:gradFill rotWithShape="1">
            <a:gsLst>
              <a:gs pos="0">
                <a:srgbClr val="F46D43"/>
              </a:gs>
              <a:gs pos="33818">
                <a:srgbClr val="F46D43"/>
              </a:gs>
              <a:gs pos="33818">
                <a:srgbClr val="D73027"/>
              </a:gs>
              <a:gs pos="100000">
                <a:srgbClr val="D73027"/>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FFFFFF"/>
                </a:solidFill>
              </a:rPr>
              <a:t>interpreted</a:t>
            </a:r>
            <a:endParaRPr lang="en-US" sz="1300" dirty="0"/>
          </a:p>
        </p:txBody>
      </p:sp>
      <p:sp>
        <p:nvSpPr>
          <p:cNvPr id="17" name="group box 3"/>
          <p:cNvSpPr/>
          <p:nvPr/>
        </p:nvSpPr>
        <p:spPr>
          <a:xfrm>
            <a:off x="9438437" y="4639257"/>
            <a:ext cx="2204618" cy="1624383"/>
          </a:xfrm>
          <a:prstGeom prst="rect">
            <a:avLst/>
          </a:prstGeom>
          <a:solidFill>
            <a:schemeClr val="bg2"/>
          </a:solidFill>
          <a:ln w="31750">
            <a:solidFill>
              <a:srgbClr val="D73027"/>
            </a:solidFill>
          </a:ln>
        </p:spPr>
        <p:txBody>
          <a:bodyPr wrap="square" lIns="76200" tIns="101600" rIns="101600" bIns="76200" rtlCol="0" anchor="t"/>
          <a:lstStyle/>
          <a:p>
            <a:pPr indent="0" marL="0">
              <a:spcAft>
                <a:spcPts val="300"/>
              </a:spcAft>
              <a:buNone/>
            </a:pPr>
            <a:r>
              <a:rPr lang="en-US" sz="1400" b="1" dirty="0">
                <a:solidFill>
                  <a:schemeClr val="tx2"/>
                </a:solidFill>
              </a:rPr>
              <a:t>Interpreted element lookup, 100–20,000×</a:t>
            </a:r>
            <a:endParaRPr lang="en-US" sz="1400" dirty="0"/>
          </a:p>
          <a:p>
            <a:pPr indent="0" marL="0">
              <a:spcAft>
                <a:spcPts val="300"/>
              </a:spcAft>
              <a:buNone/>
            </a:pPr>
            <a:r>
              <a:rPr lang="en-US" sz="1200" dirty="0">
                <a:solidFill>
                  <a:schemeClr val="tx1"/>
                </a:solidFill>
              </a:rPr>
              <a:t>An interpreter touching one element at a time: Python lists, Perl, Ruby, R, Tcl, numpy or PDL lookup. Purple: per-element cost explodes.</a:t>
            </a:r>
            <a:endParaRPr lang="en-US" sz="1400" dirty="0"/>
          </a:p>
        </p:txBody>
      </p:sp>
      <p:sp>
        <p:nvSpPr>
          <p:cNvPr id="18" name="group arrow 4"/>
          <p:cNvSpPr/>
          <p:nvPr/>
        </p:nvSpPr>
        <p:spPr>
          <a:xfrm>
            <a:off x="9772836" y="1234440"/>
            <a:ext cx="1732456" cy="502920"/>
          </a:xfrm>
          <a:prstGeom prst="leftRightArrow">
            <a:avLst/>
          </a:prstGeom>
          <a:gradFill rotWithShape="1">
            <a:gsLst>
              <a:gs pos="0">
                <a:srgbClr val="7A0177"/>
              </a:gs>
              <a:gs pos="100000">
                <a:srgbClr val="7A0177"/>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FFFFFF"/>
                </a:solidFill>
              </a:rPr>
              <a:t>pathological</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the 15 new languages, and Keith's C for reference</a:t>
            </a:r>
            <a:endParaRPr lang="en-US" sz="2600" dirty="0"/>
          </a:p>
        </p:txBody>
      </p:sp>
      <p:sp>
        <p:nvSpPr>
          <p:cNvPr id="3" name="code card C (Keith's, reference)"/>
          <p:cNvSpPr/>
          <p:nvPr/>
        </p:nvSpPr>
        <p:spPr>
          <a:xfrm>
            <a:off x="274320" y="822960"/>
            <a:ext cx="2842184" cy="1360170"/>
          </a:xfrm>
          <a:prstGeom prst="roundRect">
            <a:avLst>
              <a:gd name="adj" fmla="val 6723"/>
            </a:avLst>
          </a:prstGeom>
          <a:solidFill>
            <a:srgbClr val="0D1117"/>
          </a:solidFill>
          <a:ln w="12700">
            <a:solidFill>
              <a:srgbClr val="0D1117"/>
            </a:solidFill>
            <a:prstDash val="solid"/>
          </a:ln>
        </p:spPr>
      </p:sp>
      <p:sp>
        <p:nvSpPr>
          <p:cNvPr id="4" name="Text 2"/>
          <p:cNvSpPr txBox="1"/>
          <p:nvPr/>
        </p:nvSpPr>
        <p:spPr>
          <a:xfrm>
            <a:off x="365760"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 (Keith's, reference)</a:t>
            </a:r>
            <a:pPr indent="0" marL="0">
              <a:buNone/>
            </a:pPr>
            <a:r>
              <a:rPr lang="en-US" sz="800" dirty="0">
                <a:solidFill>
                  <a:srgbClr val="8B949E"/>
                </a:solidFill>
              </a:rPr>
              <a:t>   csub.cpp</a:t>
            </a:r>
            <a:endParaRPr lang="en-US" sz="1100" dirty="0"/>
          </a:p>
        </p:txBody>
      </p:sp>
      <p:sp>
        <p:nvSpPr>
          <p:cNvPr id="5" name="chip C (Keith's, reference)"/>
          <p:cNvSpPr/>
          <p:nvPr/>
        </p:nvSpPr>
        <p:spPr>
          <a:xfrm>
            <a:off x="2293544" y="868680"/>
            <a:ext cx="731520" cy="219456"/>
          </a:xfrm>
          <a:prstGeom prst="roundRect">
            <a:avLst>
              <a:gd name="adj" fmla="val 33333"/>
            </a:avLst>
          </a:prstGeom>
          <a:solidFill>
            <a:srgbClr val="66BD63"/>
          </a:solidFill>
          <a:ln w="12700">
            <a:solidFill>
              <a:srgbClr val="66BD63"/>
            </a:solidFill>
            <a:prstDash val="solid"/>
          </a:ln>
        </p:spPr>
      </p:sp>
      <p:sp>
        <p:nvSpPr>
          <p:cNvPr id="6" name="Text 4"/>
          <p:cNvSpPr txBox="1"/>
          <p:nvPr/>
        </p:nvSpPr>
        <p:spPr>
          <a:xfrm>
            <a:off x="2293544"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a:t>
            </a:r>
            <a:endParaRPr lang="en-US" sz="1000" dirty="0"/>
          </a:p>
        </p:txBody>
      </p:sp>
      <p:sp>
        <p:nvSpPr>
          <p:cNvPr id="7" name="code C (Keith's, reference)"/>
          <p:cNvSpPr txBox="1"/>
          <p:nvPr/>
        </p:nvSpPr>
        <p:spPr>
          <a:xfrm>
            <a:off x="365760"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8" name="code card D"/>
          <p:cNvSpPr/>
          <p:nvPr/>
        </p:nvSpPr>
        <p:spPr>
          <a:xfrm>
            <a:off x="3207944" y="822960"/>
            <a:ext cx="2842184" cy="1360170"/>
          </a:xfrm>
          <a:prstGeom prst="roundRect">
            <a:avLst>
              <a:gd name="adj" fmla="val 6723"/>
            </a:avLst>
          </a:prstGeom>
          <a:solidFill>
            <a:srgbClr val="0D1117"/>
          </a:solidFill>
          <a:ln w="12700">
            <a:solidFill>
              <a:srgbClr val="0D1117"/>
            </a:solidFill>
            <a:prstDash val="solid"/>
          </a:ln>
        </p:spPr>
      </p:sp>
      <p:sp>
        <p:nvSpPr>
          <p:cNvPr id="9" name="Text 7"/>
          <p:cNvSpPr txBox="1"/>
          <p:nvPr/>
        </p:nvSpPr>
        <p:spPr>
          <a:xfrm>
            <a:off x="3299384"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D</a:t>
            </a:r>
            <a:pPr indent="0" marL="0">
              <a:buNone/>
            </a:pPr>
            <a:r>
              <a:rPr lang="en-US" sz="800" dirty="0">
                <a:solidFill>
                  <a:srgbClr val="8B949E"/>
                </a:solidFill>
              </a:rPr>
              <a:t>   csubraw.d</a:t>
            </a:r>
            <a:endParaRPr lang="en-US" sz="1100" dirty="0"/>
          </a:p>
        </p:txBody>
      </p:sp>
      <p:sp>
        <p:nvSpPr>
          <p:cNvPr id="10" name="chip D"/>
          <p:cNvSpPr/>
          <p:nvPr/>
        </p:nvSpPr>
        <p:spPr>
          <a:xfrm>
            <a:off x="5227168" y="868680"/>
            <a:ext cx="731520" cy="219456"/>
          </a:xfrm>
          <a:prstGeom prst="roundRect">
            <a:avLst>
              <a:gd name="adj" fmla="val 33333"/>
            </a:avLst>
          </a:prstGeom>
          <a:solidFill>
            <a:srgbClr val="A6D96A"/>
          </a:solidFill>
          <a:ln w="12700">
            <a:solidFill>
              <a:srgbClr val="A6D96A"/>
            </a:solidFill>
            <a:prstDash val="solid"/>
          </a:ln>
        </p:spPr>
      </p:sp>
      <p:sp>
        <p:nvSpPr>
          <p:cNvPr id="11" name="Text 9"/>
          <p:cNvSpPr txBox="1"/>
          <p:nvPr/>
        </p:nvSpPr>
        <p:spPr>
          <a:xfrm>
            <a:off x="5227168"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2.76</a:t>
            </a:r>
            <a:endParaRPr lang="en-US" sz="1000" dirty="0"/>
          </a:p>
        </p:txBody>
      </p:sp>
      <p:sp>
        <p:nvSpPr>
          <p:cNvPr id="12" name="code D"/>
          <p:cNvSpPr txBox="1"/>
          <p:nvPr/>
        </p:nvSpPr>
        <p:spPr>
          <a:xfrm>
            <a:off x="3299384" y="113385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immutable</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13" name="code card Zig"/>
          <p:cNvSpPr/>
          <p:nvPr/>
        </p:nvSpPr>
        <p:spPr>
          <a:xfrm>
            <a:off x="6141568" y="822960"/>
            <a:ext cx="2842184" cy="1360170"/>
          </a:xfrm>
          <a:prstGeom prst="roundRect">
            <a:avLst>
              <a:gd name="adj" fmla="val 6723"/>
            </a:avLst>
          </a:prstGeom>
          <a:solidFill>
            <a:srgbClr val="0D1117"/>
          </a:solidFill>
          <a:ln w="12700">
            <a:solidFill>
              <a:srgbClr val="0D1117"/>
            </a:solidFill>
            <a:prstDash val="solid"/>
          </a:ln>
        </p:spPr>
      </p:sp>
      <p:sp>
        <p:nvSpPr>
          <p:cNvPr id="14" name="Text 12"/>
          <p:cNvSpPr txBox="1"/>
          <p:nvPr/>
        </p:nvSpPr>
        <p:spPr>
          <a:xfrm>
            <a:off x="6233008"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Zig</a:t>
            </a:r>
            <a:pPr indent="0" marL="0">
              <a:buNone/>
            </a:pPr>
            <a:r>
              <a:rPr lang="en-US" sz="800" dirty="0">
                <a:solidFill>
                  <a:srgbClr val="8B949E"/>
                </a:solidFill>
              </a:rPr>
              <a:t>   csubraw.zig</a:t>
            </a:r>
            <a:endParaRPr lang="en-US" sz="1100" dirty="0"/>
          </a:p>
        </p:txBody>
      </p:sp>
      <p:sp>
        <p:nvSpPr>
          <p:cNvPr id="15" name="chip Zig"/>
          <p:cNvSpPr/>
          <p:nvPr/>
        </p:nvSpPr>
        <p:spPr>
          <a:xfrm>
            <a:off x="8160791" y="868680"/>
            <a:ext cx="731520" cy="219456"/>
          </a:xfrm>
          <a:prstGeom prst="roundRect">
            <a:avLst>
              <a:gd name="adj" fmla="val 33333"/>
            </a:avLst>
          </a:prstGeom>
          <a:solidFill>
            <a:srgbClr val="A6D96A"/>
          </a:solidFill>
          <a:ln w="12700">
            <a:solidFill>
              <a:srgbClr val="A6D96A"/>
            </a:solidFill>
            <a:prstDash val="solid"/>
          </a:ln>
        </p:spPr>
      </p:sp>
      <p:sp>
        <p:nvSpPr>
          <p:cNvPr id="16" name="Text 14"/>
          <p:cNvSpPr txBox="1"/>
          <p:nvPr/>
        </p:nvSpPr>
        <p:spPr>
          <a:xfrm>
            <a:off x="8160791"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17" name="code Zig"/>
          <p:cNvSpPr txBox="1"/>
          <p:nvPr/>
        </p:nvSpPr>
        <p:spPr>
          <a:xfrm>
            <a:off x="6233008" y="113385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var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usize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18" name="code card Nim"/>
          <p:cNvSpPr/>
          <p:nvPr/>
        </p:nvSpPr>
        <p:spPr>
          <a:xfrm>
            <a:off x="9075191" y="822960"/>
            <a:ext cx="2842184" cy="1360170"/>
          </a:xfrm>
          <a:prstGeom prst="roundRect">
            <a:avLst>
              <a:gd name="adj" fmla="val 6723"/>
            </a:avLst>
          </a:prstGeom>
          <a:solidFill>
            <a:srgbClr val="0D1117"/>
          </a:solidFill>
          <a:ln w="12700">
            <a:solidFill>
              <a:srgbClr val="0D1117"/>
            </a:solidFill>
            <a:prstDash val="solid"/>
          </a:ln>
        </p:spPr>
      </p:sp>
      <p:sp>
        <p:nvSpPr>
          <p:cNvPr id="19" name="Text 17"/>
          <p:cNvSpPr txBox="1"/>
          <p:nvPr/>
        </p:nvSpPr>
        <p:spPr>
          <a:xfrm>
            <a:off x="9166631"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Nim</a:t>
            </a:r>
            <a:pPr indent="0" marL="0">
              <a:buNone/>
            </a:pPr>
            <a:r>
              <a:rPr lang="en-US" sz="800" dirty="0">
                <a:solidFill>
                  <a:srgbClr val="8B949E"/>
                </a:solidFill>
              </a:rPr>
              <a:t>   csubraw.nim</a:t>
            </a:r>
            <a:endParaRPr lang="en-US" sz="1100" dirty="0"/>
          </a:p>
        </p:txBody>
      </p:sp>
      <p:sp>
        <p:nvSpPr>
          <p:cNvPr id="20" name="chip Nim"/>
          <p:cNvSpPr/>
          <p:nvPr/>
        </p:nvSpPr>
        <p:spPr>
          <a:xfrm>
            <a:off x="11094415" y="868680"/>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1109441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9166631"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23" name="code card Crystal"/>
          <p:cNvSpPr/>
          <p:nvPr/>
        </p:nvSpPr>
        <p:spPr>
          <a:xfrm>
            <a:off x="274320" y="2274570"/>
            <a:ext cx="2842184" cy="1360170"/>
          </a:xfrm>
          <a:prstGeom prst="roundRect">
            <a:avLst>
              <a:gd name="adj" fmla="val 6723"/>
            </a:avLst>
          </a:prstGeom>
          <a:solidFill>
            <a:srgbClr val="0D1117"/>
          </a:solidFill>
          <a:ln w="12700">
            <a:solidFill>
              <a:srgbClr val="0D1117"/>
            </a:solidFill>
            <a:prstDash val="solid"/>
          </a:ln>
        </p:spPr>
      </p:sp>
      <p:sp>
        <p:nvSpPr>
          <p:cNvPr id="24" name="Text 22"/>
          <p:cNvSpPr txBox="1"/>
          <p:nvPr/>
        </p:nvSpPr>
        <p:spPr>
          <a:xfrm>
            <a:off x="365760"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Crystal</a:t>
            </a:r>
            <a:pPr indent="0" marL="0">
              <a:buNone/>
            </a:pPr>
            <a:r>
              <a:rPr lang="en-US" sz="800" dirty="0">
                <a:solidFill>
                  <a:srgbClr val="8B949E"/>
                </a:solidFill>
              </a:rPr>
              <a:t>   csubraw.cr</a:t>
            </a:r>
            <a:endParaRPr lang="en-US" sz="1100" dirty="0"/>
          </a:p>
        </p:txBody>
      </p:sp>
      <p:sp>
        <p:nvSpPr>
          <p:cNvPr id="25" name="chip Crystal"/>
          <p:cNvSpPr/>
          <p:nvPr/>
        </p:nvSpPr>
        <p:spPr>
          <a:xfrm>
            <a:off x="2293544" y="2320290"/>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2293544"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3.67</a:t>
            </a:r>
            <a:endParaRPr lang="en-US" sz="1000" dirty="0"/>
          </a:p>
        </p:txBody>
      </p:sp>
      <p:sp>
        <p:nvSpPr>
          <p:cNvPr id="27" name="code Crystal"/>
          <p:cNvSpPr txBox="1"/>
          <p:nvPr/>
        </p:nvSpPr>
        <p:spPr>
          <a:xfrm>
            <a:off x="365760"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ina</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p:txBody>
      </p:sp>
      <p:sp>
        <p:nvSpPr>
          <p:cNvPr id="28" name="code card Kotlin"/>
          <p:cNvSpPr/>
          <p:nvPr/>
        </p:nvSpPr>
        <p:spPr>
          <a:xfrm>
            <a:off x="3207944" y="2274570"/>
            <a:ext cx="2842184" cy="1360170"/>
          </a:xfrm>
          <a:prstGeom prst="roundRect">
            <a:avLst>
              <a:gd name="adj" fmla="val 6723"/>
            </a:avLst>
          </a:prstGeom>
          <a:solidFill>
            <a:srgbClr val="0D1117"/>
          </a:solidFill>
          <a:ln w="12700">
            <a:solidFill>
              <a:srgbClr val="0D1117"/>
            </a:solidFill>
            <a:prstDash val="solid"/>
          </a:ln>
        </p:spPr>
      </p:sp>
      <p:sp>
        <p:nvSpPr>
          <p:cNvPr id="29" name="Text 27"/>
          <p:cNvSpPr txBox="1"/>
          <p:nvPr/>
        </p:nvSpPr>
        <p:spPr>
          <a:xfrm>
            <a:off x="3299384"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Kotlin</a:t>
            </a:r>
            <a:pPr indent="0" marL="0">
              <a:buNone/>
            </a:pPr>
            <a:r>
              <a:rPr lang="en-US" sz="800" dirty="0">
                <a:solidFill>
                  <a:srgbClr val="8B949E"/>
                </a:solidFill>
              </a:rPr>
              <a:t>   csubraw.kt</a:t>
            </a:r>
            <a:endParaRPr lang="en-US" sz="1100" dirty="0"/>
          </a:p>
        </p:txBody>
      </p:sp>
      <p:sp>
        <p:nvSpPr>
          <p:cNvPr id="30" name="chip Kotlin"/>
          <p:cNvSpPr/>
          <p:nvPr/>
        </p:nvSpPr>
        <p:spPr>
          <a:xfrm>
            <a:off x="5227168" y="2320290"/>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5227168"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4.30</a:t>
            </a:r>
            <a:endParaRPr lang="en-US" sz="1000" dirty="0"/>
          </a:p>
        </p:txBody>
      </p:sp>
      <p:sp>
        <p:nvSpPr>
          <p:cNvPr id="32" name="code Kotlin"/>
          <p:cNvSpPr txBox="1"/>
          <p:nvPr/>
        </p:nvSpPr>
        <p:spPr>
          <a:xfrm>
            <a:off x="3299384" y="258546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iy.toDouble()</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ix.toDouble()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C#"/>
          <p:cNvSpPr/>
          <p:nvPr/>
        </p:nvSpPr>
        <p:spPr>
          <a:xfrm>
            <a:off x="6141568" y="2274570"/>
            <a:ext cx="2842184" cy="1360170"/>
          </a:xfrm>
          <a:prstGeom prst="roundRect">
            <a:avLst>
              <a:gd name="adj" fmla="val 6723"/>
            </a:avLst>
          </a:prstGeom>
          <a:solidFill>
            <a:srgbClr val="0D1117"/>
          </a:solidFill>
          <a:ln w="12700">
            <a:solidFill>
              <a:srgbClr val="0D1117"/>
            </a:solidFill>
            <a:prstDash val="solid"/>
          </a:ln>
        </p:spPr>
      </p:sp>
      <p:sp>
        <p:nvSpPr>
          <p:cNvPr id="34" name="Text 32"/>
          <p:cNvSpPr txBox="1"/>
          <p:nvPr/>
        </p:nvSpPr>
        <p:spPr>
          <a:xfrm>
            <a:off x="6233008"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a:t>
            </a:r>
            <a:pPr indent="0" marL="0">
              <a:buNone/>
            </a:pPr>
            <a:r>
              <a:rPr lang="en-US" sz="800" dirty="0">
                <a:solidFill>
                  <a:srgbClr val="8B949E"/>
                </a:solidFill>
              </a:rPr>
              <a:t>   csubraw.cs</a:t>
            </a:r>
            <a:endParaRPr lang="en-US" sz="1100" dirty="0"/>
          </a:p>
        </p:txBody>
      </p:sp>
      <p:sp>
        <p:nvSpPr>
          <p:cNvPr id="35" name="chip C#"/>
          <p:cNvSpPr/>
          <p:nvPr/>
        </p:nvSpPr>
        <p:spPr>
          <a:xfrm>
            <a:off x="8160791" y="2320290"/>
            <a:ext cx="731520" cy="219456"/>
          </a:xfrm>
          <a:prstGeom prst="roundRect">
            <a:avLst>
              <a:gd name="adj" fmla="val 33333"/>
            </a:avLst>
          </a:prstGeom>
          <a:solidFill>
            <a:srgbClr val="A6D96A"/>
          </a:solidFill>
          <a:ln w="12700">
            <a:solidFill>
              <a:srgbClr val="A6D96A"/>
            </a:solidFill>
            <a:prstDash val="solid"/>
          </a:ln>
        </p:spPr>
      </p:sp>
      <p:sp>
        <p:nvSpPr>
          <p:cNvPr id="36" name="Text 34"/>
          <p:cNvSpPr txBox="1"/>
          <p:nvPr/>
        </p:nvSpPr>
        <p:spPr>
          <a:xfrm>
            <a:off x="8160791"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5.31</a:t>
            </a:r>
            <a:endParaRPr lang="en-US" sz="1000" dirty="0"/>
          </a:p>
        </p:txBody>
      </p:sp>
      <p:sp>
        <p:nvSpPr>
          <p:cNvPr id="37" name="code C#"/>
          <p:cNvSpPr txBox="1"/>
          <p:nvPr/>
        </p:nvSpPr>
        <p:spPr>
          <a:xfrm>
            <a:off x="6233008" y="258546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8" name="code card Go"/>
          <p:cNvSpPr/>
          <p:nvPr/>
        </p:nvSpPr>
        <p:spPr>
          <a:xfrm>
            <a:off x="9075191" y="2274570"/>
            <a:ext cx="2842184" cy="1360170"/>
          </a:xfrm>
          <a:prstGeom prst="roundRect">
            <a:avLst>
              <a:gd name="adj" fmla="val 6723"/>
            </a:avLst>
          </a:prstGeom>
          <a:solidFill>
            <a:srgbClr val="0D1117"/>
          </a:solidFill>
          <a:ln w="12700">
            <a:solidFill>
              <a:srgbClr val="0D1117"/>
            </a:solidFill>
            <a:prstDash val="solid"/>
          </a:ln>
        </p:spPr>
      </p:sp>
      <p:sp>
        <p:nvSpPr>
          <p:cNvPr id="39" name="Text 37"/>
          <p:cNvSpPr txBox="1"/>
          <p:nvPr/>
        </p:nvSpPr>
        <p:spPr>
          <a:xfrm>
            <a:off x="9166631"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Go</a:t>
            </a:r>
            <a:pPr indent="0" marL="0">
              <a:buNone/>
            </a:pPr>
            <a:r>
              <a:rPr lang="en-US" sz="800" dirty="0">
                <a:solidFill>
                  <a:srgbClr val="8B949E"/>
                </a:solidFill>
              </a:rPr>
              <a:t>   csubraw.go</a:t>
            </a:r>
            <a:endParaRPr lang="en-US" sz="1100" dirty="0"/>
          </a:p>
        </p:txBody>
      </p:sp>
      <p:sp>
        <p:nvSpPr>
          <p:cNvPr id="40" name="chip Go"/>
          <p:cNvSpPr/>
          <p:nvPr/>
        </p:nvSpPr>
        <p:spPr>
          <a:xfrm>
            <a:off x="11094415" y="2320290"/>
            <a:ext cx="731520" cy="219456"/>
          </a:xfrm>
          <a:prstGeom prst="roundRect">
            <a:avLst>
              <a:gd name="adj" fmla="val 33333"/>
            </a:avLst>
          </a:prstGeom>
          <a:solidFill>
            <a:srgbClr val="A6D96A"/>
          </a:solidFill>
          <a:ln w="12700">
            <a:solidFill>
              <a:srgbClr val="A6D96A"/>
            </a:solidFill>
            <a:prstDash val="solid"/>
          </a:ln>
        </p:spPr>
      </p:sp>
      <p:sp>
        <p:nvSpPr>
          <p:cNvPr id="41" name="Text 39"/>
          <p:cNvSpPr txBox="1"/>
          <p:nvPr/>
        </p:nvSpPr>
        <p:spPr>
          <a:xfrm>
            <a:off x="11094415"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42" name="code Go"/>
          <p:cNvSpPr txBox="1"/>
          <p:nvPr/>
        </p:nvSpPr>
        <p:spPr>
          <a:xfrm>
            <a:off x="9166631"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43" name="code card F#"/>
          <p:cNvSpPr/>
          <p:nvPr/>
        </p:nvSpPr>
        <p:spPr>
          <a:xfrm>
            <a:off x="274320" y="3726180"/>
            <a:ext cx="2842184" cy="1360170"/>
          </a:xfrm>
          <a:prstGeom prst="roundRect">
            <a:avLst>
              <a:gd name="adj" fmla="val 6723"/>
            </a:avLst>
          </a:prstGeom>
          <a:solidFill>
            <a:srgbClr val="0D1117"/>
          </a:solidFill>
          <a:ln w="12700">
            <a:solidFill>
              <a:srgbClr val="0D1117"/>
            </a:solidFill>
            <a:prstDash val="solid"/>
          </a:ln>
        </p:spPr>
      </p:sp>
      <p:sp>
        <p:nvSpPr>
          <p:cNvPr id="44" name="Text 42"/>
          <p:cNvSpPr txBox="1"/>
          <p:nvPr/>
        </p:nvSpPr>
        <p:spPr>
          <a:xfrm>
            <a:off x="365760"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F#</a:t>
            </a:r>
            <a:pPr indent="0" marL="0">
              <a:buNone/>
            </a:pPr>
            <a:r>
              <a:rPr lang="en-US" sz="800" dirty="0">
                <a:solidFill>
                  <a:srgbClr val="8B949E"/>
                </a:solidFill>
              </a:rPr>
              <a:t>   csubraw.fs</a:t>
            </a:r>
            <a:endParaRPr lang="en-US" sz="1100" dirty="0"/>
          </a:p>
        </p:txBody>
      </p:sp>
      <p:sp>
        <p:nvSpPr>
          <p:cNvPr id="45" name="chip F#"/>
          <p:cNvSpPr/>
          <p:nvPr/>
        </p:nvSpPr>
        <p:spPr>
          <a:xfrm>
            <a:off x="2293544" y="3771900"/>
            <a:ext cx="731520" cy="219456"/>
          </a:xfrm>
          <a:prstGeom prst="roundRect">
            <a:avLst>
              <a:gd name="adj" fmla="val 33333"/>
            </a:avLst>
          </a:prstGeom>
          <a:solidFill>
            <a:srgbClr val="FEE08B"/>
          </a:solidFill>
          <a:ln w="12700">
            <a:solidFill>
              <a:srgbClr val="FEE08B"/>
            </a:solidFill>
            <a:prstDash val="solid"/>
          </a:ln>
        </p:spPr>
      </p:sp>
      <p:sp>
        <p:nvSpPr>
          <p:cNvPr id="46" name="Text 44"/>
          <p:cNvSpPr txBox="1"/>
          <p:nvPr/>
        </p:nvSpPr>
        <p:spPr>
          <a:xfrm>
            <a:off x="2293544"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7.21</a:t>
            </a:r>
            <a:endParaRPr lang="en-US" sz="1000" dirty="0"/>
          </a:p>
        </p:txBody>
      </p:sp>
      <p:sp>
        <p:nvSpPr>
          <p:cNvPr id="47" name="code F#"/>
          <p:cNvSpPr txBox="1"/>
          <p:nvPr/>
        </p:nvSpPr>
        <p:spPr>
          <a:xfrm>
            <a:off x="365760"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48" name="code card Lua (LuaJIT)"/>
          <p:cNvSpPr/>
          <p:nvPr/>
        </p:nvSpPr>
        <p:spPr>
          <a:xfrm>
            <a:off x="3207944" y="3726180"/>
            <a:ext cx="2842184" cy="1360170"/>
          </a:xfrm>
          <a:prstGeom prst="roundRect">
            <a:avLst>
              <a:gd name="adj" fmla="val 6723"/>
            </a:avLst>
          </a:prstGeom>
          <a:solidFill>
            <a:srgbClr val="0D1117"/>
          </a:solidFill>
          <a:ln w="12700">
            <a:solidFill>
              <a:srgbClr val="0D1117"/>
            </a:solidFill>
            <a:prstDash val="solid"/>
          </a:ln>
        </p:spPr>
      </p:sp>
      <p:sp>
        <p:nvSpPr>
          <p:cNvPr id="49" name="Text 47"/>
          <p:cNvSpPr txBox="1"/>
          <p:nvPr/>
        </p:nvSpPr>
        <p:spPr>
          <a:xfrm>
            <a:off x="3299384"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Lua (LuaJIT)</a:t>
            </a:r>
            <a:pPr indent="0" marL="0">
              <a:buNone/>
            </a:pPr>
            <a:r>
              <a:rPr lang="en-US" sz="800" dirty="0">
                <a:solidFill>
                  <a:srgbClr val="8B949E"/>
                </a:solidFill>
              </a:rPr>
              <a:t>   csubraw.lua</a:t>
            </a:r>
            <a:endParaRPr lang="en-US" sz="1100" dirty="0"/>
          </a:p>
        </p:txBody>
      </p:sp>
      <p:sp>
        <p:nvSpPr>
          <p:cNvPr id="50" name="chip Lua (LuaJIT)"/>
          <p:cNvSpPr/>
          <p:nvPr/>
        </p:nvSpPr>
        <p:spPr>
          <a:xfrm>
            <a:off x="5227168" y="3771900"/>
            <a:ext cx="731520" cy="219456"/>
          </a:xfrm>
          <a:prstGeom prst="roundRect">
            <a:avLst>
              <a:gd name="adj" fmla="val 33333"/>
            </a:avLst>
          </a:prstGeom>
          <a:solidFill>
            <a:srgbClr val="FEE08B"/>
          </a:solidFill>
          <a:ln w="12700">
            <a:solidFill>
              <a:srgbClr val="FEE08B"/>
            </a:solidFill>
            <a:prstDash val="solid"/>
          </a:ln>
        </p:spPr>
      </p:sp>
      <p:sp>
        <p:nvSpPr>
          <p:cNvPr id="51" name="Text 49"/>
          <p:cNvSpPr txBox="1"/>
          <p:nvPr/>
        </p:nvSpPr>
        <p:spPr>
          <a:xfrm>
            <a:off x="5227168"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52" name="code Lua (LuaJIT)"/>
          <p:cNvSpPr txBox="1"/>
          <p:nvPr/>
        </p:nvSpPr>
        <p:spPr>
          <a:xfrm>
            <a:off x="3299384"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function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53" name="code card J"/>
          <p:cNvSpPr/>
          <p:nvPr/>
        </p:nvSpPr>
        <p:spPr>
          <a:xfrm>
            <a:off x="6141568" y="3726180"/>
            <a:ext cx="2842184" cy="1360170"/>
          </a:xfrm>
          <a:prstGeom prst="roundRect">
            <a:avLst>
              <a:gd name="adj" fmla="val 6723"/>
            </a:avLst>
          </a:prstGeom>
          <a:solidFill>
            <a:srgbClr val="0D1117"/>
          </a:solidFill>
          <a:ln w="12700">
            <a:solidFill>
              <a:srgbClr val="0D1117"/>
            </a:solidFill>
            <a:prstDash val="solid"/>
          </a:ln>
        </p:spPr>
      </p:sp>
      <p:sp>
        <p:nvSpPr>
          <p:cNvPr id="54" name="Text 52"/>
          <p:cNvSpPr txBox="1"/>
          <p:nvPr/>
        </p:nvSpPr>
        <p:spPr>
          <a:xfrm>
            <a:off x="6233008"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J</a:t>
            </a:r>
            <a:pPr indent="0" marL="0">
              <a:buNone/>
            </a:pPr>
            <a:r>
              <a:rPr lang="en-US" sz="800" dirty="0">
                <a:solidFill>
                  <a:srgbClr val="8B949E"/>
                </a:solidFill>
              </a:rPr>
              <a:t>   csubraw.ijs</a:t>
            </a:r>
            <a:endParaRPr lang="en-US" sz="1100" dirty="0"/>
          </a:p>
        </p:txBody>
      </p:sp>
      <p:sp>
        <p:nvSpPr>
          <p:cNvPr id="55" name="chip J"/>
          <p:cNvSpPr/>
          <p:nvPr/>
        </p:nvSpPr>
        <p:spPr>
          <a:xfrm>
            <a:off x="8160791" y="3771900"/>
            <a:ext cx="731520" cy="219456"/>
          </a:xfrm>
          <a:prstGeom prst="roundRect">
            <a:avLst>
              <a:gd name="adj" fmla="val 33333"/>
            </a:avLst>
          </a:prstGeom>
          <a:solidFill>
            <a:srgbClr val="FEE08B"/>
          </a:solidFill>
          <a:ln w="12700">
            <a:solidFill>
              <a:srgbClr val="FEE08B"/>
            </a:solidFill>
            <a:prstDash val="solid"/>
          </a:ln>
        </p:spPr>
      </p:sp>
      <p:sp>
        <p:nvSpPr>
          <p:cNvPr id="56" name="Text 54"/>
          <p:cNvSpPr txBox="1"/>
          <p:nvPr/>
        </p:nvSpPr>
        <p:spPr>
          <a:xfrm>
            <a:off x="8160791"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57" name="code J"/>
          <p:cNvSpPr txBox="1"/>
          <p:nvPr/>
        </p:nvSpPr>
        <p:spPr>
          <a:xfrm>
            <a:off x="6233008" y="403707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58" name="code card Haskell"/>
          <p:cNvSpPr/>
          <p:nvPr/>
        </p:nvSpPr>
        <p:spPr>
          <a:xfrm>
            <a:off x="9075191" y="3726180"/>
            <a:ext cx="2842184" cy="1360170"/>
          </a:xfrm>
          <a:prstGeom prst="roundRect">
            <a:avLst>
              <a:gd name="adj" fmla="val 6723"/>
            </a:avLst>
          </a:prstGeom>
          <a:solidFill>
            <a:srgbClr val="0D1117"/>
          </a:solidFill>
          <a:ln w="12700">
            <a:solidFill>
              <a:srgbClr val="0D1117"/>
            </a:solidFill>
            <a:prstDash val="solid"/>
          </a:ln>
        </p:spPr>
      </p:sp>
      <p:sp>
        <p:nvSpPr>
          <p:cNvPr id="59" name="Text 57"/>
          <p:cNvSpPr txBox="1"/>
          <p:nvPr/>
        </p:nvSpPr>
        <p:spPr>
          <a:xfrm>
            <a:off x="9166631"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Haskell</a:t>
            </a:r>
            <a:pPr indent="0" marL="0">
              <a:buNone/>
            </a:pPr>
            <a:r>
              <a:rPr lang="en-US" sz="800" dirty="0">
                <a:solidFill>
                  <a:srgbClr val="8B949E"/>
                </a:solidFill>
              </a:rPr>
              <a:t>   csubraw.hs</a:t>
            </a:r>
            <a:endParaRPr lang="en-US" sz="1100" dirty="0"/>
          </a:p>
        </p:txBody>
      </p:sp>
      <p:sp>
        <p:nvSpPr>
          <p:cNvPr id="60" name="chip Haskell"/>
          <p:cNvSpPr/>
          <p:nvPr/>
        </p:nvSpPr>
        <p:spPr>
          <a:xfrm>
            <a:off x="11094415" y="3771900"/>
            <a:ext cx="731520" cy="219456"/>
          </a:xfrm>
          <a:prstGeom prst="roundRect">
            <a:avLst>
              <a:gd name="adj" fmla="val 33333"/>
            </a:avLst>
          </a:prstGeom>
          <a:solidFill>
            <a:srgbClr val="FEE08B"/>
          </a:solidFill>
          <a:ln w="12700">
            <a:solidFill>
              <a:srgbClr val="FEE08B"/>
            </a:solidFill>
            <a:prstDash val="solid"/>
          </a:ln>
        </p:spPr>
      </p:sp>
      <p:sp>
        <p:nvSpPr>
          <p:cNvPr id="61" name="Text 59"/>
          <p:cNvSpPr txBox="1"/>
          <p:nvPr/>
        </p:nvSpPr>
        <p:spPr>
          <a:xfrm>
            <a:off x="11094415"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9.16</a:t>
            </a:r>
            <a:endParaRPr lang="en-US" sz="1000" dirty="0"/>
          </a:p>
        </p:txBody>
      </p:sp>
      <p:sp>
        <p:nvSpPr>
          <p:cNvPr id="62" name="code Haskell"/>
          <p:cNvSpPr txBox="1"/>
          <p:nvPr/>
        </p:nvSpPr>
        <p:spPr>
          <a:xfrm>
            <a:off x="9166631" y="4037076"/>
            <a:ext cx="2659304" cy="994410"/>
          </a:xfrm>
          <a:prstGeom prst="rect">
            <a:avLst/>
          </a:prstGeom>
          <a:noFill/>
          <a:ln/>
        </p:spPr>
        <p:txBody>
          <a:bodyPr wrap="square" lIns="0" tIns="0" rIns="0" bIns="0" rtlCol="0" anchor="t"/>
          <a:lstStyle/>
          <a:p>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let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&lt;-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unsafeRead</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ina</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unsafeWrite</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out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endParaRPr lang="en-US" sz="500" dirty="0"/>
          </a:p>
        </p:txBody>
      </p:sp>
      <p:sp>
        <p:nvSpPr>
          <p:cNvPr id="63" name="code card OCaml"/>
          <p:cNvSpPr/>
          <p:nvPr/>
        </p:nvSpPr>
        <p:spPr>
          <a:xfrm>
            <a:off x="274320" y="5177790"/>
            <a:ext cx="2842184" cy="1360170"/>
          </a:xfrm>
          <a:prstGeom prst="roundRect">
            <a:avLst>
              <a:gd name="adj" fmla="val 6723"/>
            </a:avLst>
          </a:prstGeom>
          <a:solidFill>
            <a:srgbClr val="0D1117"/>
          </a:solidFill>
          <a:ln w="12700">
            <a:solidFill>
              <a:srgbClr val="0D1117"/>
            </a:solidFill>
            <a:prstDash val="solid"/>
          </a:ln>
        </p:spPr>
      </p:sp>
      <p:sp>
        <p:nvSpPr>
          <p:cNvPr id="64" name="Text 62"/>
          <p:cNvSpPr txBox="1"/>
          <p:nvPr/>
        </p:nvSpPr>
        <p:spPr>
          <a:xfrm>
            <a:off x="365760"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OCaml</a:t>
            </a:r>
            <a:pPr indent="0" marL="0">
              <a:buNone/>
            </a:pPr>
            <a:r>
              <a:rPr lang="en-US" sz="800" dirty="0">
                <a:solidFill>
                  <a:srgbClr val="8B949E"/>
                </a:solidFill>
              </a:rPr>
              <a:t>   csubraw.ml</a:t>
            </a:r>
            <a:endParaRPr lang="en-US" sz="1100" dirty="0"/>
          </a:p>
        </p:txBody>
      </p:sp>
      <p:sp>
        <p:nvSpPr>
          <p:cNvPr id="65" name="chip OCaml"/>
          <p:cNvSpPr/>
          <p:nvPr/>
        </p:nvSpPr>
        <p:spPr>
          <a:xfrm>
            <a:off x="2293544" y="5223510"/>
            <a:ext cx="731520" cy="219456"/>
          </a:xfrm>
          <a:prstGeom prst="roundRect">
            <a:avLst>
              <a:gd name="adj" fmla="val 33333"/>
            </a:avLst>
          </a:prstGeom>
          <a:solidFill>
            <a:srgbClr val="FEE08B"/>
          </a:solidFill>
          <a:ln w="12700">
            <a:solidFill>
              <a:srgbClr val="FEE08B"/>
            </a:solidFill>
            <a:prstDash val="solid"/>
          </a:ln>
        </p:spPr>
      </p:sp>
      <p:sp>
        <p:nvSpPr>
          <p:cNvPr id="66" name="Text 64"/>
          <p:cNvSpPr txBox="1"/>
          <p:nvPr/>
        </p:nvSpPr>
        <p:spPr>
          <a:xfrm>
            <a:off x="2293544"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9.44</a:t>
            </a:r>
            <a:endParaRPr lang="en-US" sz="1000" dirty="0"/>
          </a:p>
        </p:txBody>
      </p:sp>
      <p:sp>
        <p:nvSpPr>
          <p:cNvPr id="67" name="code OCaml"/>
          <p:cNvSpPr txBox="1"/>
          <p:nvPr/>
        </p:nvSpPr>
        <p:spPr>
          <a:xfrm>
            <a:off x="365760" y="5488686"/>
            <a:ext cx="2659304" cy="994410"/>
          </a:xfrm>
          <a:prstGeom prst="rect">
            <a:avLst/>
          </a:prstGeom>
          <a:noFill/>
          <a:ln/>
        </p:spPr>
        <p:txBody>
          <a:bodyPr wrap="square" lIns="0" tIns="0" rIns="0" bIns="0" rtlCol="0" anchor="t"/>
          <a:lstStyle/>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row_in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in_arr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row_out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out_arr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.unsafe_set row_out ix</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row_in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p:txBody>
      </p:sp>
      <p:sp>
        <p:nvSpPr>
          <p:cNvPr id="68" name="code card Lisp (SBCL), typed"/>
          <p:cNvSpPr/>
          <p:nvPr/>
        </p:nvSpPr>
        <p:spPr>
          <a:xfrm>
            <a:off x="3207944" y="5177790"/>
            <a:ext cx="2842184" cy="1360170"/>
          </a:xfrm>
          <a:prstGeom prst="roundRect">
            <a:avLst>
              <a:gd name="adj" fmla="val 6723"/>
            </a:avLst>
          </a:prstGeom>
          <a:solidFill>
            <a:srgbClr val="0D1117"/>
          </a:solidFill>
          <a:ln w="12700">
            <a:solidFill>
              <a:srgbClr val="0D1117"/>
            </a:solidFill>
            <a:prstDash val="solid"/>
          </a:ln>
        </p:spPr>
      </p:sp>
      <p:sp>
        <p:nvSpPr>
          <p:cNvPr id="69" name="Text 67"/>
          <p:cNvSpPr txBox="1"/>
          <p:nvPr/>
        </p:nvSpPr>
        <p:spPr>
          <a:xfrm>
            <a:off x="3299384"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Lisp (SBCL), typed</a:t>
            </a:r>
            <a:pPr indent="0" marL="0">
              <a:buNone/>
            </a:pPr>
            <a:r>
              <a:rPr lang="en-US" sz="800" dirty="0">
                <a:solidFill>
                  <a:srgbClr val="8B949E"/>
                </a:solidFill>
              </a:rPr>
              <a:t>   csubraw-typed.lisp</a:t>
            </a:r>
            <a:endParaRPr lang="en-US" sz="1100" dirty="0"/>
          </a:p>
        </p:txBody>
      </p:sp>
      <p:sp>
        <p:nvSpPr>
          <p:cNvPr id="70" name="chip Lisp (SBCL), typed"/>
          <p:cNvSpPr/>
          <p:nvPr/>
        </p:nvSpPr>
        <p:spPr>
          <a:xfrm>
            <a:off x="5227168" y="5223510"/>
            <a:ext cx="731520" cy="219456"/>
          </a:xfrm>
          <a:prstGeom prst="roundRect">
            <a:avLst>
              <a:gd name="adj" fmla="val 33333"/>
            </a:avLst>
          </a:prstGeom>
          <a:solidFill>
            <a:srgbClr val="FEE08B"/>
          </a:solidFill>
          <a:ln w="12700">
            <a:solidFill>
              <a:srgbClr val="FEE08B"/>
            </a:solidFill>
            <a:prstDash val="solid"/>
          </a:ln>
        </p:spPr>
      </p:sp>
      <p:sp>
        <p:nvSpPr>
          <p:cNvPr id="71" name="Text 69"/>
          <p:cNvSpPr txBox="1"/>
          <p:nvPr/>
        </p:nvSpPr>
        <p:spPr>
          <a:xfrm>
            <a:off x="5227168"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10.63</a:t>
            </a:r>
            <a:endParaRPr lang="en-US" sz="1000" dirty="0"/>
          </a:p>
        </p:txBody>
      </p:sp>
      <p:sp>
        <p:nvSpPr>
          <p:cNvPr id="72" name="code Lisp (SBCL), typed"/>
          <p:cNvSpPr txBox="1"/>
          <p:nvPr/>
        </p:nvSpPr>
        <p:spPr>
          <a:xfrm>
            <a:off x="3299384" y="548868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let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(setf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out-arr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in-arr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73" name="code card Ruby + YJIT"/>
          <p:cNvSpPr/>
          <p:nvPr/>
        </p:nvSpPr>
        <p:spPr>
          <a:xfrm>
            <a:off x="6141568" y="5177790"/>
            <a:ext cx="2842184" cy="1360170"/>
          </a:xfrm>
          <a:prstGeom prst="roundRect">
            <a:avLst>
              <a:gd name="adj" fmla="val 6723"/>
            </a:avLst>
          </a:prstGeom>
          <a:solidFill>
            <a:srgbClr val="0D1117"/>
          </a:solidFill>
          <a:ln w="12700">
            <a:solidFill>
              <a:srgbClr val="0D1117"/>
            </a:solidFill>
            <a:prstDash val="solid"/>
          </a:ln>
        </p:spPr>
      </p:sp>
      <p:sp>
        <p:nvSpPr>
          <p:cNvPr id="74" name="Text 72"/>
          <p:cNvSpPr txBox="1"/>
          <p:nvPr/>
        </p:nvSpPr>
        <p:spPr>
          <a:xfrm>
            <a:off x="6233008"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Ruby + YJIT</a:t>
            </a:r>
            <a:pPr indent="0" marL="0">
              <a:buNone/>
            </a:pPr>
            <a:r>
              <a:rPr lang="en-US" sz="800" dirty="0">
                <a:solidFill>
                  <a:srgbClr val="8B949E"/>
                </a:solidFill>
              </a:rPr>
              <a:t>   csubraw.rb</a:t>
            </a:r>
            <a:endParaRPr lang="en-US" sz="1100" dirty="0"/>
          </a:p>
        </p:txBody>
      </p:sp>
      <p:sp>
        <p:nvSpPr>
          <p:cNvPr id="75" name="chip Ruby + YJIT"/>
          <p:cNvSpPr/>
          <p:nvPr/>
        </p:nvSpPr>
        <p:spPr>
          <a:xfrm>
            <a:off x="8160791" y="5223510"/>
            <a:ext cx="731520" cy="219456"/>
          </a:xfrm>
          <a:prstGeom prst="roundRect">
            <a:avLst>
              <a:gd name="adj" fmla="val 33333"/>
            </a:avLst>
          </a:prstGeom>
          <a:solidFill>
            <a:srgbClr val="F46D43"/>
          </a:solidFill>
          <a:ln w="12700">
            <a:solidFill>
              <a:srgbClr val="F46D43"/>
            </a:solidFill>
            <a:prstDash val="solid"/>
          </a:ln>
        </p:spPr>
      </p:sp>
      <p:sp>
        <p:nvSpPr>
          <p:cNvPr id="76" name="Text 74"/>
          <p:cNvSpPr txBox="1"/>
          <p:nvPr/>
        </p:nvSpPr>
        <p:spPr>
          <a:xfrm>
            <a:off x="8160791"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77" name="code Ruby + YJIT"/>
          <p:cNvSpPr txBox="1"/>
          <p:nvPr/>
        </p:nvSpPr>
        <p:spPr>
          <a:xfrm>
            <a:off x="6233008" y="548868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78" name="code card Octave, loop"/>
          <p:cNvSpPr/>
          <p:nvPr/>
        </p:nvSpPr>
        <p:spPr>
          <a:xfrm>
            <a:off x="9075191" y="5177790"/>
            <a:ext cx="2842184" cy="1360170"/>
          </a:xfrm>
          <a:prstGeom prst="roundRect">
            <a:avLst>
              <a:gd name="adj" fmla="val 6723"/>
            </a:avLst>
          </a:prstGeom>
          <a:solidFill>
            <a:srgbClr val="0D1117"/>
          </a:solidFill>
          <a:ln w="12700">
            <a:solidFill>
              <a:srgbClr val="0D1117"/>
            </a:solidFill>
            <a:prstDash val="solid"/>
          </a:ln>
        </p:spPr>
      </p:sp>
      <p:sp>
        <p:nvSpPr>
          <p:cNvPr id="79" name="Text 77"/>
          <p:cNvSpPr txBox="1"/>
          <p:nvPr/>
        </p:nvSpPr>
        <p:spPr>
          <a:xfrm>
            <a:off x="9166631"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Octave, loop</a:t>
            </a:r>
            <a:pPr indent="0" marL="0">
              <a:buNone/>
            </a:pPr>
            <a:r>
              <a:rPr lang="en-US" sz="800" dirty="0">
                <a:solidFill>
                  <a:srgbClr val="8B949E"/>
                </a:solidFill>
              </a:rPr>
              <a:t>   csubraw.m</a:t>
            </a:r>
            <a:endParaRPr lang="en-US" sz="1100" dirty="0"/>
          </a:p>
        </p:txBody>
      </p:sp>
      <p:sp>
        <p:nvSpPr>
          <p:cNvPr id="80" name="chip Octave, loop"/>
          <p:cNvSpPr/>
          <p:nvPr/>
        </p:nvSpPr>
        <p:spPr>
          <a:xfrm>
            <a:off x="11094415" y="5223510"/>
            <a:ext cx="731520" cy="219456"/>
          </a:xfrm>
          <a:prstGeom prst="roundRect">
            <a:avLst>
              <a:gd name="adj" fmla="val 33333"/>
            </a:avLst>
          </a:prstGeom>
          <a:solidFill>
            <a:srgbClr val="7A0177"/>
          </a:solidFill>
          <a:ln w="12700">
            <a:solidFill>
              <a:srgbClr val="7A0177"/>
            </a:solidFill>
            <a:prstDash val="solid"/>
          </a:ln>
        </p:spPr>
      </p:sp>
      <p:sp>
        <p:nvSpPr>
          <p:cNvPr id="81" name="Text 79"/>
          <p:cNvSpPr txBox="1"/>
          <p:nvPr/>
        </p:nvSpPr>
        <p:spPr>
          <a:xfrm>
            <a:off x="11094415" y="522351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46,705</a:t>
            </a:r>
            <a:endParaRPr lang="en-US" sz="1000" dirty="0"/>
          </a:p>
        </p:txBody>
      </p:sp>
      <p:sp>
        <p:nvSpPr>
          <p:cNvPr id="82" name="code Octave, loop"/>
          <p:cNvSpPr txBox="1"/>
          <p:nvPr/>
        </p:nvSpPr>
        <p:spPr>
          <a:xfrm>
            <a:off x="9166631" y="548868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r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:nrpt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out(iy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 ina(iy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almost four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286000"/>
            <a:ext cx="2681935" cy="114300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a:p>
            <a:pPr indent="0" marL="0">
              <a:buNone/>
            </a:pPr>
            <a:r>
              <a:rPr lang="en-US" sz="1300" i="1" dirty="0">
                <a:solidFill>
                  <a:srgbClr val="5A6275"/>
                </a:solidFill>
              </a:rPr>
              <a:t>Keith found this in 2019: over 2,500× on x86.</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lookup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lookup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Compiled languages: mostly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Not shown: F# 7.2, Rust 6.8 (iterators), Haskell 9.2, OCaml 9.4, Swift 17.9. Caveat: Keith's C, Fortran, Julia and Java are 32-bit floats; the 2026 ports are 64-bit, half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(2022)</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runtime takeaways"/>
          <p:cNvSpPr txBox="1"/>
          <p:nvPr/>
        </p:nvSpPr>
        <p:spPr>
          <a:xfrm>
            <a:off x="548640" y="5120640"/>
            <a:ext cx="11094415" cy="114300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good JIT turns a dynamic language into a compiled one: </a:t>
            </a:r>
            <a:pPr indent="0" marL="0">
              <a:spcAft>
                <a:spcPts val="400"/>
              </a:spcAft>
              <a:buNone/>
            </a:pPr>
            <a:r>
              <a:rPr lang="en-US" sz="1500" dirty="0">
                <a:solidFill>
                  <a:schemeClr val="tx1"/>
                </a:solidFill>
              </a:rPr>
              <a:t>LuaJIT 7.59 beats safe Rust -O3 (12.0); PyPy is 18× CPython. Not all JITs are equal: YJIT gives Ruby only 2.7×.</a:t>
            </a:r>
            <a:endParaRPr lang="en-US" sz="1500" dirty="0"/>
          </a:p>
          <a:p>
            <a:pPr indent="0" marL="0">
              <a:spcAft>
                <a:spcPts val="400"/>
              </a:spcAft>
              <a:buNone/>
            </a:pPr>
            <a:r>
              <a:rPr lang="en-US" sz="1500" b="1" dirty="0">
                <a:solidFill>
                  <a:schemeClr val="tx2"/>
                </a:solidFill>
              </a:rPr>
              <a:t>Age doesn't predict speed: </a:t>
            </a:r>
            <a:pPr indent="0" marL="0">
              <a:spcAft>
                <a:spcPts val="400"/>
              </a:spcAft>
              <a:buNone/>
            </a:pPr>
            <a:r>
              <a:rPr lang="en-US" sz="1500" dirty="0">
                <a:solidFill>
                  <a:schemeClr val="tx1"/>
                </a:solidFill>
              </a:rPr>
              <a:t>LuaJIT (2005) beats Deno, Bun and YJIT, all newer than 2019.</a:t>
            </a:r>
            <a:endParaRPr lang="en-US" sz="1500" dirty="0"/>
          </a:p>
          <a:p>
            <a:pPr indent="0" marL="0">
              <a:spcAft>
                <a:spcPts val="400"/>
              </a:spcAft>
              <a:buNone/>
            </a:pPr>
            <a:r>
              <a:rPr lang="en-US" sz="1500" b="1" dirty="0">
                <a:solidFill>
                  <a:schemeClr val="tx2"/>
                </a:solidFill>
              </a:rPr>
              <a:t>For C#'s hot loop, JIT versus ahead-of-time makes no difference: </a:t>
            </a:r>
            <a:pPr indent="0" marL="0">
              <a:spcAft>
                <a:spcPts val="400"/>
              </a:spcAft>
              <a:buNone/>
            </a:pPr>
            <a:r>
              <a:rPr lang="en-US" sz="1500" dirty="0">
                <a:solidFill>
                  <a:schemeClr val="tx1"/>
                </a:solidFill>
              </a:rPr>
              <a:t>5.31 JIT, 5.39 AOT.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41148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1965960"/>
            <a:ext cx="3058058" cy="640080"/>
          </a:xfrm>
          <a:prstGeom prst="roundRect">
            <a:avLst>
              <a:gd name="adj" fmla="val 11429"/>
            </a:avLst>
          </a:prstGeom>
          <a:solidFill>
            <a:srgbClr val="7A0177"/>
          </a:solidFill>
          <a:ln w="12700">
            <a:solidFill>
              <a:srgbClr val="7A0177"/>
            </a:solidFill>
            <a:prstDash val="solid"/>
          </a:ln>
        </p:spPr>
      </p:sp>
      <p:sp>
        <p:nvSpPr>
          <p:cNvPr id="6" name="Text 4"/>
          <p:cNvSpPr txBox="1"/>
          <p:nvPr/>
        </p:nvSpPr>
        <p:spPr>
          <a:xfrm>
            <a:off x="777240"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22,015</a:t>
            </a:r>
            <a:endParaRPr lang="en-US" sz="2400" dirty="0"/>
          </a:p>
        </p:txBody>
      </p:sp>
      <p:pic>
        <p:nvPicPr>
          <p:cNvPr id="7" name="oops photo" descr="1895 photograph of a steam locomotive that overran Gare Montparnasse and crashed nose-down into the street">    </p:cNvPr>
          <p:cNvPicPr>
            <a:picLocks noChangeAspect="1"/>
          </p:cNvPicPr>
          <p:nvPr/>
        </p:nvPicPr>
        <p:blipFill>
          <a:blip r:embed="rId1"/>
          <a:srcRect l="0" r="0" t="42000" b="9410"/>
          <a:stretch/>
        </p:blipFill>
        <p:spPr>
          <a:xfrm>
            <a:off x="777240" y="2743200"/>
            <a:ext cx="3058058" cy="1783080"/>
          </a:xfrm>
          <a:prstGeom prst="rect">
            <a:avLst/>
          </a:prstGeom>
        </p:spPr>
      </p:pic>
      <p:sp>
        <p:nvSpPr>
          <p:cNvPr id="8" name="meme top"/>
          <p:cNvSpPr txBox="1"/>
          <p:nvPr/>
        </p:nvSpPr>
        <p:spPr>
          <a:xfrm>
            <a:off x="777240" y="2743200"/>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FAST + FAST ≠ FASTER</a:t>
            </a:r>
            <a:endParaRPr lang="en-US" sz="1700" dirty="0"/>
          </a:p>
        </p:txBody>
      </p:sp>
      <p:sp>
        <p:nvSpPr>
          <p:cNvPr id="9" name="meme bottom"/>
          <p:cNvSpPr txBox="1"/>
          <p:nvPr/>
        </p:nvSpPr>
        <p:spPr>
          <a:xfrm>
            <a:off x="777240" y="4142232"/>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609× SLOWER THAN PYPY ALONE</a:t>
            </a:r>
            <a:endParaRPr lang="en-US" sz="1700" dirty="0"/>
          </a:p>
        </p:txBody>
      </p:sp>
      <p:sp>
        <p:nvSpPr>
          <p:cNvPr id="10" name="Text 7"/>
          <p:cNvSpPr txBox="1"/>
          <p:nvPr/>
        </p:nvSpPr>
        <p:spPr>
          <a:xfrm>
            <a:off x="777240" y="4636008"/>
            <a:ext cx="3058058" cy="54864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Use one or the other.</a:t>
            </a:r>
            <a:endParaRPr lang="en-US" sz="1500" dirty="0"/>
          </a:p>
        </p:txBody>
      </p:sp>
      <p:sp>
        <p:nvSpPr>
          <p:cNvPr id="11" name="Text 8"/>
          <p:cNvSpPr txBox="1"/>
          <p:nvPr/>
        </p:nvSpPr>
        <p:spPr>
          <a:xfrm>
            <a:off x="777240" y="5093208"/>
            <a:ext cx="3058058" cy="201168"/>
          </a:xfrm>
          <a:prstGeom prst="rect">
            <a:avLst/>
          </a:prstGeom>
          <a:noFill/>
          <a:ln/>
        </p:spPr>
        <p:txBody>
          <a:bodyPr wrap="square" lIns="0" tIns="0" rIns="0" bIns="0" rtlCol="0" anchor="t"/>
          <a:lstStyle/>
          <a:p>
            <a:pPr indent="0" marL="0">
              <a:buNone/>
            </a:pPr>
            <a:r>
              <a:rPr lang="en-US" sz="900" i="1" dirty="0">
                <a:solidFill>
                  <a:srgbClr val="5A6275"/>
                </a:solidFill>
              </a:rPr>
              <a:t>Photo: Gare Montparnasse, 1895 (public domain)</a:t>
            </a:r>
            <a:endParaRPr lang="en-US" sz="900" dirty="0"/>
          </a:p>
        </p:txBody>
      </p:sp>
      <p:sp>
        <p:nvSpPr>
          <p:cNvPr id="12" name="surprise PDL element lookup"/>
          <p:cNvSpPr/>
          <p:nvPr/>
        </p:nvSpPr>
        <p:spPr>
          <a:xfrm>
            <a:off x="4338218" y="1234440"/>
            <a:ext cx="3515258" cy="4114800"/>
          </a:xfrm>
          <a:prstGeom prst="roundRect">
            <a:avLst>
              <a:gd name="adj" fmla="val 2601"/>
            </a:avLst>
          </a:prstGeom>
          <a:solidFill>
            <a:schemeClr val="bg2"/>
          </a:solidFill>
          <a:ln w="12700">
            <a:solidFill>
              <a:schemeClr val="bg2"/>
            </a:solidFill>
            <a:prstDash val="solid"/>
          </a:ln>
        </p:spPr>
      </p:sp>
      <p:sp>
        <p:nvSpPr>
          <p:cNvPr id="13" name="Text 10"/>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element lookup</a:t>
            </a:r>
            <a:endParaRPr lang="en-US" sz="2000" dirty="0"/>
          </a:p>
        </p:txBody>
      </p:sp>
      <p:sp>
        <p:nvSpPr>
          <p:cNvPr id="14" name="chip 103,570 → 9,207"/>
          <p:cNvSpPr/>
          <p:nvPr/>
        </p:nvSpPr>
        <p:spPr>
          <a:xfrm>
            <a:off x="4566818" y="1965960"/>
            <a:ext cx="3058058" cy="640080"/>
          </a:xfrm>
          <a:prstGeom prst="roundRect">
            <a:avLst>
              <a:gd name="adj" fmla="val 11429"/>
            </a:avLst>
          </a:prstGeom>
          <a:solidFill>
            <a:srgbClr val="D73027"/>
          </a:solidFill>
          <a:ln w="12700">
            <a:solidFill>
              <a:srgbClr val="D73027"/>
            </a:solidFill>
            <a:prstDash val="solid"/>
          </a:ln>
        </p:spPr>
      </p:sp>
      <p:sp>
        <p:nvSpPr>
          <p:cNvPr id="15" name="Text 12"/>
          <p:cNvSpPr txBox="1"/>
          <p:nvPr/>
        </p:nvSpPr>
        <p:spPr>
          <a:xfrm>
            <a:off x="4566818"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103,570 → 9,207</a:t>
            </a:r>
            <a:endParaRPr lang="en-US" sz="2400" dirty="0"/>
          </a:p>
        </p:txBody>
      </p:sp>
      <p:sp>
        <p:nvSpPr>
          <p:cNvPr id="16" name="Text 13"/>
          <p:cNvSpPr txBox="1"/>
          <p:nvPr/>
        </p:nvSpPr>
        <p:spPr>
          <a:xfrm>
            <a:off x="4566818"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In 2019 Keith distrusted -&gt;slice; -&gt;at and -&gt;set are the 2026 change. The LLM ran the old code and reported “PDL is just slow”.</a:t>
            </a:r>
            <a:endParaRPr lang="en-US" sz="1700" dirty="0"/>
          </a:p>
        </p:txBody>
      </p:sp>
      <p:sp>
        <p:nvSpPr>
          <p:cNvPr id="17" name="surprise Lisp type declarations"/>
          <p:cNvSpPr/>
          <p:nvPr/>
        </p:nvSpPr>
        <p:spPr>
          <a:xfrm>
            <a:off x="8127797" y="1234440"/>
            <a:ext cx="3515258" cy="4114800"/>
          </a:xfrm>
          <a:prstGeom prst="roundRect">
            <a:avLst>
              <a:gd name="adj" fmla="val 2601"/>
            </a:avLst>
          </a:prstGeom>
          <a:solidFill>
            <a:schemeClr val="bg2"/>
          </a:solidFill>
          <a:ln w="12700">
            <a:solidFill>
              <a:schemeClr val="bg2"/>
            </a:solidFill>
            <a:prstDash val="solid"/>
          </a:ln>
        </p:spPr>
      </p:sp>
      <p:sp>
        <p:nvSpPr>
          <p:cNvPr id="18" name="Text 15"/>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19" name="chip 167 → 10.6"/>
          <p:cNvSpPr/>
          <p:nvPr/>
        </p:nvSpPr>
        <p:spPr>
          <a:xfrm>
            <a:off x="8356397" y="1965960"/>
            <a:ext cx="3058058" cy="640080"/>
          </a:xfrm>
          <a:prstGeom prst="roundRect">
            <a:avLst>
              <a:gd name="adj" fmla="val 11429"/>
            </a:avLst>
          </a:prstGeom>
          <a:solidFill>
            <a:srgbClr val="FEE08B"/>
          </a:solidFill>
          <a:ln w="12700">
            <a:solidFill>
              <a:srgbClr val="FEE08B"/>
            </a:solidFill>
            <a:prstDash val="solid"/>
          </a:ln>
        </p:spPr>
      </p:sp>
      <p:sp>
        <p:nvSpPr>
          <p:cNvPr id="20" name="Text 17"/>
          <p:cNvSpPr txBox="1"/>
          <p:nvPr/>
        </p:nvSpPr>
        <p:spPr>
          <a:xfrm>
            <a:off x="8356397" y="1965960"/>
            <a:ext cx="3058058" cy="640080"/>
          </a:xfrm>
          <a:prstGeom prst="rect">
            <a:avLst/>
          </a:prstGeom>
          <a:noFill/>
          <a:ln/>
        </p:spPr>
        <p:txBody>
          <a:bodyPr wrap="square" lIns="0" tIns="0" rIns="0" bIns="0" rtlCol="0" anchor="ctr"/>
          <a:lstStyle/>
          <a:p>
            <a:pPr algn="ctr" indent="0" marL="0">
              <a:buNone/>
            </a:pPr>
            <a:r>
              <a:rPr lang="en-US" sz="2400" b="1" dirty="0">
                <a:solidFill>
                  <a:srgbClr val="1B1F2B"/>
                </a:solidFill>
              </a:rPr>
              <a:t>167 → 10.6</a:t>
            </a:r>
            <a:endParaRPr lang="en-US" sz="2400" dirty="0"/>
          </a:p>
        </p:txBody>
      </p:sp>
      <p:sp>
        <p:nvSpPr>
          <p:cNvPr id="21" name="Text 18"/>
          <p:cNvSpPr txBox="1"/>
          <p:nvPr/>
        </p:nvSpPr>
        <p:spPr>
          <a:xfrm>
            <a:off x="8356397"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2" name="Text 19"/>
          <p:cNvSpPr txBox="1"/>
          <p:nvPr/>
        </p:nvSpPr>
        <p:spPr>
          <a:xfrm>
            <a:off x="548640" y="5486400"/>
            <a:ext cx="11094415" cy="45720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3" name="Text 20"/>
          <p:cNvSpPr txBox="1"/>
          <p:nvPr/>
        </p:nvSpPr>
        <p:spPr>
          <a:xfrm>
            <a:off x="548640" y="5943600"/>
            <a:ext cx="11094415" cy="274320"/>
          </a:xfrm>
          <a:prstGeom prst="rect">
            <a:avLst/>
          </a:prstGeom>
          <a:noFill/>
          <a:ln/>
        </p:spPr>
        <p:txBody>
          <a:bodyPr wrap="square" lIns="0" tIns="0" rIns="0" bIns="0" rtlCol="0" anchor="t"/>
          <a:lstStyle/>
          <a:p>
            <a:pPr algn="ctr" indent="0" marL="0">
              <a:buNone/>
            </a:pPr>
            <a:r>
              <a:rPr lang="en-US" sz="1200" i="1" dirty="0">
                <a:solidFill>
                  <a:srgbClr val="5A6275"/>
                </a:solidFill>
              </a:rPr>
              <a:t>“Element lookup” is what Keith's harness calls “raw”: read and write the array one element at a time, A[iy][ix].</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and what it didn't</a:t>
            </a:r>
            <a:endParaRPr lang="en-US" sz="3200" dirty="0"/>
          </a:p>
        </p:txBody>
      </p:sp>
      <p:sp>
        <p:nvSpPr>
          <p:cNvPr id="3" name="Text 1"/>
          <p:cNvSpPr txBox="1"/>
          <p:nvPr/>
        </p:nvSpPr>
        <p:spPr>
          <a:xfrm>
            <a:off x="548640" y="114300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Did well</a:t>
            </a:r>
            <a:endParaRPr lang="en-US" sz="2000" dirty="0"/>
          </a:p>
        </p:txBody>
      </p:sp>
      <p:sp>
        <p:nvSpPr>
          <p:cNvPr id="4" name="icon circle Porting at scale"/>
          <p:cNvSpPr/>
          <p:nvPr/>
        </p:nvSpPr>
        <p:spPr>
          <a:xfrm>
            <a:off x="548640" y="1764792"/>
            <a:ext cx="566928" cy="566928"/>
          </a:xfrm>
          <a:prstGeom prst="ellipse">
            <a:avLst/>
          </a:prstGeom>
          <a:solidFill>
            <a:schemeClr val="tx2"/>
          </a:solidFill>
          <a:ln w="12700">
            <a:solidFill>
              <a:schemeClr val="tx2"/>
            </a:solidFill>
            <a:prstDash val="solid"/>
          </a:ln>
        </p:spPr>
      </p:sp>
      <p:pic>
        <p:nvPicPr>
          <p:cNvPr id="5" name="icon Porting at scale" descr="Porting at scale">    </p:cNvPr>
          <p:cNvPicPr>
            <a:picLocks noChangeAspect="1"/>
          </p:cNvPicPr>
          <p:nvPr/>
        </p:nvPicPr>
        <p:blipFill>
          <a:blip r:embed="rId1"/>
          <a:stretch>
            <a:fillRect/>
          </a:stretch>
        </p:blipFill>
        <p:spPr>
          <a:xfrm>
            <a:off x="694944" y="1911096"/>
            <a:ext cx="274320" cy="274320"/>
          </a:xfrm>
          <a:prstGeom prst="rect">
            <a:avLst/>
          </a:prstGeom>
        </p:spPr>
      </p:pic>
      <p:sp>
        <p:nvSpPr>
          <p:cNvPr id="6" name="Text 3"/>
          <p:cNvSpPr txBox="1"/>
          <p:nvPr/>
        </p:nvSpPr>
        <p:spPr>
          <a:xfrm>
            <a:off x="1325880" y="16916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Porting at scale</a:t>
            </a:r>
            <a:endParaRPr lang="en-US" sz="1600" dirty="0"/>
          </a:p>
          <a:p>
            <a:pPr indent="0" marL="0">
              <a:spcAft>
                <a:spcPts val="200"/>
              </a:spcAft>
              <a:buNone/>
            </a:pPr>
            <a:r>
              <a:rPr lang="en-US" sz="1300" dirty="0">
                <a:solidFill>
                  <a:schemeClr val="tx1"/>
                </a:solidFill>
              </a:rPr>
              <a:t>15 new languages in about four days; J in 9 lines, unprompted.</a:t>
            </a:r>
            <a:endParaRPr lang="en-US" sz="1600" dirty="0"/>
          </a:p>
        </p:txBody>
      </p:sp>
      <p:sp>
        <p:nvSpPr>
          <p:cNvPr id="7" name="icon circle Environment wrangling"/>
          <p:cNvSpPr/>
          <p:nvPr/>
        </p:nvSpPr>
        <p:spPr>
          <a:xfrm>
            <a:off x="548640" y="2679192"/>
            <a:ext cx="566928" cy="566928"/>
          </a:xfrm>
          <a:prstGeom prst="ellipse">
            <a:avLst/>
          </a:prstGeom>
          <a:solidFill>
            <a:schemeClr val="tx2"/>
          </a:solidFill>
          <a:ln w="12700">
            <a:solidFill>
              <a:schemeClr val="tx2"/>
            </a:solidFill>
            <a:prstDash val="solid"/>
          </a:ln>
        </p:spPr>
      </p:sp>
      <p:pic>
        <p:nvPicPr>
          <p:cNvPr id="8" name="icon Environment wrangling" descr="Environment wrangling">    </p:cNvPr>
          <p:cNvPicPr>
            <a:picLocks noChangeAspect="1"/>
          </p:cNvPicPr>
          <p:nvPr/>
        </p:nvPicPr>
        <p:blipFill>
          <a:blip r:embed="rId2"/>
          <a:stretch>
            <a:fillRect/>
          </a:stretch>
        </p:blipFill>
        <p:spPr>
          <a:xfrm>
            <a:off x="694944" y="2825496"/>
            <a:ext cx="274320" cy="274320"/>
          </a:xfrm>
          <a:prstGeom prst="rect">
            <a:avLst/>
          </a:prstGeom>
        </p:spPr>
      </p:pic>
      <p:sp>
        <p:nvSpPr>
          <p:cNvPr id="9" name="Text 5"/>
          <p:cNvSpPr txBox="1"/>
          <p:nvPr/>
        </p:nvSpPr>
        <p:spPr>
          <a:xfrm>
            <a:off x="1325880" y="26060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Environment wrangling</a:t>
            </a:r>
            <a:endParaRPr lang="en-US" sz="1600" dirty="0"/>
          </a:p>
          <a:p>
            <a:pPr indent="0" marL="0">
              <a:spcAft>
                <a:spcPts val="200"/>
              </a:spcAft>
              <a:buNone/>
            </a:pPr>
            <a:r>
              <a:rPr lang="en-US" sz="1300" dirty="0">
                <a:solidFill>
                  <a:schemeClr val="tx1"/>
                </a:solidFill>
              </a:rPr>
              <a:t>PyPy's python3 hijacked 7 numpy tests; GHC and Ruby baked paths into 235 files.</a:t>
            </a:r>
            <a:endParaRPr lang="en-US" sz="1600" dirty="0"/>
          </a:p>
        </p:txBody>
      </p:sp>
      <p:sp>
        <p:nvSpPr>
          <p:cNvPr id="10" name="icon circle The whole pipeline"/>
          <p:cNvSpPr/>
          <p:nvPr/>
        </p:nvSpPr>
        <p:spPr>
          <a:xfrm>
            <a:off x="548640" y="3593592"/>
            <a:ext cx="566928" cy="566928"/>
          </a:xfrm>
          <a:prstGeom prst="ellipse">
            <a:avLst/>
          </a:prstGeom>
          <a:solidFill>
            <a:schemeClr val="tx2"/>
          </a:solidFill>
          <a:ln w="12700">
            <a:solidFill>
              <a:schemeClr val="tx2"/>
            </a:solidFill>
            <a:prstDash val="solid"/>
          </a:ln>
        </p:spPr>
      </p:sp>
      <p:pic>
        <p:nvPicPr>
          <p:cNvPr id="11" name="icon The whole pipeline" descr="The whole pipeline">    </p:cNvPr>
          <p:cNvPicPr>
            <a:picLocks noChangeAspect="1"/>
          </p:cNvPicPr>
          <p:nvPr/>
        </p:nvPicPr>
        <p:blipFill>
          <a:blip r:embed="rId3"/>
          <a:stretch>
            <a:fillRect/>
          </a:stretch>
        </p:blipFill>
        <p:spPr>
          <a:xfrm>
            <a:off x="694944" y="3739896"/>
            <a:ext cx="274320" cy="274320"/>
          </a:xfrm>
          <a:prstGeom prst="rect">
            <a:avLst/>
          </a:prstGeom>
        </p:spPr>
      </p:pic>
      <p:sp>
        <p:nvSpPr>
          <p:cNvPr id="12" name="Text 7"/>
          <p:cNvSpPr txBox="1"/>
          <p:nvPr/>
        </p:nvSpPr>
        <p:spPr>
          <a:xfrm>
            <a:off x="1325880" y="35204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The whole pipeline</a:t>
            </a:r>
            <a:endParaRPr lang="en-US" sz="1600" dirty="0"/>
          </a:p>
          <a:p>
            <a:pPr indent="0" marL="0">
              <a:spcAft>
                <a:spcPts val="200"/>
              </a:spcAft>
              <a:buNone/>
            </a:pPr>
            <a:r>
              <a:rPr lang="en-US" sz="1300" dirty="0">
                <a:solidFill>
                  <a:schemeClr val="tx1"/>
                </a:solidFill>
              </a:rPr>
              <a:t>Figures and the 131-row appendix, regenerated from one frozen log.</a:t>
            </a:r>
            <a:endParaRPr lang="en-US" sz="1600" dirty="0"/>
          </a:p>
        </p:txBody>
      </p:sp>
      <p:sp>
        <p:nvSpPr>
          <p:cNvPr id="13" name="icon circle Decent first drafts"/>
          <p:cNvSpPr/>
          <p:nvPr/>
        </p:nvSpPr>
        <p:spPr>
          <a:xfrm>
            <a:off x="548640" y="4507992"/>
            <a:ext cx="566928" cy="566928"/>
          </a:xfrm>
          <a:prstGeom prst="ellipse">
            <a:avLst/>
          </a:prstGeom>
          <a:solidFill>
            <a:schemeClr val="tx2"/>
          </a:solidFill>
          <a:ln w="12700">
            <a:solidFill>
              <a:schemeClr val="tx2"/>
            </a:solidFill>
            <a:prstDash val="solid"/>
          </a:ln>
        </p:spPr>
      </p:sp>
      <p:pic>
        <p:nvPicPr>
          <p:cNvPr id="14" name="icon Decent first drafts" descr="Decent first drafts">    </p:cNvPr>
          <p:cNvPicPr>
            <a:picLocks noChangeAspect="1"/>
          </p:cNvPicPr>
          <p:nvPr/>
        </p:nvPicPr>
        <p:blipFill>
          <a:blip r:embed="rId4"/>
          <a:stretch>
            <a:fillRect/>
          </a:stretch>
        </p:blipFill>
        <p:spPr>
          <a:xfrm>
            <a:off x="694944" y="4654296"/>
            <a:ext cx="274320" cy="274320"/>
          </a:xfrm>
          <a:prstGeom prst="rect">
            <a:avLst/>
          </a:prstGeom>
        </p:spPr>
      </p:pic>
      <p:sp>
        <p:nvSpPr>
          <p:cNvPr id="15" name="Text 9"/>
          <p:cNvSpPr txBox="1"/>
          <p:nvPr/>
        </p:nvSpPr>
        <p:spPr>
          <a:xfrm>
            <a:off x="1325880" y="44348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Decent first drafts</a:t>
            </a:r>
            <a:endParaRPr lang="en-US" sz="1600" dirty="0"/>
          </a:p>
          <a:p>
            <a:pPr indent="0" marL="0">
              <a:spcAft>
                <a:spcPts val="200"/>
              </a:spcAft>
              <a:buNone/>
            </a:pPr>
            <a:r>
              <a:rPr lang="en-US" sz="1300" dirty="0">
                <a:solidFill>
                  <a:schemeClr val="tx1"/>
                </a:solidFill>
              </a:rPr>
              <a:t>Of the 21-page report and this deck. Not the abstract: it “would appeal only to an LLM not a human”.</a:t>
            </a:r>
            <a:endParaRPr lang="en-US" sz="1600" dirty="0"/>
          </a:p>
        </p:txBody>
      </p:sp>
      <p:sp>
        <p:nvSpPr>
          <p:cNvPr id="16" name="icon circle Reproducibility"/>
          <p:cNvSpPr/>
          <p:nvPr/>
        </p:nvSpPr>
        <p:spPr>
          <a:xfrm>
            <a:off x="548640" y="5422392"/>
            <a:ext cx="566928" cy="566928"/>
          </a:xfrm>
          <a:prstGeom prst="ellipse">
            <a:avLst/>
          </a:prstGeom>
          <a:solidFill>
            <a:schemeClr val="tx2"/>
          </a:solidFill>
          <a:ln w="12700">
            <a:solidFill>
              <a:schemeClr val="tx2"/>
            </a:solidFill>
            <a:prstDash val="solid"/>
          </a:ln>
        </p:spPr>
      </p:sp>
      <p:pic>
        <p:nvPicPr>
          <p:cNvPr id="17" name="icon Reproducibility" descr="Reproducibility">    </p:cNvPr>
          <p:cNvPicPr>
            <a:picLocks noChangeAspect="1"/>
          </p:cNvPicPr>
          <p:nvPr/>
        </p:nvPicPr>
        <p:blipFill>
          <a:blip r:embed="rId5"/>
          <a:stretch>
            <a:fillRect/>
          </a:stretch>
        </p:blipFill>
        <p:spPr>
          <a:xfrm>
            <a:off x="694944" y="5568696"/>
            <a:ext cx="274320" cy="274320"/>
          </a:xfrm>
          <a:prstGeom prst="rect">
            <a:avLst/>
          </a:prstGeom>
        </p:spPr>
      </p:pic>
      <p:sp>
        <p:nvSpPr>
          <p:cNvPr id="18" name="Text 11"/>
          <p:cNvSpPr txBox="1"/>
          <p:nvPr/>
        </p:nvSpPr>
        <p:spPr>
          <a:xfrm>
            <a:off x="1325880" y="53492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Reproducibility</a:t>
            </a:r>
            <a:endParaRPr lang="en-US" sz="1600" dirty="0"/>
          </a:p>
          <a:p>
            <a:pPr indent="0" marL="0">
              <a:spcAft>
                <a:spcPts val="200"/>
              </a:spcAft>
              <a:buNone/>
            </a:pPr>
            <a:r>
              <a:rPr lang="en-US" sz="1300" dirty="0">
                <a:solidFill>
                  <a:schemeClr val="tx1"/>
                </a:solidFill>
              </a:rPr>
              <a:t>One script rebuilds every toolchain; a fresh re-run passed 131/131.</a:t>
            </a:r>
            <a:endParaRPr lang="en-US" sz="1600" dirty="0"/>
          </a:p>
        </p:txBody>
      </p:sp>
      <p:sp>
        <p:nvSpPr>
          <p:cNvPr id="19" name="Text 12"/>
          <p:cNvSpPr txBox="1"/>
          <p:nvPr/>
        </p:nvSpPr>
        <p:spPr>
          <a:xfrm>
            <a:off x="6400800" y="1143000"/>
            <a:ext cx="524225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Didn't do</a:t>
            </a:r>
            <a:endParaRPr lang="en-US" sz="2000" dirty="0"/>
          </a:p>
        </p:txBody>
      </p:sp>
      <p:sp>
        <p:nvSpPr>
          <p:cNvPr id="20" name="failure Missed the PDL problem"/>
          <p:cNvSpPr/>
          <p:nvPr/>
        </p:nvSpPr>
        <p:spPr>
          <a:xfrm>
            <a:off x="6400800" y="1691640"/>
            <a:ext cx="5242255" cy="914400"/>
          </a:xfrm>
          <a:prstGeom prst="roundRect">
            <a:avLst>
              <a:gd name="adj" fmla="val 10000"/>
            </a:avLst>
          </a:prstGeom>
          <a:solidFill>
            <a:schemeClr val="bg2"/>
          </a:solidFill>
          <a:ln w="12700">
            <a:solidFill>
              <a:schemeClr val="bg2"/>
            </a:solidFill>
            <a:prstDash val="solid"/>
          </a:ln>
        </p:spPr>
      </p:sp>
      <p:sp>
        <p:nvSpPr>
          <p:cNvPr id="21" name="Text 14"/>
          <p:cNvSpPr txBox="1"/>
          <p:nvPr/>
        </p:nvSpPr>
        <p:spPr>
          <a:xfrm>
            <a:off x="6583680" y="1764792"/>
            <a:ext cx="4876495" cy="804672"/>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Missed the PDL problem</a:t>
            </a:r>
            <a:endParaRPr lang="en-US" sz="1600" dirty="0"/>
          </a:p>
          <a:p>
            <a:pPr indent="0" marL="0">
              <a:spcAft>
                <a:spcPts val="200"/>
              </a:spcAft>
              <a:buNone/>
            </a:pPr>
            <a:r>
              <a:rPr lang="en-US" sz="1300" dirty="0">
                <a:solidFill>
                  <a:schemeClr val="tx1"/>
                </a:solidFill>
              </a:rPr>
              <a:t>Ran the 2019 code faithfully and accepted 103,570 as “PDL is just slow”. I caught it.</a:t>
            </a:r>
            <a:endParaRPr lang="en-US" sz="1600" dirty="0"/>
          </a:p>
        </p:txBody>
      </p:sp>
      <p:sp>
        <p:nvSpPr>
          <p:cNvPr id="22" name="failure Silent drift"/>
          <p:cNvSpPr/>
          <p:nvPr/>
        </p:nvSpPr>
        <p:spPr>
          <a:xfrm>
            <a:off x="6400800" y="2715768"/>
            <a:ext cx="5242255" cy="914400"/>
          </a:xfrm>
          <a:prstGeom prst="roundRect">
            <a:avLst>
              <a:gd name="adj" fmla="val 10000"/>
            </a:avLst>
          </a:prstGeom>
          <a:solidFill>
            <a:schemeClr val="bg2"/>
          </a:solidFill>
          <a:ln w="12700">
            <a:solidFill>
              <a:schemeClr val="bg2"/>
            </a:solidFill>
            <a:prstDash val="solid"/>
          </a:ln>
        </p:spPr>
      </p:sp>
      <p:sp>
        <p:nvSpPr>
          <p:cNvPr id="23" name="Text 16"/>
          <p:cNvSpPr txBox="1"/>
          <p:nvPr/>
        </p:nvSpPr>
        <p:spPr>
          <a:xfrm>
            <a:off x="6583680" y="2788920"/>
            <a:ext cx="4876495" cy="804672"/>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Silent drift</a:t>
            </a:r>
            <a:endParaRPr lang="en-US" sz="1600" dirty="0"/>
          </a:p>
          <a:p>
            <a:pPr indent="0" marL="0">
              <a:spcAft>
                <a:spcPts val="200"/>
              </a:spcAft>
              <a:buNone/>
            </a:pPr>
            <a:r>
              <a:rPr lang="en-US" sz="1300" dirty="0">
                <a:solidFill>
                  <a:schemeClr val="tx1"/>
                </a:solidFill>
              </a:rPr>
              <a:t>Mis-copied numbers from the logs into the prose and tables. About seven rounds of ChatGPT audits caught them (backup slides).</a:t>
            </a:r>
            <a:endParaRPr lang="en-US" sz="1600" dirty="0"/>
          </a:p>
        </p:txBody>
      </p:sp>
      <p:sp>
        <p:nvSpPr>
          <p:cNvPr id="24" name="failure No sense of what's interesting"/>
          <p:cNvSpPr/>
          <p:nvPr/>
        </p:nvSpPr>
        <p:spPr>
          <a:xfrm>
            <a:off x="6400800" y="3739896"/>
            <a:ext cx="5242255" cy="914400"/>
          </a:xfrm>
          <a:prstGeom prst="roundRect">
            <a:avLst>
              <a:gd name="adj" fmla="val 10000"/>
            </a:avLst>
          </a:prstGeom>
          <a:solidFill>
            <a:schemeClr val="bg2"/>
          </a:solidFill>
          <a:ln w="12700">
            <a:solidFill>
              <a:schemeClr val="bg2"/>
            </a:solidFill>
            <a:prstDash val="solid"/>
          </a:ln>
        </p:spPr>
      </p:sp>
      <p:sp>
        <p:nvSpPr>
          <p:cNvPr id="25" name="Text 18"/>
          <p:cNvSpPr txBox="1"/>
          <p:nvPr/>
        </p:nvSpPr>
        <p:spPr>
          <a:xfrm>
            <a:off x="6583680" y="3813048"/>
            <a:ext cx="4876495" cy="804672"/>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No sense of what's interesting</a:t>
            </a:r>
            <a:endParaRPr lang="en-US" sz="1600" dirty="0"/>
          </a:p>
          <a:p>
            <a:pPr indent="0" marL="0">
              <a:spcAft>
                <a:spcPts val="200"/>
              </a:spcAft>
              <a:buNone/>
            </a:pPr>
            <a:r>
              <a:rPr lang="en-US" sz="1300" dirty="0">
                <a:solidFill>
                  <a:schemeClr val="tx1"/>
                </a:solidFill>
              </a:rPr>
              <a:t>Asked what to add, it gave a long, flat list; choosing was my job.</a:t>
            </a:r>
            <a:endParaRPr lang="en-US" sz="1600" dirty="0"/>
          </a:p>
        </p:txBody>
      </p:sp>
      <p:sp>
        <p:nvSpPr>
          <p:cNvPr id="26" name="failure I didn't write the ports"/>
          <p:cNvSpPr/>
          <p:nvPr/>
        </p:nvSpPr>
        <p:spPr>
          <a:xfrm>
            <a:off x="6400800" y="4764024"/>
            <a:ext cx="5242255" cy="914400"/>
          </a:xfrm>
          <a:prstGeom prst="roundRect">
            <a:avLst>
              <a:gd name="adj" fmla="val 10000"/>
            </a:avLst>
          </a:prstGeom>
          <a:solidFill>
            <a:srgbClr val="FDE7E4"/>
          </a:solidFill>
          <a:ln w="12700">
            <a:solidFill>
              <a:srgbClr val="FDE7E4"/>
            </a:solidFill>
            <a:prstDash val="solid"/>
          </a:ln>
        </p:spPr>
      </p:sp>
      <p:sp>
        <p:nvSpPr>
          <p:cNvPr id="27" name="Text 20"/>
          <p:cNvSpPr txBox="1"/>
          <p:nvPr/>
        </p:nvSpPr>
        <p:spPr>
          <a:xfrm>
            <a:off x="6583680" y="4837176"/>
            <a:ext cx="4876495" cy="804672"/>
          </a:xfrm>
          <a:prstGeom prst="rect">
            <a:avLst/>
          </a:prstGeom>
          <a:noFill/>
          <a:ln/>
        </p:spPr>
        <p:txBody>
          <a:bodyPr wrap="square" lIns="0" tIns="0" rIns="0" bIns="0" rtlCol="0" anchor="t"/>
          <a:lstStyle/>
          <a:p>
            <a:pPr indent="0" marL="0">
              <a:spcAft>
                <a:spcPts val="200"/>
              </a:spcAft>
              <a:buNone/>
            </a:pPr>
            <a:r>
              <a:rPr lang="en-US" sz="1600" b="1" dirty="0">
                <a:solidFill>
                  <a:srgbClr val="D73027"/>
                </a:solidFill>
              </a:rPr>
              <a:t>I didn't write the ports</a:t>
            </a:r>
            <a:endParaRPr lang="en-US" sz="1600" dirty="0"/>
          </a:p>
          <a:p>
            <a:pPr indent="0" marL="0">
              <a:spcAft>
                <a:spcPts val="200"/>
              </a:spcAft>
              <a:buNone/>
            </a:pPr>
            <a:r>
              <a:rPr lang="en-US" sz="1300" dirty="0">
                <a:solidFill>
                  <a:schemeClr val="tx1"/>
                </a:solidFill>
              </a:rPr>
              <a:t>Unlike Keith, I trusted the LLM's code. I can't vouch that each port is what an expert would write.</a:t>
            </a:r>
            <a:endParaRPr lang="en-US" sz="1600" dirty="0"/>
          </a:p>
        </p:txBody>
      </p:sp>
      <p:sp>
        <p:nvSpPr>
          <p:cNvPr id="28" name="Text 21"/>
          <p:cNvSpPr txBox="1"/>
          <p:nvPr/>
        </p:nvSpPr>
        <p:spPr>
          <a:xfrm>
            <a:off x="6400800" y="5852160"/>
            <a:ext cx="5242255" cy="365760"/>
          </a:xfrm>
          <a:prstGeom prst="rect">
            <a:avLst/>
          </a:prstGeom>
          <a:noFill/>
          <a:ln/>
        </p:spPr>
        <p:txBody>
          <a:bodyPr wrap="square" lIns="0" tIns="0" rIns="0" bIns="0" rtlCol="0" anchor="t"/>
          <a:lstStyle/>
          <a:p>
            <a:pPr indent="0" marL="0">
              <a:buNone/>
            </a:pPr>
            <a:r>
              <a:rPr lang="en-US" sz="1300" b="1" dirty="0">
                <a:solidFill>
                  <a:schemeClr val="tx2"/>
                </a:solidFill>
              </a:rPr>
              <a:t>Future work: expert and multi-LLM review of the kernels themselves, not just the numbers.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take home</a:t>
            </a:r>
            <a:endParaRPr lang="en-US" sz="3200" dirty="0"/>
          </a:p>
        </p:txBody>
      </p:sp>
      <p:sp>
        <p:nvSpPr>
          <p:cNvPr id="3" name="conclusion 1"/>
          <p:cNvSpPr/>
          <p:nvPr/>
        </p:nvSpPr>
        <p:spPr>
          <a:xfrm>
            <a:off x="548640" y="1188720"/>
            <a:ext cx="11094415" cy="841248"/>
          </a:xfrm>
          <a:prstGeom prst="roundRect">
            <a:avLst>
              <a:gd name="adj" fmla="val 10870"/>
            </a:avLst>
          </a:prstGeom>
          <a:solidFill>
            <a:schemeClr val="bg2"/>
          </a:solidFill>
          <a:ln w="12700">
            <a:solidFill>
              <a:schemeClr val="bg2"/>
            </a:solidFill>
            <a:prstDash val="solid"/>
          </a:ln>
        </p:spPr>
      </p:sp>
      <p:sp>
        <p:nvSpPr>
          <p:cNvPr id="4" name="number 1"/>
          <p:cNvSpPr/>
          <p:nvPr/>
        </p:nvSpPr>
        <p:spPr>
          <a:xfrm>
            <a:off x="731520" y="1344168"/>
            <a:ext cx="530352" cy="530352"/>
          </a:xfrm>
          <a:prstGeom prst="ellipse">
            <a:avLst/>
          </a:prstGeom>
          <a:solidFill>
            <a:schemeClr val="tx2"/>
          </a:solidFill>
          <a:ln w="12700">
            <a:solidFill>
              <a:schemeClr val="tx2"/>
            </a:solidFill>
            <a:prstDash val="solid"/>
          </a:ln>
        </p:spPr>
      </p:sp>
      <p:sp>
        <p:nvSpPr>
          <p:cNvPr id="5" name="Text 3"/>
          <p:cNvSpPr txBox="1"/>
          <p:nvPr/>
        </p:nvSpPr>
        <p:spPr>
          <a:xfrm>
            <a:off x="731520" y="13441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1463040" y="12435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Runtime, not language, sets your speed</a:t>
            </a:r>
            <a:endParaRPr lang="en-US" sz="1900" dirty="0"/>
          </a:p>
          <a:p>
            <a:pPr indent="0" marL="0">
              <a:spcAft>
                <a:spcPts val="200"/>
              </a:spcAft>
              <a:buNone/>
            </a:pPr>
            <a:r>
              <a:rPr lang="en-US" sz="1400" dirty="0">
                <a:solidFill>
                  <a:schemeClr val="tx1"/>
                </a:solidFill>
              </a:rPr>
              <a:t>Python: reach for @njit before C (2,883 → 3.15); never PyPy with numpy; don't loop over numpy elements. Lists: CPython 644 → PyPy 36.</a:t>
            </a:r>
            <a:endParaRPr lang="en-US" sz="1900" dirty="0"/>
          </a:p>
        </p:txBody>
      </p:sp>
      <p:sp>
        <p:nvSpPr>
          <p:cNvPr id="7" name="conclusion 2"/>
          <p:cNvSpPr/>
          <p:nvPr/>
        </p:nvSpPr>
        <p:spPr>
          <a:xfrm>
            <a:off x="548640" y="2103120"/>
            <a:ext cx="11094415" cy="841248"/>
          </a:xfrm>
          <a:prstGeom prst="roundRect">
            <a:avLst>
              <a:gd name="adj" fmla="val 10870"/>
            </a:avLst>
          </a:prstGeom>
          <a:solidFill>
            <a:schemeClr val="bg2"/>
          </a:solidFill>
          <a:ln w="12700">
            <a:solidFill>
              <a:schemeClr val="bg2"/>
            </a:solidFill>
            <a:prstDash val="solid"/>
          </a:ln>
        </p:spPr>
      </p:sp>
      <p:sp>
        <p:nvSpPr>
          <p:cNvPr id="8" name="number 2"/>
          <p:cNvSpPr/>
          <p:nvPr/>
        </p:nvSpPr>
        <p:spPr>
          <a:xfrm>
            <a:off x="731520" y="2258568"/>
            <a:ext cx="530352" cy="530352"/>
          </a:xfrm>
          <a:prstGeom prst="ellipse">
            <a:avLst/>
          </a:prstGeom>
          <a:solidFill>
            <a:schemeClr val="tx2"/>
          </a:solidFill>
          <a:ln w="12700">
            <a:solidFill>
              <a:schemeClr val="tx2"/>
            </a:solidFill>
            <a:prstDash val="solid"/>
          </a:ln>
        </p:spPr>
      </p:sp>
      <p:sp>
        <p:nvSpPr>
          <p:cNvPr id="9" name="Text 7"/>
          <p:cNvSpPr txBox="1"/>
          <p:nvPr/>
        </p:nvSpPr>
        <p:spPr>
          <a:xfrm>
            <a:off x="731520" y="22585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0" name="Text 8"/>
          <p:cNvSpPr txBox="1"/>
          <p:nvPr/>
        </p:nvSpPr>
        <p:spPr>
          <a:xfrm>
            <a:off x="1463040" y="21579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Compiled languages are close: choose for ergonomics</a:t>
            </a:r>
            <a:endParaRPr lang="en-US" sz="1900" dirty="0"/>
          </a:p>
          <a:p>
            <a:pPr indent="0" marL="0">
              <a:spcAft>
                <a:spcPts val="200"/>
              </a:spcAft>
              <a:buNone/>
            </a:pPr>
            <a:r>
              <a:rPr lang="en-US" sz="1400" dirty="0">
                <a:solidFill>
                  <a:schemeClr val="tx1"/>
                </a:solidFill>
              </a:rPr>
              <a:t>Keith said it in 2019; 15 more languages agree. Best variants: D 2.8, Zig 2.8, Java 3.7, C# 5.3, Go 6.9, Rust 6.8; Swift the outlier at 17.9.</a:t>
            </a:r>
            <a:endParaRPr lang="en-US" sz="1900" dirty="0"/>
          </a:p>
        </p:txBody>
      </p:sp>
      <p:sp>
        <p:nvSpPr>
          <p:cNvPr id="11" name="conclusion 3"/>
          <p:cNvSpPr/>
          <p:nvPr/>
        </p:nvSpPr>
        <p:spPr>
          <a:xfrm>
            <a:off x="548640" y="3017520"/>
            <a:ext cx="11094415" cy="841248"/>
          </a:xfrm>
          <a:prstGeom prst="roundRect">
            <a:avLst>
              <a:gd name="adj" fmla="val 10870"/>
            </a:avLst>
          </a:prstGeom>
          <a:solidFill>
            <a:schemeClr val="bg2"/>
          </a:solidFill>
          <a:ln w="12700">
            <a:solidFill>
              <a:schemeClr val="bg2"/>
            </a:solidFill>
            <a:prstDash val="solid"/>
          </a:ln>
        </p:spPr>
      </p:sp>
      <p:sp>
        <p:nvSpPr>
          <p:cNvPr id="12" name="number 3"/>
          <p:cNvSpPr/>
          <p:nvPr/>
        </p:nvSpPr>
        <p:spPr>
          <a:xfrm>
            <a:off x="731520" y="3172968"/>
            <a:ext cx="530352" cy="530352"/>
          </a:xfrm>
          <a:prstGeom prst="ellipse">
            <a:avLst/>
          </a:prstGeom>
          <a:solidFill>
            <a:schemeClr val="tx2"/>
          </a:solidFill>
          <a:ln w="12700">
            <a:solidFill>
              <a:schemeClr val="tx2"/>
            </a:solidFill>
            <a:prstDash val="solid"/>
          </a:ln>
        </p:spPr>
      </p:sp>
      <p:sp>
        <p:nvSpPr>
          <p:cNvPr id="13" name="Text 11"/>
          <p:cNvSpPr txBox="1"/>
          <p:nvPr/>
        </p:nvSpPr>
        <p:spPr>
          <a:xfrm>
            <a:off x="731520" y="31729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4" name="Text 12"/>
          <p:cNvSpPr txBox="1"/>
          <p:nvPr/>
        </p:nvSpPr>
        <p:spPr>
          <a:xfrm>
            <a:off x="1463040" y="30723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Cross the interpreter boundary once, not per element</a:t>
            </a:r>
            <a:endParaRPr lang="en-US" sz="1900" dirty="0"/>
          </a:p>
          <a:p>
            <a:pPr indent="0" marL="0">
              <a:spcAft>
                <a:spcPts val="200"/>
              </a:spcAft>
              <a:buNone/>
            </a:pPr>
            <a:r>
              <a:rPr lang="en-US" sz="1400" dirty="0">
                <a:solidFill>
                  <a:schemeClr val="tx1"/>
                </a:solidFill>
              </a:rPr>
              <a:t>numpy element lookup 2,883 → vectorised 16. PDL 9,207 → PDL::PP 5.5. Octave loop 46,705 → vectorised 57.</a:t>
            </a:r>
            <a:endParaRPr lang="en-US" sz="1900" dirty="0"/>
          </a:p>
        </p:txBody>
      </p:sp>
      <p:sp>
        <p:nvSpPr>
          <p:cNvPr id="15" name="conclusion 4"/>
          <p:cNvSpPr/>
          <p:nvPr/>
        </p:nvSpPr>
        <p:spPr>
          <a:xfrm>
            <a:off x="548640" y="3931920"/>
            <a:ext cx="11094415" cy="841248"/>
          </a:xfrm>
          <a:prstGeom prst="roundRect">
            <a:avLst>
              <a:gd name="adj" fmla="val 10870"/>
            </a:avLst>
          </a:prstGeom>
          <a:solidFill>
            <a:schemeClr val="bg2"/>
          </a:solidFill>
          <a:ln w="12700">
            <a:solidFill>
              <a:schemeClr val="bg2"/>
            </a:solidFill>
            <a:prstDash val="solid"/>
          </a:ln>
        </p:spPr>
      </p:sp>
      <p:sp>
        <p:nvSpPr>
          <p:cNvPr id="16" name="number 4"/>
          <p:cNvSpPr/>
          <p:nvPr/>
        </p:nvSpPr>
        <p:spPr>
          <a:xfrm>
            <a:off x="731520" y="4087368"/>
            <a:ext cx="530352" cy="530352"/>
          </a:xfrm>
          <a:prstGeom prst="ellipse">
            <a:avLst/>
          </a:prstGeom>
          <a:solidFill>
            <a:schemeClr val="tx2"/>
          </a:solidFill>
          <a:ln w="12700">
            <a:solidFill>
              <a:schemeClr val="tx2"/>
            </a:solidFill>
            <a:prstDash val="solid"/>
          </a:ln>
        </p:spPr>
      </p:sp>
      <p:sp>
        <p:nvSpPr>
          <p:cNvPr id="17" name="Text 15"/>
          <p:cNvSpPr txBox="1"/>
          <p:nvPr/>
        </p:nvSpPr>
        <p:spPr>
          <a:xfrm>
            <a:off x="731520" y="40873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8" name="Text 16"/>
          <p:cNvSpPr txBox="1"/>
          <p:nvPr/>
        </p:nvSpPr>
        <p:spPr>
          <a:xfrm>
            <a:off x="1463040" y="39867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Flags, types and idiom are free orders of magnitude</a:t>
            </a:r>
            <a:endParaRPr lang="en-US" sz="1900" dirty="0"/>
          </a:p>
          <a:p>
            <a:pPr indent="0" marL="0">
              <a:spcAft>
                <a:spcPts val="200"/>
              </a:spcAft>
              <a:buNone/>
            </a:pPr>
            <a:r>
              <a:rPr lang="en-US" sz="1400" dirty="0">
                <a:solidFill>
                  <a:schemeClr val="tx1"/>
                </a:solidFill>
              </a:rPr>
              <a:t>Swift -Onone → -O: about 200×. Lisp type declarations: 16×. Rust iterators 6.8 against indexed loops 12.0.</a:t>
            </a:r>
            <a:endParaRPr lang="en-US" sz="1900" dirty="0"/>
          </a:p>
        </p:txBody>
      </p:sp>
      <p:sp>
        <p:nvSpPr>
          <p:cNvPr id="19" name="conclusion 5"/>
          <p:cNvSpPr/>
          <p:nvPr/>
        </p:nvSpPr>
        <p:spPr>
          <a:xfrm>
            <a:off x="548640" y="4846320"/>
            <a:ext cx="11094415" cy="841248"/>
          </a:xfrm>
          <a:prstGeom prst="roundRect">
            <a:avLst>
              <a:gd name="adj" fmla="val 10870"/>
            </a:avLst>
          </a:prstGeom>
          <a:solidFill>
            <a:schemeClr val="bg2"/>
          </a:solidFill>
          <a:ln w="12700">
            <a:solidFill>
              <a:schemeClr val="bg2"/>
            </a:solidFill>
            <a:prstDash val="solid"/>
          </a:ln>
        </p:spPr>
      </p:sp>
      <p:sp>
        <p:nvSpPr>
          <p:cNvPr id="20" name="number 5"/>
          <p:cNvSpPr/>
          <p:nvPr/>
        </p:nvSpPr>
        <p:spPr>
          <a:xfrm>
            <a:off x="731520" y="5001768"/>
            <a:ext cx="530352" cy="530352"/>
          </a:xfrm>
          <a:prstGeom prst="ellipse">
            <a:avLst/>
          </a:prstGeom>
          <a:solidFill>
            <a:schemeClr val="tx2"/>
          </a:solidFill>
          <a:ln w="12700">
            <a:solidFill>
              <a:schemeClr val="tx2"/>
            </a:solidFill>
            <a:prstDash val="solid"/>
          </a:ln>
        </p:spPr>
      </p:sp>
      <p:sp>
        <p:nvSpPr>
          <p:cNvPr id="21" name="Text 19"/>
          <p:cNvSpPr txBox="1"/>
          <p:nvPr/>
        </p:nvSpPr>
        <p:spPr>
          <a:xfrm>
            <a:off x="731520" y="50017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2" name="Text 20"/>
          <p:cNvSpPr txBox="1"/>
          <p:nvPr/>
        </p:nvSpPr>
        <p:spPr>
          <a:xfrm>
            <a:off x="1463040" y="49011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LLMs port fast; humans must audit the numbers and own the code</a:t>
            </a:r>
            <a:endParaRPr lang="en-US" sz="1900" dirty="0"/>
          </a:p>
          <a:p>
            <a:pPr indent="0" marL="0">
              <a:spcAft>
                <a:spcPts val="200"/>
              </a:spcAft>
              <a:buNone/>
            </a:pPr>
            <a:r>
              <a:rPr lang="en-US" sz="1400" dirty="0">
                <a:solidFill>
                  <a:schemeClr val="tx1"/>
                </a:solidFill>
              </a:rPr>
              <a:t>15 languages in 4 days, no bugs found in the ports; but 14 numbers mis-copied into the prose, and no expert has reviewed the kernels.</a:t>
            </a:r>
            <a:endParaRPr lang="en-US" sz="1900" dirty="0"/>
          </a:p>
        </p:txBody>
      </p:sp>
      <p:sp>
        <p:nvSpPr>
          <p:cNvPr id="23" name="closing line"/>
          <p:cNvSpPr txBox="1"/>
          <p:nvPr/>
        </p:nvSpPr>
        <p:spPr>
          <a:xfrm>
            <a:off x="548640" y="5779008"/>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2019: flags, idiom and JITs beat language. 2026: </a:t>
            </a:r>
            <a:pPr algn="ctr" indent="0" marL="0">
              <a:buNone/>
            </a:pPr>
            <a:r>
              <a:rPr lang="en-US" sz="1700" b="1" i="1" dirty="0">
                <a:solidFill>
                  <a:schemeClr val="tx2"/>
                </a:solidFill>
                <a:latin typeface="+mj-lt" pitchFamily="34" charset="0"/>
                <a:ea typeface="+mj-lt" pitchFamily="34" charset="-122"/>
                <a:cs typeface="+mj-lt" pitchFamily="34" charset="-120"/>
              </a:rPr>
              <a:t>15 more languages agree</a:t>
            </a:r>
            <a:pPr algn="ctr" indent="0" marL="0">
              <a:buNone/>
            </a:pPr>
            <a:r>
              <a:rPr lang="en-US" sz="1700" b="1" dirty="0">
                <a:solidFill>
                  <a:schemeClr val="tx2"/>
                </a:solidFill>
                <a:latin typeface="+mj-lt" pitchFamily="34" charset="0"/>
                <a:ea typeface="+mj-lt" pitchFamily="34" charset="-122"/>
                <a:cs typeface="+mj-lt" pitchFamily="34" charset="-120"/>
              </a:rPr>
              <a:t>. Check every number against the log.</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pic>
        <p:nvPicPr>
          <p:cNvPr id="4" name="nerd-snipe cartoon" descr="Hand-drawn style chart of languages benchmarked: 12 in 2019 by Keith, 27 in 2026, a red dashed line to 'YOU?', and INTERCAL marked 'still undefeated'">    </p:cNvPr>
          <p:cNvPicPr>
            <a:picLocks noChangeAspect="1"/>
          </p:cNvPicPr>
          <p:nvPr/>
        </p:nvPicPr>
        <p:blipFill>
          <a:blip r:embed="rId3"/>
          <a:stretch>
            <a:fillRect/>
          </a:stretch>
        </p:blipFill>
        <p:spPr>
          <a:xfrm>
            <a:off x="7071055" y="3568446"/>
            <a:ext cx="4572000" cy="31432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language, from its best variant to its worst</a:t>
            </a:r>
            <a:endParaRPr lang="en-US" sz="3200" dirty="0"/>
          </a:p>
        </p:txBody>
      </p:sp>
      <p:pic>
        <p:nvPicPr>
          <p:cNvPr id="3" name="language ranges" descr="Run22 relative times for each of the 27 languages, one column each, sorted by best variant; the 15 new languages in red">    </p:cNvPr>
          <p:cNvPicPr>
            <a:picLocks noChangeAspect="1"/>
          </p:cNvPicPr>
          <p:nvPr/>
        </p:nvPicPr>
        <p:blipFill>
          <a:blip r:embed="rId1"/>
          <a:stretch>
            <a:fillRect/>
          </a:stretch>
        </p:blipFill>
        <p:spPr>
          <a:xfrm>
            <a:off x="548640" y="1143000"/>
            <a:ext cx="11094415" cy="4685463"/>
          </a:xfrm>
          <a:prstGeom prst="rect">
            <a:avLst/>
          </a:prstGeom>
        </p:spPr>
      </p:pic>
      <p:sp>
        <p:nvSpPr>
          <p:cNvPr id="4" name="Text 1"/>
          <p:cNvSpPr txBox="1"/>
          <p:nvPr/>
        </p:nvSpPr>
        <p:spPr>
          <a:xfrm>
            <a:off x="548640" y="5919903"/>
            <a:ext cx="11094415" cy="731520"/>
          </a:xfrm>
          <a:prstGeom prst="rect">
            <a:avLst/>
          </a:prstGeom>
          <a:noFill/>
          <a:ln/>
        </p:spPr>
        <p:txBody>
          <a:bodyPr wrap="square" lIns="0" tIns="0" rIns="0" bIns="0" rtlCol="0" anchor="t"/>
          <a:lstStyle/>
          <a:p>
            <a:pPr indent="0" marL="0">
              <a:buNone/>
            </a:pPr>
            <a:r>
              <a:rPr lang="en-US" sz="1500" b="1" dirty="0">
                <a:solidFill>
                  <a:srgbClr val="D73027"/>
                </a:solidFill>
              </a:rPr>
              <a:t>Red labels: the 15 languages new in 2026, mostly one variant each. </a:t>
            </a:r>
            <a:pPr indent="0" marL="0">
              <a:buNone/>
            </a:pPr>
            <a:r>
              <a:rPr lang="en-US" sz="1500" dirty="0">
                <a:solidFill>
                  <a:schemeClr val="tx1"/>
                </a:solidFill>
              </a:rPr>
              <a:t>The long bars are Keith's option sweeps (C/C++ alone has 60 variants) and changes of idiom: Python, PDL, Octave, R. Bars and dots are coloured by tier, green 1 to purple 8; (n) is the number of variants.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element lookup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element lookup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what the ChatGPT red team caught</a:t>
            </a:r>
            <a:endParaRPr lang="en-US" sz="3200" dirty="0"/>
          </a:p>
        </p:txBody>
      </p:sp>
      <p:sp>
        <p:nvSpPr>
          <p:cNvPr id="3" name="catch Stale numbers"/>
          <p:cNvSpPr/>
          <p:nvPr/>
        </p:nvSpPr>
        <p:spPr>
          <a:xfrm>
            <a:off x="548640" y="1188720"/>
            <a:ext cx="5410048" cy="1325880"/>
          </a:xfrm>
          <a:prstGeom prst="roundRect">
            <a:avLst>
              <a:gd name="adj" fmla="val 6897"/>
            </a:avLst>
          </a:prstGeom>
          <a:solidFill>
            <a:schemeClr val="bg2"/>
          </a:solidFill>
          <a:ln w="12700">
            <a:solidFill>
              <a:schemeClr val="bg2"/>
            </a:solidFill>
            <a:prstDash val="solid"/>
          </a:ln>
        </p:spPr>
      </p:sp>
      <p:sp>
        <p:nvSpPr>
          <p:cNvPr id="4" name="Text 2"/>
          <p:cNvSpPr txBox="1"/>
          <p:nvPr/>
        </p:nvSpPr>
        <p:spPr>
          <a:xfrm>
            <a:off x="777240"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Stale numbers</a:t>
            </a:r>
            <a:endParaRPr lang="en-US" sz="1700" dirty="0"/>
          </a:p>
          <a:p>
            <a:pPr indent="0" marL="0">
              <a:spcAft>
                <a:spcPts val="200"/>
              </a:spcAft>
              <a:buNone/>
            </a:pPr>
            <a:r>
              <a:rPr lang="en-US" sz="1600" dirty="0">
                <a:solidFill>
                  <a:schemeClr val="tx1"/>
                </a:solidFill>
              </a:rPr>
              <a:t>About 25 numbers in the prose came from older runs after the reference moved: Crystal 3.21 → 3.67, numba 2.91 → 3.15. F# 6.85 → 7.21 even crossed into tier 4.</a:t>
            </a:r>
            <a:endParaRPr lang="en-US" sz="1700" dirty="0"/>
          </a:p>
        </p:txBody>
      </p:sp>
      <p:sp>
        <p:nvSpPr>
          <p:cNvPr id="5" name="catch Mis-tiering"/>
          <p:cNvSpPr/>
          <p:nvPr/>
        </p:nvSpPr>
        <p:spPr>
          <a:xfrm>
            <a:off x="6233008" y="1188720"/>
            <a:ext cx="5410048" cy="1325880"/>
          </a:xfrm>
          <a:prstGeom prst="roundRect">
            <a:avLst>
              <a:gd name="adj" fmla="val 6897"/>
            </a:avLst>
          </a:prstGeom>
          <a:solidFill>
            <a:schemeClr val="bg2"/>
          </a:solidFill>
          <a:ln w="12700">
            <a:solidFill>
              <a:schemeClr val="bg2"/>
            </a:solidFill>
            <a:prstDash val="solid"/>
          </a:ln>
        </p:spPr>
      </p:sp>
      <p:sp>
        <p:nvSpPr>
          <p:cNvPr id="6" name="Text 4"/>
          <p:cNvSpPr txBox="1"/>
          <p:nvPr/>
        </p:nvSpPr>
        <p:spPr>
          <a:xfrm>
            <a:off x="6461608"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Mis-tiering</a:t>
            </a:r>
            <a:endParaRPr lang="en-US" sz="1700" dirty="0"/>
          </a:p>
          <a:p>
            <a:pPr indent="0" marL="0">
              <a:spcAft>
                <a:spcPts val="200"/>
              </a:spcAft>
              <a:buNone/>
            </a:pPr>
            <a:r>
              <a:rPr lang="en-US" sz="1600" dirty="0">
                <a:solidFill>
                  <a:schemeClr val="tx1"/>
                </a:solidFill>
              </a:rPr>
              <a:t>D, Zig, Crystal, Nim, Rust and OCaml listed in tier 2: none are. “Tier 6 is the most populous”: it had 5 entries against tier 3's 38.</a:t>
            </a:r>
            <a:endParaRPr lang="en-US" sz="1700" dirty="0"/>
          </a:p>
        </p:txBody>
      </p:sp>
      <p:sp>
        <p:nvSpPr>
          <p:cNvPr id="7" name="catch Wrong ratios"/>
          <p:cNvSpPr/>
          <p:nvPr/>
        </p:nvSpPr>
        <p:spPr>
          <a:xfrm>
            <a:off x="548640" y="2651760"/>
            <a:ext cx="5410048" cy="1325880"/>
          </a:xfrm>
          <a:prstGeom prst="roundRect">
            <a:avLst>
              <a:gd name="adj" fmla="val 6897"/>
            </a:avLst>
          </a:prstGeom>
          <a:solidFill>
            <a:schemeClr val="bg2"/>
          </a:solidFill>
          <a:ln w="12700">
            <a:solidFill>
              <a:schemeClr val="bg2"/>
            </a:solidFill>
            <a:prstDash val="solid"/>
          </a:ln>
        </p:spPr>
      </p:sp>
      <p:sp>
        <p:nvSpPr>
          <p:cNvPr id="8" name="Text 6"/>
          <p:cNvSpPr txBox="1"/>
          <p:nvPr/>
        </p:nvSpPr>
        <p:spPr>
          <a:xfrm>
            <a:off x="777240"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ratios</a:t>
            </a:r>
            <a:endParaRPr lang="en-US" sz="1700" dirty="0"/>
          </a:p>
          <a:p>
            <a:pPr indent="0" marL="0">
              <a:spcAft>
                <a:spcPts val="200"/>
              </a:spcAft>
              <a:buNone/>
            </a:pPr>
            <a:r>
              <a:rPr lang="en-US" sz="1600" dirty="0">
                <a:solidFill>
                  <a:schemeClr val="tx1"/>
                </a:solidFill>
              </a:rPr>
              <a:t>“PyPy is 650× slower than CPython”: it is about 8×. The 650× was PyPy + numpy against PyPy lists. An OCaml “18×” was 13×.</a:t>
            </a:r>
            <a:endParaRPr lang="en-US" sz="1700" dirty="0"/>
          </a:p>
        </p:txBody>
      </p:sp>
      <p:sp>
        <p:nvSpPr>
          <p:cNvPr id="9" name="catch Overclaims"/>
          <p:cNvSpPr/>
          <p:nvPr/>
        </p:nvSpPr>
        <p:spPr>
          <a:xfrm>
            <a:off x="6233008" y="2651760"/>
            <a:ext cx="5410048" cy="1325880"/>
          </a:xfrm>
          <a:prstGeom prst="roundRect">
            <a:avLst>
              <a:gd name="adj" fmla="val 6897"/>
            </a:avLst>
          </a:prstGeom>
          <a:solidFill>
            <a:schemeClr val="bg2"/>
          </a:solidFill>
          <a:ln w="12700">
            <a:solidFill>
              <a:schemeClr val="bg2"/>
            </a:solidFill>
            <a:prstDash val="solid"/>
          </a:ln>
        </p:spPr>
      </p:sp>
      <p:sp>
        <p:nvSpPr>
          <p:cNvPr id="10" name="Text 8"/>
          <p:cNvSpPr txBox="1"/>
          <p:nvPr/>
        </p:nvSpPr>
        <p:spPr>
          <a:xfrm>
            <a:off x="6461608"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Overclaims</a:t>
            </a:r>
            <a:endParaRPr lang="en-US" sz="1700" dirty="0"/>
          </a:p>
          <a:p>
            <a:pPr indent="0" marL="0">
              <a:spcAft>
                <a:spcPts val="200"/>
              </a:spcAft>
              <a:buNone/>
            </a:pPr>
            <a:r>
              <a:rPr lang="en-US" sz="1600" dirty="0">
                <a:solidFill>
                  <a:schemeClr val="tx1"/>
                </a:solidFill>
              </a:rPr>
              <a:t>A “million-fold spread” in 2026 that is under half a million (4.8 × 10⁵).</a:t>
            </a:r>
            <a:endParaRPr lang="en-US" sz="1700" dirty="0"/>
          </a:p>
        </p:txBody>
      </p:sp>
      <p:sp>
        <p:nvSpPr>
          <p:cNvPr id="11" name="catch Wrong comparisons"/>
          <p:cNvSpPr/>
          <p:nvPr/>
        </p:nvSpPr>
        <p:spPr>
          <a:xfrm>
            <a:off x="548640" y="4114800"/>
            <a:ext cx="5410048" cy="1325880"/>
          </a:xfrm>
          <a:prstGeom prst="roundRect">
            <a:avLst>
              <a:gd name="adj" fmla="val 6897"/>
            </a:avLst>
          </a:prstGeom>
          <a:solidFill>
            <a:schemeClr val="bg2"/>
          </a:solidFill>
          <a:ln w="12700">
            <a:solidFill>
              <a:schemeClr val="bg2"/>
            </a:solidFill>
            <a:prstDash val="solid"/>
          </a:ln>
        </p:spPr>
      </p:sp>
      <p:sp>
        <p:nvSpPr>
          <p:cNvPr id="12" name="Text 10"/>
          <p:cNvSpPr txBox="1"/>
          <p:nvPr/>
        </p:nvSpPr>
        <p:spPr>
          <a:xfrm>
            <a:off x="777240"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comparisons</a:t>
            </a:r>
            <a:endParaRPr lang="en-US" sz="1700" dirty="0"/>
          </a:p>
          <a:p>
            <a:pPr indent="0" marL="0">
              <a:spcAft>
                <a:spcPts val="200"/>
              </a:spcAft>
              <a:buNone/>
            </a:pPr>
            <a:r>
              <a:rPr lang="en-US" sz="1600" dirty="0">
                <a:solidFill>
                  <a:schemeClr val="tx1"/>
                </a:solidFill>
              </a:rPr>
              <a:t>“J beats every array library”: PDL::PP was faster. “Octave has the biggest gap within one language”: PDL's was bigger.</a:t>
            </a:r>
            <a:endParaRPr lang="en-US" sz="1700" dirty="0"/>
          </a:p>
        </p:txBody>
      </p:sp>
      <p:sp>
        <p:nvSpPr>
          <p:cNvPr id="13" name="catch Counting"/>
          <p:cNvSpPr/>
          <p:nvPr/>
        </p:nvSpPr>
        <p:spPr>
          <a:xfrm>
            <a:off x="6233008" y="4114800"/>
            <a:ext cx="5410048" cy="1325880"/>
          </a:xfrm>
          <a:prstGeom prst="roundRect">
            <a:avLst>
              <a:gd name="adj" fmla="val 6897"/>
            </a:avLst>
          </a:prstGeom>
          <a:solidFill>
            <a:schemeClr val="bg2"/>
          </a:solidFill>
          <a:ln w="12700">
            <a:solidFill>
              <a:schemeClr val="bg2"/>
            </a:solidFill>
            <a:prstDash val="solid"/>
          </a:ln>
        </p:spPr>
      </p:sp>
      <p:sp>
        <p:nvSpPr>
          <p:cNvPr id="14" name="Text 12"/>
          <p:cNvSpPr txBox="1"/>
          <p:nvPr/>
        </p:nvSpPr>
        <p:spPr>
          <a:xfrm>
            <a:off x="6461608"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Counting</a:t>
            </a:r>
            <a:endParaRPr lang="en-US" sz="1700" dirty="0"/>
          </a:p>
          <a:p>
            <a:pPr indent="0" marL="0">
              <a:spcAft>
                <a:spcPts val="200"/>
              </a:spcAft>
              <a:buNone/>
            </a:pPr>
            <a:r>
              <a:rPr lang="en-US" sz="1600" dirty="0">
                <a:solidFill>
                  <a:schemeClr val="tx1"/>
                </a:solidFill>
              </a:rPr>
              <a:t>“Eleven new languages” that were sixteen. (Fifteen, counted strictly as Keith did: that one we only noticed this week.)</a:t>
            </a:r>
            <a:endParaRPr lang="en-US" sz="1700" dirty="0"/>
          </a:p>
        </p:txBody>
      </p:sp>
      <p:sp>
        <p:nvSpPr>
          <p:cNvPr id="15" name="Text 13"/>
          <p:cNvSpPr txBox="1"/>
          <p:nvPr/>
        </p:nvSpPr>
        <p:spPr>
          <a:xfrm>
            <a:off x="548640" y="5669280"/>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About 7 rounds, 14 errors in the first four: claims that didn't match the log. Nobody reviewed the code.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Backup: Keith's 12 languages from 2019</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800" dirty="0">
                <a:solidFill>
                  <a:srgbClr val="8B949E"/>
                </a:solidFill>
              </a:rPr>
              <a:t>   cnrsub_arm.s</a:t>
            </a:r>
            <a:endParaRPr lang="en-US" sz="1200" dirty="0"/>
          </a:p>
        </p:txBody>
      </p:sp>
      <p:sp>
        <p:nvSpPr>
          <p:cNvPr id="5" name="chip Assembler (arm64 NEON)"/>
          <p:cNvSpPr/>
          <p:nvPr/>
        </p:nvSpPr>
        <p:spPr>
          <a:xfrm>
            <a:off x="3280562" y="868680"/>
            <a:ext cx="731520" cy="219456"/>
          </a:xfrm>
          <a:prstGeom prst="roundRect">
            <a:avLst>
              <a:gd name="adj" fmla="val 33333"/>
            </a:avLst>
          </a:prstGeom>
          <a:solidFill>
            <a:srgbClr val="1A9850"/>
          </a:solidFill>
          <a:ln w="12700">
            <a:solidFill>
              <a:srgbClr val="1A9850"/>
            </a:solidFill>
            <a:prstDash val="solid"/>
          </a:ln>
        </p:spPr>
      </p:sp>
      <p:sp>
        <p:nvSpPr>
          <p:cNvPr id="6" name="Text 4"/>
          <p:cNvSpPr txBox="1"/>
          <p:nvPr/>
        </p:nvSpPr>
        <p:spPr>
          <a:xfrm>
            <a:off x="3280562" y="86868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33856"/>
            <a:ext cx="3326282" cy="980694"/>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C (Numerical Recipes)"/>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C (Numerical Recipes)</a:t>
            </a:r>
            <a:pPr indent="0" marL="0">
              <a:buNone/>
            </a:pPr>
            <a:r>
              <a:rPr lang="en-US" sz="800" dirty="0">
                <a:solidFill>
                  <a:srgbClr val="8B949E"/>
                </a:solidFill>
              </a:rPr>
              <a:t>   cnrsub.cpp</a:t>
            </a:r>
            <a:endParaRPr lang="en-US" sz="1200" dirty="0"/>
          </a:p>
        </p:txBody>
      </p:sp>
      <p:sp>
        <p:nvSpPr>
          <p:cNvPr id="10" name="chip C (Numerical Recipes)"/>
          <p:cNvSpPr/>
          <p:nvPr/>
        </p:nvSpPr>
        <p:spPr>
          <a:xfrm>
            <a:off x="7027469" y="868680"/>
            <a:ext cx="731520" cy="219456"/>
          </a:xfrm>
          <a:prstGeom prst="roundRect">
            <a:avLst>
              <a:gd name="adj" fmla="val 33333"/>
            </a:avLst>
          </a:prstGeom>
          <a:solidFill>
            <a:srgbClr val="66BD63"/>
          </a:solidFill>
          <a:ln w="12700">
            <a:solidFill>
              <a:srgbClr val="66BD63"/>
            </a:solidFill>
            <a:prstDash val="solid"/>
          </a:ln>
        </p:spPr>
      </p:sp>
      <p:sp>
        <p:nvSpPr>
          <p:cNvPr id="11" name="Text 9"/>
          <p:cNvSpPr txBox="1"/>
          <p:nvPr/>
        </p:nvSpPr>
        <p:spPr>
          <a:xfrm>
            <a:off x="7027469"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1.22</a:t>
            </a:r>
            <a:endParaRPr lang="en-US" sz="1000" dirty="0"/>
          </a:p>
        </p:txBody>
      </p:sp>
      <p:sp>
        <p:nvSpPr>
          <p:cNvPr id="12" name="code C (Numerical Recipes)"/>
          <p:cNvSpPr txBox="1"/>
          <p:nvPr/>
        </p:nvSpPr>
        <p:spPr>
          <a:xfrm>
            <a:off x="4432706" y="1133856"/>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void</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p:txBody>
      </p:sp>
      <p:sp>
        <p:nvSpPr>
          <p:cNvPr id="13" name="code card Fortran"/>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800" dirty="0">
                <a:solidFill>
                  <a:srgbClr val="8B949E"/>
                </a:solidFill>
              </a:rPr>
              <a:t>   cfsub.f</a:t>
            </a:r>
            <a:endParaRPr lang="en-US" sz="1200" dirty="0"/>
          </a:p>
        </p:txBody>
      </p:sp>
      <p:sp>
        <p:nvSpPr>
          <p:cNvPr id="15" name="chip Fortran"/>
          <p:cNvSpPr/>
          <p:nvPr/>
        </p:nvSpPr>
        <p:spPr>
          <a:xfrm>
            <a:off x="10774375" y="868680"/>
            <a:ext cx="731520" cy="219456"/>
          </a:xfrm>
          <a:prstGeom prst="roundRect">
            <a:avLst>
              <a:gd name="adj" fmla="val 33333"/>
            </a:avLst>
          </a:prstGeom>
          <a:solidFill>
            <a:srgbClr val="66BD63"/>
          </a:solidFill>
          <a:ln w="12700">
            <a:solidFill>
              <a:srgbClr val="66BD63"/>
            </a:solidFill>
            <a:prstDash val="solid"/>
          </a:ln>
        </p:spPr>
      </p:sp>
      <p:sp>
        <p:nvSpPr>
          <p:cNvPr id="16" name="Text 14"/>
          <p:cNvSpPr txBox="1"/>
          <p:nvPr/>
        </p:nvSpPr>
        <p:spPr>
          <a:xfrm>
            <a:off x="1077437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7" name="code Fortran"/>
          <p:cNvSpPr txBox="1"/>
          <p:nvPr/>
        </p:nvSpPr>
        <p:spPr>
          <a:xfrm>
            <a:off x="8179613" y="1133856"/>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8" name="code card Python + numba"/>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800" dirty="0">
                <a:solidFill>
                  <a:srgbClr val="8B949E"/>
                </a:solidFill>
              </a:rPr>
              <a:t>   csubnp-numba.py</a:t>
            </a:r>
            <a:endParaRPr lang="en-US" sz="1200" dirty="0"/>
          </a:p>
        </p:txBody>
      </p:sp>
      <p:sp>
        <p:nvSpPr>
          <p:cNvPr id="20" name="chip Python + numba"/>
          <p:cNvSpPr/>
          <p:nvPr/>
        </p:nvSpPr>
        <p:spPr>
          <a:xfrm>
            <a:off x="3280562" y="2324862"/>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3280562"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22" name="code Python + numba"/>
          <p:cNvSpPr txBox="1"/>
          <p:nvPr/>
        </p:nvSpPr>
        <p:spPr>
          <a:xfrm>
            <a:off x="685800" y="2590038"/>
            <a:ext cx="3326282" cy="980694"/>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800" dirty="0">
                <a:solidFill>
                  <a:srgbClr val="8B949E"/>
                </a:solidFill>
              </a:rPr>
              <a:t>   csub.jl</a:t>
            </a:r>
            <a:endParaRPr lang="en-US" sz="1200" dirty="0"/>
          </a:p>
        </p:txBody>
      </p:sp>
      <p:sp>
        <p:nvSpPr>
          <p:cNvPr id="25" name="chip Julia"/>
          <p:cNvSpPr/>
          <p:nvPr/>
        </p:nvSpPr>
        <p:spPr>
          <a:xfrm>
            <a:off x="7027469" y="2324862"/>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7027469"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590038"/>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Java"/>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a:t>
            </a:r>
            <a:pPr indent="0" marL="0">
              <a:buNone/>
            </a:pPr>
            <a:r>
              <a:rPr lang="en-US" sz="800" dirty="0">
                <a:solidFill>
                  <a:srgbClr val="8B949E"/>
                </a:solidFill>
              </a:rPr>
              <a:t>   csub.java</a:t>
            </a:r>
            <a:endParaRPr lang="en-US" sz="1200" dirty="0"/>
          </a:p>
        </p:txBody>
      </p:sp>
      <p:sp>
        <p:nvSpPr>
          <p:cNvPr id="30" name="chip Java"/>
          <p:cNvSpPr/>
          <p:nvPr/>
        </p:nvSpPr>
        <p:spPr>
          <a:xfrm>
            <a:off x="10774375" y="2324862"/>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10774375"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3.70</a:t>
            </a:r>
            <a:endParaRPr lang="en-US" sz="1000" dirty="0"/>
          </a:p>
        </p:txBody>
      </p:sp>
      <p:sp>
        <p:nvSpPr>
          <p:cNvPr id="32" name="code Java"/>
          <p:cNvSpPr txBox="1"/>
          <p:nvPr/>
        </p:nvSpPr>
        <p:spPr>
          <a:xfrm>
            <a:off x="8179613" y="2590038"/>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public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Rus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Rust</a:t>
            </a:r>
            <a:pPr indent="0" marL="0">
              <a:buNone/>
            </a:pPr>
            <a:r>
              <a:rPr lang="en-US" sz="800" dirty="0">
                <a:solidFill>
                  <a:srgbClr val="8B949E"/>
                </a:solidFill>
              </a:rPr>
              <a:t>   crssub.rs</a:t>
            </a:r>
            <a:endParaRPr lang="en-US" sz="1200" dirty="0"/>
          </a:p>
        </p:txBody>
      </p:sp>
      <p:sp>
        <p:nvSpPr>
          <p:cNvPr id="35" name="chip Rust"/>
          <p:cNvSpPr/>
          <p:nvPr/>
        </p:nvSpPr>
        <p:spPr>
          <a:xfrm>
            <a:off x="3280562" y="3781044"/>
            <a:ext cx="731520" cy="219456"/>
          </a:xfrm>
          <a:prstGeom prst="roundRect">
            <a:avLst>
              <a:gd name="adj" fmla="val 33333"/>
            </a:avLst>
          </a:prstGeom>
          <a:solidFill>
            <a:srgbClr val="FEE08B"/>
          </a:solidFill>
          <a:ln w="12700">
            <a:solidFill>
              <a:srgbClr val="FEE08B"/>
            </a:solidFill>
            <a:prstDash val="solid"/>
          </a:ln>
        </p:spPr>
      </p:sp>
      <p:sp>
        <p:nvSpPr>
          <p:cNvPr id="36" name="Text 34"/>
          <p:cNvSpPr txBox="1"/>
          <p:nvPr/>
        </p:nvSpPr>
        <p:spPr>
          <a:xfrm>
            <a:off x="3280562"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12.04</a:t>
            </a:r>
            <a:endParaRPr lang="en-US" sz="1000" dirty="0"/>
          </a:p>
        </p:txBody>
      </p:sp>
      <p:sp>
        <p:nvSpPr>
          <p:cNvPr id="37" name="code Rust"/>
          <p:cNvSpPr txBox="1"/>
          <p:nvPr/>
        </p:nvSpPr>
        <p:spPr>
          <a:xfrm>
            <a:off x="685800" y="4046220"/>
            <a:ext cx="3326282" cy="980694"/>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f32</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38" name="code card Swift"/>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Swift</a:t>
            </a:r>
            <a:pPr indent="0" marL="0">
              <a:buNone/>
            </a:pPr>
            <a:r>
              <a:rPr lang="en-US" sz="800" dirty="0">
                <a:solidFill>
                  <a:srgbClr val="8B949E"/>
                </a:solidFill>
              </a:rPr>
              <a:t>   cstest.swift</a:t>
            </a:r>
            <a:endParaRPr lang="en-US" sz="1200" dirty="0"/>
          </a:p>
        </p:txBody>
      </p:sp>
      <p:sp>
        <p:nvSpPr>
          <p:cNvPr id="40" name="chip Swift"/>
          <p:cNvSpPr/>
          <p:nvPr/>
        </p:nvSpPr>
        <p:spPr>
          <a:xfrm>
            <a:off x="7027469" y="3781044"/>
            <a:ext cx="731520" cy="219456"/>
          </a:xfrm>
          <a:prstGeom prst="roundRect">
            <a:avLst>
              <a:gd name="adj" fmla="val 33333"/>
            </a:avLst>
          </a:prstGeom>
          <a:solidFill>
            <a:srgbClr val="FDAE61"/>
          </a:solidFill>
          <a:ln w="12700">
            <a:solidFill>
              <a:srgbClr val="FDAE61"/>
            </a:solidFill>
            <a:prstDash val="solid"/>
          </a:ln>
        </p:spPr>
      </p:sp>
      <p:sp>
        <p:nvSpPr>
          <p:cNvPr id="41" name="Text 39"/>
          <p:cNvSpPr txBox="1"/>
          <p:nvPr/>
        </p:nvSpPr>
        <p:spPr>
          <a:xfrm>
            <a:off x="7027469"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18.14</a:t>
            </a:r>
            <a:endParaRPr lang="en-US" sz="1000" dirty="0"/>
          </a:p>
        </p:txBody>
      </p:sp>
      <p:sp>
        <p:nvSpPr>
          <p:cNvPr id="42" name="code Swift"/>
          <p:cNvSpPr txBox="1"/>
          <p:nvPr/>
        </p:nvSpPr>
        <p:spPr>
          <a:xfrm>
            <a:off x="4432706" y="4046220"/>
            <a:ext cx="3326282" cy="980694"/>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D2A8FF"/>
                </a:solidFill>
                <a:latin typeface="Courier New" pitchFamily="34" charset="0"/>
                <a:ea typeface="Courier New" pitchFamily="34" charset="-122"/>
                <a:cs typeface="Courier New" pitchFamily="34" charset="-120"/>
              </a:rPr>
              <a:t>Subr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43" name="code card JavaScript (Node.j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JavaScript (Node.js)</a:t>
            </a:r>
            <a:pPr indent="0" marL="0">
              <a:buNone/>
            </a:pPr>
            <a:r>
              <a:rPr lang="en-US" sz="800" dirty="0">
                <a:solidFill>
                  <a:srgbClr val="8B949E"/>
                </a:solidFill>
              </a:rPr>
              <a:t>   cjstest.js</a:t>
            </a:r>
            <a:endParaRPr lang="en-US" sz="1200" dirty="0"/>
          </a:p>
        </p:txBody>
      </p:sp>
      <p:sp>
        <p:nvSpPr>
          <p:cNvPr id="45" name="chip JavaScript (Node.js)"/>
          <p:cNvSpPr/>
          <p:nvPr/>
        </p:nvSpPr>
        <p:spPr>
          <a:xfrm>
            <a:off x="10774375" y="3781044"/>
            <a:ext cx="731520" cy="219456"/>
          </a:xfrm>
          <a:prstGeom prst="roundRect">
            <a:avLst>
              <a:gd name="adj" fmla="val 33333"/>
            </a:avLst>
          </a:prstGeom>
          <a:solidFill>
            <a:srgbClr val="FDAE61"/>
          </a:solidFill>
          <a:ln w="12700">
            <a:solidFill>
              <a:srgbClr val="FDAE61"/>
            </a:solidFill>
            <a:prstDash val="solid"/>
          </a:ln>
        </p:spPr>
      </p:sp>
      <p:sp>
        <p:nvSpPr>
          <p:cNvPr id="46" name="Text 44"/>
          <p:cNvSpPr txBox="1"/>
          <p:nvPr/>
        </p:nvSpPr>
        <p:spPr>
          <a:xfrm>
            <a:off x="10774375"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25.88</a:t>
            </a:r>
            <a:endParaRPr lang="en-US" sz="1000" dirty="0"/>
          </a:p>
        </p:txBody>
      </p:sp>
      <p:sp>
        <p:nvSpPr>
          <p:cNvPr id="47" name="code JavaScript (Node.js)"/>
          <p:cNvSpPr txBox="1"/>
          <p:nvPr/>
        </p:nvSpPr>
        <p:spPr>
          <a:xfrm>
            <a:off x="8179613" y="4046220"/>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subr(inp,nx,ny,out)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800" dirty="0">
                <a:solidFill>
                  <a:srgbClr val="8B949E"/>
                </a:solidFill>
              </a:rPr>
              <a:t>   csubouter.r</a:t>
            </a:r>
            <a:endParaRPr lang="en-US" sz="1200" dirty="0"/>
          </a:p>
        </p:txBody>
      </p:sp>
      <p:sp>
        <p:nvSpPr>
          <p:cNvPr id="50" name="chip R (outer)"/>
          <p:cNvSpPr/>
          <p:nvPr/>
        </p:nvSpPr>
        <p:spPr>
          <a:xfrm>
            <a:off x="3280562" y="5237226"/>
            <a:ext cx="731520" cy="219456"/>
          </a:xfrm>
          <a:prstGeom prst="roundRect">
            <a:avLst>
              <a:gd name="adj" fmla="val 33333"/>
            </a:avLst>
          </a:prstGeom>
          <a:solidFill>
            <a:srgbClr val="F46D43"/>
          </a:solidFill>
          <a:ln w="12700">
            <a:solidFill>
              <a:srgbClr val="F46D43"/>
            </a:solidFill>
            <a:prstDash val="solid"/>
          </a:ln>
        </p:spPr>
      </p:sp>
      <p:sp>
        <p:nvSpPr>
          <p:cNvPr id="51" name="Text 49"/>
          <p:cNvSpPr txBox="1"/>
          <p:nvPr/>
        </p:nvSpPr>
        <p:spPr>
          <a:xfrm>
            <a:off x="3280562" y="5237226"/>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02402"/>
            <a:ext cx="3326282" cy="980694"/>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PDL element lookup (-&gt;at, -&gt;set)"/>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PDL element lookup (-&gt;at, -&gt;set)</a:t>
            </a:r>
            <a:pPr indent="0" marL="0">
              <a:buNone/>
            </a:pPr>
            <a:r>
              <a:rPr lang="en-US" sz="800" dirty="0">
                <a:solidFill>
                  <a:srgbClr val="8B949E"/>
                </a:solidFill>
              </a:rPr>
              <a:t>   csubpdl.pl</a:t>
            </a:r>
            <a:endParaRPr lang="en-US" sz="1200" dirty="0"/>
          </a:p>
        </p:txBody>
      </p:sp>
      <p:sp>
        <p:nvSpPr>
          <p:cNvPr id="55" name="chip PDL element lookup (-&gt;at, -&gt;set)"/>
          <p:cNvSpPr/>
          <p:nvPr/>
        </p:nvSpPr>
        <p:spPr>
          <a:xfrm>
            <a:off x="7027469" y="5237226"/>
            <a:ext cx="731520" cy="219456"/>
          </a:xfrm>
          <a:prstGeom prst="roundRect">
            <a:avLst>
              <a:gd name="adj" fmla="val 33333"/>
            </a:avLst>
          </a:prstGeom>
          <a:solidFill>
            <a:srgbClr val="D73027"/>
          </a:solidFill>
          <a:ln w="12700">
            <a:solidFill>
              <a:srgbClr val="D73027"/>
            </a:solidFill>
            <a:prstDash val="solid"/>
          </a:ln>
        </p:spPr>
      </p:sp>
      <p:sp>
        <p:nvSpPr>
          <p:cNvPr id="56" name="Text 54"/>
          <p:cNvSpPr txBox="1"/>
          <p:nvPr/>
        </p:nvSpPr>
        <p:spPr>
          <a:xfrm>
            <a:off x="7027469"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9,207</a:t>
            </a:r>
            <a:endParaRPr lang="en-US" sz="1000" dirty="0"/>
          </a:p>
        </p:txBody>
      </p:sp>
      <p:sp>
        <p:nvSpPr>
          <p:cNvPr id="57" name="code PDL element lookup (-&gt;at, -&gt;set)"/>
          <p:cNvSpPr txBox="1"/>
          <p:nvPr/>
        </p:nvSpPr>
        <p:spPr>
          <a:xfrm>
            <a:off x="4432706" y="5502402"/>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800" dirty="0">
                <a:solidFill>
                  <a:srgbClr val="8B949E"/>
                </a:solidFill>
              </a:rPr>
              <a:t>   ctest.tcl</a:t>
            </a:r>
            <a:endParaRPr lang="en-US" sz="1200" dirty="0"/>
          </a:p>
        </p:txBody>
      </p:sp>
      <p:sp>
        <p:nvSpPr>
          <p:cNvPr id="60" name="chip Tcl"/>
          <p:cNvSpPr/>
          <p:nvPr/>
        </p:nvSpPr>
        <p:spPr>
          <a:xfrm>
            <a:off x="10774375" y="5237226"/>
            <a:ext cx="731520" cy="219456"/>
          </a:xfrm>
          <a:prstGeom prst="roundRect">
            <a:avLst>
              <a:gd name="adj" fmla="val 33333"/>
            </a:avLst>
          </a:prstGeom>
          <a:solidFill>
            <a:srgbClr val="D73027"/>
          </a:solidFill>
          <a:ln w="12700">
            <a:solidFill>
              <a:srgbClr val="D73027"/>
            </a:solidFill>
            <a:prstDash val="solid"/>
          </a:ln>
        </p:spPr>
      </p:sp>
      <p:sp>
        <p:nvSpPr>
          <p:cNvPr id="61" name="Text 59"/>
          <p:cNvSpPr txBox="1"/>
          <p:nvPr/>
        </p:nvSpPr>
        <p:spPr>
          <a:xfrm>
            <a:off x="10774375"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02402"/>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families new in 2026 labelled in red">    </p:cNvPr>
          <p:cNvPicPr>
            <a:picLocks noChangeAspect="1"/>
          </p:cNvPicPr>
          <p:nvPr/>
        </p:nvPicPr>
        <p:blipFill>
          <a:blip r:embed="rId1"/>
          <a:stretch>
            <a:fillRect/>
          </a:stretch>
        </p:blipFill>
        <p:spPr>
          <a:xfrm>
            <a:off x="548640" y="1188720"/>
            <a:ext cx="5067650" cy="5029200"/>
          </a:xfrm>
          <a:prstGeom prst="rect">
            <a:avLst/>
          </a:prstGeom>
        </p:spPr>
      </p:pic>
      <p:sp>
        <p:nvSpPr>
          <p:cNvPr id="4" name="Text 1"/>
          <p:cNvSpPr txBox="1"/>
          <p:nvPr/>
        </p:nvSpPr>
        <p:spPr>
          <a:xfrm>
            <a:off x="5982050" y="1280160"/>
            <a:ext cx="5661006"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 Red labels: languages new in 2026.</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2026-11-01T03:26:56Z</dcterms:created>
  <dcterms:modified xsi:type="dcterms:W3CDTF">2026-11-01T03:26:56Z</dcterms:modified>
</cp:coreProperties>
</file>