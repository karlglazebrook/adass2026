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a7ff3481-cbea-fbac-b2da-98050de1ff56}">
          <p14:sldIdLst>
            <p14:sldId id="256"/>
            <p14:sldId id="257"/>
            <p14:sldId id="258"/>
            <p14:sldId id="259"/>
          </p14:sldIdLst>
        </p14:section>
        <p14:section name="Results" id="{891c0c4d-6353-3db5-b2ef-c2bc99d610ee}">
          <p14:sldIdLst>
            <p14:sldId id="260"/>
            <p14:sldId id="261"/>
            <p14:sldId id="262"/>
            <p14:sldId id="263"/>
            <p14:sldId id="264"/>
            <p14:sldId id="265"/>
          </p14:sldIdLst>
        </p14:section>
        <p14:section name="The LLM" id="{6326985b-a0c6-cb03-3556-3567cc149514}">
          <p14:sldIdLst>
            <p14:sldId id="266"/>
            <p14:sldId id="267"/>
            <p14:sldId id="268"/>
            <p14:sldId id="269"/>
          </p14:sldIdLst>
        </p14:section>
        <p14:section name="Backup" id="{1e63c49b-f193-84a9-97ff-56aa5f05bebf}">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raw: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raw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raw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104 tests passing on this Mac. By day five, 29 families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29 families, 131 variants, all passing in run22, the frozen reference. The range is 4.8e5 rather than Keith's million, partly from the new reference and partly the PDL correction. Most compiled languages pile up in tier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Twelve of the 131 tests, each pulled verbatim from its source file in the repo (file names on the cards) and highlighted; the chip is its run22 time relative to the assembler, top left. The same element-by-element kernel throughout, except J, PDL and R, which say it as one whole-array expression. Assembler: comments stripped and the middle of the loop elided to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raw test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It generates; the author curates. INTERCAL is the joke, not evidence: C-INTERCAL's arm64 va_arg bug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@numba.jit before Cython or C. PyPy only for pure Python. Don't iterate over numpy elements. In PDL, use -&gt;at and -&gt;set. Apple Silicon is settled. An 'arm64 penalty' would be a toolchain with no native arm64 build, running translated by Rosetta 2, or a compiler that generates weaker code for arm64 than for x86. Here only Python 2.7 (an x86_64 conda build) runs under Rosetta; INTERCAL's runtime failed outright on an arm64 calling-convention bug.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more kernels, none repeated from the main code wall, each pulled verbatim from its source file and timed in run22. PDL raw is the corrected -&gt;at/-&gt;set form. The Octave card shows its index vectors built once, outside the timed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the one-line “arrays” forms for PDL and numpy; he credits both in his write-up. He already doubted his PDL raw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303520" y="4206240"/>
            <a:ext cx="3429000" cy="2011680"/>
          </a:xfrm>
          <a:prstGeom prst="rect">
            <a:avLst/>
          </a:prstGeom>
          <a:noFill/>
          <a:ln/>
        </p:spPr>
        <p:txBody>
          <a:bodyPr wrap="square" lIns="0" tIns="0" rIns="0" bIns="0" rtlCol="0" anchor="ctr"/>
          <a:lstStyle/>
          <a:p>
            <a:pPr indent="0" marL="0">
              <a:buNone/>
            </a:pPr>
            <a:r>
              <a:rPr lang="en-US" sz="1400" dirty="0">
                <a:solidFill>
                  <a:srgbClr val="AEB8CC"/>
                </a:solidFill>
                <a:latin typeface="Courier New" pitchFamily="34" charset="0"/>
                <a:ea typeface="Courier New" pitchFamily="34" charset="-122"/>
                <a:cs typeface="Courier New" pitchFamily="34" charset="-120"/>
              </a:rPr>
              <a:t># PDL “arrays”, 2019</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$Out .= $In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sequence($Nx)</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sequence($Ny)-&gt;dummy(0,1);</a:t>
            </a:r>
            <a:endParaRPr lang="en-US" sz="1400" dirty="0"/>
          </a:p>
        </p:txBody>
      </p:sp>
      <p:sp>
        <p:nvSpPr>
          <p:cNvPr id="20" name="Text 18"/>
          <p:cNvSpPr txBox="1"/>
          <p:nvPr/>
        </p:nvSpPr>
        <p:spPr>
          <a:xfrm>
            <a:off x="9189720" y="4251960"/>
            <a:ext cx="2453335" cy="1508760"/>
          </a:xfrm>
          <a:prstGeom prst="rect">
            <a:avLst/>
          </a:prstGeom>
          <a:noFill/>
          <a:ln/>
        </p:spPr>
        <p:txBody>
          <a:bodyPr wrap="square" lIns="0" tIns="0" rIns="0" bIns="0" rtlCol="0" anchor="t"/>
          <a:lstStyle/>
          <a:p>
            <a:pPr indent="0" marL="0">
              <a:spcAft>
                <a:spcPts val="400"/>
              </a:spcAft>
              <a:buNone/>
            </a:pPr>
            <a:r>
              <a:rPr lang="en-US" sz="1600" i="1" dirty="0">
                <a:solidFill>
                  <a:schemeClr val="tx2"/>
                </a:solidFill>
              </a:rPr>
              <a:t>“The improvements you get over C are marginal and not worth the effort.”</a:t>
            </a:r>
            <a:endParaRPr lang="en-US" sz="1600" dirty="0"/>
          </a:p>
          <a:p>
            <a:pPr indent="0" marL="0">
              <a:spcAft>
                <a:spcPts val="400"/>
              </a:spcAft>
              <a:buNone/>
            </a:pPr>
            <a:r>
              <a:rPr lang="en-US" sz="1100" dirty="0">
                <a:solidFill>
                  <a:srgbClr val="5A6275"/>
                </a:solidFill>
              </a:rPr>
              <a:t>Keith, on his assembler kernel (email, Jan 2024)</a:t>
            </a:r>
            <a:endParaRPr lang="en-US" sz="1600" dirty="0"/>
          </a:p>
        </p:txBody>
      </p:sp>
      <p:sp>
        <p:nvSpPr>
          <p:cNvPr id="21" name="Text 19"/>
          <p:cNvSpPr txBox="1"/>
          <p:nvPr/>
        </p:nvSpPr>
        <p:spPr>
          <a:xfrm>
            <a:off x="9189720" y="5852160"/>
            <a:ext cx="245333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 famili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29</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 families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104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29</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 families</a:t>
            </a:r>
            <a:endParaRPr lang="en-US" sz="1600" dirty="0"/>
          </a:p>
          <a:p>
            <a:pPr indent="0" marL="0">
              <a:buNone/>
            </a:pPr>
            <a:r>
              <a:rPr lang="en-US" sz="1400" dirty="0">
                <a:solidFill>
                  <a:srgbClr val="5A6275"/>
                </a:solidFill>
              </a:rPr>
              <a:t>16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fig6 histogram" descr="Histogram of all 131 relative times on a log scale, coloured by the eight tiers">    </p:cNvPr>
          <p:cNvPicPr>
            <a:picLocks noChangeAspect="1"/>
          </p:cNvPicPr>
          <p:nvPr/>
        </p:nvPicPr>
        <p:blipFill>
          <a:blip r:embed="rId1"/>
          <a:stretch>
            <a:fillRect/>
          </a:stretch>
        </p:blipFill>
        <p:spPr>
          <a:xfrm>
            <a:off x="4754880" y="1234440"/>
            <a:ext cx="6888175" cy="3733087"/>
          </a:xfrm>
          <a:prstGeom prst="rect">
            <a:avLst/>
          </a:prstGeom>
        </p:spPr>
      </p:pic>
      <p:sp>
        <p:nvSpPr>
          <p:cNvPr id="10" name="Text 7"/>
          <p:cNvSpPr txBox="1"/>
          <p:nvPr/>
        </p:nvSpPr>
        <p:spPr>
          <a:xfrm>
            <a:off x="4754880" y="5058967"/>
            <a:ext cx="6888175" cy="548640"/>
          </a:xfrm>
          <a:prstGeom prst="rect">
            <a:avLst/>
          </a:prstGeom>
          <a:noFill/>
          <a:ln/>
        </p:spPr>
        <p:txBody>
          <a:bodyPr wrap="square" lIns="0" tIns="0" rIns="0" bIns="0" rtlCol="0" anchor="t"/>
          <a:lstStyle/>
          <a:p>
            <a:pPr indent="0" marL="0">
              <a:buNone/>
            </a:pPr>
            <a:r>
              <a:rPr lang="en-US" sz="1400" i="1" dirty="0">
                <a:solidFill>
                  <a:srgbClr val="5A6275"/>
                </a:solidFill>
              </a:rPr>
              <a:t>1.00 = Keith's hand-written arm64 NEON kernel. Tier 3 (2.5–7×) is the crowd: 41 of 131.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many languages: a dozen of the 131</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900" dirty="0">
                <a:solidFill>
                  <a:srgbClr val="8B949E"/>
                </a:solidFill>
              </a:rPr>
              <a:t>   cnrsub_arm.s</a:t>
            </a:r>
            <a:endParaRPr lang="en-US" sz="1200" dirty="0"/>
          </a:p>
        </p:txBody>
      </p:sp>
      <p:sp>
        <p:nvSpPr>
          <p:cNvPr id="5" name="chip Assembler (arm64 NEON)"/>
          <p:cNvSpPr/>
          <p:nvPr/>
        </p:nvSpPr>
        <p:spPr>
          <a:xfrm>
            <a:off x="3280562" y="877824"/>
            <a:ext cx="731520" cy="228600"/>
          </a:xfrm>
          <a:prstGeom prst="roundRect">
            <a:avLst>
              <a:gd name="adj" fmla="val 32000"/>
            </a:avLst>
          </a:prstGeom>
          <a:solidFill>
            <a:srgbClr val="1A9850"/>
          </a:solidFill>
          <a:ln w="12700">
            <a:solidFill>
              <a:srgbClr val="1A9850"/>
            </a:solidFill>
            <a:prstDash val="solid"/>
          </a:ln>
        </p:spPr>
      </p:sp>
      <p:sp>
        <p:nvSpPr>
          <p:cNvPr id="6" name="Text 4"/>
          <p:cNvSpPr txBox="1"/>
          <p:nvPr/>
        </p:nvSpPr>
        <p:spPr>
          <a:xfrm>
            <a:off x="3280562" y="877824"/>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61288"/>
            <a:ext cx="3326282" cy="962406"/>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Fortran"/>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900" dirty="0">
                <a:solidFill>
                  <a:srgbClr val="8B949E"/>
                </a:solidFill>
              </a:rPr>
              <a:t>   cfsub.f</a:t>
            </a:r>
            <a:endParaRPr lang="en-US" sz="1200" dirty="0"/>
          </a:p>
        </p:txBody>
      </p:sp>
      <p:sp>
        <p:nvSpPr>
          <p:cNvPr id="10" name="chip Fortran"/>
          <p:cNvSpPr/>
          <p:nvPr/>
        </p:nvSpPr>
        <p:spPr>
          <a:xfrm>
            <a:off x="7027469" y="877824"/>
            <a:ext cx="731520" cy="228600"/>
          </a:xfrm>
          <a:prstGeom prst="roundRect">
            <a:avLst>
              <a:gd name="adj" fmla="val 32000"/>
            </a:avLst>
          </a:prstGeom>
          <a:solidFill>
            <a:srgbClr val="66BD63"/>
          </a:solidFill>
          <a:ln w="12700">
            <a:solidFill>
              <a:srgbClr val="66BD63"/>
            </a:solidFill>
            <a:prstDash val="solid"/>
          </a:ln>
        </p:spPr>
      </p:sp>
      <p:sp>
        <p:nvSpPr>
          <p:cNvPr id="11" name="Text 9"/>
          <p:cNvSpPr txBox="1"/>
          <p:nvPr/>
        </p:nvSpPr>
        <p:spPr>
          <a:xfrm>
            <a:off x="7027469"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2" name="code Fortran"/>
          <p:cNvSpPr txBox="1"/>
          <p:nvPr/>
        </p:nvSpPr>
        <p:spPr>
          <a:xfrm>
            <a:off x="4432706" y="1161288"/>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3" name="code card Python + numba"/>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900" dirty="0">
                <a:solidFill>
                  <a:srgbClr val="8B949E"/>
                </a:solidFill>
              </a:rPr>
              <a:t>   csubnp-numba.py</a:t>
            </a:r>
            <a:endParaRPr lang="en-US" sz="1200" dirty="0"/>
          </a:p>
        </p:txBody>
      </p:sp>
      <p:sp>
        <p:nvSpPr>
          <p:cNvPr id="15" name="chip Python + numba"/>
          <p:cNvSpPr/>
          <p:nvPr/>
        </p:nvSpPr>
        <p:spPr>
          <a:xfrm>
            <a:off x="10774375" y="877824"/>
            <a:ext cx="731520" cy="228600"/>
          </a:xfrm>
          <a:prstGeom prst="roundRect">
            <a:avLst>
              <a:gd name="adj" fmla="val 32000"/>
            </a:avLst>
          </a:prstGeom>
          <a:solidFill>
            <a:srgbClr val="A6D96A"/>
          </a:solidFill>
          <a:ln w="12700">
            <a:solidFill>
              <a:srgbClr val="A6D96A"/>
            </a:solidFill>
            <a:prstDash val="solid"/>
          </a:ln>
        </p:spPr>
      </p:sp>
      <p:sp>
        <p:nvSpPr>
          <p:cNvPr id="16" name="Text 14"/>
          <p:cNvSpPr txBox="1"/>
          <p:nvPr/>
        </p:nvSpPr>
        <p:spPr>
          <a:xfrm>
            <a:off x="10774375"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17" name="code Python + numba"/>
          <p:cNvSpPr txBox="1"/>
          <p:nvPr/>
        </p:nvSpPr>
        <p:spPr>
          <a:xfrm>
            <a:off x="8179613" y="1161288"/>
            <a:ext cx="3326282" cy="962406"/>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18" name="code card Nim"/>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Nim</a:t>
            </a:r>
            <a:pPr indent="0" marL="0">
              <a:buNone/>
            </a:pPr>
            <a:r>
              <a:rPr lang="en-US" sz="900" dirty="0">
                <a:solidFill>
                  <a:srgbClr val="8B949E"/>
                </a:solidFill>
              </a:rPr>
              <a:t>   csubraw.nim</a:t>
            </a:r>
            <a:endParaRPr lang="en-US" sz="1200" dirty="0"/>
          </a:p>
        </p:txBody>
      </p:sp>
      <p:sp>
        <p:nvSpPr>
          <p:cNvPr id="20" name="chip Nim"/>
          <p:cNvSpPr/>
          <p:nvPr/>
        </p:nvSpPr>
        <p:spPr>
          <a:xfrm>
            <a:off x="3280562" y="2334006"/>
            <a:ext cx="731520" cy="228600"/>
          </a:xfrm>
          <a:prstGeom prst="roundRect">
            <a:avLst>
              <a:gd name="adj" fmla="val 32000"/>
            </a:avLst>
          </a:prstGeom>
          <a:solidFill>
            <a:srgbClr val="A6D96A"/>
          </a:solidFill>
          <a:ln w="12700">
            <a:solidFill>
              <a:srgbClr val="A6D96A"/>
            </a:solidFill>
            <a:prstDash val="solid"/>
          </a:ln>
        </p:spPr>
      </p:sp>
      <p:sp>
        <p:nvSpPr>
          <p:cNvPr id="21" name="Text 19"/>
          <p:cNvSpPr txBox="1"/>
          <p:nvPr/>
        </p:nvSpPr>
        <p:spPr>
          <a:xfrm>
            <a:off x="3280562"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685800" y="2617470"/>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var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var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seq</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outp</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inp</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float64(ix)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fiy</a:t>
            </a:r>
            <a:endParaRPr lang="en-US" sz="75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900" dirty="0">
                <a:solidFill>
                  <a:srgbClr val="8B949E"/>
                </a:solidFill>
              </a:rPr>
              <a:t>   csub.jl</a:t>
            </a:r>
            <a:endParaRPr lang="en-US" sz="1200" dirty="0"/>
          </a:p>
        </p:txBody>
      </p:sp>
      <p:sp>
        <p:nvSpPr>
          <p:cNvPr id="25" name="chip Julia"/>
          <p:cNvSpPr/>
          <p:nvPr/>
        </p:nvSpPr>
        <p:spPr>
          <a:xfrm>
            <a:off x="7027469" y="2334006"/>
            <a:ext cx="731520" cy="228600"/>
          </a:xfrm>
          <a:prstGeom prst="roundRect">
            <a:avLst>
              <a:gd name="adj" fmla="val 32000"/>
            </a:avLst>
          </a:prstGeom>
          <a:solidFill>
            <a:srgbClr val="A6D96A"/>
          </a:solidFill>
          <a:ln w="12700">
            <a:solidFill>
              <a:srgbClr val="A6D96A"/>
            </a:solidFill>
            <a:prstDash val="solid"/>
          </a:ln>
        </p:spPr>
      </p:sp>
      <p:sp>
        <p:nvSpPr>
          <p:cNvPr id="26" name="Text 24"/>
          <p:cNvSpPr txBox="1"/>
          <p:nvPr/>
        </p:nvSpPr>
        <p:spPr>
          <a:xfrm>
            <a:off x="7027469"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617470"/>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Go"/>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Go</a:t>
            </a:r>
            <a:pPr indent="0" marL="0">
              <a:buNone/>
            </a:pPr>
            <a:r>
              <a:rPr lang="en-US" sz="900" dirty="0">
                <a:solidFill>
                  <a:srgbClr val="8B949E"/>
                </a:solidFill>
              </a:rPr>
              <a:t>   csubraw.go</a:t>
            </a:r>
            <a:endParaRPr lang="en-US" sz="1200" dirty="0"/>
          </a:p>
        </p:txBody>
      </p:sp>
      <p:sp>
        <p:nvSpPr>
          <p:cNvPr id="30" name="chip Go"/>
          <p:cNvSpPr/>
          <p:nvPr/>
        </p:nvSpPr>
        <p:spPr>
          <a:xfrm>
            <a:off x="10774375" y="2334006"/>
            <a:ext cx="731520" cy="228600"/>
          </a:xfrm>
          <a:prstGeom prst="roundRect">
            <a:avLst>
              <a:gd name="adj" fmla="val 32000"/>
            </a:avLst>
          </a:prstGeom>
          <a:solidFill>
            <a:srgbClr val="A6D96A"/>
          </a:solidFill>
          <a:ln w="12700">
            <a:solidFill>
              <a:srgbClr val="A6D96A"/>
            </a:solidFill>
            <a:prstDash val="solid"/>
          </a:ln>
        </p:spPr>
      </p:sp>
      <p:sp>
        <p:nvSpPr>
          <p:cNvPr id="31" name="Text 29"/>
          <p:cNvSpPr txBox="1"/>
          <p:nvPr/>
        </p:nvSpPr>
        <p:spPr>
          <a:xfrm>
            <a:off x="10774375"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32" name="code Go"/>
          <p:cNvSpPr txBox="1"/>
          <p:nvPr/>
        </p:nvSpPr>
        <p:spPr>
          <a:xfrm>
            <a:off x="8179613" y="2617470"/>
            <a:ext cx="3326282" cy="962406"/>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subr(in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float64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float64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float64(ix)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float64(iy)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33" name="code card LuaJI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LuaJIT</a:t>
            </a:r>
            <a:pPr indent="0" marL="0">
              <a:buNone/>
            </a:pPr>
            <a:r>
              <a:rPr lang="en-US" sz="900" dirty="0">
                <a:solidFill>
                  <a:srgbClr val="8B949E"/>
                </a:solidFill>
              </a:rPr>
              <a:t>   csubraw.lua</a:t>
            </a:r>
            <a:endParaRPr lang="en-US" sz="1200" dirty="0"/>
          </a:p>
        </p:txBody>
      </p:sp>
      <p:sp>
        <p:nvSpPr>
          <p:cNvPr id="35" name="chip LuaJIT"/>
          <p:cNvSpPr/>
          <p:nvPr/>
        </p:nvSpPr>
        <p:spPr>
          <a:xfrm>
            <a:off x="3280562" y="3790188"/>
            <a:ext cx="731520" cy="228600"/>
          </a:xfrm>
          <a:prstGeom prst="roundRect">
            <a:avLst>
              <a:gd name="adj" fmla="val 32000"/>
            </a:avLst>
          </a:prstGeom>
          <a:solidFill>
            <a:srgbClr val="FEE08B"/>
          </a:solidFill>
          <a:ln w="12700">
            <a:solidFill>
              <a:srgbClr val="FEE08B"/>
            </a:solidFill>
            <a:prstDash val="solid"/>
          </a:ln>
        </p:spPr>
      </p:sp>
      <p:sp>
        <p:nvSpPr>
          <p:cNvPr id="36" name="Text 34"/>
          <p:cNvSpPr txBox="1"/>
          <p:nvPr/>
        </p:nvSpPr>
        <p:spPr>
          <a:xfrm>
            <a:off x="3280562"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37" name="code LuaJIT"/>
          <p:cNvSpPr txBox="1"/>
          <p:nvPr/>
        </p:nvSpPr>
        <p:spPr>
          <a:xfrm>
            <a:off x="685800" y="4073652"/>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function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local</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p:txBody>
      </p:sp>
      <p:sp>
        <p:nvSpPr>
          <p:cNvPr id="38" name="code card J"/>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a:t>
            </a:r>
            <a:pPr indent="0" marL="0">
              <a:buNone/>
            </a:pPr>
            <a:r>
              <a:rPr lang="en-US" sz="900" dirty="0">
                <a:solidFill>
                  <a:srgbClr val="8B949E"/>
                </a:solidFill>
              </a:rPr>
              <a:t>   csubraw.ijs</a:t>
            </a:r>
            <a:endParaRPr lang="en-US" sz="1200" dirty="0"/>
          </a:p>
        </p:txBody>
      </p:sp>
      <p:sp>
        <p:nvSpPr>
          <p:cNvPr id="40" name="chip J"/>
          <p:cNvSpPr/>
          <p:nvPr/>
        </p:nvSpPr>
        <p:spPr>
          <a:xfrm>
            <a:off x="7027469" y="3790188"/>
            <a:ext cx="731520" cy="228600"/>
          </a:xfrm>
          <a:prstGeom prst="roundRect">
            <a:avLst>
              <a:gd name="adj" fmla="val 32000"/>
            </a:avLst>
          </a:prstGeom>
          <a:solidFill>
            <a:srgbClr val="FEE08B"/>
          </a:solidFill>
          <a:ln w="12700">
            <a:solidFill>
              <a:srgbClr val="FEE08B"/>
            </a:solidFill>
            <a:prstDash val="solid"/>
          </a:ln>
        </p:spPr>
      </p:sp>
      <p:sp>
        <p:nvSpPr>
          <p:cNvPr id="41" name="Text 39"/>
          <p:cNvSpPr txBox="1"/>
          <p:nvPr/>
        </p:nvSpPr>
        <p:spPr>
          <a:xfrm>
            <a:off x="7027469"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42" name="code J"/>
          <p:cNvSpPr txBox="1"/>
          <p:nvPr/>
        </p:nvSpPr>
        <p:spPr>
          <a:xfrm>
            <a:off x="4432706" y="4073652"/>
            <a:ext cx="3326282" cy="962406"/>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43" name="code card PDL (array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PDL (arrays)</a:t>
            </a:r>
            <a:pPr indent="0" marL="0">
              <a:buNone/>
            </a:pPr>
            <a:r>
              <a:rPr lang="en-US" sz="900" dirty="0">
                <a:solidFill>
                  <a:srgbClr val="8B949E"/>
                </a:solidFill>
              </a:rPr>
              <a:t>   csubpdlary.pl</a:t>
            </a:r>
            <a:endParaRPr lang="en-US" sz="1200" dirty="0"/>
          </a:p>
        </p:txBody>
      </p:sp>
      <p:sp>
        <p:nvSpPr>
          <p:cNvPr id="45" name="chip PDL (arrays)"/>
          <p:cNvSpPr/>
          <p:nvPr/>
        </p:nvSpPr>
        <p:spPr>
          <a:xfrm>
            <a:off x="10774375" y="3790188"/>
            <a:ext cx="731520" cy="228600"/>
          </a:xfrm>
          <a:prstGeom prst="roundRect">
            <a:avLst>
              <a:gd name="adj" fmla="val 32000"/>
            </a:avLst>
          </a:prstGeom>
          <a:solidFill>
            <a:srgbClr val="FDAE61"/>
          </a:solidFill>
          <a:ln w="12700">
            <a:solidFill>
              <a:srgbClr val="FDAE61"/>
            </a:solidFill>
            <a:prstDash val="solid"/>
          </a:ln>
        </p:spPr>
      </p:sp>
      <p:sp>
        <p:nvSpPr>
          <p:cNvPr id="46" name="Text 44"/>
          <p:cNvSpPr txBox="1"/>
          <p:nvPr/>
        </p:nvSpPr>
        <p:spPr>
          <a:xfrm>
            <a:off x="10774375"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25.08</a:t>
            </a:r>
            <a:endParaRPr lang="en-US" sz="1000" dirty="0"/>
          </a:p>
        </p:txBody>
      </p:sp>
      <p:sp>
        <p:nvSpPr>
          <p:cNvPr id="47" name="code PDL (arrays)"/>
          <p:cNvSpPr txBox="1"/>
          <p:nvPr/>
        </p:nvSpPr>
        <p:spPr>
          <a:xfrm>
            <a:off x="8179613" y="4073652"/>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sequence(</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sequence(</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dummy(</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900" dirty="0">
                <a:solidFill>
                  <a:srgbClr val="8B949E"/>
                </a:solidFill>
              </a:rPr>
              <a:t>   csubouter.r</a:t>
            </a:r>
            <a:endParaRPr lang="en-US" sz="1200" dirty="0"/>
          </a:p>
        </p:txBody>
      </p:sp>
      <p:sp>
        <p:nvSpPr>
          <p:cNvPr id="50" name="chip R (outer)"/>
          <p:cNvSpPr/>
          <p:nvPr/>
        </p:nvSpPr>
        <p:spPr>
          <a:xfrm>
            <a:off x="3280562" y="5246370"/>
            <a:ext cx="731520" cy="228600"/>
          </a:xfrm>
          <a:prstGeom prst="roundRect">
            <a:avLst>
              <a:gd name="adj" fmla="val 32000"/>
            </a:avLst>
          </a:prstGeom>
          <a:solidFill>
            <a:srgbClr val="F46D43"/>
          </a:solidFill>
          <a:ln w="12700">
            <a:solidFill>
              <a:srgbClr val="F46D43"/>
            </a:solidFill>
            <a:prstDash val="solid"/>
          </a:ln>
        </p:spPr>
      </p:sp>
      <p:sp>
        <p:nvSpPr>
          <p:cNvPr id="51" name="Text 49"/>
          <p:cNvSpPr txBox="1"/>
          <p:nvPr/>
        </p:nvSpPr>
        <p:spPr>
          <a:xfrm>
            <a:off x="3280562"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Common Lisp (SBCL)"/>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Common Lisp (SBCL)</a:t>
            </a:r>
            <a:pPr indent="0" marL="0">
              <a:buNone/>
            </a:pPr>
            <a:r>
              <a:rPr lang="en-US" sz="900" dirty="0">
                <a:solidFill>
                  <a:srgbClr val="8B949E"/>
                </a:solidFill>
              </a:rPr>
              <a:t>   csubraw.lisp</a:t>
            </a:r>
            <a:endParaRPr lang="en-US" sz="1200" dirty="0"/>
          </a:p>
        </p:txBody>
      </p:sp>
      <p:sp>
        <p:nvSpPr>
          <p:cNvPr id="55" name="chip Common Lisp (SBCL)"/>
          <p:cNvSpPr/>
          <p:nvPr/>
        </p:nvSpPr>
        <p:spPr>
          <a:xfrm>
            <a:off x="7027469" y="5246370"/>
            <a:ext cx="731520" cy="228600"/>
          </a:xfrm>
          <a:prstGeom prst="roundRect">
            <a:avLst>
              <a:gd name="adj" fmla="val 32000"/>
            </a:avLst>
          </a:prstGeom>
          <a:solidFill>
            <a:srgbClr val="F46D43"/>
          </a:solidFill>
          <a:ln w="12700">
            <a:solidFill>
              <a:srgbClr val="F46D43"/>
            </a:solidFill>
            <a:prstDash val="solid"/>
          </a:ln>
        </p:spPr>
      </p:sp>
      <p:sp>
        <p:nvSpPr>
          <p:cNvPr id="56" name="Text 54"/>
          <p:cNvSpPr txBox="1"/>
          <p:nvPr/>
        </p:nvSpPr>
        <p:spPr>
          <a:xfrm>
            <a:off x="7027469"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167</a:t>
            </a:r>
            <a:endParaRPr lang="en-US" sz="1000" dirty="0"/>
          </a:p>
        </p:txBody>
      </p:sp>
      <p:sp>
        <p:nvSpPr>
          <p:cNvPr id="57" name="code Common Lisp (SBCL)"/>
          <p:cNvSpPr txBox="1"/>
          <p:nvPr/>
        </p:nvSpPr>
        <p:spPr>
          <a:xfrm>
            <a:off x="4432706"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(defun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in-arr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out-arr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(dotimes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(dotimes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(setf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(aref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out-arr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(aref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in-arr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900" dirty="0">
                <a:solidFill>
                  <a:srgbClr val="8B949E"/>
                </a:solidFill>
              </a:rPr>
              <a:t>   ctest.tcl</a:t>
            </a:r>
            <a:endParaRPr lang="en-US" sz="1200" dirty="0"/>
          </a:p>
        </p:txBody>
      </p:sp>
      <p:sp>
        <p:nvSpPr>
          <p:cNvPr id="60" name="chip Tcl"/>
          <p:cNvSpPr/>
          <p:nvPr/>
        </p:nvSpPr>
        <p:spPr>
          <a:xfrm>
            <a:off x="10774375" y="5246370"/>
            <a:ext cx="731520" cy="228600"/>
          </a:xfrm>
          <a:prstGeom prst="roundRect">
            <a:avLst>
              <a:gd name="adj" fmla="val 32000"/>
            </a:avLst>
          </a:prstGeom>
          <a:solidFill>
            <a:srgbClr val="D73027"/>
          </a:solidFill>
          <a:ln w="12700">
            <a:solidFill>
              <a:srgbClr val="D73027"/>
            </a:solidFill>
            <a:prstDash val="solid"/>
          </a:ln>
        </p:spPr>
      </p:sp>
      <p:sp>
        <p:nvSpPr>
          <p:cNvPr id="61" name="Text 59"/>
          <p:cNvSpPr txBox="1"/>
          <p:nvPr/>
        </p:nvSpPr>
        <p:spPr>
          <a:xfrm>
            <a:off x="10774375" y="5246370"/>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29834"/>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raw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raw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393192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2011680"/>
            <a:ext cx="3058058" cy="822960"/>
          </a:xfrm>
          <a:prstGeom prst="roundRect">
            <a:avLst>
              <a:gd name="adj" fmla="val 8889"/>
            </a:avLst>
          </a:prstGeom>
          <a:solidFill>
            <a:srgbClr val="7A0177"/>
          </a:solidFill>
          <a:ln w="12700">
            <a:solidFill>
              <a:srgbClr val="7A0177"/>
            </a:solidFill>
            <a:prstDash val="solid"/>
          </a:ln>
        </p:spPr>
      </p:sp>
      <p:sp>
        <p:nvSpPr>
          <p:cNvPr id="6" name="Text 4"/>
          <p:cNvSpPr txBox="1"/>
          <p:nvPr/>
        </p:nvSpPr>
        <p:spPr>
          <a:xfrm>
            <a:off x="777240"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22,015</a:t>
            </a:r>
            <a:endParaRPr lang="en-US" sz="2600" dirty="0"/>
          </a:p>
        </p:txBody>
      </p:sp>
      <p:sp>
        <p:nvSpPr>
          <p:cNvPr id="7" name="oops meme panel"/>
          <p:cNvSpPr/>
          <p:nvPr/>
        </p:nvSpPr>
        <p:spPr>
          <a:xfrm>
            <a:off x="777240" y="3017520"/>
            <a:ext cx="3058058" cy="960120"/>
          </a:xfrm>
          <a:prstGeom prst="roundRect">
            <a:avLst>
              <a:gd name="adj" fmla="val 9524"/>
            </a:avLst>
          </a:prstGeom>
          <a:solidFill>
            <a:schemeClr val="bg1"/>
          </a:solidFill>
          <a:ln w="12700">
            <a:solidFill>
              <a:schemeClr val="bg1"/>
            </a:solidFill>
            <a:prstDash val="solid"/>
          </a:ln>
        </p:spPr>
      </p:sp>
      <p:pic>
        <p:nvPicPr>
          <p:cNvPr id="8" name="meme icon 1" descr="rocket">    </p:cNvPr>
          <p:cNvPicPr>
            <a:picLocks noChangeAspect="1"/>
          </p:cNvPicPr>
          <p:nvPr/>
        </p:nvPicPr>
        <p:blipFill>
          <a:blip r:embed="rId1"/>
          <a:stretch>
            <a:fillRect/>
          </a:stretch>
        </p:blipFill>
        <p:spPr>
          <a:xfrm>
            <a:off x="914400" y="3127248"/>
            <a:ext cx="347472" cy="347472"/>
          </a:xfrm>
          <a:prstGeom prst="rect">
            <a:avLst/>
          </a:prstGeom>
        </p:spPr>
      </p:pic>
      <p:sp>
        <p:nvSpPr>
          <p:cNvPr id="9" name="Text 6"/>
          <p:cNvSpPr txBox="1"/>
          <p:nvPr/>
        </p:nvSpPr>
        <p:spPr>
          <a:xfrm>
            <a:off x="1344168" y="3090672"/>
            <a:ext cx="2417978" cy="384048"/>
          </a:xfrm>
          <a:prstGeom prst="rect">
            <a:avLst/>
          </a:prstGeom>
          <a:noFill/>
          <a:ln/>
        </p:spPr>
        <p:txBody>
          <a:bodyPr wrap="square" lIns="0" tIns="0" rIns="0" bIns="0" rtlCol="0" anchor="ctr"/>
          <a:lstStyle/>
          <a:p>
            <a:pPr indent="0" marL="0">
              <a:buNone/>
            </a:pPr>
            <a:r>
              <a:rPr lang="en-US" sz="1400" b="1" dirty="0">
                <a:solidFill>
                  <a:schemeClr val="tx1"/>
                </a:solidFill>
              </a:rPr>
              <a:t>Expectation: </a:t>
            </a:r>
            <a:pPr indent="0" marL="0">
              <a:buNone/>
            </a:pPr>
            <a:r>
              <a:rPr lang="en-US" sz="1400" dirty="0">
                <a:solidFill>
                  <a:schemeClr val="tx1"/>
                </a:solidFill>
              </a:rPr>
              <a:t>fast + fast = faster</a:t>
            </a:r>
            <a:endParaRPr lang="en-US" sz="1400" dirty="0"/>
          </a:p>
        </p:txBody>
      </p:sp>
      <p:pic>
        <p:nvPicPr>
          <p:cNvPr id="10" name="meme icon 2" descr="grimacing face">    </p:cNvPr>
          <p:cNvPicPr>
            <a:picLocks noChangeAspect="1"/>
          </p:cNvPicPr>
          <p:nvPr/>
        </p:nvPicPr>
        <p:blipFill>
          <a:blip r:embed="rId2"/>
          <a:stretch>
            <a:fillRect/>
          </a:stretch>
        </p:blipFill>
        <p:spPr>
          <a:xfrm>
            <a:off x="914400" y="3547872"/>
            <a:ext cx="347472" cy="347472"/>
          </a:xfrm>
          <a:prstGeom prst="rect">
            <a:avLst/>
          </a:prstGeom>
        </p:spPr>
      </p:pic>
      <p:sp>
        <p:nvSpPr>
          <p:cNvPr id="11" name="Text 7"/>
          <p:cNvSpPr txBox="1"/>
          <p:nvPr/>
        </p:nvSpPr>
        <p:spPr>
          <a:xfrm>
            <a:off x="1344168" y="3511296"/>
            <a:ext cx="2417978" cy="384048"/>
          </a:xfrm>
          <a:prstGeom prst="rect">
            <a:avLst/>
          </a:prstGeom>
          <a:noFill/>
          <a:ln/>
        </p:spPr>
        <p:txBody>
          <a:bodyPr wrap="square" lIns="0" tIns="0" rIns="0" bIns="0" rtlCol="0" anchor="ctr"/>
          <a:lstStyle/>
          <a:p>
            <a:pPr indent="0" marL="0">
              <a:buNone/>
            </a:pPr>
            <a:r>
              <a:rPr lang="en-US" sz="1400" b="1" dirty="0">
                <a:solidFill>
                  <a:schemeClr val="tx1"/>
                </a:solidFill>
              </a:rPr>
              <a:t>Reality: </a:t>
            </a:r>
            <a:pPr indent="0" marL="0">
              <a:buNone/>
            </a:pPr>
            <a:r>
              <a:rPr lang="en-US" sz="1400" dirty="0">
                <a:solidFill>
                  <a:schemeClr val="tx1"/>
                </a:solidFill>
              </a:rPr>
              <a:t>609× slower than PyPy</a:t>
            </a:r>
            <a:endParaRPr lang="en-US" sz="1400" dirty="0"/>
          </a:p>
        </p:txBody>
      </p:sp>
      <p:sp>
        <p:nvSpPr>
          <p:cNvPr id="12" name="oops stamp"/>
          <p:cNvSpPr txBox="1"/>
          <p:nvPr/>
        </p:nvSpPr>
        <p:spPr>
          <a:xfrm rot="-720000">
            <a:off x="2692298" y="2633472"/>
            <a:ext cx="1097280" cy="457200"/>
          </a:xfrm>
          <a:prstGeom prst="rect">
            <a:avLst/>
          </a:prstGeom>
          <a:solidFill>
            <a:schemeClr val="bg1"/>
          </a:solidFill>
          <a:ln w="31750">
            <a:solidFill>
              <a:srgbClr val="D73027"/>
            </a:solidFill>
          </a:ln>
        </p:spPr>
        <p:txBody>
          <a:bodyPr wrap="square" lIns="0" tIns="0" rIns="0" bIns="0" rtlCol="0" anchor="ctr"/>
          <a:lstStyle/>
          <a:p>
            <a:pPr algn="ctr" indent="0" marL="0">
              <a:buNone/>
            </a:pPr>
            <a:r>
              <a:rPr lang="en-US" sz="2200" b="1" dirty="0">
                <a:solidFill>
                  <a:srgbClr val="D73027"/>
                </a:solidFill>
                <a:latin typeface="+mj-lt" pitchFamily="34" charset="0"/>
                <a:ea typeface="+mj-lt" pitchFamily="34" charset="-122"/>
                <a:cs typeface="+mj-lt" pitchFamily="34" charset="-120"/>
              </a:rPr>
              <a:t>OOPS!</a:t>
            </a:r>
            <a:endParaRPr lang="en-US" sz="2200" dirty="0"/>
          </a:p>
        </p:txBody>
      </p:sp>
      <p:sp>
        <p:nvSpPr>
          <p:cNvPr id="13" name="Text 9"/>
          <p:cNvSpPr txBox="1"/>
          <p:nvPr/>
        </p:nvSpPr>
        <p:spPr>
          <a:xfrm>
            <a:off x="777240" y="4114800"/>
            <a:ext cx="3058058" cy="96012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Every numpy call crosses PyPy's C-extension layer: use one or the other.</a:t>
            </a:r>
            <a:endParaRPr lang="en-US" sz="1500" dirty="0"/>
          </a:p>
        </p:txBody>
      </p:sp>
      <p:sp>
        <p:nvSpPr>
          <p:cNvPr id="14" name="surprise PDL raw, done properly"/>
          <p:cNvSpPr/>
          <p:nvPr/>
        </p:nvSpPr>
        <p:spPr>
          <a:xfrm>
            <a:off x="4338218" y="1234440"/>
            <a:ext cx="3515258" cy="3931920"/>
          </a:xfrm>
          <a:prstGeom prst="roundRect">
            <a:avLst>
              <a:gd name="adj" fmla="val 2601"/>
            </a:avLst>
          </a:prstGeom>
          <a:solidFill>
            <a:schemeClr val="bg2"/>
          </a:solidFill>
          <a:ln w="12700">
            <a:solidFill>
              <a:schemeClr val="bg2"/>
            </a:solidFill>
            <a:prstDash val="solid"/>
          </a:ln>
        </p:spPr>
      </p:sp>
      <p:sp>
        <p:nvSpPr>
          <p:cNvPr id="15" name="Text 11"/>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raw, done properly</a:t>
            </a:r>
            <a:endParaRPr lang="en-US" sz="2000" dirty="0"/>
          </a:p>
        </p:txBody>
      </p:sp>
      <p:sp>
        <p:nvSpPr>
          <p:cNvPr id="16" name="chip 103,570 → 9,207"/>
          <p:cNvSpPr/>
          <p:nvPr/>
        </p:nvSpPr>
        <p:spPr>
          <a:xfrm>
            <a:off x="4566818" y="2011680"/>
            <a:ext cx="3058058" cy="822960"/>
          </a:xfrm>
          <a:prstGeom prst="roundRect">
            <a:avLst>
              <a:gd name="adj" fmla="val 8889"/>
            </a:avLst>
          </a:prstGeom>
          <a:solidFill>
            <a:srgbClr val="D73027"/>
          </a:solidFill>
          <a:ln w="12700">
            <a:solidFill>
              <a:srgbClr val="D73027"/>
            </a:solidFill>
            <a:prstDash val="solid"/>
          </a:ln>
        </p:spPr>
      </p:sp>
      <p:sp>
        <p:nvSpPr>
          <p:cNvPr id="17" name="Text 13"/>
          <p:cNvSpPr txBox="1"/>
          <p:nvPr/>
        </p:nvSpPr>
        <p:spPr>
          <a:xfrm>
            <a:off x="4566818" y="2011680"/>
            <a:ext cx="3058058" cy="822960"/>
          </a:xfrm>
          <a:prstGeom prst="rect">
            <a:avLst/>
          </a:prstGeom>
          <a:noFill/>
          <a:ln/>
        </p:spPr>
        <p:txBody>
          <a:bodyPr wrap="square" lIns="0" tIns="0" rIns="0" bIns="0" rtlCol="0" anchor="ctr"/>
          <a:lstStyle/>
          <a:p>
            <a:pPr algn="ctr" indent="0" marL="0">
              <a:buNone/>
            </a:pPr>
            <a:r>
              <a:rPr lang="en-US" sz="2600" b="1" dirty="0">
                <a:solidFill>
                  <a:srgbClr val="FFFFFF"/>
                </a:solidFill>
              </a:rPr>
              <a:t>103,570 → 9,207</a:t>
            </a:r>
            <a:endParaRPr lang="en-US" sz="2600" dirty="0"/>
          </a:p>
        </p:txBody>
      </p:sp>
      <p:sp>
        <p:nvSpPr>
          <p:cNvPr id="18" name="Text 14"/>
          <p:cNvSpPr txBox="1"/>
          <p:nvPr/>
        </p:nvSpPr>
        <p:spPr>
          <a:xfrm>
            <a:off x="4566818" y="3063240"/>
            <a:ext cx="3058058" cy="192024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9" name="surprise Lisp type declarations"/>
          <p:cNvSpPr/>
          <p:nvPr/>
        </p:nvSpPr>
        <p:spPr>
          <a:xfrm>
            <a:off x="8127797" y="1234440"/>
            <a:ext cx="3515258" cy="3931920"/>
          </a:xfrm>
          <a:prstGeom prst="roundRect">
            <a:avLst>
              <a:gd name="adj" fmla="val 2601"/>
            </a:avLst>
          </a:prstGeom>
          <a:solidFill>
            <a:schemeClr val="bg2"/>
          </a:solidFill>
          <a:ln w="12700">
            <a:solidFill>
              <a:schemeClr val="bg2"/>
            </a:solidFill>
            <a:prstDash val="solid"/>
          </a:ln>
        </p:spPr>
      </p:sp>
      <p:sp>
        <p:nvSpPr>
          <p:cNvPr id="20" name="Text 16"/>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21" name="chip 167 → 10.6"/>
          <p:cNvSpPr/>
          <p:nvPr/>
        </p:nvSpPr>
        <p:spPr>
          <a:xfrm>
            <a:off x="8356397" y="2011680"/>
            <a:ext cx="3058058" cy="822960"/>
          </a:xfrm>
          <a:prstGeom prst="roundRect">
            <a:avLst>
              <a:gd name="adj" fmla="val 8889"/>
            </a:avLst>
          </a:prstGeom>
          <a:solidFill>
            <a:srgbClr val="FEE08B"/>
          </a:solidFill>
          <a:ln w="12700">
            <a:solidFill>
              <a:srgbClr val="FEE08B"/>
            </a:solidFill>
            <a:prstDash val="solid"/>
          </a:ln>
        </p:spPr>
      </p:sp>
      <p:sp>
        <p:nvSpPr>
          <p:cNvPr id="22" name="Text 18"/>
          <p:cNvSpPr txBox="1"/>
          <p:nvPr/>
        </p:nvSpPr>
        <p:spPr>
          <a:xfrm>
            <a:off x="8356397" y="2011680"/>
            <a:ext cx="3058058" cy="822960"/>
          </a:xfrm>
          <a:prstGeom prst="rect">
            <a:avLst/>
          </a:prstGeom>
          <a:noFill/>
          <a:ln/>
        </p:spPr>
        <p:txBody>
          <a:bodyPr wrap="square" lIns="0" tIns="0" rIns="0" bIns="0" rtlCol="0" anchor="ctr"/>
          <a:lstStyle/>
          <a:p>
            <a:pPr algn="ctr" indent="0" marL="0">
              <a:buNone/>
            </a:pPr>
            <a:r>
              <a:rPr lang="en-US" sz="2600" b="1" dirty="0">
                <a:solidFill>
                  <a:srgbClr val="1B1F2B"/>
                </a:solidFill>
              </a:rPr>
              <a:t>167 → 10.6</a:t>
            </a:r>
            <a:endParaRPr lang="en-US" sz="2600" dirty="0"/>
          </a:p>
        </p:txBody>
      </p:sp>
      <p:sp>
        <p:nvSpPr>
          <p:cNvPr id="23" name="Text 19"/>
          <p:cNvSpPr txBox="1"/>
          <p:nvPr/>
        </p:nvSpPr>
        <p:spPr>
          <a:xfrm>
            <a:off x="8356397" y="3063240"/>
            <a:ext cx="3058058" cy="192024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4" name="Text 20"/>
          <p:cNvSpPr txBox="1"/>
          <p:nvPr/>
        </p:nvSpPr>
        <p:spPr>
          <a:xfrm>
            <a:off x="548640" y="5486400"/>
            <a:ext cx="11094415" cy="54864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32588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508760"/>
            <a:ext cx="365760" cy="365760"/>
          </a:xfrm>
          <a:prstGeom prst="rect">
            <a:avLst/>
          </a:prstGeom>
        </p:spPr>
      </p:pic>
      <p:sp>
        <p:nvSpPr>
          <p:cNvPr id="5" name="Text 2"/>
          <p:cNvSpPr txBox="1"/>
          <p:nvPr/>
        </p:nvSpPr>
        <p:spPr>
          <a:xfrm>
            <a:off x="1554480" y="128016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16 new families in about four days, each kernel adapted to the language's idioms. J came out in 9 lines, with no hints from me.</a:t>
            </a:r>
            <a:endParaRPr lang="en-US" sz="1900" dirty="0"/>
          </a:p>
        </p:txBody>
      </p:sp>
      <p:sp>
        <p:nvSpPr>
          <p:cNvPr id="6" name="icon circle Environment wrangling"/>
          <p:cNvSpPr/>
          <p:nvPr/>
        </p:nvSpPr>
        <p:spPr>
          <a:xfrm>
            <a:off x="548640" y="2560320"/>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743200"/>
            <a:ext cx="365760" cy="365760"/>
          </a:xfrm>
          <a:prstGeom prst="rect">
            <a:avLst/>
          </a:prstGeom>
        </p:spPr>
      </p:pic>
      <p:sp>
        <p:nvSpPr>
          <p:cNvPr id="8" name="Text 4"/>
          <p:cNvSpPr txBox="1"/>
          <p:nvPr/>
        </p:nvSpPr>
        <p:spPr>
          <a:xfrm>
            <a:off x="1554480" y="251460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794760"/>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977640"/>
            <a:ext cx="365760" cy="365760"/>
          </a:xfrm>
          <a:prstGeom prst="rect">
            <a:avLst/>
          </a:prstGeom>
        </p:spPr>
      </p:pic>
      <p:sp>
        <p:nvSpPr>
          <p:cNvPr id="11" name="Text 6"/>
          <p:cNvSpPr txBox="1"/>
          <p:nvPr/>
        </p:nvSpPr>
        <p:spPr>
          <a:xfrm>
            <a:off x="1554480" y="374904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the 131-row appendix and a 20-page report, all regenerated from one frozen log.</a:t>
            </a:r>
            <a:endParaRPr lang="en-US" sz="1900" dirty="0"/>
          </a:p>
        </p:txBody>
      </p:sp>
      <p:sp>
        <p:nvSpPr>
          <p:cNvPr id="12" name="icon circle Reproducibility"/>
          <p:cNvSpPr/>
          <p:nvPr/>
        </p:nvSpPr>
        <p:spPr>
          <a:xfrm>
            <a:off x="548640" y="5029200"/>
            <a:ext cx="731520" cy="731520"/>
          </a:xfrm>
          <a:prstGeom prst="ellipse">
            <a:avLst/>
          </a:prstGeom>
          <a:solidFill>
            <a:schemeClr val="tx2"/>
          </a:solidFill>
          <a:ln w="12700">
            <a:solidFill>
              <a:schemeClr val="tx2"/>
            </a:solidFill>
            <a:prstDash val="solid"/>
          </a:ln>
        </p:spPr>
      </p:sp>
      <p:pic>
        <p:nvPicPr>
          <p:cNvPr id="13" name="icon Reproducibility" descr="Reproducibility">    </p:cNvPr>
          <p:cNvPicPr>
            <a:picLocks noChangeAspect="1"/>
          </p:cNvPicPr>
          <p:nvPr/>
        </p:nvPicPr>
        <p:blipFill>
          <a:blip r:embed="rId4"/>
          <a:stretch>
            <a:fillRect/>
          </a:stretch>
        </p:blipFill>
        <p:spPr>
          <a:xfrm>
            <a:off x="731520" y="5212080"/>
            <a:ext cx="365760" cy="365760"/>
          </a:xfrm>
          <a:prstGeom prst="rect">
            <a:avLst/>
          </a:prstGeom>
        </p:spPr>
      </p:pic>
      <p:sp>
        <p:nvSpPr>
          <p:cNvPr id="14" name="Text 8"/>
          <p:cNvSpPr txBox="1"/>
          <p:nvPr/>
        </p:nvSpPr>
        <p:spPr>
          <a:xfrm>
            <a:off x="1554480" y="498348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234440"/>
            <a:ext cx="5973775" cy="1371600"/>
          </a:xfrm>
          <a:prstGeom prst="roundRect">
            <a:avLst>
              <a:gd name="adj" fmla="val 6667"/>
            </a:avLst>
          </a:prstGeom>
          <a:solidFill>
            <a:schemeClr val="bg2"/>
          </a:solidFill>
          <a:ln w="12700">
            <a:solidFill>
              <a:schemeClr val="bg2"/>
            </a:solidFill>
            <a:prstDash val="solid"/>
          </a:ln>
        </p:spPr>
      </p:sp>
      <p:sp>
        <p:nvSpPr>
          <p:cNvPr id="13" name="Text 11"/>
          <p:cNvSpPr txBox="1"/>
          <p:nvPr/>
        </p:nvSpPr>
        <p:spPr>
          <a:xfrm>
            <a:off x="5897880" y="134416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Missed the PDL problem</a:t>
            </a:r>
            <a:endParaRPr lang="en-US" sz="1700" dirty="0"/>
          </a:p>
          <a:p>
            <a:pPr indent="0" marL="0">
              <a:spcAft>
                <a:spcPts val="300"/>
              </a:spcAft>
              <a:buNone/>
            </a:pPr>
            <a:r>
              <a:rPr lang="en-US" sz="1400" dirty="0">
                <a:solidFill>
                  <a:schemeClr val="tx1"/>
                </a:solidFill>
              </a:rPr>
              <a:t>Ran the 2019 code faithfully and accepted 103,570 as “PDL is just slow”.</a:t>
            </a:r>
            <a:endParaRPr lang="en-US" sz="1700" dirty="0"/>
          </a:p>
        </p:txBody>
      </p:sp>
      <p:sp>
        <p:nvSpPr>
          <p:cNvPr id="14" name="failure Silent drift"/>
          <p:cNvSpPr/>
          <p:nvPr/>
        </p:nvSpPr>
        <p:spPr>
          <a:xfrm>
            <a:off x="5669280" y="2743200"/>
            <a:ext cx="5973775" cy="1371600"/>
          </a:xfrm>
          <a:prstGeom prst="roundRect">
            <a:avLst>
              <a:gd name="adj" fmla="val 6667"/>
            </a:avLst>
          </a:prstGeom>
          <a:solidFill>
            <a:schemeClr val="bg2"/>
          </a:solidFill>
          <a:ln w="12700">
            <a:solidFill>
              <a:schemeClr val="bg2"/>
            </a:solidFill>
            <a:prstDash val="solid"/>
          </a:ln>
        </p:spPr>
      </p:sp>
      <p:sp>
        <p:nvSpPr>
          <p:cNvPr id="15" name="Text 13"/>
          <p:cNvSpPr txBox="1"/>
          <p:nvPr/>
        </p:nvSpPr>
        <p:spPr>
          <a:xfrm>
            <a:off x="5897880" y="285292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Silent drift</a:t>
            </a:r>
            <a:endParaRPr lang="en-US" sz="1700" dirty="0"/>
          </a:p>
          <a:p>
            <a:pPr indent="0" marL="0">
              <a:spcAft>
                <a:spcPts val="300"/>
              </a:spcAft>
              <a:buNone/>
            </a:pPr>
            <a:r>
              <a:rPr lang="en-US" sz="1400" dirty="0">
                <a:solidFill>
                  <a:schemeClr val="tx1"/>
                </a:solidFill>
              </a:rPr>
              <a:t>Fixed the prose but not the table, or the reverse. ChatGPT's audits caught 14 errors in the first four rounds: Crystal 3.21 → 3.67, F# 6.85 → 7.21, an OCaml ratio of “18×” that was 13×.</a:t>
            </a:r>
            <a:endParaRPr lang="en-US" sz="1700" dirty="0"/>
          </a:p>
        </p:txBody>
      </p:sp>
      <p:sp>
        <p:nvSpPr>
          <p:cNvPr id="16" name="failure No sense of what's interesting"/>
          <p:cNvSpPr/>
          <p:nvPr/>
        </p:nvSpPr>
        <p:spPr>
          <a:xfrm>
            <a:off x="5669280" y="4251960"/>
            <a:ext cx="5973775" cy="1371600"/>
          </a:xfrm>
          <a:prstGeom prst="roundRect">
            <a:avLst>
              <a:gd name="adj" fmla="val 6667"/>
            </a:avLst>
          </a:prstGeom>
          <a:solidFill>
            <a:schemeClr val="bg2"/>
          </a:solidFill>
          <a:ln w="12700">
            <a:solidFill>
              <a:schemeClr val="bg2"/>
            </a:solidFill>
            <a:prstDash val="solid"/>
          </a:ln>
        </p:spPr>
      </p:sp>
      <p:sp>
        <p:nvSpPr>
          <p:cNvPr id="17" name="Text 15"/>
          <p:cNvSpPr txBox="1"/>
          <p:nvPr/>
        </p:nvSpPr>
        <p:spPr>
          <a:xfrm>
            <a:off x="5897880" y="4361688"/>
            <a:ext cx="5516575" cy="118872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No sense of what's interesting</a:t>
            </a:r>
            <a:endParaRPr lang="en-US" sz="1700" dirty="0"/>
          </a:p>
          <a:p>
            <a:pPr indent="0" marL="0">
              <a:spcAft>
                <a:spcPts val="300"/>
              </a:spcAft>
              <a:buNone/>
            </a:pPr>
            <a:r>
              <a:rPr lang="en-US" sz="1400" dirty="0">
                <a:solidFill>
                  <a:schemeClr val="tx1"/>
                </a:solidFill>
              </a:rPr>
              <a:t>Asked what to add, it gave a long, flat list; choosing was my job. My verdict on one abstract draft: it “would appeal only to an LLM not a human”.</a:t>
            </a:r>
            <a:endParaRPr lang="en-US" sz="1700" dirty="0"/>
          </a:p>
        </p:txBody>
      </p:sp>
      <p:sp>
        <p:nvSpPr>
          <p:cNvPr id="18" name="Text 16"/>
          <p:cNvSpPr txBox="1"/>
          <p:nvPr/>
        </p:nvSpPr>
        <p:spPr>
          <a:xfrm>
            <a:off x="5669280" y="5806440"/>
            <a:ext cx="5973775" cy="365760"/>
          </a:xfrm>
          <a:prstGeom prst="rect">
            <a:avLst/>
          </a:prstGeom>
          <a:noFill/>
          <a:ln/>
        </p:spPr>
        <p:txBody>
          <a:bodyPr wrap="square" lIns="0" tIns="0" rIns="0" bIns="0" rtlCol="0" anchor="t"/>
          <a:lstStyle/>
          <a:p>
            <a:pPr indent="0" marL="0">
              <a:buNone/>
            </a:pPr>
            <a:r>
              <a:rPr lang="en-US" sz="1200" i="1" dirty="0">
                <a:solidFill>
                  <a:srgbClr val="5A6275"/>
                </a:solidFill>
              </a:rPr>
              <a:t>INTERCAL died of an arm64 bug in its own runtime: a toolchain failure, not the LLM's.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numba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decorator: @numba.jit.</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Every toolchain ran natively on arm64, except Python 2.7, which runs translated by Rosetta 2.</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plus your own domain expertise.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raw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raw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a dozen more of the 131</a:t>
            </a:r>
            <a:endParaRPr lang="en-US" sz="2600" dirty="0"/>
          </a:p>
        </p:txBody>
      </p:sp>
      <p:sp>
        <p:nvSpPr>
          <p:cNvPr id="3" name="code card C (Numerical Recipes)"/>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900" dirty="0">
                <a:solidFill>
                  <a:srgbClr val="8B949E"/>
                </a:solidFill>
              </a:rPr>
              <a:t>   cnrsub.cpp</a:t>
            </a:r>
            <a:endParaRPr lang="en-US" sz="1200" dirty="0"/>
          </a:p>
        </p:txBody>
      </p:sp>
      <p:sp>
        <p:nvSpPr>
          <p:cNvPr id="5" name="chip C (Numerical Recipes)"/>
          <p:cNvSpPr/>
          <p:nvPr/>
        </p:nvSpPr>
        <p:spPr>
          <a:xfrm>
            <a:off x="3280562" y="877824"/>
            <a:ext cx="731520" cy="228600"/>
          </a:xfrm>
          <a:prstGeom prst="roundRect">
            <a:avLst>
              <a:gd name="adj" fmla="val 32000"/>
            </a:avLst>
          </a:prstGeom>
          <a:solidFill>
            <a:srgbClr val="66BD63"/>
          </a:solidFill>
          <a:ln w="12700">
            <a:solidFill>
              <a:srgbClr val="66BD63"/>
            </a:solidFill>
            <a:prstDash val="solid"/>
          </a:ln>
        </p:spPr>
      </p:sp>
      <p:sp>
        <p:nvSpPr>
          <p:cNvPr id="6" name="Text 4"/>
          <p:cNvSpPr txBox="1"/>
          <p:nvPr/>
        </p:nvSpPr>
        <p:spPr>
          <a:xfrm>
            <a:off x="3280562"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7" name="code C (Numerical Recipes)"/>
          <p:cNvSpPr txBox="1"/>
          <p:nvPr/>
        </p:nvSpPr>
        <p:spPr>
          <a:xfrm>
            <a:off x="685800" y="1161288"/>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8" name="code card D"/>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D</a:t>
            </a:r>
            <a:pPr indent="0" marL="0">
              <a:buNone/>
            </a:pPr>
            <a:r>
              <a:rPr lang="en-US" sz="900" dirty="0">
                <a:solidFill>
                  <a:srgbClr val="8B949E"/>
                </a:solidFill>
              </a:rPr>
              <a:t>   csubraw.d</a:t>
            </a:r>
            <a:endParaRPr lang="en-US" sz="1200" dirty="0"/>
          </a:p>
        </p:txBody>
      </p:sp>
      <p:sp>
        <p:nvSpPr>
          <p:cNvPr id="10" name="chip D"/>
          <p:cNvSpPr/>
          <p:nvPr/>
        </p:nvSpPr>
        <p:spPr>
          <a:xfrm>
            <a:off x="7027469" y="877824"/>
            <a:ext cx="731520" cy="228600"/>
          </a:xfrm>
          <a:prstGeom prst="roundRect">
            <a:avLst>
              <a:gd name="adj" fmla="val 32000"/>
            </a:avLst>
          </a:prstGeom>
          <a:solidFill>
            <a:srgbClr val="A6D96A"/>
          </a:solidFill>
          <a:ln w="12700">
            <a:solidFill>
              <a:srgbClr val="A6D96A"/>
            </a:solidFill>
            <a:prstDash val="solid"/>
          </a:ln>
        </p:spPr>
      </p:sp>
      <p:sp>
        <p:nvSpPr>
          <p:cNvPr id="11" name="Text 9"/>
          <p:cNvSpPr txBox="1"/>
          <p:nvPr/>
        </p:nvSpPr>
        <p:spPr>
          <a:xfrm>
            <a:off x="7027469"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4432706" y="1161288"/>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size_t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size_t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foreach</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auto</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auto</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immutable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cast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foreach</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cast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13" name="code card Java"/>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77824"/>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900" dirty="0">
                <a:solidFill>
                  <a:srgbClr val="8B949E"/>
                </a:solidFill>
              </a:rPr>
              <a:t>   csub.java</a:t>
            </a:r>
            <a:endParaRPr lang="en-US" sz="1200" dirty="0"/>
          </a:p>
        </p:txBody>
      </p:sp>
      <p:sp>
        <p:nvSpPr>
          <p:cNvPr id="15" name="chip Java"/>
          <p:cNvSpPr/>
          <p:nvPr/>
        </p:nvSpPr>
        <p:spPr>
          <a:xfrm>
            <a:off x="10774375" y="877824"/>
            <a:ext cx="731520" cy="228600"/>
          </a:xfrm>
          <a:prstGeom prst="roundRect">
            <a:avLst>
              <a:gd name="adj" fmla="val 32000"/>
            </a:avLst>
          </a:prstGeom>
          <a:solidFill>
            <a:srgbClr val="A6D96A"/>
          </a:solidFill>
          <a:ln w="12700">
            <a:solidFill>
              <a:srgbClr val="A6D96A"/>
            </a:solidFill>
            <a:prstDash val="solid"/>
          </a:ln>
        </p:spPr>
      </p:sp>
      <p:sp>
        <p:nvSpPr>
          <p:cNvPr id="16" name="Text 14"/>
          <p:cNvSpPr txBox="1"/>
          <p:nvPr/>
        </p:nvSpPr>
        <p:spPr>
          <a:xfrm>
            <a:off x="10774375" y="877824"/>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17" name="code Java"/>
          <p:cNvSpPr txBox="1"/>
          <p:nvPr/>
        </p:nvSpPr>
        <p:spPr>
          <a:xfrm>
            <a:off x="8179613" y="1161288"/>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18" name="code card C#"/>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C#</a:t>
            </a:r>
            <a:pPr indent="0" marL="0">
              <a:buNone/>
            </a:pPr>
            <a:r>
              <a:rPr lang="en-US" sz="900" dirty="0">
                <a:solidFill>
                  <a:srgbClr val="8B949E"/>
                </a:solidFill>
              </a:rPr>
              <a:t>   csubraw.cs</a:t>
            </a:r>
            <a:endParaRPr lang="en-US" sz="1200" dirty="0"/>
          </a:p>
        </p:txBody>
      </p:sp>
      <p:sp>
        <p:nvSpPr>
          <p:cNvPr id="20" name="chip C#"/>
          <p:cNvSpPr/>
          <p:nvPr/>
        </p:nvSpPr>
        <p:spPr>
          <a:xfrm>
            <a:off x="3280562" y="2334006"/>
            <a:ext cx="731520" cy="228600"/>
          </a:xfrm>
          <a:prstGeom prst="roundRect">
            <a:avLst>
              <a:gd name="adj" fmla="val 32000"/>
            </a:avLst>
          </a:prstGeom>
          <a:solidFill>
            <a:srgbClr val="A6D96A"/>
          </a:solidFill>
          <a:ln w="12700">
            <a:solidFill>
              <a:srgbClr val="A6D96A"/>
            </a:solidFill>
            <a:prstDash val="solid"/>
          </a:ln>
        </p:spPr>
      </p:sp>
      <p:sp>
        <p:nvSpPr>
          <p:cNvPr id="21" name="Text 19"/>
          <p:cNvSpPr txBox="1"/>
          <p:nvPr/>
        </p:nvSpPr>
        <p:spPr>
          <a:xfrm>
            <a:off x="3280562"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22" name="code C#"/>
          <p:cNvSpPr txBox="1"/>
          <p:nvPr/>
        </p:nvSpPr>
        <p:spPr>
          <a:xfrm>
            <a:off x="685800" y="2617470"/>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double</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23" name="code card PDL::PP"/>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PDL::PP</a:t>
            </a:r>
            <a:pPr indent="0" marL="0">
              <a:buNone/>
            </a:pPr>
            <a:r>
              <a:rPr lang="en-US" sz="900" dirty="0">
                <a:solidFill>
                  <a:srgbClr val="8B949E"/>
                </a:solidFill>
              </a:rPr>
              <a:t>   csubpdlpp.pl</a:t>
            </a:r>
            <a:endParaRPr lang="en-US" sz="1200" dirty="0"/>
          </a:p>
        </p:txBody>
      </p:sp>
      <p:sp>
        <p:nvSpPr>
          <p:cNvPr id="25" name="chip PDL::PP"/>
          <p:cNvSpPr/>
          <p:nvPr/>
        </p:nvSpPr>
        <p:spPr>
          <a:xfrm>
            <a:off x="7027469" y="2334006"/>
            <a:ext cx="731520" cy="228600"/>
          </a:xfrm>
          <a:prstGeom prst="roundRect">
            <a:avLst>
              <a:gd name="adj" fmla="val 32000"/>
            </a:avLst>
          </a:prstGeom>
          <a:solidFill>
            <a:srgbClr val="A6D96A"/>
          </a:solidFill>
          <a:ln w="12700">
            <a:solidFill>
              <a:srgbClr val="A6D96A"/>
            </a:solidFill>
            <a:prstDash val="solid"/>
          </a:ln>
        </p:spPr>
      </p:sp>
      <p:sp>
        <p:nvSpPr>
          <p:cNvPr id="26" name="Text 24"/>
          <p:cNvSpPr txBox="1"/>
          <p:nvPr/>
        </p:nvSpPr>
        <p:spPr>
          <a:xfrm>
            <a:off x="7027469"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5.47</a:t>
            </a:r>
            <a:endParaRPr lang="en-US" sz="1000" dirty="0"/>
          </a:p>
        </p:txBody>
      </p:sp>
      <p:sp>
        <p:nvSpPr>
          <p:cNvPr id="27" name="code PDL::PP"/>
          <p:cNvSpPr txBox="1"/>
          <p:nvPr/>
        </p:nvSpPr>
        <p:spPr>
          <a:xfrm>
            <a:off x="4432706" y="2617470"/>
            <a:ext cx="3326282" cy="962406"/>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pp_def(</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'csub'</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Pars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=&gt;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'i(m,n);[o] o(m,n)'</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Code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=&gt;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8B949E"/>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loop(n)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loop(m)</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$o</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$i</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m</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79C0FF"/>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85149"/>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28" name="code card Haskell"/>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34006"/>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Haskell</a:t>
            </a:r>
            <a:pPr indent="0" marL="0">
              <a:buNone/>
            </a:pPr>
            <a:r>
              <a:rPr lang="en-US" sz="900" dirty="0">
                <a:solidFill>
                  <a:srgbClr val="8B949E"/>
                </a:solidFill>
              </a:rPr>
              <a:t>   csubraw.hs</a:t>
            </a:r>
            <a:endParaRPr lang="en-US" sz="1200" dirty="0"/>
          </a:p>
        </p:txBody>
      </p:sp>
      <p:sp>
        <p:nvSpPr>
          <p:cNvPr id="30" name="chip Haskell"/>
          <p:cNvSpPr/>
          <p:nvPr/>
        </p:nvSpPr>
        <p:spPr>
          <a:xfrm>
            <a:off x="10774375" y="2334006"/>
            <a:ext cx="731520" cy="228600"/>
          </a:xfrm>
          <a:prstGeom prst="roundRect">
            <a:avLst>
              <a:gd name="adj" fmla="val 32000"/>
            </a:avLst>
          </a:prstGeom>
          <a:solidFill>
            <a:srgbClr val="FEE08B"/>
          </a:solidFill>
          <a:ln w="12700">
            <a:solidFill>
              <a:srgbClr val="FEE08B"/>
            </a:solidFill>
            <a:prstDash val="solid"/>
          </a:ln>
        </p:spPr>
      </p:sp>
      <p:sp>
        <p:nvSpPr>
          <p:cNvPr id="31" name="Text 29"/>
          <p:cNvSpPr txBox="1"/>
          <p:nvPr/>
        </p:nvSpPr>
        <p:spPr>
          <a:xfrm>
            <a:off x="10774375" y="2334006"/>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32" name="code Haskell"/>
          <p:cNvSpPr txBox="1"/>
          <p:nvPr/>
        </p:nvSpPr>
        <p:spPr>
          <a:xfrm>
            <a:off x="8179613" y="2617470"/>
            <a:ext cx="3326282" cy="962406"/>
          </a:xfrm>
          <a:prstGeom prst="rect">
            <a:avLst/>
          </a:prstGeom>
          <a:noFill/>
          <a:ln/>
        </p:spPr>
        <p:txBody>
          <a:bodyPr wrap="square" lIns="0" tIns="0" rIns="0" bIns="0" rtlCol="0" anchor="t"/>
          <a:lstStyle/>
          <a:p>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IO</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forM_</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fromIntegral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forM_</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v</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unsafeRead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unsafeWrite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(v</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fromIntegral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33" name="code card JavaScript (Bun)"/>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JavaScript (Bun)</a:t>
            </a:r>
            <a:pPr indent="0" marL="0">
              <a:buNone/>
            </a:pPr>
            <a:r>
              <a:rPr lang="en-US" sz="900" dirty="0">
                <a:solidFill>
                  <a:srgbClr val="8B949E"/>
                </a:solidFill>
              </a:rPr>
              <a:t>   cjstest.js</a:t>
            </a:r>
            <a:endParaRPr lang="en-US" sz="1200" dirty="0"/>
          </a:p>
        </p:txBody>
      </p:sp>
      <p:sp>
        <p:nvSpPr>
          <p:cNvPr id="35" name="chip JavaScript (Bun)"/>
          <p:cNvSpPr/>
          <p:nvPr/>
        </p:nvSpPr>
        <p:spPr>
          <a:xfrm>
            <a:off x="3280562" y="3790188"/>
            <a:ext cx="731520" cy="228600"/>
          </a:xfrm>
          <a:prstGeom prst="roundRect">
            <a:avLst>
              <a:gd name="adj" fmla="val 32000"/>
            </a:avLst>
          </a:prstGeom>
          <a:solidFill>
            <a:srgbClr val="FEE08B"/>
          </a:solidFill>
          <a:ln w="12700">
            <a:solidFill>
              <a:srgbClr val="FEE08B"/>
            </a:solidFill>
            <a:prstDash val="solid"/>
          </a:ln>
        </p:spPr>
      </p:sp>
      <p:sp>
        <p:nvSpPr>
          <p:cNvPr id="36" name="Text 34"/>
          <p:cNvSpPr txBox="1"/>
          <p:nvPr/>
        </p:nvSpPr>
        <p:spPr>
          <a:xfrm>
            <a:off x="3280562"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12.29</a:t>
            </a:r>
            <a:endParaRPr lang="en-US" sz="1000" dirty="0"/>
          </a:p>
        </p:txBody>
      </p:sp>
      <p:sp>
        <p:nvSpPr>
          <p:cNvPr id="37" name="code JavaScript (Bun)"/>
          <p:cNvSpPr txBox="1"/>
          <p:nvPr/>
        </p:nvSpPr>
        <p:spPr>
          <a:xfrm>
            <a:off x="685800" y="4073652"/>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900" dirty="0">
                <a:solidFill>
                  <a:srgbClr val="8B949E"/>
                </a:solidFill>
              </a:rPr>
              <a:t>   cstest.swift</a:t>
            </a:r>
            <a:endParaRPr lang="en-US" sz="1200" dirty="0"/>
          </a:p>
        </p:txBody>
      </p:sp>
      <p:sp>
        <p:nvSpPr>
          <p:cNvPr id="40" name="chip Swift"/>
          <p:cNvSpPr/>
          <p:nvPr/>
        </p:nvSpPr>
        <p:spPr>
          <a:xfrm>
            <a:off x="7027469" y="3790188"/>
            <a:ext cx="731520" cy="228600"/>
          </a:xfrm>
          <a:prstGeom prst="roundRect">
            <a:avLst>
              <a:gd name="adj" fmla="val 32000"/>
            </a:avLst>
          </a:prstGeom>
          <a:solidFill>
            <a:srgbClr val="FDAE61"/>
          </a:solidFill>
          <a:ln w="12700">
            <a:solidFill>
              <a:srgbClr val="FDAE61"/>
            </a:solidFill>
            <a:prstDash val="solid"/>
          </a:ln>
        </p:spPr>
      </p:sp>
      <p:sp>
        <p:nvSpPr>
          <p:cNvPr id="41" name="Text 39"/>
          <p:cNvSpPr txBox="1"/>
          <p:nvPr/>
        </p:nvSpPr>
        <p:spPr>
          <a:xfrm>
            <a:off x="7027469"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73652"/>
            <a:ext cx="3326282" cy="962406"/>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Octave, vectorised"/>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90188"/>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Octave, vectorised</a:t>
            </a:r>
            <a:pPr indent="0" marL="0">
              <a:buNone/>
            </a:pPr>
            <a:r>
              <a:rPr lang="en-US" sz="900" dirty="0">
                <a:solidFill>
                  <a:srgbClr val="8B949E"/>
                </a:solidFill>
              </a:rPr>
              <a:t>   csubvec.m</a:t>
            </a:r>
            <a:endParaRPr lang="en-US" sz="1200" dirty="0"/>
          </a:p>
        </p:txBody>
      </p:sp>
      <p:sp>
        <p:nvSpPr>
          <p:cNvPr id="45" name="chip Octave, vectorised"/>
          <p:cNvSpPr/>
          <p:nvPr/>
        </p:nvSpPr>
        <p:spPr>
          <a:xfrm>
            <a:off x="10774375" y="3790188"/>
            <a:ext cx="731520" cy="228600"/>
          </a:xfrm>
          <a:prstGeom prst="roundRect">
            <a:avLst>
              <a:gd name="adj" fmla="val 32000"/>
            </a:avLst>
          </a:prstGeom>
          <a:solidFill>
            <a:srgbClr val="FDAE61"/>
          </a:solidFill>
          <a:ln w="12700">
            <a:solidFill>
              <a:srgbClr val="FDAE61"/>
            </a:solidFill>
            <a:prstDash val="solid"/>
          </a:ln>
        </p:spPr>
      </p:sp>
      <p:sp>
        <p:nvSpPr>
          <p:cNvPr id="46" name="Text 44"/>
          <p:cNvSpPr txBox="1"/>
          <p:nvPr/>
        </p:nvSpPr>
        <p:spPr>
          <a:xfrm>
            <a:off x="10774375" y="3790188"/>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57.45</a:t>
            </a:r>
            <a:endParaRPr lang="en-US" sz="1000" dirty="0"/>
          </a:p>
        </p:txBody>
      </p:sp>
      <p:sp>
        <p:nvSpPr>
          <p:cNvPr id="47" name="code Octave, vectorised"/>
          <p:cNvSpPr txBox="1"/>
          <p:nvPr/>
        </p:nvSpPr>
        <p:spPr>
          <a:xfrm>
            <a:off x="8179613" y="4073652"/>
            <a:ext cx="3326282" cy="962406"/>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ix_row =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iy_col =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 =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:nrpt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 = in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ix_row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iy_col;</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48" name="code card Ruby + YJIT"/>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Ruby + YJIT</a:t>
            </a:r>
            <a:pPr indent="0" marL="0">
              <a:buNone/>
            </a:pPr>
            <a:r>
              <a:rPr lang="en-US" sz="900" dirty="0">
                <a:solidFill>
                  <a:srgbClr val="8B949E"/>
                </a:solidFill>
              </a:rPr>
              <a:t>   csubraw.rb</a:t>
            </a:r>
            <a:endParaRPr lang="en-US" sz="1200" dirty="0"/>
          </a:p>
        </p:txBody>
      </p:sp>
      <p:sp>
        <p:nvSpPr>
          <p:cNvPr id="50" name="chip Ruby + YJIT"/>
          <p:cNvSpPr/>
          <p:nvPr/>
        </p:nvSpPr>
        <p:spPr>
          <a:xfrm>
            <a:off x="3280562" y="5246370"/>
            <a:ext cx="731520" cy="228600"/>
          </a:xfrm>
          <a:prstGeom prst="roundRect">
            <a:avLst>
              <a:gd name="adj" fmla="val 32000"/>
            </a:avLst>
          </a:prstGeom>
          <a:solidFill>
            <a:srgbClr val="F46D43"/>
          </a:solidFill>
          <a:ln w="12700">
            <a:solidFill>
              <a:srgbClr val="F46D43"/>
            </a:solidFill>
            <a:prstDash val="solid"/>
          </a:ln>
        </p:spPr>
      </p:sp>
      <p:sp>
        <p:nvSpPr>
          <p:cNvPr id="51" name="Text 49"/>
          <p:cNvSpPr txBox="1"/>
          <p:nvPr/>
        </p:nvSpPr>
        <p:spPr>
          <a:xfrm>
            <a:off x="3280562" y="5246370"/>
            <a:ext cx="731520" cy="228600"/>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52" name="code Ruby + YJIT"/>
          <p:cNvSpPr txBox="1"/>
          <p:nvPr/>
        </p:nvSpPr>
        <p:spPr>
          <a:xfrm>
            <a:off x="685800" y="5529834"/>
            <a:ext cx="3326282" cy="962406"/>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def</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times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row_out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times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do</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row_out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row_in</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end</a:t>
            </a:r>
            <a:endParaRPr lang="en-US" sz="750" dirty="0"/>
          </a:p>
        </p:txBody>
      </p:sp>
      <p:sp>
        <p:nvSpPr>
          <p:cNvPr id="53" name="code card Python + numpy, loop"/>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Python + numpy, loop</a:t>
            </a:r>
            <a:pPr indent="0" marL="0">
              <a:buNone/>
            </a:pPr>
            <a:r>
              <a:rPr lang="en-US" sz="900" dirty="0">
                <a:solidFill>
                  <a:srgbClr val="8B949E"/>
                </a:solidFill>
              </a:rPr>
              <a:t>   csub.py</a:t>
            </a:r>
            <a:endParaRPr lang="en-US" sz="1200" dirty="0"/>
          </a:p>
        </p:txBody>
      </p:sp>
      <p:sp>
        <p:nvSpPr>
          <p:cNvPr id="55" name="chip Python + numpy, loop"/>
          <p:cNvSpPr/>
          <p:nvPr/>
        </p:nvSpPr>
        <p:spPr>
          <a:xfrm>
            <a:off x="7027469" y="5246370"/>
            <a:ext cx="731520" cy="228600"/>
          </a:xfrm>
          <a:prstGeom prst="roundRect">
            <a:avLst>
              <a:gd name="adj" fmla="val 32000"/>
            </a:avLst>
          </a:prstGeom>
          <a:solidFill>
            <a:srgbClr val="D73027"/>
          </a:solidFill>
          <a:ln w="12700">
            <a:solidFill>
              <a:srgbClr val="D73027"/>
            </a:solidFill>
            <a:prstDash val="solid"/>
          </a:ln>
        </p:spPr>
      </p:sp>
      <p:sp>
        <p:nvSpPr>
          <p:cNvPr id="56" name="Text 54"/>
          <p:cNvSpPr txBox="1"/>
          <p:nvPr/>
        </p:nvSpPr>
        <p:spPr>
          <a:xfrm>
            <a:off x="7027469" y="5246370"/>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2,883</a:t>
            </a:r>
            <a:endParaRPr lang="en-US" sz="1000" dirty="0"/>
          </a:p>
        </p:txBody>
      </p:sp>
      <p:sp>
        <p:nvSpPr>
          <p:cNvPr id="57" name="code Python + numpy, loop"/>
          <p:cNvSpPr txBox="1"/>
          <p:nvPr/>
        </p:nvSpPr>
        <p:spPr>
          <a:xfrm>
            <a:off x="4432706" y="5529834"/>
            <a:ext cx="3326282" cy="962406"/>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58" name="code card PDL raw (-&gt;at, -&gt;set)"/>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46370"/>
            <a:ext cx="2503322" cy="237744"/>
          </a:xfrm>
          <a:prstGeom prst="rect">
            <a:avLst/>
          </a:prstGeom>
          <a:noFill/>
          <a:ln/>
        </p:spPr>
        <p:txBody>
          <a:bodyPr wrap="square" lIns="0" tIns="0" rIns="0" bIns="0" rtlCol="0" anchor="ctr"/>
          <a:lstStyle/>
          <a:p>
            <a:pPr indent="0" marL="0">
              <a:buNone/>
            </a:pPr>
            <a:r>
              <a:rPr lang="en-US" sz="1200" b="1" dirty="0">
                <a:solidFill>
                  <a:srgbClr val="E6EDF3"/>
                </a:solidFill>
              </a:rPr>
              <a:t>PDL raw (-&gt;at, -&gt;set)</a:t>
            </a:r>
            <a:pPr indent="0" marL="0">
              <a:buNone/>
            </a:pPr>
            <a:r>
              <a:rPr lang="en-US" sz="900" dirty="0">
                <a:solidFill>
                  <a:srgbClr val="8B949E"/>
                </a:solidFill>
              </a:rPr>
              <a:t>   csubpdl.pl</a:t>
            </a:r>
            <a:endParaRPr lang="en-US" sz="1200" dirty="0"/>
          </a:p>
        </p:txBody>
      </p:sp>
      <p:sp>
        <p:nvSpPr>
          <p:cNvPr id="60" name="chip PDL raw (-&gt;at, -&gt;set)"/>
          <p:cNvSpPr/>
          <p:nvPr/>
        </p:nvSpPr>
        <p:spPr>
          <a:xfrm>
            <a:off x="10774375" y="5246370"/>
            <a:ext cx="731520" cy="228600"/>
          </a:xfrm>
          <a:prstGeom prst="roundRect">
            <a:avLst>
              <a:gd name="adj" fmla="val 32000"/>
            </a:avLst>
          </a:prstGeom>
          <a:solidFill>
            <a:srgbClr val="D73027"/>
          </a:solidFill>
          <a:ln w="12700">
            <a:solidFill>
              <a:srgbClr val="D73027"/>
            </a:solidFill>
            <a:prstDash val="solid"/>
          </a:ln>
        </p:spPr>
      </p:sp>
      <p:sp>
        <p:nvSpPr>
          <p:cNvPr id="61" name="Text 59"/>
          <p:cNvSpPr txBox="1"/>
          <p:nvPr/>
        </p:nvSpPr>
        <p:spPr>
          <a:xfrm>
            <a:off x="10774375" y="5246370"/>
            <a:ext cx="731520" cy="228600"/>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62" name="code PDL raw (-&gt;at, -&gt;set)"/>
          <p:cNvSpPr txBox="1"/>
          <p:nvPr/>
        </p:nvSpPr>
        <p:spPr>
          <a:xfrm>
            <a:off x="8179613" y="5529834"/>
            <a:ext cx="3326282" cy="962406"/>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2026-10-30T06:09:11Z</dcterms:created>
  <dcterms:modified xsi:type="dcterms:W3CDTF">2026-10-30T06:09:11Z</dcterms:modified>
</cp:coreProperties>
</file>