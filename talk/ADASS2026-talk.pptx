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4.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fbe2f454-a4ab-9680-5660-cce891421a5b}">
          <p14:sldIdLst>
            <p14:sldId id="256"/>
            <p14:sldId id="257"/>
            <p14:sldId id="258"/>
            <p14:sldId id="259"/>
          </p14:sldIdLst>
        </p14:section>
        <p14:section name="Results" id="{f5ed4689-e959-6ef1-0b5b-e3ce823c4a94}">
          <p14:sldIdLst>
            <p14:sldId id="260"/>
            <p14:sldId id="261"/>
            <p14:sldId id="262"/>
            <p14:sldId id="263"/>
            <p14:sldId id="264"/>
            <p14:sldId id="265"/>
            <p14:sldId id="266"/>
          </p14:sldIdLst>
        </p14:section>
        <p14:section name="The LLM" id="{f0f0d958-65a8-b9fa-0e91-9ab0b5cf17b3}">
          <p14:sldIdLst>
            <p14:sldId id="267"/>
            <p14:sldId id="268"/>
            <p14:sldId id="269"/>
            <p14:sldId id="270"/>
          </p14:sldIdLst>
        </p14:section>
        <p14:section name="Backup" id="{d43292b4-290e-03e7-cfc0-5be23f9175ec}">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lookup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27 languages, 15 of them new, counted the way Keith counted his 12 (C/C++ as one, Perl/PDL as one). 131 variants, all passing in run22, the frozen reference. The range is 4.8e5 rather than Keith's million, partly from the new reference and partly the PDL correction. Three peaks. CLICK: native code, 1 to 15x, where tier 3 (2.5 to 7x) is the crowd, 41 of 131. CLICK: whole-array expressions and half measures, 15 to 100x. CLICK: an interpreter doing element lookup, the spike near 600 to 1,000x, with a purple tail where every element crosses a library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 Its first drafts of the report and of these slides were decent; its abstract was not, and I rewrote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The big caveat: unlike Keith, I did not write the ported code; I trusted it. Keith's 53-page write-up is full of obscure gotchas and alternative ways to structure the same loop in one language, the kind of thing an expert in that language would spot. How expert is the LLM in Zig or OCaml or J? I don't know. One example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3.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one-line whole-array forms for both PDL and numpy (below); he credits both in the code.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257800" y="4206240"/>
            <a:ext cx="3337560" cy="2011680"/>
          </a:xfrm>
          <a:prstGeom prst="rect">
            <a:avLst/>
          </a:prstGeom>
          <a:noFill/>
          <a:ln/>
        </p:spPr>
        <p:txBody>
          <a:bodyPr wrap="square" lIns="0" tIns="0" rIns="0" bIns="0" rtlCol="0" anchor="ctr"/>
          <a:lstStyle/>
          <a:p>
            <a:pPr indent="0" marL="0">
              <a:buNone/>
            </a:pPr>
            <a:r>
              <a:rPr lang="en-US" sz="1200" dirty="0">
                <a:solidFill>
                  <a:srgbClr val="AEB8CC"/>
                </a:solidFill>
                <a:latin typeface="Courier New" pitchFamily="34" charset="0"/>
                <a:ea typeface="Courier New" pitchFamily="34" charset="-122"/>
                <a:cs typeface="Courier New" pitchFamily="34" charset="-120"/>
              </a:rPr>
              <a:t># PDL, csubpdlary.pl: 25.1×</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$Output .= $Input</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sequence($Nx)</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sequence($Ny)-&gt;dummy(0,1);</a:t>
            </a:r>
            <a:endParaRPr lang="en-US" sz="1200" dirty="0"/>
          </a:p>
          <a:p>
            <a:pPr indent="0" marL="0">
              <a:buNone/>
            </a:pPr>
            <a:r>
              <a:rPr lang="en-US" sz="600" dirty="0">
                <a:solidFill>
                  <a:schemeClr val="bg1"/>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AEB8CC"/>
                </a:solidFill>
                <a:latin typeface="Courier New" pitchFamily="34" charset="0"/>
                <a:ea typeface="Courier New" pitchFamily="34" charset="-122"/>
                <a:cs typeface="Courier New" pitchFamily="34" charset="-120"/>
              </a:rPr>
              <a:t># numpy, csubnpna.py: 17.8×</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out[:] = ina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numpy.arange(nx)[NA,:]</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 numpy.arange(ny)[:,NA]</a:t>
            </a:r>
            <a:endParaRPr lang="en-US" sz="12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histogram" descr="Histogram of all 131 relative times on a log scale, coloured by the eight tiers, with three peaks">    </p:cNvPr>
          <p:cNvPicPr>
            <a:picLocks noChangeAspect="1"/>
          </p:cNvPicPr>
          <p:nvPr/>
        </p:nvPicPr>
        <p:blipFill>
          <a:blip r:embed="rId1"/>
          <a:stretch>
            <a:fillRect/>
          </a:stretch>
        </p:blipFill>
        <p:spPr>
          <a:xfrm>
            <a:off x="4754880" y="1828800"/>
            <a:ext cx="6888175" cy="2719017"/>
          </a:xfrm>
          <a:prstGeom prst="rect">
            <a:avLst/>
          </a:prstGeom>
        </p:spPr>
      </p:pic>
      <p:sp>
        <p:nvSpPr>
          <p:cNvPr id="10" name="group arrow 1"/>
          <p:cNvSpPr/>
          <p:nvPr/>
        </p:nvSpPr>
        <p:spPr>
          <a:xfrm>
            <a:off x="5387034" y="1234440"/>
            <a:ext cx="1199272" cy="502920"/>
          </a:xfrm>
          <a:prstGeom prst="leftRightArrow">
            <a:avLst/>
          </a:prstGeom>
          <a:solidFill>
            <a:srgbClr val="1A9850">
              <a:alpha val="80000"/>
            </a:srgbClr>
          </a:solidFill>
          <a:ln w="12700">
            <a:solidFill>
              <a:srgbClr val="1A9850"/>
            </a:solidFill>
          </a:ln>
        </p:spPr>
        <p:txBody>
          <a:bodyPr wrap="square" lIns="0" tIns="0" rIns="0" bIns="0" rtlCol="0" anchor="ctr"/>
          <a:lstStyle/>
          <a:p>
            <a:pPr algn="ctr" indent="0" marL="0">
              <a:buNone/>
            </a:pPr>
            <a:r>
              <a:rPr lang="en-US" sz="1300" b="1" dirty="0">
                <a:solidFill>
                  <a:srgbClr val="FFFFFF"/>
                </a:solidFill>
              </a:rPr>
              <a:t>native</a:t>
            </a:r>
            <a:endParaRPr lang="en-US" sz="1300" dirty="0"/>
          </a:p>
        </p:txBody>
      </p:sp>
      <p:sp>
        <p:nvSpPr>
          <p:cNvPr id="11" name="group box 1"/>
          <p:cNvSpPr/>
          <p:nvPr/>
        </p:nvSpPr>
        <p:spPr>
          <a:xfrm>
            <a:off x="4754880" y="4639257"/>
            <a:ext cx="2204618" cy="1624383"/>
          </a:xfrm>
          <a:prstGeom prst="rect">
            <a:avLst/>
          </a:prstGeom>
          <a:solidFill>
            <a:schemeClr val="bg2"/>
          </a:solidFill>
          <a:ln w="31750">
            <a:solidFill>
              <a:srgbClr val="1A9850"/>
            </a:solidFill>
          </a:ln>
        </p:spPr>
        <p:txBody>
          <a:bodyPr wrap="square" lIns="76200" tIns="101600" rIns="101600" bIns="76200" rtlCol="0" anchor="t"/>
          <a:lstStyle/>
          <a:p>
            <a:pPr indent="0" marL="0">
              <a:spcAft>
                <a:spcPts val="300"/>
              </a:spcAft>
              <a:buNone/>
            </a:pPr>
            <a:r>
              <a:rPr lang="en-US" sz="1400" b="1" dirty="0">
                <a:solidFill>
                  <a:schemeClr val="tx2"/>
                </a:solidFill>
              </a:rPr>
              <a:t>Native code, 1–15×</a:t>
            </a:r>
            <a:endParaRPr lang="en-US" sz="1400" dirty="0"/>
          </a:p>
          <a:p>
            <a:pPr indent="0" marL="0">
              <a:spcAft>
                <a:spcPts val="300"/>
              </a:spcAft>
              <a:buNone/>
            </a:pPr>
            <a:r>
              <a:rPr lang="en-US" sz="1200" dirty="0">
                <a:solidFill>
                  <a:schemeClr val="tx1"/>
                </a:solidFill>
              </a:rPr>
              <a:t>Compiled to machine code ahead of time or by a good JIT: C, Fortran, Julia, D, Zig, Java, C#, Go, numba, LuaJIT, Haskell. Most new languages land here.</a:t>
            </a:r>
            <a:endParaRPr lang="en-US" sz="1400" dirty="0"/>
          </a:p>
        </p:txBody>
      </p:sp>
      <p:sp>
        <p:nvSpPr>
          <p:cNvPr id="12" name="group arrow 2"/>
          <p:cNvSpPr/>
          <p:nvPr/>
        </p:nvSpPr>
        <p:spPr>
          <a:xfrm>
            <a:off x="6586306" y="1234440"/>
            <a:ext cx="840148" cy="502920"/>
          </a:xfrm>
          <a:prstGeom prst="leftRightArrow">
            <a:avLst/>
          </a:prstGeom>
          <a:solidFill>
            <a:srgbClr val="FDAE61">
              <a:alpha val="80000"/>
            </a:srgbClr>
          </a:solidFill>
          <a:ln w="12700">
            <a:solidFill>
              <a:srgbClr val="FDAE61"/>
            </a:solidFill>
          </a:ln>
        </p:spPr>
        <p:txBody>
          <a:bodyPr wrap="square" lIns="0" tIns="0" rIns="0" bIns="0" rtlCol="0" anchor="ctr"/>
          <a:lstStyle/>
          <a:p>
            <a:pPr algn="ctr" indent="0" marL="0">
              <a:buNone/>
            </a:pPr>
            <a:r>
              <a:rPr lang="en-US" sz="1300" b="1" dirty="0">
                <a:solidFill>
                  <a:srgbClr val="1B1F2B"/>
                </a:solidFill>
              </a:rPr>
              <a:t>arrays</a:t>
            </a:r>
            <a:endParaRPr lang="en-US" sz="1300" dirty="0"/>
          </a:p>
        </p:txBody>
      </p:sp>
      <p:sp>
        <p:nvSpPr>
          <p:cNvPr id="13" name="group box 2"/>
          <p:cNvSpPr/>
          <p:nvPr/>
        </p:nvSpPr>
        <p:spPr>
          <a:xfrm>
            <a:off x="7096658" y="4639257"/>
            <a:ext cx="2204618" cy="1624383"/>
          </a:xfrm>
          <a:prstGeom prst="rect">
            <a:avLst/>
          </a:prstGeom>
          <a:solidFill>
            <a:schemeClr val="bg2"/>
          </a:solidFill>
          <a:ln w="31750">
            <a:solidFill>
              <a:srgbClr val="FDAE61"/>
            </a:solidFill>
          </a:ln>
        </p:spPr>
        <p:txBody>
          <a:bodyPr wrap="square" lIns="76200" tIns="101600" rIns="101600" bIns="76200" rtlCol="0" anchor="t"/>
          <a:lstStyle/>
          <a:p>
            <a:pPr indent="0" marL="0">
              <a:spcAft>
                <a:spcPts val="300"/>
              </a:spcAft>
              <a:buNone/>
            </a:pPr>
            <a:r>
              <a:rPr lang="en-US" sz="1400" b="1" dirty="0">
                <a:solidFill>
                  <a:schemeClr val="tx2"/>
                </a:solidFill>
              </a:rPr>
              <a:t>Whole arrays, half measures, 15–100×</a:t>
            </a:r>
            <a:endParaRPr lang="en-US" sz="1400" dirty="0"/>
          </a:p>
          <a:p>
            <a:pPr indent="0" marL="0">
              <a:spcAft>
                <a:spcPts val="300"/>
              </a:spcAft>
              <a:buNone/>
            </a:pPr>
            <a:r>
              <a:rPr lang="en-US" sz="1200" dirty="0">
                <a:solidFill>
                  <a:schemeClr val="tx1"/>
                </a:solidFill>
              </a:rPr>
              <a:t>One whole-array expression in numpy, PDL, Numo or Octave; JavaScript engines; Swift -O; PyPy on lists; C or Fortran with no optimisation.</a:t>
            </a:r>
            <a:endParaRPr lang="en-US" sz="1400" dirty="0"/>
          </a:p>
        </p:txBody>
      </p:sp>
      <p:sp>
        <p:nvSpPr>
          <p:cNvPr id="14" name="group arrow 3"/>
          <p:cNvSpPr/>
          <p:nvPr/>
        </p:nvSpPr>
        <p:spPr>
          <a:xfrm>
            <a:off x="7426453" y="1234440"/>
            <a:ext cx="4078838" cy="502920"/>
          </a:xfrm>
          <a:prstGeom prst="leftRightArrow">
            <a:avLst/>
          </a:prstGeom>
          <a:solidFill>
            <a:srgbClr val="D73027">
              <a:alpha val="80000"/>
            </a:srgbClr>
          </a:solidFill>
          <a:ln w="12700">
            <a:solidFill>
              <a:srgbClr val="D73027"/>
            </a:solidFill>
          </a:ln>
        </p:spPr>
        <p:txBody>
          <a:bodyPr wrap="square" lIns="0" tIns="0" rIns="0" bIns="0" rtlCol="0" anchor="ctr"/>
          <a:lstStyle/>
          <a:p>
            <a:pPr algn="ctr" indent="0" marL="0">
              <a:buNone/>
            </a:pPr>
            <a:r>
              <a:rPr lang="en-US" sz="1300" b="1" dirty="0">
                <a:solidFill>
                  <a:srgbClr val="FFFFFF"/>
                </a:solidFill>
              </a:rPr>
              <a:t>interpreted</a:t>
            </a:r>
            <a:endParaRPr lang="en-US" sz="1300" dirty="0"/>
          </a:p>
        </p:txBody>
      </p:sp>
      <p:sp>
        <p:nvSpPr>
          <p:cNvPr id="15" name="group box 3"/>
          <p:cNvSpPr/>
          <p:nvPr/>
        </p:nvSpPr>
        <p:spPr>
          <a:xfrm>
            <a:off x="9438437" y="4639257"/>
            <a:ext cx="2204618" cy="1624383"/>
          </a:xfrm>
          <a:prstGeom prst="rect">
            <a:avLst/>
          </a:prstGeom>
          <a:solidFill>
            <a:schemeClr val="bg2"/>
          </a:solidFill>
          <a:ln w="31750">
            <a:solidFill>
              <a:srgbClr val="D73027"/>
            </a:solidFill>
          </a:ln>
        </p:spPr>
        <p:txBody>
          <a:bodyPr wrap="square" lIns="76200" tIns="101600" rIns="101600" bIns="76200" rtlCol="0" anchor="t"/>
          <a:lstStyle/>
          <a:p>
            <a:pPr indent="0" marL="0">
              <a:spcAft>
                <a:spcPts val="300"/>
              </a:spcAft>
              <a:buNone/>
            </a:pPr>
            <a:r>
              <a:rPr lang="en-US" sz="1400" b="1" dirty="0">
                <a:solidFill>
                  <a:schemeClr val="tx2"/>
                </a:solidFill>
              </a:rPr>
              <a:t>Interpreted element lookup, 100× up</a:t>
            </a:r>
            <a:endParaRPr lang="en-US" sz="1400" dirty="0"/>
          </a:p>
          <a:p>
            <a:pPr indent="0" marL="0">
              <a:spcAft>
                <a:spcPts val="300"/>
              </a:spcAft>
              <a:buNone/>
            </a:pPr>
            <a:r>
              <a:rPr lang="en-US" sz="1200" dirty="0">
                <a:solidFill>
                  <a:schemeClr val="tx1"/>
                </a:solidFill>
              </a:rPr>
              <a:t>An interpreter touching one element at a time: Python lists, Perl, Ruby, R, Tcl, numpy or PDL lookup. Purple tail: a library boundary crossed per element.</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4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fade">
                                      <p:cBhvr>
                                        <p:cTn id="12" dur="4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4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the 15 languages new in 2026, mostly one variant each. </a:t>
            </a:r>
            <a:pPr indent="0" marL="0">
              <a:buNone/>
            </a:pPr>
            <a:r>
              <a:rPr lang="en-US" sz="1500" dirty="0">
                <a:solidFill>
                  <a:schemeClr val="tx1"/>
                </a:solidFill>
              </a:rPr>
              <a:t>The long bars are Keith's option sweeps (C/C++ alone has 60 variants) and changes of idiom: Python, PDL, Octave, R. Edge colours mark the tiers, green 1 to purple 8;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23444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417320"/>
            <a:ext cx="365760" cy="365760"/>
          </a:xfrm>
          <a:prstGeom prst="rect">
            <a:avLst/>
          </a:prstGeom>
        </p:spPr>
      </p:pic>
      <p:sp>
        <p:nvSpPr>
          <p:cNvPr id="5" name="Text 2"/>
          <p:cNvSpPr txBox="1"/>
          <p:nvPr/>
        </p:nvSpPr>
        <p:spPr>
          <a:xfrm>
            <a:off x="1554480" y="1188720"/>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258568"/>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441448"/>
            <a:ext cx="365760" cy="365760"/>
          </a:xfrm>
          <a:prstGeom prst="rect">
            <a:avLst/>
          </a:prstGeom>
        </p:spPr>
      </p:pic>
      <p:sp>
        <p:nvSpPr>
          <p:cNvPr id="8" name="Text 4"/>
          <p:cNvSpPr txBox="1"/>
          <p:nvPr/>
        </p:nvSpPr>
        <p:spPr>
          <a:xfrm>
            <a:off x="1554480" y="2212848"/>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282696"/>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465576"/>
            <a:ext cx="365760" cy="365760"/>
          </a:xfrm>
          <a:prstGeom prst="rect">
            <a:avLst/>
          </a:prstGeom>
        </p:spPr>
      </p:pic>
      <p:sp>
        <p:nvSpPr>
          <p:cNvPr id="11" name="Text 6"/>
          <p:cNvSpPr txBox="1"/>
          <p:nvPr/>
        </p:nvSpPr>
        <p:spPr>
          <a:xfrm>
            <a:off x="1554480" y="3236976"/>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and the 131-row appendix, all regenerated from one frozen log.</a:t>
            </a:r>
            <a:endParaRPr lang="en-US" sz="1900" dirty="0"/>
          </a:p>
        </p:txBody>
      </p:sp>
      <p:sp>
        <p:nvSpPr>
          <p:cNvPr id="12" name="icon circle Decent first drafts"/>
          <p:cNvSpPr/>
          <p:nvPr/>
        </p:nvSpPr>
        <p:spPr>
          <a:xfrm>
            <a:off x="548640" y="4306824"/>
            <a:ext cx="731520" cy="731520"/>
          </a:xfrm>
          <a:prstGeom prst="ellipse">
            <a:avLst/>
          </a:prstGeom>
          <a:solidFill>
            <a:schemeClr val="tx2"/>
          </a:solidFill>
          <a:ln w="12700">
            <a:solidFill>
              <a:schemeClr val="tx2"/>
            </a:solidFill>
            <a:prstDash val="solid"/>
          </a:ln>
        </p:spPr>
      </p:sp>
      <p:pic>
        <p:nvPicPr>
          <p:cNvPr id="13" name="icon Decent first drafts" descr="Decent first drafts">    </p:cNvPr>
          <p:cNvPicPr>
            <a:picLocks noChangeAspect="1"/>
          </p:cNvPicPr>
          <p:nvPr/>
        </p:nvPicPr>
        <p:blipFill>
          <a:blip r:embed="rId4"/>
          <a:stretch>
            <a:fillRect/>
          </a:stretch>
        </p:blipFill>
        <p:spPr>
          <a:xfrm>
            <a:off x="731520" y="4489704"/>
            <a:ext cx="365760" cy="365760"/>
          </a:xfrm>
          <a:prstGeom prst="rect">
            <a:avLst/>
          </a:prstGeom>
        </p:spPr>
      </p:pic>
      <p:sp>
        <p:nvSpPr>
          <p:cNvPr id="14" name="Text 8"/>
          <p:cNvSpPr txBox="1"/>
          <p:nvPr/>
        </p:nvSpPr>
        <p:spPr>
          <a:xfrm>
            <a:off x="1554480" y="4261104"/>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Decent first drafts</a:t>
            </a:r>
            <a:endParaRPr lang="en-US" sz="1900" dirty="0"/>
          </a:p>
          <a:p>
            <a:pPr indent="0" marL="0">
              <a:spcAft>
                <a:spcPts val="300"/>
              </a:spcAft>
              <a:buNone/>
            </a:pPr>
            <a:r>
              <a:rPr lang="en-US" sz="1600" dirty="0">
                <a:solidFill>
                  <a:schemeClr val="tx1"/>
                </a:solidFill>
              </a:rPr>
              <a:t>Of the 21-page report, and of this deck. Not of the abstract: I rewrote that one, as it “would appeal only to an LLM not a human”.</a:t>
            </a:r>
            <a:endParaRPr lang="en-US" sz="1900" dirty="0"/>
          </a:p>
        </p:txBody>
      </p:sp>
      <p:sp>
        <p:nvSpPr>
          <p:cNvPr id="15" name="icon circle Reproducibility"/>
          <p:cNvSpPr/>
          <p:nvPr/>
        </p:nvSpPr>
        <p:spPr>
          <a:xfrm>
            <a:off x="548640" y="5330952"/>
            <a:ext cx="731520" cy="731520"/>
          </a:xfrm>
          <a:prstGeom prst="ellipse">
            <a:avLst/>
          </a:prstGeom>
          <a:solidFill>
            <a:schemeClr val="tx2"/>
          </a:solidFill>
          <a:ln w="12700">
            <a:solidFill>
              <a:schemeClr val="tx2"/>
            </a:solidFill>
            <a:prstDash val="solid"/>
          </a:ln>
        </p:spPr>
      </p:sp>
      <p:pic>
        <p:nvPicPr>
          <p:cNvPr id="16" name="icon Reproducibility" descr="Reproducibility">    </p:cNvPr>
          <p:cNvPicPr>
            <a:picLocks noChangeAspect="1"/>
          </p:cNvPicPr>
          <p:nvPr/>
        </p:nvPicPr>
        <p:blipFill>
          <a:blip r:embed="rId5"/>
          <a:stretch>
            <a:fillRect/>
          </a:stretch>
        </p:blipFill>
        <p:spPr>
          <a:xfrm>
            <a:off x="731520" y="5513832"/>
            <a:ext cx="365760" cy="365760"/>
          </a:xfrm>
          <a:prstGeom prst="rect">
            <a:avLst/>
          </a:prstGeom>
        </p:spPr>
      </p:pic>
      <p:sp>
        <p:nvSpPr>
          <p:cNvPr id="17" name="Text 10"/>
          <p:cNvSpPr txBox="1"/>
          <p:nvPr/>
        </p:nvSpPr>
        <p:spPr>
          <a:xfrm>
            <a:off x="1554480" y="5285232"/>
            <a:ext cx="10088575" cy="96012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188720"/>
            <a:ext cx="5973775" cy="1060704"/>
          </a:xfrm>
          <a:prstGeom prst="roundRect">
            <a:avLst>
              <a:gd name="adj" fmla="val 8621"/>
            </a:avLst>
          </a:prstGeom>
          <a:solidFill>
            <a:schemeClr val="bg2"/>
          </a:solidFill>
          <a:ln w="12700">
            <a:solidFill>
              <a:schemeClr val="bg2"/>
            </a:solidFill>
            <a:prstDash val="solid"/>
          </a:ln>
        </p:spPr>
      </p:sp>
      <p:sp>
        <p:nvSpPr>
          <p:cNvPr id="13" name="Text 11"/>
          <p:cNvSpPr txBox="1"/>
          <p:nvPr/>
        </p:nvSpPr>
        <p:spPr>
          <a:xfrm>
            <a:off x="5897880" y="1280160"/>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14" name="failure Silent drift"/>
          <p:cNvSpPr/>
          <p:nvPr/>
        </p:nvSpPr>
        <p:spPr>
          <a:xfrm>
            <a:off x="5669280" y="2359152"/>
            <a:ext cx="5973775" cy="1060704"/>
          </a:xfrm>
          <a:prstGeom prst="roundRect">
            <a:avLst>
              <a:gd name="adj" fmla="val 8621"/>
            </a:avLst>
          </a:prstGeom>
          <a:solidFill>
            <a:schemeClr val="bg2"/>
          </a:solidFill>
          <a:ln w="12700">
            <a:solidFill>
              <a:schemeClr val="bg2"/>
            </a:solidFill>
            <a:prstDash val="solid"/>
          </a:ln>
        </p:spPr>
      </p:sp>
      <p:sp>
        <p:nvSpPr>
          <p:cNvPr id="15" name="Text 13"/>
          <p:cNvSpPr txBox="1"/>
          <p:nvPr/>
        </p:nvSpPr>
        <p:spPr>
          <a:xfrm>
            <a:off x="5897880" y="2450592"/>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Fixed the prose but not the table, or the reverse. ChatGPT's audits caught it (examples in the backup slides).</a:t>
            </a:r>
            <a:endParaRPr lang="en-US" sz="1600" dirty="0"/>
          </a:p>
        </p:txBody>
      </p:sp>
      <p:sp>
        <p:nvSpPr>
          <p:cNvPr id="16" name="failure No sense of what's interesting"/>
          <p:cNvSpPr/>
          <p:nvPr/>
        </p:nvSpPr>
        <p:spPr>
          <a:xfrm>
            <a:off x="5669280" y="3529584"/>
            <a:ext cx="5973775" cy="1060704"/>
          </a:xfrm>
          <a:prstGeom prst="roundRect">
            <a:avLst>
              <a:gd name="adj" fmla="val 8621"/>
            </a:avLst>
          </a:prstGeom>
          <a:solidFill>
            <a:schemeClr val="bg2"/>
          </a:solidFill>
          <a:ln w="12700">
            <a:solidFill>
              <a:schemeClr val="bg2"/>
            </a:solidFill>
            <a:prstDash val="solid"/>
          </a:ln>
        </p:spPr>
      </p:sp>
      <p:sp>
        <p:nvSpPr>
          <p:cNvPr id="17" name="Text 15"/>
          <p:cNvSpPr txBox="1"/>
          <p:nvPr/>
        </p:nvSpPr>
        <p:spPr>
          <a:xfrm>
            <a:off x="5897880" y="3621024"/>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18" name="failure I didn't write the ports"/>
          <p:cNvSpPr/>
          <p:nvPr/>
        </p:nvSpPr>
        <p:spPr>
          <a:xfrm>
            <a:off x="5669280" y="4700016"/>
            <a:ext cx="5973775" cy="1261872"/>
          </a:xfrm>
          <a:prstGeom prst="roundRect">
            <a:avLst>
              <a:gd name="adj" fmla="val 7246"/>
            </a:avLst>
          </a:prstGeom>
          <a:solidFill>
            <a:srgbClr val="FDE7E4"/>
          </a:solidFill>
          <a:ln w="12700">
            <a:solidFill>
              <a:srgbClr val="FDE7E4"/>
            </a:solidFill>
            <a:prstDash val="solid"/>
          </a:ln>
        </p:spPr>
      </p:sp>
      <p:sp>
        <p:nvSpPr>
          <p:cNvPr id="19" name="Text 17"/>
          <p:cNvSpPr txBox="1"/>
          <p:nvPr/>
        </p:nvSpPr>
        <p:spPr>
          <a:xfrm>
            <a:off x="5897880" y="4791456"/>
            <a:ext cx="5516575" cy="112471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His write-up shows how much layout and idiom matter, and I can't vouch that each port is what an expert would write.</a:t>
            </a:r>
            <a:endParaRPr lang="en-US" sz="1600" dirty="0"/>
          </a:p>
        </p:txBody>
      </p:sp>
      <p:sp>
        <p:nvSpPr>
          <p:cNvPr id="20" name="Text 18"/>
          <p:cNvSpPr txBox="1"/>
          <p:nvPr/>
        </p:nvSpPr>
        <p:spPr>
          <a:xfrm>
            <a:off x="5669280" y="5989320"/>
            <a:ext cx="5973775" cy="32004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for the numbers; domain experts for the code.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2026-11-01T00:43:22Z</dcterms:created>
  <dcterms:modified xsi:type="dcterms:W3CDTF">2026-11-01T00:43:22Z</dcterms:modified>
</cp:coreProperties>
</file>