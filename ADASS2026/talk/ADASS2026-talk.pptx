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story" id="{05829267-b16f-0d5d-8959-790587f3054f}">
          <p14:sldIdLst>
            <p14:sldId id="256"/>
            <p14:sldId id="257"/>
            <p14:sldId id="258"/>
            <p14:sldId id="259"/>
          </p14:sldIdLst>
        </p14:section>
        <p14:section name="Results" id="{5a551a56-26c8-7415-f9ad-57be84ba6cc7}">
          <p14:sldIdLst>
            <p14:sldId id="260"/>
            <p14:sldId id="261"/>
            <p14:sldId id="262"/>
            <p14:sldId id="263"/>
            <p14:sldId id="264"/>
          </p14:sldIdLst>
        </p14:section>
        <p14:section name="The LLM" id="{ff123a03-4675-7593-cc04-2939585069ab}">
          <p14:sldIdLst>
            <p14:sldId id="265"/>
            <p14:sldId id="266"/>
            <p14:sldId id="267"/>
            <p14:sldId id="268"/>
          </p14:sldIdLst>
        </p14:section>
        <p14:section name="Backup" id="{62da8ec1-fad2-ab01-6975-06c099435b4f}">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Tests passing in the suite</a:t>
            </a:r>
          </a:p>
        </c:rich>
      </c:tx>
      <c:layout/>
      <c:overlay val="0"/>
    </c:title>
    <c:autoTitleDeleted val="0"/>
    <c:plotArea>
      <c:layout/>
      <c:barChart>
        <c:barDir val="col"/>
        <c:grouping val="clustered"/>
        <c:varyColors val="0"/>
        <c:ser>
          <c:idx val="0"/>
          <c:order val="0"/>
          <c:tx>
            <c:strRef>
              <c:f>Sheet1!$B$1</c:f>
              <c:strCache>
                <c:ptCount val="1"/>
                <c:pt idx="0">
                  <c:v>Tests passing</c:v>
                </c:pt>
              </c:strCache>
            </c:strRef>
          </c:tx>
          <c:spPr>
            <a:solidFill>
              <a:srgbClr val="3B6FB6"/>
            </a:solidFill>
            <a:effectLst/>
          </c:spPr>
          <c:invertIfNegative val="0"/>
          <c:dLbls>
            <c:numFmt formatCode="#,##0" sourceLinked="0"/>
            <c:txPr>
              <a:bodyPr/>
              <a:lstStyle/>
              <a:p>
                <a:pPr>
                  <a:defRPr b="0" i="0" strike="noStrike" sz="1400" u="none">
                    <a:solidFill>
                      <a:srgbClr val="1B1F2B"/>
                    </a:solidFill>
                    <a:latin typeface="+mn-lt"/>
                  </a:defRPr>
                </a:pPr>
              </a:p>
            </c:txPr>
            <c:showLegendKey val="0"/>
            <c:showVal val="1"/>
            <c:showCatName val="0"/>
            <c:showSerName val="0"/>
            <c:showPercent val="0"/>
            <c:showBubbleSize val="0"/>
            <c:showLeaderLines val="0"/>
          </c:dLbls>
          <c:cat>
            <c:multiLvlStrRef>
              <c:f>Sheet1!$A$2:$A$6</c:f>
              <c:multiLvlStrCache>
                <c:ptCount val="5"/>
                <c:lvl>
                  <c:pt idx="0">
                    <c:v>25 Apr</c:v>
                  </c:pt>
                  <c:pt idx="1">
                    <c:v>26 Apr</c:v>
                  </c:pt>
                  <c:pt idx="2">
                    <c:v>27 Apr</c:v>
                  </c:pt>
                  <c:pt idx="3">
                    <c:v>28–29 Apr</c:v>
                  </c:pt>
                  <c:pt idx="4">
                    <c:v>+ Octave</c:v>
                  </c:pt>
                </c:lvl>
              </c:multiLvlStrCache>
            </c:multiLvlStrRef>
          </c:cat>
          <c:val>
            <c:numRef>
              <c:f>Sheet1!$B$2:$B$6</c:f>
              <c:numCache>
                <c:formatCode>General</c:formatCode>
                <c:ptCount val="5"/>
                <c:pt idx="0">
                  <c:v>58</c:v>
                </c:pt>
                <c:pt idx="1">
                  <c:v>103</c:v>
                </c:pt>
                <c:pt idx="2">
                  <c:v>111</c:v>
                </c:pt>
                <c:pt idx="3">
                  <c:v>123</c:v>
                </c:pt>
                <c:pt idx="4">
                  <c:v>131</c:v>
                </c:pt>
              </c:numCache>
            </c:numRef>
          </c:val>
        </c:ser>
        <c:dLbls>
          <c:numFmt formatCode="#,##0" sourceLinked="0"/>
          <c:txPr>
            <a:bodyPr/>
            <a:lstStyle/>
            <a:p>
              <a:pPr>
                <a:defRPr b="0" i="0" strike="noStrike" sz="1400" u="none">
                  <a:solidFill>
                    <a:srgbClr val="1B1F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275"/>
                </a:solidFill>
                <a:latin typeface="+mn-lt"/>
              </a:defRPr>
            </a:pPr>
            <a:endParaRPr lang="en-US"/>
          </a:p>
        </c:txPr>
        <c:crossAx val="2094734552"/>
        <c:crosses val="autoZero"/>
        <c:auto val="1"/>
        <c:lblAlgn val="ctr"/>
        <c:noMultiLvlLbl val="1"/>
      </c:catAx>
      <c:valAx>
        <c:axId val="2094734552"/>
        <c:scaling>
          <c:orientation val="minMax"/>
          <c:max val="140"/>
          <c:min val="0"/>
        </c:scaling>
        <c:delete val="0"/>
        <c:axPos val="l"/>
        <c:majorGridlines>
          <c:spPr>
            <a:ln w="6350" cap="flat">
              <a:solidFill>
                <a:srgbClr val="D9DE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275"/>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6275"/>
                </a:solidFill>
                <a:latin typeface="+mn-lt"/>
              </a:defRPr>
            </a:pPr>
            <a:r>
              <a:rPr sz="1300" b="0" i="0" u="none" strike="noStrike">
                <a:solidFill>
                  <a:srgbClr val="5A6275"/>
                </a:solidFill>
                <a:latin typeface="+mn-lt"/>
              </a:rPr>
              <a:t>Time relative to assembler (log scale)</a:t>
            </a:r>
          </a:p>
        </c:rich>
      </c:tx>
      <c:layout/>
      <c:overlay val="0"/>
    </c:title>
    <c:autoTitleDeleted val="0"/>
    <c:plotArea>
      <c:layout/>
      <c:barChart>
        <c:barDir val="bar"/>
        <c:grouping val="clustered"/>
        <c:varyColors val="0"/>
        <c:ser>
          <c:idx val="0"/>
          <c:order val="0"/>
          <c:tx>
            <c:strRef>
              <c:f>Sheet1!$B$1</c:f>
              <c:strCache>
                <c:ptCount val="1"/>
                <c:pt idx="0">
                  <c:v>Relative time</c:v>
                </c:pt>
              </c:strCache>
            </c:strRef>
          </c:tx>
          <c:spPr>
            <a:solidFill>
              <a:srgbClr val="D73027"/>
            </a:solidFill>
            <a:effectLst/>
          </c:spPr>
          <c:invertIfNegative val="0"/>
          <c:dLbls>
            <c:numFmt formatCode="[&gt;=100]#,##0;0.0#" sourceLinked="0"/>
            <c:txPr>
              <a:bodyPr/>
              <a:lstStyle/>
              <a:p>
                <a:pPr>
                  <a:defRPr b="1" i="0" strike="noStrike" sz="1400" u="none">
                    <a:solidFill>
                      <a:srgbClr val="1B1F2B"/>
                    </a:solidFill>
                    <a:latin typeface="+mn-lt"/>
                  </a:defRPr>
                </a:pPr>
              </a:p>
            </c:txPr>
            <c:showLegendKey val="0"/>
            <c:showVal val="1"/>
            <c:showCatName val="0"/>
            <c:showSerName val="0"/>
            <c:showPercent val="0"/>
            <c:showBubbleSize val="0"/>
            <c:showLeaderLines val="0"/>
          </c:dLbls>
          <c:dPt>
            <c:idx val="0"/>
            <c:invertIfNegative val="0"/>
            <c:bubble3D val="0"/>
            <c:spPr>
              <a:solidFill>
                <a:srgbClr val="D73027"/>
              </a:solidFill>
              <a:effectLst/>
            </c:spPr>
          </c:dPt>
          <c:dPt>
            <c:idx val="1"/>
            <c:invertIfNegative val="0"/>
            <c:bubble3D val="0"/>
            <c:spPr>
              <a:solidFill>
                <a:srgbClr val="D73027"/>
              </a:solidFill>
              <a:effectLst/>
            </c:spPr>
          </c:dPt>
          <c:dPt>
            <c:idx val="2"/>
            <c:invertIfNegative val="0"/>
            <c:bubble3D val="0"/>
            <c:spPr>
              <a:solidFill>
                <a:srgbClr val="FDAE61"/>
              </a:solidFill>
              <a:effectLst/>
            </c:spPr>
          </c:dPt>
          <c:dPt>
            <c:idx val="3"/>
            <c:invertIfNegative val="0"/>
            <c:bubble3D val="0"/>
            <c:spPr>
              <a:solidFill>
                <a:srgbClr val="9AA3B2"/>
              </a:solidFill>
              <a:effectLst/>
            </c:spPr>
          </c:dPt>
          <c:dPt>
            <c:idx val="4"/>
            <c:invertIfNegative val="0"/>
            <c:bubble3D val="0"/>
            <c:spPr>
              <a:solidFill>
                <a:srgbClr val="A6D96A"/>
              </a:solidFill>
              <a:effectLst/>
            </c:spPr>
          </c:dPt>
          <c:cat>
            <c:multiLvlStrRef>
              <c:f>Sheet1!$A$2:$A$6</c:f>
              <c:multiLvlStrCache>
                <c:ptCount val="5"/>
                <c:lvl>
                  <c:pt idx="0">
                    <c:v>CPython + numpy, element loop</c:v>
                  </c:pt>
                  <c:pt idx="1">
                    <c:v>CPython, plain lists</c:v>
                  </c:pt>
                  <c:pt idx="2">
                    <c:v>PyPy, plain lists</c:v>
                  </c:pt>
                  <c:pt idx="3">
                    <c:v>numpy, vectorised (rewrite)</c:v>
                  </c:pt>
                  <c:pt idx="4">
                    <c:v>numba @njit, element loop</c:v>
                  </c:pt>
                </c:lvl>
              </c:multiLvlStrCache>
            </c:multiLvlStrRef>
          </c:cat>
          <c:val>
            <c:numRef>
              <c:f>Sheet1!$B$2:$B$6</c:f>
              <c:numCache>
                <c:formatCode>General</c:formatCode>
                <c:ptCount val="5"/>
                <c:pt idx="0">
                  <c:v>2882.58</c:v>
                </c:pt>
                <c:pt idx="1">
                  <c:v>644.02</c:v>
                </c:pt>
                <c:pt idx="2">
                  <c:v>36.17</c:v>
                </c:pt>
                <c:pt idx="3">
                  <c:v>16.1</c:v>
                </c:pt>
                <c:pt idx="4">
                  <c:v>3.15</c:v>
                </c:pt>
              </c:numCache>
            </c:numRef>
          </c:val>
        </c:ser>
        <c:dLbls>
          <c:numFmt formatCode="[&gt;=100]#,##0;0.0#" sourceLinked="0"/>
          <c:txPr>
            <a:bodyPr/>
            <a:lstStyle/>
            <a:p>
              <a:pPr>
                <a:defRPr b="1" i="0" strike="noStrike" sz="1400" u="none">
                  <a:solidFill>
                    <a:srgbClr val="1B1F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B1F2B"/>
                </a:solidFill>
                <a:latin typeface="+mn-lt"/>
              </a:defRPr>
            </a:pPr>
            <a:endParaRPr lang="en-US"/>
          </a:p>
        </c:txPr>
        <c:crossAx val="2094734552"/>
        <c:crosses val="autoZero"/>
        <c:auto val="1"/>
        <c:lblAlgn val="ctr"/>
        <c:noMultiLvlLbl val="1"/>
      </c:catAx>
      <c:valAx>
        <c:axId val="2094734552"/>
        <c:scaling>
          <c:logBase val="10"/>
          <c:orientation val="minMax"/>
          <c:max val="10000"/>
          <c:min val="1"/>
        </c:scaling>
        <c:delete val="0"/>
        <c:axPos val="b"/>
        <c:majorGridlines>
          <c:spPr>
            <a:ln w="6350" cap="flat">
              <a:solidFill>
                <a:srgbClr val="D9DEE7"/>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A62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Relative time</c:v>
                </c:pt>
              </c:strCache>
            </c:strRef>
          </c:tx>
          <c:spPr>
            <a:solidFill>
              <a:srgbClr val="66BD63"/>
            </a:solidFill>
            <a:effectLst/>
          </c:spPr>
          <c:invertIfNegative val="0"/>
          <c:dLbls>
            <c:numFmt formatCode="0.00" sourceLinked="0"/>
            <c:txPr>
              <a:bodyPr/>
              <a:lstStyle/>
              <a:p>
                <a:pPr>
                  <a:defRPr b="0" i="0" strike="noStrike" sz="1300" u="none">
                    <a:solidFill>
                      <a:srgbClr val="1B1F2B"/>
                    </a:solidFill>
                    <a:latin typeface="+mn-lt"/>
                  </a:defRPr>
                </a:pPr>
              </a:p>
            </c:txPr>
            <c:showLegendKey val="0"/>
            <c:showVal val="1"/>
            <c:showCatName val="0"/>
            <c:showSerName val="0"/>
            <c:showPercent val="0"/>
            <c:showBubbleSize val="0"/>
            <c:showLeaderLines val="0"/>
          </c:dLbls>
          <c:dPt>
            <c:idx val="0"/>
            <c:invertIfNegative val="0"/>
            <c:bubble3D val="0"/>
            <c:spPr>
              <a:solidFill>
                <a:srgbClr val="66BD63"/>
              </a:solidFill>
              <a:effectLst/>
            </c:spPr>
          </c:dPt>
          <c:dPt>
            <c:idx val="1"/>
            <c:invertIfNegative val="0"/>
            <c:bubble3D val="0"/>
            <c:spPr>
              <a:solidFill>
                <a:srgbClr val="66BD63"/>
              </a:solidFill>
              <a:effectLst/>
            </c:spPr>
          </c:dPt>
          <c:dPt>
            <c:idx val="2"/>
            <c:invertIfNegative val="0"/>
            <c:bubble3D val="0"/>
            <c:spPr>
              <a:solidFill>
                <a:srgbClr val="66BD63"/>
              </a:solidFill>
              <a:effectLst/>
            </c:spPr>
          </c:dPt>
          <c:dPt>
            <c:idx val="3"/>
            <c:invertIfNegative val="0"/>
            <c:bubble3D val="0"/>
            <c:spPr>
              <a:solidFill>
                <a:srgbClr val="A6D96A"/>
              </a:solidFill>
              <a:effectLst/>
            </c:spPr>
          </c:dPt>
          <c:dPt>
            <c:idx val="4"/>
            <c:invertIfNegative val="0"/>
            <c:bubble3D val="0"/>
            <c:spPr>
              <a:solidFill>
                <a:srgbClr val="A6D96A"/>
              </a:solidFill>
              <a:effectLst/>
            </c:spPr>
          </c:dPt>
          <c:dPt>
            <c:idx val="5"/>
            <c:invertIfNegative val="0"/>
            <c:bubble3D val="0"/>
            <c:spPr>
              <a:solidFill>
                <a:srgbClr val="A6D96A"/>
              </a:solidFill>
              <a:effectLst/>
            </c:spPr>
          </c:dPt>
          <c:dPt>
            <c:idx val="6"/>
            <c:invertIfNegative val="0"/>
            <c:bubble3D val="0"/>
            <c:spPr>
              <a:solidFill>
                <a:srgbClr val="A6D96A"/>
              </a:solidFill>
              <a:effectLst/>
            </c:spPr>
          </c:dPt>
          <c:dPt>
            <c:idx val="7"/>
            <c:invertIfNegative val="0"/>
            <c:bubble3D val="0"/>
            <c:spPr>
              <a:solidFill>
                <a:srgbClr val="A6D96A"/>
              </a:solidFill>
              <a:effectLst/>
            </c:spPr>
          </c:dPt>
          <c:dPt>
            <c:idx val="8"/>
            <c:invertIfNegative val="0"/>
            <c:bubble3D val="0"/>
            <c:spPr>
              <a:solidFill>
                <a:srgbClr val="A6D96A"/>
              </a:solidFill>
              <a:effectLst/>
            </c:spPr>
          </c:dPt>
          <c:cat>
            <c:multiLvlStrRef>
              <c:f>Sheet1!$A$2:$A$10</c:f>
              <c:multiLvlStrCache>
                <c:ptCount val="9"/>
                <c:lvl>
                  <c:pt idx="0">
                    <c:v>Julia (int32)</c:v>
                  </c:pt>
                  <c:pt idx="1">
                    <c:v>C (best)</c:v>
                  </c:pt>
                  <c:pt idx="2">
                    <c:v>Fortran -O3 native</c:v>
                  </c:pt>
                  <c:pt idx="3">
                    <c:v>D</c:v>
                  </c:pt>
                  <c:pt idx="4">
                    <c:v>Zig</c:v>
                  </c:pt>
                  <c:pt idx="5">
                    <c:v>Nim</c:v>
                  </c:pt>
                  <c:pt idx="6">
                    <c:v>Crystal</c:v>
                  </c:pt>
                  <c:pt idx="7">
                    <c:v>Java</c:v>
                  </c:pt>
                  <c:pt idx="8">
                    <c:v>Go</c:v>
                  </c:pt>
                </c:lvl>
              </c:multiLvlStrCache>
            </c:multiLvlStrRef>
          </c:cat>
          <c:val>
            <c:numRef>
              <c:f>Sheet1!$B$2:$B$10</c:f>
              <c:numCache>
                <c:formatCode>General</c:formatCode>
                <c:ptCount val="9"/>
                <c:pt idx="0">
                  <c:v>1.17</c:v>
                </c:pt>
                <c:pt idx="1">
                  <c:v>1.19</c:v>
                </c:pt>
                <c:pt idx="2">
                  <c:v>2.05</c:v>
                </c:pt>
                <c:pt idx="3">
                  <c:v>2.76</c:v>
                </c:pt>
                <c:pt idx="4">
                  <c:v>2.84</c:v>
                </c:pt>
                <c:pt idx="5">
                  <c:v>3.31</c:v>
                </c:pt>
                <c:pt idx="6">
                  <c:v>3.67</c:v>
                </c:pt>
                <c:pt idx="7">
                  <c:v>3.7</c:v>
                </c:pt>
                <c:pt idx="8">
                  <c:v>6.91</c:v>
                </c:pt>
              </c:numCache>
            </c:numRef>
          </c:val>
        </c:ser>
        <c:dLbls>
          <c:numFmt formatCode="0.00" sourceLinked="0"/>
          <c:txPr>
            <a:bodyPr/>
            <a:lstStyle/>
            <a:p>
              <a:pPr>
                <a:defRPr b="0" i="0" strike="noStrike" sz="1300" u="none">
                  <a:solidFill>
                    <a:srgbClr val="1B1F2B"/>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1F2B"/>
                </a:solidFill>
                <a:latin typeface="+mn-lt"/>
              </a:defRPr>
            </a:pPr>
            <a:endParaRPr lang="en-US"/>
          </a:p>
        </c:txPr>
        <c:crossAx val="2094734552"/>
        <c:crosses val="autoZero"/>
        <c:auto val="1"/>
        <c:lblAlgn val="ctr"/>
        <c:noMultiLvlLbl val="1"/>
      </c:catAx>
      <c:valAx>
        <c:axId val="2094734552"/>
        <c:scaling>
          <c:orientation val="minMax"/>
          <c:max val="8"/>
          <c:min val="0"/>
        </c:scaling>
        <c:delete val="0"/>
        <c:axPos val="b"/>
        <c:majorGridlines>
          <c:spPr>
            <a:ln w="6350" cap="flat">
              <a:solidFill>
                <a:srgbClr val="D9DE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A6275"/>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Title. Each dot on this slide is one of the 131 benchmark variants, coloured by tier, on a log axis — the whole talk is about why they spread across five and a half decades.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Keith's poster and paper (P9-17). The million-fold headline, with his own asterisk: 'deliberately attention-grabbing'. One trivial kernel, so what you measure is how each language reaches an array element. Note how ADASS feedback improved his own study within weeks. Say thanks to Keith here,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personal thread. 2019: the one-line arrays tricks Keith credits me for. He already wrote that -&gt;slice element access was 'emphatically not the way PDL should be used' (hold that for later). 2022: Keith's arm64 assembler. Jan 2024: our emails about PDL::PP optimisation flags; he sent me the assembler, which became the 1.00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Then Claude Code arrived and I used it to port the suite to a few more languages, for fun. Day one: 58 of 104 tests passing on this Mac. By day five, 29 families and 131 tests. My own message: 'Do #1 to #7 please and then we will stop'. We did not stop. Then the report, audits, the PDL fix and a reproducible toolchain. Prompt count is from the transcript to 30 April.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29 families, 131 variants, all passing in run22, the frozen reference. The range is 4.8e5 rather than Keith's million, partly from the new reference and partly the PDL correction. Most compiled languages pile up in tier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headline slide. Same element-loop source throughout, except the grey bar, which is the vectorised rewrite for comparison. The default pattern for someone told 'use numpy' — looping over numpy elements — is the worst: 4.5x slower than plain lists. One @njit decorator: 915x. Swapping the interpreter for PyPy: 17.8x. The choice that matters most is the runtime, not the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Left: inside one language, the runtime or idiom spans two to three orders of magnitude (Ruby's YJIT gain is the modest one). Right: across the compiled languages the whole spread is under 7x, on a linear axis. Pick your runtime and idiom carefully; the language matters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Why 'new'? New to this benchmark, not new technology. Java, V8, Julia and numba were all in Keith's 2019 study. LuaJIT and PyPy are old, just never measured here. Genuinely newer than 2019: Deno, Ruby YJIT, Bun, .NET native AOT. Don't claim V8's optimiser makes Node fast here: Node --no-opt is 26.5, almost the same. If asked: CPython 3.13's experimental JIT isn't tested; run22 used Python 3.12.7.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1: PyPy plus numpy is the slowest mainstream Python setup: pick one. 2 (keep it brief): the PDL raw test now uses PDL's element-access primitives. 103,570 was the 2019 code run on this machine (run19); 9,207 in run22. Keith himself flagged -&gt;slice in 2019. The LLM didn't spot it. 3: SBCL, 15.7x from type declarations.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 partner, not a search bar. Weeks of porting done in days. The unglamorous bulk was the environment: tools hijacking each other's python, perl and gfortran. It also kept the report tied to one log, and made the whole toolchain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Honesty about limits. It did not catch the PDL problem: domain expertise did. Its worst habit is silent numerical drift, which is why we ran an audit loop with a second LLM as critic, about seven rounds. It generates; the author curates. INTERCAL is the joke, not evidence: C-INTERCAL's arm64 va_arg bug breaks even hello.i.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corridor version: if your inner loop is slow, try @numba.njit before Cython or C. PyPy only for pure Python. Don't iterate over numpy elements. In PDL, use -&gt;at and -&gt;set. Apple Silicon is settled. An LLM co-author works with an audit loop and domain expertise.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Keith first and by name. The 2026 material is in the ADASS2026 folder of the fork.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4415" cy="1371600"/>
          </a:xfrm>
          <a:prstGeom prst="rect">
            <a:avLst/>
          </a:prstGeom>
          <a:noFill/>
          <a:ln/>
        </p:spPr>
        <p:txBody>
          <a:bodyPr wrap="square" rtlCol="0"/>
          <a:lstStyle>
            <a:lvl1pPr algn="l" indent="0" marL="0">
              <a:buNone/>
              <a:defRPr lang="en-US" sz="4400" b="1" dirty="0">
                <a:solidFill>
                  <a:schemeClr val="bg1"/>
                </a:solidFill>
                <a:latin typeface="+mj-lt" pitchFamily="34" charset="0"/>
                <a:ea typeface="+mj-lt" pitchFamily="34" charset="-122"/>
                <a:cs typeface="+mj-lt" pitchFamily="34" charset="-120"/>
              </a:defRPr>
            </a:lvl1pPr>
          </a:lstStyle>
          <a:p>
            <a:pPr algn="l" indent="0" marL="0">
              <a:buNone/>
            </a:pPr>
            <a:r>
              <a:rPr lang="en-US" sz="4400" b="1" dirty="0">
                <a:solidFill>
                  <a:schemeClr val="bg1"/>
                </a:solidFill>
                <a:latin typeface="+mj-lt" pitchFamily="34" charset="0"/>
                <a:ea typeface="+mj-lt" pitchFamily="34" charset="-122"/>
                <a:cs typeface="+mj-lt" pitchFamily="34" charset="-120"/>
              </a:rPr>
              <a:t>Title</a:t>
            </a:r>
            <a:endParaRPr lang="en-US" sz="4400" dirty="0"/>
          </a:p>
        </p:txBody>
      </p:sp>
      <p:sp>
        <p:nvSpPr>
          <p:cNvPr id="3" name="Text 0"/>
          <p:cNvSpPr/>
          <p:nvPr>
            <p:ph idx="101" type="body" hasCustomPrompt="1"/>
          </p:nvPr>
        </p:nvSpPr>
        <p:spPr>
          <a:xfrm>
            <a:off x="548640" y="2286000"/>
            <a:ext cx="11094415" cy="1463040"/>
          </a:xfrm>
          <a:prstGeom prst="rect">
            <a:avLst/>
          </a:prstGeom>
          <a:noFill/>
          <a:ln/>
        </p:spPr>
        <p:txBody>
          <a:bodyPr wrap="square" rtlCol="0"/>
          <a:lstStyle>
            <a:lvl1pPr indent="0" marL="0">
              <a:buNone/>
              <a:defRPr lang="en-US" sz="2000" dirty="0">
                <a:solidFill>
                  <a:schemeClr val="bg2"/>
                </a:solidFill>
              </a:defRPr>
            </a:lvl1pPr>
          </a:lstStyle>
          <a:p>
            <a:pPr indent="0" marL="0">
              <a:buNone/>
            </a:pPr>
            <a:r>
              <a:rPr lang="en-US" sz="2000" dirty="0">
                <a:solidFill>
                  <a:schemeClr val="bg2"/>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200" b="1" dirty="0">
                <a:solidFill>
                  <a:schemeClr val="tx2"/>
                </a:solidFill>
                <a:latin typeface="+mj-lt" pitchFamily="34" charset="0"/>
                <a:ea typeface="+mj-lt" pitchFamily="34" charset="-122"/>
                <a:cs typeface="+mj-lt" pitchFamily="34" charset="-120"/>
              </a:defRPr>
            </a:lvl1pPr>
          </a:lstStyle>
          <a:p>
            <a:pPr indent="0" marL="0">
              <a:buNone/>
            </a:pPr>
            <a:r>
              <a:rPr lang="en-US" sz="3200" b="1" dirty="0">
                <a:solidFill>
                  <a:schemeClr val="tx2"/>
                </a:solidFill>
                <a:latin typeface="+mj-lt" pitchFamily="34" charset="0"/>
                <a:ea typeface="+mj-lt" pitchFamily="34" charset="-122"/>
                <a:cs typeface="+mj-lt" pitchFamily="34" charset="-120"/>
              </a:rPr>
              <a:t>Title</a:t>
            </a: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A6275"/>
                </a:solidFill>
              </a:rPr>
              <a:t>Glazebrook · ADASS 2026 · Perth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KnaveAndVarlet/ADASS2019" TargetMode="External"/><Relationship Id="rId1"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KnaveAndVarlet/ADASS2019" TargetMode="External"/><Relationship Id="rId2" Type="http://schemas.openxmlformats.org/officeDocument/2006/relationships/hyperlink" Target="https://github.com/karlglazebrook/ADASS2026" TargetMode="External"/><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4415" cy="1371600"/>
          </a:xfrm>
          <a:prstGeom prst="rect">
            <a:avLst/>
          </a:prstGeom>
          <a:noFill/>
          <a:ln/>
        </p:spPr>
        <p:txBody>
          <a:bodyPr wrap="square" lIns="0" tIns="0" rIns="0" bIns="0" rtlCol="0" anchor="b"/>
          <a:lstStyle/>
          <a:p>
            <a:pPr algn="l" indent="0" marL="0">
              <a:buNone/>
            </a:pPr>
            <a:r>
              <a:rPr lang="en-US" sz="4400" b="1" dirty="0">
                <a:solidFill>
                  <a:schemeClr val="bg1"/>
                </a:solidFill>
                <a:latin typeface="+mj-lt" pitchFamily="34" charset="0"/>
                <a:ea typeface="+mj-lt" pitchFamily="34" charset="-122"/>
                <a:cs typeface="+mj-lt" pitchFamily="34" charset="-120"/>
              </a:rPr>
              <a:t>Same Source, Three Orders of Magnitude</a:t>
            </a:r>
            <a:endParaRPr lang="en-US" sz="4400" dirty="0"/>
          </a:p>
        </p:txBody>
      </p:sp>
      <p:sp>
        <p:nvSpPr>
          <p:cNvPr id="3" name="Text 0"/>
          <p:cNvSpPr/>
          <p:nvPr>
            <p:ph idx="101" type="body" hasCustomPrompt="1"/>
          </p:nvPr>
        </p:nvSpPr>
        <p:spPr>
          <a:xfrm>
            <a:off x="548640" y="2286000"/>
            <a:ext cx="11094415" cy="1463040"/>
          </a:xfrm>
          <a:prstGeom prst="rect">
            <a:avLst/>
          </a:prstGeom>
          <a:noFill/>
          <a:ln/>
        </p:spPr>
        <p:txBody>
          <a:bodyPr wrap="square" lIns="0" tIns="0" rIns="0" bIns="0" rtlCol="0" anchor="t"/>
          <a:lstStyle/>
          <a:p>
            <a:pPr indent="0" marL="0">
              <a:buNone/>
            </a:pPr>
            <a:r>
              <a:rPr lang="en-US" sz="2000" dirty="0">
                <a:solidFill>
                  <a:schemeClr val="bg2"/>
                </a:solidFill>
              </a:rPr>
              <a:t>A 2026 reprise of Shortridge's compiler benchmark, co-authored with an LLM</a:t>
            </a:r>
            <a:endParaRPr lang="en-US" sz="2000" dirty="0"/>
          </a:p>
          <a:p>
            <a:pPr indent="0" marL="0">
              <a:buNone/>
            </a:pPr>
            <a:r>
              <a:rPr lang="en-US" sz="1000" dirty="0">
                <a:solidFill>
                  <a:schemeClr val="bg2"/>
                </a:solidFill>
              </a:rPr>
              <a:t> </a:t>
            </a:r>
            <a:endParaRPr lang="en-US" sz="2000" dirty="0"/>
          </a:p>
          <a:p>
            <a:pPr indent="0" marL="0">
              <a:buNone/>
            </a:pPr>
            <a:r>
              <a:rPr lang="en-US" sz="2000" b="1" dirty="0">
                <a:solidFill>
                  <a:schemeClr val="bg1"/>
                </a:solidFill>
              </a:rPr>
              <a:t>Karl Glazebrook · Swinburne University of Technology</a:t>
            </a:r>
            <a:endParaRPr lang="en-US" sz="2000" dirty="0"/>
          </a:p>
          <a:p>
            <a:pPr indent="0" marL="0">
              <a:buNone/>
            </a:pPr>
            <a:r>
              <a:rPr lang="en-US" sz="1600" dirty="0">
                <a:solidFill>
                  <a:srgbClr val="AEB8CC"/>
                </a:solidFill>
              </a:rPr>
              <a:t>with analysis assistance from Claude Sonnet 4.7 (Anthropic) · ADASS 2026, Perth</a:t>
            </a:r>
            <a:endParaRPr lang="en-US" sz="2000" dirty="0"/>
          </a:p>
        </p:txBody>
      </p:sp>
      <p:sp>
        <p:nvSpPr>
          <p:cNvPr id="4" name="result 1"/>
          <p:cNvSpPr/>
          <p:nvPr/>
        </p:nvSpPr>
        <p:spPr>
          <a:xfrm>
            <a:off x="584846" y="5847588"/>
            <a:ext cx="118872" cy="118872"/>
          </a:xfrm>
          <a:prstGeom prst="ellipse">
            <a:avLst/>
          </a:prstGeom>
          <a:solidFill>
            <a:srgbClr val="1A9850"/>
          </a:solidFill>
          <a:ln w="6350">
            <a:solidFill>
              <a:srgbClr val="1A9850"/>
            </a:solidFill>
            <a:prstDash val="solid"/>
          </a:ln>
        </p:spPr>
      </p:sp>
      <p:sp>
        <p:nvSpPr>
          <p:cNvPr id="5" name="result 2"/>
          <p:cNvSpPr/>
          <p:nvPr/>
        </p:nvSpPr>
        <p:spPr>
          <a:xfrm>
            <a:off x="584846" y="5705856"/>
            <a:ext cx="118872" cy="118872"/>
          </a:xfrm>
          <a:prstGeom prst="ellipse">
            <a:avLst/>
          </a:prstGeom>
          <a:solidFill>
            <a:srgbClr val="66BD63"/>
          </a:solidFill>
          <a:ln w="6350">
            <a:solidFill>
              <a:srgbClr val="66BD63"/>
            </a:solidFill>
            <a:prstDash val="solid"/>
          </a:ln>
        </p:spPr>
      </p:sp>
      <p:sp>
        <p:nvSpPr>
          <p:cNvPr id="6" name="result 3"/>
          <p:cNvSpPr/>
          <p:nvPr/>
        </p:nvSpPr>
        <p:spPr>
          <a:xfrm>
            <a:off x="584846" y="5564124"/>
            <a:ext cx="118872" cy="118872"/>
          </a:xfrm>
          <a:prstGeom prst="ellipse">
            <a:avLst/>
          </a:prstGeom>
          <a:solidFill>
            <a:srgbClr val="66BD63"/>
          </a:solidFill>
          <a:ln w="6350">
            <a:solidFill>
              <a:srgbClr val="66BD63"/>
            </a:solidFill>
            <a:prstDash val="solid"/>
          </a:ln>
        </p:spPr>
      </p:sp>
      <p:sp>
        <p:nvSpPr>
          <p:cNvPr id="7" name="result 4"/>
          <p:cNvSpPr/>
          <p:nvPr/>
        </p:nvSpPr>
        <p:spPr>
          <a:xfrm>
            <a:off x="584846" y="5422392"/>
            <a:ext cx="118872" cy="118872"/>
          </a:xfrm>
          <a:prstGeom prst="ellipse">
            <a:avLst/>
          </a:prstGeom>
          <a:solidFill>
            <a:srgbClr val="66BD63"/>
          </a:solidFill>
          <a:ln w="6350">
            <a:solidFill>
              <a:srgbClr val="66BD63"/>
            </a:solidFill>
            <a:prstDash val="solid"/>
          </a:ln>
        </p:spPr>
      </p:sp>
      <p:sp>
        <p:nvSpPr>
          <p:cNvPr id="8" name="result 5"/>
          <p:cNvSpPr/>
          <p:nvPr/>
        </p:nvSpPr>
        <p:spPr>
          <a:xfrm>
            <a:off x="584846" y="5280660"/>
            <a:ext cx="118872" cy="118872"/>
          </a:xfrm>
          <a:prstGeom prst="ellipse">
            <a:avLst/>
          </a:prstGeom>
          <a:solidFill>
            <a:srgbClr val="66BD63"/>
          </a:solidFill>
          <a:ln w="6350">
            <a:solidFill>
              <a:srgbClr val="66BD63"/>
            </a:solidFill>
            <a:prstDash val="solid"/>
          </a:ln>
        </p:spPr>
      </p:sp>
      <p:sp>
        <p:nvSpPr>
          <p:cNvPr id="9" name="result 6"/>
          <p:cNvSpPr/>
          <p:nvPr/>
        </p:nvSpPr>
        <p:spPr>
          <a:xfrm>
            <a:off x="584846" y="5138928"/>
            <a:ext cx="118872" cy="118872"/>
          </a:xfrm>
          <a:prstGeom prst="ellipse">
            <a:avLst/>
          </a:prstGeom>
          <a:solidFill>
            <a:srgbClr val="66BD63"/>
          </a:solidFill>
          <a:ln w="6350">
            <a:solidFill>
              <a:srgbClr val="66BD63"/>
            </a:solidFill>
            <a:prstDash val="solid"/>
          </a:ln>
        </p:spPr>
      </p:sp>
      <p:sp>
        <p:nvSpPr>
          <p:cNvPr id="10" name="result 7"/>
          <p:cNvSpPr/>
          <p:nvPr/>
        </p:nvSpPr>
        <p:spPr>
          <a:xfrm>
            <a:off x="776129" y="5847588"/>
            <a:ext cx="118872" cy="118872"/>
          </a:xfrm>
          <a:prstGeom prst="ellipse">
            <a:avLst/>
          </a:prstGeom>
          <a:solidFill>
            <a:srgbClr val="66BD63"/>
          </a:solidFill>
          <a:ln w="6350">
            <a:solidFill>
              <a:srgbClr val="66BD63"/>
            </a:solidFill>
            <a:prstDash val="solid"/>
          </a:ln>
        </p:spPr>
      </p:sp>
      <p:sp>
        <p:nvSpPr>
          <p:cNvPr id="11" name="result 8"/>
          <p:cNvSpPr/>
          <p:nvPr/>
        </p:nvSpPr>
        <p:spPr>
          <a:xfrm>
            <a:off x="776129" y="5705856"/>
            <a:ext cx="118872" cy="118872"/>
          </a:xfrm>
          <a:prstGeom prst="ellipse">
            <a:avLst/>
          </a:prstGeom>
          <a:solidFill>
            <a:srgbClr val="66BD63"/>
          </a:solidFill>
          <a:ln w="6350">
            <a:solidFill>
              <a:srgbClr val="66BD63"/>
            </a:solidFill>
            <a:prstDash val="solid"/>
          </a:ln>
        </p:spPr>
      </p:sp>
      <p:sp>
        <p:nvSpPr>
          <p:cNvPr id="12" name="result 9"/>
          <p:cNvSpPr/>
          <p:nvPr/>
        </p:nvSpPr>
        <p:spPr>
          <a:xfrm>
            <a:off x="776129" y="5564124"/>
            <a:ext cx="118872" cy="118872"/>
          </a:xfrm>
          <a:prstGeom prst="ellipse">
            <a:avLst/>
          </a:prstGeom>
          <a:solidFill>
            <a:srgbClr val="66BD63"/>
          </a:solidFill>
          <a:ln w="6350">
            <a:solidFill>
              <a:srgbClr val="66BD63"/>
            </a:solidFill>
            <a:prstDash val="solid"/>
          </a:ln>
        </p:spPr>
      </p:sp>
      <p:sp>
        <p:nvSpPr>
          <p:cNvPr id="13" name="result 10"/>
          <p:cNvSpPr/>
          <p:nvPr/>
        </p:nvSpPr>
        <p:spPr>
          <a:xfrm>
            <a:off x="776129" y="5422392"/>
            <a:ext cx="118872" cy="118872"/>
          </a:xfrm>
          <a:prstGeom prst="ellipse">
            <a:avLst/>
          </a:prstGeom>
          <a:solidFill>
            <a:srgbClr val="66BD63"/>
          </a:solidFill>
          <a:ln w="6350">
            <a:solidFill>
              <a:srgbClr val="66BD63"/>
            </a:solidFill>
            <a:prstDash val="solid"/>
          </a:ln>
        </p:spPr>
      </p:sp>
      <p:sp>
        <p:nvSpPr>
          <p:cNvPr id="14" name="result 11"/>
          <p:cNvSpPr/>
          <p:nvPr/>
        </p:nvSpPr>
        <p:spPr>
          <a:xfrm>
            <a:off x="776129" y="5280660"/>
            <a:ext cx="118872" cy="118872"/>
          </a:xfrm>
          <a:prstGeom prst="ellipse">
            <a:avLst/>
          </a:prstGeom>
          <a:solidFill>
            <a:srgbClr val="66BD63"/>
          </a:solidFill>
          <a:ln w="6350">
            <a:solidFill>
              <a:srgbClr val="66BD63"/>
            </a:solidFill>
            <a:prstDash val="solid"/>
          </a:ln>
        </p:spPr>
      </p:sp>
      <p:sp>
        <p:nvSpPr>
          <p:cNvPr id="15" name="result 12"/>
          <p:cNvSpPr/>
          <p:nvPr/>
        </p:nvSpPr>
        <p:spPr>
          <a:xfrm>
            <a:off x="776129" y="5138928"/>
            <a:ext cx="118872" cy="118872"/>
          </a:xfrm>
          <a:prstGeom prst="ellipse">
            <a:avLst/>
          </a:prstGeom>
          <a:solidFill>
            <a:srgbClr val="66BD63"/>
          </a:solidFill>
          <a:ln w="6350">
            <a:solidFill>
              <a:srgbClr val="66BD63"/>
            </a:solidFill>
            <a:prstDash val="solid"/>
          </a:ln>
        </p:spPr>
      </p:sp>
      <p:sp>
        <p:nvSpPr>
          <p:cNvPr id="16" name="result 13"/>
          <p:cNvSpPr/>
          <p:nvPr/>
        </p:nvSpPr>
        <p:spPr>
          <a:xfrm>
            <a:off x="776129" y="4997196"/>
            <a:ext cx="118872" cy="118872"/>
          </a:xfrm>
          <a:prstGeom prst="ellipse">
            <a:avLst/>
          </a:prstGeom>
          <a:solidFill>
            <a:srgbClr val="66BD63"/>
          </a:solidFill>
          <a:ln w="6350">
            <a:solidFill>
              <a:srgbClr val="66BD63"/>
            </a:solidFill>
            <a:prstDash val="solid"/>
          </a:ln>
        </p:spPr>
      </p:sp>
      <p:sp>
        <p:nvSpPr>
          <p:cNvPr id="17" name="result 14"/>
          <p:cNvSpPr/>
          <p:nvPr/>
        </p:nvSpPr>
        <p:spPr>
          <a:xfrm>
            <a:off x="776129" y="4855464"/>
            <a:ext cx="118872" cy="118872"/>
          </a:xfrm>
          <a:prstGeom prst="ellipse">
            <a:avLst/>
          </a:prstGeom>
          <a:solidFill>
            <a:srgbClr val="66BD63"/>
          </a:solidFill>
          <a:ln w="6350">
            <a:solidFill>
              <a:srgbClr val="66BD63"/>
            </a:solidFill>
            <a:prstDash val="solid"/>
          </a:ln>
        </p:spPr>
      </p:sp>
      <p:sp>
        <p:nvSpPr>
          <p:cNvPr id="18" name="result 15"/>
          <p:cNvSpPr/>
          <p:nvPr/>
        </p:nvSpPr>
        <p:spPr>
          <a:xfrm>
            <a:off x="776129" y="4713732"/>
            <a:ext cx="118872" cy="118872"/>
          </a:xfrm>
          <a:prstGeom prst="ellipse">
            <a:avLst/>
          </a:prstGeom>
          <a:solidFill>
            <a:srgbClr val="66BD63"/>
          </a:solidFill>
          <a:ln w="6350">
            <a:solidFill>
              <a:srgbClr val="66BD63"/>
            </a:solidFill>
            <a:prstDash val="solid"/>
          </a:ln>
        </p:spPr>
      </p:sp>
      <p:sp>
        <p:nvSpPr>
          <p:cNvPr id="19" name="result 16"/>
          <p:cNvSpPr/>
          <p:nvPr/>
        </p:nvSpPr>
        <p:spPr>
          <a:xfrm>
            <a:off x="776129" y="4572000"/>
            <a:ext cx="118872" cy="118872"/>
          </a:xfrm>
          <a:prstGeom prst="ellipse">
            <a:avLst/>
          </a:prstGeom>
          <a:solidFill>
            <a:srgbClr val="66BD63"/>
          </a:solidFill>
          <a:ln w="6350">
            <a:solidFill>
              <a:srgbClr val="66BD63"/>
            </a:solidFill>
            <a:prstDash val="solid"/>
          </a:ln>
        </p:spPr>
      </p:sp>
      <p:sp>
        <p:nvSpPr>
          <p:cNvPr id="20" name="result 17"/>
          <p:cNvSpPr/>
          <p:nvPr/>
        </p:nvSpPr>
        <p:spPr>
          <a:xfrm>
            <a:off x="776129" y="4430268"/>
            <a:ext cx="118872" cy="118872"/>
          </a:xfrm>
          <a:prstGeom prst="ellipse">
            <a:avLst/>
          </a:prstGeom>
          <a:solidFill>
            <a:srgbClr val="66BD63"/>
          </a:solidFill>
          <a:ln w="6350">
            <a:solidFill>
              <a:srgbClr val="66BD63"/>
            </a:solidFill>
            <a:prstDash val="solid"/>
          </a:ln>
        </p:spPr>
      </p:sp>
      <p:sp>
        <p:nvSpPr>
          <p:cNvPr id="21" name="result 18"/>
          <p:cNvSpPr/>
          <p:nvPr/>
        </p:nvSpPr>
        <p:spPr>
          <a:xfrm>
            <a:off x="776129" y="4288536"/>
            <a:ext cx="118872" cy="118872"/>
          </a:xfrm>
          <a:prstGeom prst="ellipse">
            <a:avLst/>
          </a:prstGeom>
          <a:solidFill>
            <a:srgbClr val="66BD63"/>
          </a:solidFill>
          <a:ln w="6350">
            <a:solidFill>
              <a:srgbClr val="66BD63"/>
            </a:solidFill>
            <a:prstDash val="solid"/>
          </a:ln>
        </p:spPr>
      </p:sp>
      <p:sp>
        <p:nvSpPr>
          <p:cNvPr id="22" name="result 19"/>
          <p:cNvSpPr/>
          <p:nvPr/>
        </p:nvSpPr>
        <p:spPr>
          <a:xfrm>
            <a:off x="776129" y="4146804"/>
            <a:ext cx="118872" cy="118872"/>
          </a:xfrm>
          <a:prstGeom prst="ellipse">
            <a:avLst/>
          </a:prstGeom>
          <a:solidFill>
            <a:srgbClr val="66BD63"/>
          </a:solidFill>
          <a:ln w="6350">
            <a:solidFill>
              <a:srgbClr val="66BD63"/>
            </a:solidFill>
            <a:prstDash val="solid"/>
          </a:ln>
        </p:spPr>
      </p:sp>
      <p:sp>
        <p:nvSpPr>
          <p:cNvPr id="23" name="result 20"/>
          <p:cNvSpPr/>
          <p:nvPr/>
        </p:nvSpPr>
        <p:spPr>
          <a:xfrm>
            <a:off x="776129" y="4005072"/>
            <a:ext cx="118872" cy="118872"/>
          </a:xfrm>
          <a:prstGeom prst="ellipse">
            <a:avLst/>
          </a:prstGeom>
          <a:solidFill>
            <a:srgbClr val="66BD63"/>
          </a:solidFill>
          <a:ln w="6350">
            <a:solidFill>
              <a:srgbClr val="66BD63"/>
            </a:solidFill>
            <a:prstDash val="solid"/>
          </a:ln>
        </p:spPr>
      </p:sp>
      <p:sp>
        <p:nvSpPr>
          <p:cNvPr id="24" name="result 21"/>
          <p:cNvSpPr/>
          <p:nvPr/>
        </p:nvSpPr>
        <p:spPr>
          <a:xfrm>
            <a:off x="1158695" y="5847588"/>
            <a:ext cx="118872" cy="118872"/>
          </a:xfrm>
          <a:prstGeom prst="ellipse">
            <a:avLst/>
          </a:prstGeom>
          <a:solidFill>
            <a:srgbClr val="66BD63"/>
          </a:solidFill>
          <a:ln w="6350">
            <a:solidFill>
              <a:srgbClr val="66BD63"/>
            </a:solidFill>
            <a:prstDash val="solid"/>
          </a:ln>
        </p:spPr>
      </p:sp>
      <p:sp>
        <p:nvSpPr>
          <p:cNvPr id="25" name="result 22"/>
          <p:cNvSpPr/>
          <p:nvPr/>
        </p:nvSpPr>
        <p:spPr>
          <a:xfrm>
            <a:off x="1158695" y="5705856"/>
            <a:ext cx="118872" cy="118872"/>
          </a:xfrm>
          <a:prstGeom prst="ellipse">
            <a:avLst/>
          </a:prstGeom>
          <a:solidFill>
            <a:srgbClr val="A6D96A"/>
          </a:solidFill>
          <a:ln w="6350">
            <a:solidFill>
              <a:srgbClr val="A6D96A"/>
            </a:solidFill>
            <a:prstDash val="solid"/>
          </a:ln>
        </p:spPr>
      </p:sp>
      <p:sp>
        <p:nvSpPr>
          <p:cNvPr id="26" name="result 23"/>
          <p:cNvSpPr/>
          <p:nvPr/>
        </p:nvSpPr>
        <p:spPr>
          <a:xfrm>
            <a:off x="1158695" y="5564124"/>
            <a:ext cx="118872" cy="118872"/>
          </a:xfrm>
          <a:prstGeom prst="ellipse">
            <a:avLst/>
          </a:prstGeom>
          <a:solidFill>
            <a:srgbClr val="A6D96A"/>
          </a:solidFill>
          <a:ln w="6350">
            <a:solidFill>
              <a:srgbClr val="A6D96A"/>
            </a:solidFill>
            <a:prstDash val="solid"/>
          </a:ln>
        </p:spPr>
      </p:sp>
      <p:sp>
        <p:nvSpPr>
          <p:cNvPr id="27" name="result 24"/>
          <p:cNvSpPr/>
          <p:nvPr/>
        </p:nvSpPr>
        <p:spPr>
          <a:xfrm>
            <a:off x="1349978" y="5847588"/>
            <a:ext cx="118872" cy="118872"/>
          </a:xfrm>
          <a:prstGeom prst="ellipse">
            <a:avLst/>
          </a:prstGeom>
          <a:solidFill>
            <a:srgbClr val="A6D96A"/>
          </a:solidFill>
          <a:ln w="6350">
            <a:solidFill>
              <a:srgbClr val="A6D96A"/>
            </a:solidFill>
            <a:prstDash val="solid"/>
          </a:ln>
        </p:spPr>
      </p:sp>
      <p:sp>
        <p:nvSpPr>
          <p:cNvPr id="28" name="result 25"/>
          <p:cNvSpPr/>
          <p:nvPr/>
        </p:nvSpPr>
        <p:spPr>
          <a:xfrm>
            <a:off x="1349978" y="5705856"/>
            <a:ext cx="118872" cy="118872"/>
          </a:xfrm>
          <a:prstGeom prst="ellipse">
            <a:avLst/>
          </a:prstGeom>
          <a:solidFill>
            <a:srgbClr val="A6D96A"/>
          </a:solidFill>
          <a:ln w="6350">
            <a:solidFill>
              <a:srgbClr val="A6D96A"/>
            </a:solidFill>
            <a:prstDash val="solid"/>
          </a:ln>
        </p:spPr>
      </p:sp>
      <p:sp>
        <p:nvSpPr>
          <p:cNvPr id="29" name="result 26"/>
          <p:cNvSpPr/>
          <p:nvPr/>
        </p:nvSpPr>
        <p:spPr>
          <a:xfrm>
            <a:off x="1349978" y="5564124"/>
            <a:ext cx="118872" cy="118872"/>
          </a:xfrm>
          <a:prstGeom prst="ellipse">
            <a:avLst/>
          </a:prstGeom>
          <a:solidFill>
            <a:srgbClr val="A6D96A"/>
          </a:solidFill>
          <a:ln w="6350">
            <a:solidFill>
              <a:srgbClr val="A6D96A"/>
            </a:solidFill>
            <a:prstDash val="solid"/>
          </a:ln>
        </p:spPr>
      </p:sp>
      <p:sp>
        <p:nvSpPr>
          <p:cNvPr id="30" name="result 27"/>
          <p:cNvSpPr/>
          <p:nvPr/>
        </p:nvSpPr>
        <p:spPr>
          <a:xfrm>
            <a:off x="1349978" y="5422392"/>
            <a:ext cx="118872" cy="118872"/>
          </a:xfrm>
          <a:prstGeom prst="ellipse">
            <a:avLst/>
          </a:prstGeom>
          <a:solidFill>
            <a:srgbClr val="A6D96A"/>
          </a:solidFill>
          <a:ln w="6350">
            <a:solidFill>
              <a:srgbClr val="A6D96A"/>
            </a:solidFill>
            <a:prstDash val="solid"/>
          </a:ln>
        </p:spPr>
      </p:sp>
      <p:sp>
        <p:nvSpPr>
          <p:cNvPr id="31" name="result 28"/>
          <p:cNvSpPr/>
          <p:nvPr/>
        </p:nvSpPr>
        <p:spPr>
          <a:xfrm>
            <a:off x="1349978" y="5280660"/>
            <a:ext cx="118872" cy="118872"/>
          </a:xfrm>
          <a:prstGeom prst="ellipse">
            <a:avLst/>
          </a:prstGeom>
          <a:solidFill>
            <a:srgbClr val="A6D96A"/>
          </a:solidFill>
          <a:ln w="6350">
            <a:solidFill>
              <a:srgbClr val="A6D96A"/>
            </a:solidFill>
            <a:prstDash val="solid"/>
          </a:ln>
        </p:spPr>
      </p:sp>
      <p:sp>
        <p:nvSpPr>
          <p:cNvPr id="32" name="result 29"/>
          <p:cNvSpPr/>
          <p:nvPr/>
        </p:nvSpPr>
        <p:spPr>
          <a:xfrm>
            <a:off x="1541261" y="5847588"/>
            <a:ext cx="118872" cy="118872"/>
          </a:xfrm>
          <a:prstGeom prst="ellipse">
            <a:avLst/>
          </a:prstGeom>
          <a:solidFill>
            <a:srgbClr val="A6D96A"/>
          </a:solidFill>
          <a:ln w="6350">
            <a:solidFill>
              <a:srgbClr val="A6D96A"/>
            </a:solidFill>
            <a:prstDash val="solid"/>
          </a:ln>
        </p:spPr>
      </p:sp>
      <p:sp>
        <p:nvSpPr>
          <p:cNvPr id="33" name="result 30"/>
          <p:cNvSpPr/>
          <p:nvPr/>
        </p:nvSpPr>
        <p:spPr>
          <a:xfrm>
            <a:off x="1541261" y="5705856"/>
            <a:ext cx="118872" cy="118872"/>
          </a:xfrm>
          <a:prstGeom prst="ellipse">
            <a:avLst/>
          </a:prstGeom>
          <a:solidFill>
            <a:srgbClr val="A6D96A"/>
          </a:solidFill>
          <a:ln w="6350">
            <a:solidFill>
              <a:srgbClr val="A6D96A"/>
            </a:solidFill>
            <a:prstDash val="solid"/>
          </a:ln>
        </p:spPr>
      </p:sp>
      <p:sp>
        <p:nvSpPr>
          <p:cNvPr id="34" name="result 31"/>
          <p:cNvSpPr/>
          <p:nvPr/>
        </p:nvSpPr>
        <p:spPr>
          <a:xfrm>
            <a:off x="1541261" y="5564124"/>
            <a:ext cx="118872" cy="118872"/>
          </a:xfrm>
          <a:prstGeom prst="ellipse">
            <a:avLst/>
          </a:prstGeom>
          <a:solidFill>
            <a:srgbClr val="A6D96A"/>
          </a:solidFill>
          <a:ln w="6350">
            <a:solidFill>
              <a:srgbClr val="A6D96A"/>
            </a:solidFill>
            <a:prstDash val="solid"/>
          </a:ln>
        </p:spPr>
      </p:sp>
      <p:sp>
        <p:nvSpPr>
          <p:cNvPr id="35" name="result 32"/>
          <p:cNvSpPr/>
          <p:nvPr/>
        </p:nvSpPr>
        <p:spPr>
          <a:xfrm>
            <a:off x="1541261" y="5422392"/>
            <a:ext cx="118872" cy="118872"/>
          </a:xfrm>
          <a:prstGeom prst="ellipse">
            <a:avLst/>
          </a:prstGeom>
          <a:solidFill>
            <a:srgbClr val="A6D96A"/>
          </a:solidFill>
          <a:ln w="6350">
            <a:solidFill>
              <a:srgbClr val="A6D96A"/>
            </a:solidFill>
            <a:prstDash val="solid"/>
          </a:ln>
        </p:spPr>
      </p:sp>
      <p:sp>
        <p:nvSpPr>
          <p:cNvPr id="36" name="result 33"/>
          <p:cNvSpPr/>
          <p:nvPr/>
        </p:nvSpPr>
        <p:spPr>
          <a:xfrm>
            <a:off x="1541261" y="5280660"/>
            <a:ext cx="118872" cy="118872"/>
          </a:xfrm>
          <a:prstGeom prst="ellipse">
            <a:avLst/>
          </a:prstGeom>
          <a:solidFill>
            <a:srgbClr val="A6D96A"/>
          </a:solidFill>
          <a:ln w="6350">
            <a:solidFill>
              <a:srgbClr val="A6D96A"/>
            </a:solidFill>
            <a:prstDash val="solid"/>
          </a:ln>
        </p:spPr>
      </p:sp>
      <p:sp>
        <p:nvSpPr>
          <p:cNvPr id="37" name="result 34"/>
          <p:cNvSpPr/>
          <p:nvPr/>
        </p:nvSpPr>
        <p:spPr>
          <a:xfrm>
            <a:off x="1541261" y="5138928"/>
            <a:ext cx="118872" cy="118872"/>
          </a:xfrm>
          <a:prstGeom prst="ellipse">
            <a:avLst/>
          </a:prstGeom>
          <a:solidFill>
            <a:srgbClr val="A6D96A"/>
          </a:solidFill>
          <a:ln w="6350">
            <a:solidFill>
              <a:srgbClr val="A6D96A"/>
            </a:solidFill>
            <a:prstDash val="solid"/>
          </a:ln>
        </p:spPr>
      </p:sp>
      <p:sp>
        <p:nvSpPr>
          <p:cNvPr id="38" name="result 35"/>
          <p:cNvSpPr/>
          <p:nvPr/>
        </p:nvSpPr>
        <p:spPr>
          <a:xfrm>
            <a:off x="1541261" y="4997196"/>
            <a:ext cx="118872" cy="118872"/>
          </a:xfrm>
          <a:prstGeom prst="ellipse">
            <a:avLst/>
          </a:prstGeom>
          <a:solidFill>
            <a:srgbClr val="A6D96A"/>
          </a:solidFill>
          <a:ln w="6350">
            <a:solidFill>
              <a:srgbClr val="A6D96A"/>
            </a:solidFill>
            <a:prstDash val="solid"/>
          </a:ln>
        </p:spPr>
      </p:sp>
      <p:sp>
        <p:nvSpPr>
          <p:cNvPr id="39" name="result 36"/>
          <p:cNvSpPr/>
          <p:nvPr/>
        </p:nvSpPr>
        <p:spPr>
          <a:xfrm>
            <a:off x="1541261" y="4855464"/>
            <a:ext cx="118872" cy="118872"/>
          </a:xfrm>
          <a:prstGeom prst="ellipse">
            <a:avLst/>
          </a:prstGeom>
          <a:solidFill>
            <a:srgbClr val="A6D96A"/>
          </a:solidFill>
          <a:ln w="6350">
            <a:solidFill>
              <a:srgbClr val="A6D96A"/>
            </a:solidFill>
            <a:prstDash val="solid"/>
          </a:ln>
        </p:spPr>
      </p:sp>
      <p:sp>
        <p:nvSpPr>
          <p:cNvPr id="40" name="result 37"/>
          <p:cNvSpPr/>
          <p:nvPr/>
        </p:nvSpPr>
        <p:spPr>
          <a:xfrm>
            <a:off x="1732544" y="5847588"/>
            <a:ext cx="118872" cy="118872"/>
          </a:xfrm>
          <a:prstGeom prst="ellipse">
            <a:avLst/>
          </a:prstGeom>
          <a:solidFill>
            <a:srgbClr val="A6D96A"/>
          </a:solidFill>
          <a:ln w="6350">
            <a:solidFill>
              <a:srgbClr val="A6D96A"/>
            </a:solidFill>
            <a:prstDash val="solid"/>
          </a:ln>
        </p:spPr>
      </p:sp>
      <p:sp>
        <p:nvSpPr>
          <p:cNvPr id="41" name="result 38"/>
          <p:cNvSpPr/>
          <p:nvPr/>
        </p:nvSpPr>
        <p:spPr>
          <a:xfrm>
            <a:off x="1732544" y="5705856"/>
            <a:ext cx="118872" cy="118872"/>
          </a:xfrm>
          <a:prstGeom prst="ellipse">
            <a:avLst/>
          </a:prstGeom>
          <a:solidFill>
            <a:srgbClr val="A6D96A"/>
          </a:solidFill>
          <a:ln w="6350">
            <a:solidFill>
              <a:srgbClr val="A6D96A"/>
            </a:solidFill>
            <a:prstDash val="solid"/>
          </a:ln>
        </p:spPr>
      </p:sp>
      <p:sp>
        <p:nvSpPr>
          <p:cNvPr id="42" name="result 39"/>
          <p:cNvSpPr/>
          <p:nvPr/>
        </p:nvSpPr>
        <p:spPr>
          <a:xfrm>
            <a:off x="1732544" y="5564124"/>
            <a:ext cx="118872" cy="118872"/>
          </a:xfrm>
          <a:prstGeom prst="ellipse">
            <a:avLst/>
          </a:prstGeom>
          <a:solidFill>
            <a:srgbClr val="A6D96A"/>
          </a:solidFill>
          <a:ln w="6350">
            <a:solidFill>
              <a:srgbClr val="A6D96A"/>
            </a:solidFill>
            <a:prstDash val="solid"/>
          </a:ln>
        </p:spPr>
      </p:sp>
      <p:sp>
        <p:nvSpPr>
          <p:cNvPr id="43" name="result 40"/>
          <p:cNvSpPr/>
          <p:nvPr/>
        </p:nvSpPr>
        <p:spPr>
          <a:xfrm>
            <a:off x="1732544" y="5422392"/>
            <a:ext cx="118872" cy="118872"/>
          </a:xfrm>
          <a:prstGeom prst="ellipse">
            <a:avLst/>
          </a:prstGeom>
          <a:solidFill>
            <a:srgbClr val="A6D96A"/>
          </a:solidFill>
          <a:ln w="6350">
            <a:solidFill>
              <a:srgbClr val="A6D96A"/>
            </a:solidFill>
            <a:prstDash val="solid"/>
          </a:ln>
        </p:spPr>
      </p:sp>
      <p:sp>
        <p:nvSpPr>
          <p:cNvPr id="44" name="result 41"/>
          <p:cNvSpPr/>
          <p:nvPr/>
        </p:nvSpPr>
        <p:spPr>
          <a:xfrm>
            <a:off x="1732544" y="5280660"/>
            <a:ext cx="118872" cy="118872"/>
          </a:xfrm>
          <a:prstGeom prst="ellipse">
            <a:avLst/>
          </a:prstGeom>
          <a:solidFill>
            <a:srgbClr val="A6D96A"/>
          </a:solidFill>
          <a:ln w="6350">
            <a:solidFill>
              <a:srgbClr val="A6D96A"/>
            </a:solidFill>
            <a:prstDash val="solid"/>
          </a:ln>
        </p:spPr>
      </p:sp>
      <p:sp>
        <p:nvSpPr>
          <p:cNvPr id="45" name="result 42"/>
          <p:cNvSpPr/>
          <p:nvPr/>
        </p:nvSpPr>
        <p:spPr>
          <a:xfrm>
            <a:off x="1732544" y="5138928"/>
            <a:ext cx="118872" cy="118872"/>
          </a:xfrm>
          <a:prstGeom prst="ellipse">
            <a:avLst/>
          </a:prstGeom>
          <a:solidFill>
            <a:srgbClr val="A6D96A"/>
          </a:solidFill>
          <a:ln w="6350">
            <a:solidFill>
              <a:srgbClr val="A6D96A"/>
            </a:solidFill>
            <a:prstDash val="solid"/>
          </a:ln>
        </p:spPr>
      </p:sp>
      <p:sp>
        <p:nvSpPr>
          <p:cNvPr id="46" name="result 43"/>
          <p:cNvSpPr/>
          <p:nvPr/>
        </p:nvSpPr>
        <p:spPr>
          <a:xfrm>
            <a:off x="1732544" y="4997196"/>
            <a:ext cx="118872" cy="118872"/>
          </a:xfrm>
          <a:prstGeom prst="ellipse">
            <a:avLst/>
          </a:prstGeom>
          <a:solidFill>
            <a:srgbClr val="A6D96A"/>
          </a:solidFill>
          <a:ln w="6350">
            <a:solidFill>
              <a:srgbClr val="A6D96A"/>
            </a:solidFill>
            <a:prstDash val="solid"/>
          </a:ln>
        </p:spPr>
      </p:sp>
      <p:sp>
        <p:nvSpPr>
          <p:cNvPr id="47" name="result 44"/>
          <p:cNvSpPr/>
          <p:nvPr/>
        </p:nvSpPr>
        <p:spPr>
          <a:xfrm>
            <a:off x="1732544" y="4855464"/>
            <a:ext cx="118872" cy="118872"/>
          </a:xfrm>
          <a:prstGeom prst="ellipse">
            <a:avLst/>
          </a:prstGeom>
          <a:solidFill>
            <a:srgbClr val="A6D96A"/>
          </a:solidFill>
          <a:ln w="6350">
            <a:solidFill>
              <a:srgbClr val="A6D96A"/>
            </a:solidFill>
            <a:prstDash val="solid"/>
          </a:ln>
        </p:spPr>
      </p:sp>
      <p:sp>
        <p:nvSpPr>
          <p:cNvPr id="48" name="result 45"/>
          <p:cNvSpPr/>
          <p:nvPr/>
        </p:nvSpPr>
        <p:spPr>
          <a:xfrm>
            <a:off x="1732544" y="4713732"/>
            <a:ext cx="118872" cy="118872"/>
          </a:xfrm>
          <a:prstGeom prst="ellipse">
            <a:avLst/>
          </a:prstGeom>
          <a:solidFill>
            <a:srgbClr val="A6D96A"/>
          </a:solidFill>
          <a:ln w="6350">
            <a:solidFill>
              <a:srgbClr val="A6D96A"/>
            </a:solidFill>
            <a:prstDash val="solid"/>
          </a:ln>
        </p:spPr>
      </p:sp>
      <p:sp>
        <p:nvSpPr>
          <p:cNvPr id="49" name="result 46"/>
          <p:cNvSpPr/>
          <p:nvPr/>
        </p:nvSpPr>
        <p:spPr>
          <a:xfrm>
            <a:off x="1732544" y="4572000"/>
            <a:ext cx="118872" cy="118872"/>
          </a:xfrm>
          <a:prstGeom prst="ellipse">
            <a:avLst/>
          </a:prstGeom>
          <a:solidFill>
            <a:srgbClr val="A6D96A"/>
          </a:solidFill>
          <a:ln w="6350">
            <a:solidFill>
              <a:srgbClr val="A6D96A"/>
            </a:solidFill>
            <a:prstDash val="solid"/>
          </a:ln>
        </p:spPr>
      </p:sp>
      <p:sp>
        <p:nvSpPr>
          <p:cNvPr id="50" name="result 47"/>
          <p:cNvSpPr/>
          <p:nvPr/>
        </p:nvSpPr>
        <p:spPr>
          <a:xfrm>
            <a:off x="1732544" y="4430268"/>
            <a:ext cx="118872" cy="118872"/>
          </a:xfrm>
          <a:prstGeom prst="ellipse">
            <a:avLst/>
          </a:prstGeom>
          <a:solidFill>
            <a:srgbClr val="A6D96A"/>
          </a:solidFill>
          <a:ln w="6350">
            <a:solidFill>
              <a:srgbClr val="A6D96A"/>
            </a:solidFill>
            <a:prstDash val="solid"/>
          </a:ln>
        </p:spPr>
      </p:sp>
      <p:sp>
        <p:nvSpPr>
          <p:cNvPr id="51" name="result 48"/>
          <p:cNvSpPr/>
          <p:nvPr/>
        </p:nvSpPr>
        <p:spPr>
          <a:xfrm>
            <a:off x="1732544" y="4288536"/>
            <a:ext cx="118872" cy="118872"/>
          </a:xfrm>
          <a:prstGeom prst="ellipse">
            <a:avLst/>
          </a:prstGeom>
          <a:solidFill>
            <a:srgbClr val="A6D96A"/>
          </a:solidFill>
          <a:ln w="6350">
            <a:solidFill>
              <a:srgbClr val="A6D96A"/>
            </a:solidFill>
            <a:prstDash val="solid"/>
          </a:ln>
        </p:spPr>
      </p:sp>
      <p:sp>
        <p:nvSpPr>
          <p:cNvPr id="52" name="result 49"/>
          <p:cNvSpPr/>
          <p:nvPr/>
        </p:nvSpPr>
        <p:spPr>
          <a:xfrm>
            <a:off x="1732544" y="4146804"/>
            <a:ext cx="118872" cy="118872"/>
          </a:xfrm>
          <a:prstGeom prst="ellipse">
            <a:avLst/>
          </a:prstGeom>
          <a:solidFill>
            <a:srgbClr val="A6D96A"/>
          </a:solidFill>
          <a:ln w="6350">
            <a:solidFill>
              <a:srgbClr val="A6D96A"/>
            </a:solidFill>
            <a:prstDash val="solid"/>
          </a:ln>
        </p:spPr>
      </p:sp>
      <p:sp>
        <p:nvSpPr>
          <p:cNvPr id="53" name="result 50"/>
          <p:cNvSpPr/>
          <p:nvPr/>
        </p:nvSpPr>
        <p:spPr>
          <a:xfrm>
            <a:off x="1732544" y="4005072"/>
            <a:ext cx="118872" cy="118872"/>
          </a:xfrm>
          <a:prstGeom prst="ellipse">
            <a:avLst/>
          </a:prstGeom>
          <a:solidFill>
            <a:srgbClr val="A6D96A"/>
          </a:solidFill>
          <a:ln w="6350">
            <a:solidFill>
              <a:srgbClr val="A6D96A"/>
            </a:solidFill>
            <a:prstDash val="solid"/>
          </a:ln>
        </p:spPr>
      </p:sp>
      <p:sp>
        <p:nvSpPr>
          <p:cNvPr id="54" name="result 51"/>
          <p:cNvSpPr/>
          <p:nvPr/>
        </p:nvSpPr>
        <p:spPr>
          <a:xfrm>
            <a:off x="1732544" y="3863340"/>
            <a:ext cx="118872" cy="118872"/>
          </a:xfrm>
          <a:prstGeom prst="ellipse">
            <a:avLst/>
          </a:prstGeom>
          <a:solidFill>
            <a:srgbClr val="A6D96A"/>
          </a:solidFill>
          <a:ln w="6350">
            <a:solidFill>
              <a:srgbClr val="A6D96A"/>
            </a:solidFill>
            <a:prstDash val="solid"/>
          </a:ln>
        </p:spPr>
      </p:sp>
      <p:sp>
        <p:nvSpPr>
          <p:cNvPr id="55" name="result 52"/>
          <p:cNvSpPr/>
          <p:nvPr/>
        </p:nvSpPr>
        <p:spPr>
          <a:xfrm>
            <a:off x="1732544" y="3721608"/>
            <a:ext cx="118872" cy="118872"/>
          </a:xfrm>
          <a:prstGeom prst="ellipse">
            <a:avLst/>
          </a:prstGeom>
          <a:solidFill>
            <a:srgbClr val="A6D96A"/>
          </a:solidFill>
          <a:ln w="6350">
            <a:solidFill>
              <a:srgbClr val="A6D96A"/>
            </a:solidFill>
            <a:prstDash val="solid"/>
          </a:ln>
        </p:spPr>
      </p:sp>
      <p:sp>
        <p:nvSpPr>
          <p:cNvPr id="56" name="result 53"/>
          <p:cNvSpPr/>
          <p:nvPr/>
        </p:nvSpPr>
        <p:spPr>
          <a:xfrm>
            <a:off x="1732544" y="3579876"/>
            <a:ext cx="118872" cy="118872"/>
          </a:xfrm>
          <a:prstGeom prst="ellipse">
            <a:avLst/>
          </a:prstGeom>
          <a:solidFill>
            <a:srgbClr val="A6D96A"/>
          </a:solidFill>
          <a:ln w="6350">
            <a:solidFill>
              <a:srgbClr val="A6D96A"/>
            </a:solidFill>
            <a:prstDash val="solid"/>
          </a:ln>
        </p:spPr>
      </p:sp>
      <p:sp>
        <p:nvSpPr>
          <p:cNvPr id="57" name="result 54"/>
          <p:cNvSpPr/>
          <p:nvPr/>
        </p:nvSpPr>
        <p:spPr>
          <a:xfrm>
            <a:off x="1923827" y="5847588"/>
            <a:ext cx="118872" cy="118872"/>
          </a:xfrm>
          <a:prstGeom prst="ellipse">
            <a:avLst/>
          </a:prstGeom>
          <a:solidFill>
            <a:srgbClr val="A6D96A"/>
          </a:solidFill>
          <a:ln w="6350">
            <a:solidFill>
              <a:srgbClr val="A6D96A"/>
            </a:solidFill>
            <a:prstDash val="solid"/>
          </a:ln>
        </p:spPr>
      </p:sp>
      <p:sp>
        <p:nvSpPr>
          <p:cNvPr id="58" name="result 55"/>
          <p:cNvSpPr/>
          <p:nvPr/>
        </p:nvSpPr>
        <p:spPr>
          <a:xfrm>
            <a:off x="1923827" y="5705856"/>
            <a:ext cx="118872" cy="118872"/>
          </a:xfrm>
          <a:prstGeom prst="ellipse">
            <a:avLst/>
          </a:prstGeom>
          <a:solidFill>
            <a:srgbClr val="A6D96A"/>
          </a:solidFill>
          <a:ln w="6350">
            <a:solidFill>
              <a:srgbClr val="A6D96A"/>
            </a:solidFill>
            <a:prstDash val="solid"/>
          </a:ln>
        </p:spPr>
      </p:sp>
      <p:sp>
        <p:nvSpPr>
          <p:cNvPr id="59" name="result 56"/>
          <p:cNvSpPr/>
          <p:nvPr/>
        </p:nvSpPr>
        <p:spPr>
          <a:xfrm>
            <a:off x="1923827" y="5564124"/>
            <a:ext cx="118872" cy="118872"/>
          </a:xfrm>
          <a:prstGeom prst="ellipse">
            <a:avLst/>
          </a:prstGeom>
          <a:solidFill>
            <a:srgbClr val="A6D96A"/>
          </a:solidFill>
          <a:ln w="6350">
            <a:solidFill>
              <a:srgbClr val="A6D96A"/>
            </a:solidFill>
            <a:prstDash val="solid"/>
          </a:ln>
        </p:spPr>
      </p:sp>
      <p:sp>
        <p:nvSpPr>
          <p:cNvPr id="60" name="result 57"/>
          <p:cNvSpPr/>
          <p:nvPr/>
        </p:nvSpPr>
        <p:spPr>
          <a:xfrm>
            <a:off x="1923827" y="5422392"/>
            <a:ext cx="118872" cy="118872"/>
          </a:xfrm>
          <a:prstGeom prst="ellipse">
            <a:avLst/>
          </a:prstGeom>
          <a:solidFill>
            <a:srgbClr val="A6D96A"/>
          </a:solidFill>
          <a:ln w="6350">
            <a:solidFill>
              <a:srgbClr val="A6D96A"/>
            </a:solidFill>
            <a:prstDash val="solid"/>
          </a:ln>
        </p:spPr>
      </p:sp>
      <p:sp>
        <p:nvSpPr>
          <p:cNvPr id="61" name="result 58"/>
          <p:cNvSpPr/>
          <p:nvPr/>
        </p:nvSpPr>
        <p:spPr>
          <a:xfrm>
            <a:off x="1923827" y="5280660"/>
            <a:ext cx="118872" cy="118872"/>
          </a:xfrm>
          <a:prstGeom prst="ellipse">
            <a:avLst/>
          </a:prstGeom>
          <a:solidFill>
            <a:srgbClr val="A6D96A"/>
          </a:solidFill>
          <a:ln w="6350">
            <a:solidFill>
              <a:srgbClr val="A6D96A"/>
            </a:solidFill>
            <a:prstDash val="solid"/>
          </a:ln>
        </p:spPr>
      </p:sp>
      <p:sp>
        <p:nvSpPr>
          <p:cNvPr id="62" name="result 59"/>
          <p:cNvSpPr/>
          <p:nvPr/>
        </p:nvSpPr>
        <p:spPr>
          <a:xfrm>
            <a:off x="1923827" y="5138928"/>
            <a:ext cx="118872" cy="118872"/>
          </a:xfrm>
          <a:prstGeom prst="ellipse">
            <a:avLst/>
          </a:prstGeom>
          <a:solidFill>
            <a:srgbClr val="A6D96A"/>
          </a:solidFill>
          <a:ln w="6350">
            <a:solidFill>
              <a:srgbClr val="A6D96A"/>
            </a:solidFill>
            <a:prstDash val="solid"/>
          </a:ln>
        </p:spPr>
      </p:sp>
      <p:sp>
        <p:nvSpPr>
          <p:cNvPr id="63" name="result 60"/>
          <p:cNvSpPr/>
          <p:nvPr/>
        </p:nvSpPr>
        <p:spPr>
          <a:xfrm>
            <a:off x="2115110" y="5847588"/>
            <a:ext cx="118872" cy="118872"/>
          </a:xfrm>
          <a:prstGeom prst="ellipse">
            <a:avLst/>
          </a:prstGeom>
          <a:solidFill>
            <a:srgbClr val="A6D96A"/>
          </a:solidFill>
          <a:ln w="6350">
            <a:solidFill>
              <a:srgbClr val="A6D96A"/>
            </a:solidFill>
            <a:prstDash val="solid"/>
          </a:ln>
        </p:spPr>
      </p:sp>
      <p:sp>
        <p:nvSpPr>
          <p:cNvPr id="64" name="result 61"/>
          <p:cNvSpPr/>
          <p:nvPr/>
        </p:nvSpPr>
        <p:spPr>
          <a:xfrm>
            <a:off x="2115110" y="5705856"/>
            <a:ext cx="118872" cy="118872"/>
          </a:xfrm>
          <a:prstGeom prst="ellipse">
            <a:avLst/>
          </a:prstGeom>
          <a:solidFill>
            <a:srgbClr val="A6D96A"/>
          </a:solidFill>
          <a:ln w="6350">
            <a:solidFill>
              <a:srgbClr val="A6D96A"/>
            </a:solidFill>
            <a:prstDash val="solid"/>
          </a:ln>
        </p:spPr>
      </p:sp>
      <p:sp>
        <p:nvSpPr>
          <p:cNvPr id="65" name="result 62"/>
          <p:cNvSpPr/>
          <p:nvPr/>
        </p:nvSpPr>
        <p:spPr>
          <a:xfrm>
            <a:off x="2115110" y="5564124"/>
            <a:ext cx="118872" cy="118872"/>
          </a:xfrm>
          <a:prstGeom prst="ellipse">
            <a:avLst/>
          </a:prstGeom>
          <a:solidFill>
            <a:srgbClr val="A6D96A"/>
          </a:solidFill>
          <a:ln w="6350">
            <a:solidFill>
              <a:srgbClr val="A6D96A"/>
            </a:solidFill>
            <a:prstDash val="solid"/>
          </a:ln>
        </p:spPr>
      </p:sp>
      <p:sp>
        <p:nvSpPr>
          <p:cNvPr id="66" name="result 63"/>
          <p:cNvSpPr/>
          <p:nvPr/>
        </p:nvSpPr>
        <p:spPr>
          <a:xfrm>
            <a:off x="2115110" y="5422392"/>
            <a:ext cx="118872" cy="118872"/>
          </a:xfrm>
          <a:prstGeom prst="ellipse">
            <a:avLst/>
          </a:prstGeom>
          <a:solidFill>
            <a:srgbClr val="FEE08B"/>
          </a:solidFill>
          <a:ln w="6350">
            <a:solidFill>
              <a:srgbClr val="FEE08B"/>
            </a:solidFill>
            <a:prstDash val="solid"/>
          </a:ln>
        </p:spPr>
      </p:sp>
      <p:sp>
        <p:nvSpPr>
          <p:cNvPr id="67" name="result 64"/>
          <p:cNvSpPr/>
          <p:nvPr/>
        </p:nvSpPr>
        <p:spPr>
          <a:xfrm>
            <a:off x="2115110" y="5280660"/>
            <a:ext cx="118872" cy="118872"/>
          </a:xfrm>
          <a:prstGeom prst="ellipse">
            <a:avLst/>
          </a:prstGeom>
          <a:solidFill>
            <a:srgbClr val="FEE08B"/>
          </a:solidFill>
          <a:ln w="6350">
            <a:solidFill>
              <a:srgbClr val="FEE08B"/>
            </a:solidFill>
            <a:prstDash val="solid"/>
          </a:ln>
        </p:spPr>
      </p:sp>
      <p:sp>
        <p:nvSpPr>
          <p:cNvPr id="68" name="result 65"/>
          <p:cNvSpPr/>
          <p:nvPr/>
        </p:nvSpPr>
        <p:spPr>
          <a:xfrm>
            <a:off x="2306393" y="5847588"/>
            <a:ext cx="118872" cy="118872"/>
          </a:xfrm>
          <a:prstGeom prst="ellipse">
            <a:avLst/>
          </a:prstGeom>
          <a:solidFill>
            <a:srgbClr val="FEE08B"/>
          </a:solidFill>
          <a:ln w="6350">
            <a:solidFill>
              <a:srgbClr val="FEE08B"/>
            </a:solidFill>
            <a:prstDash val="solid"/>
          </a:ln>
        </p:spPr>
      </p:sp>
      <p:sp>
        <p:nvSpPr>
          <p:cNvPr id="69" name="result 66"/>
          <p:cNvSpPr/>
          <p:nvPr/>
        </p:nvSpPr>
        <p:spPr>
          <a:xfrm>
            <a:off x="2306393" y="5705856"/>
            <a:ext cx="118872" cy="118872"/>
          </a:xfrm>
          <a:prstGeom prst="ellipse">
            <a:avLst/>
          </a:prstGeom>
          <a:solidFill>
            <a:srgbClr val="FEE08B"/>
          </a:solidFill>
          <a:ln w="6350">
            <a:solidFill>
              <a:srgbClr val="FEE08B"/>
            </a:solidFill>
            <a:prstDash val="solid"/>
          </a:ln>
        </p:spPr>
      </p:sp>
      <p:sp>
        <p:nvSpPr>
          <p:cNvPr id="70" name="result 67"/>
          <p:cNvSpPr/>
          <p:nvPr/>
        </p:nvSpPr>
        <p:spPr>
          <a:xfrm>
            <a:off x="2306393" y="5564124"/>
            <a:ext cx="118872" cy="118872"/>
          </a:xfrm>
          <a:prstGeom prst="ellipse">
            <a:avLst/>
          </a:prstGeom>
          <a:solidFill>
            <a:srgbClr val="FEE08B"/>
          </a:solidFill>
          <a:ln w="6350">
            <a:solidFill>
              <a:srgbClr val="FEE08B"/>
            </a:solidFill>
            <a:prstDash val="solid"/>
          </a:ln>
        </p:spPr>
      </p:sp>
      <p:sp>
        <p:nvSpPr>
          <p:cNvPr id="71" name="result 68"/>
          <p:cNvSpPr/>
          <p:nvPr/>
        </p:nvSpPr>
        <p:spPr>
          <a:xfrm>
            <a:off x="2306393" y="5422392"/>
            <a:ext cx="118872" cy="118872"/>
          </a:xfrm>
          <a:prstGeom prst="ellipse">
            <a:avLst/>
          </a:prstGeom>
          <a:solidFill>
            <a:srgbClr val="FEE08B"/>
          </a:solidFill>
          <a:ln w="6350">
            <a:solidFill>
              <a:srgbClr val="FEE08B"/>
            </a:solidFill>
            <a:prstDash val="solid"/>
          </a:ln>
        </p:spPr>
      </p:sp>
      <p:sp>
        <p:nvSpPr>
          <p:cNvPr id="72" name="result 69"/>
          <p:cNvSpPr/>
          <p:nvPr/>
        </p:nvSpPr>
        <p:spPr>
          <a:xfrm>
            <a:off x="2497676" y="5847588"/>
            <a:ext cx="118872" cy="118872"/>
          </a:xfrm>
          <a:prstGeom prst="ellipse">
            <a:avLst/>
          </a:prstGeom>
          <a:solidFill>
            <a:srgbClr val="FEE08B"/>
          </a:solidFill>
          <a:ln w="6350">
            <a:solidFill>
              <a:srgbClr val="FEE08B"/>
            </a:solidFill>
            <a:prstDash val="solid"/>
          </a:ln>
        </p:spPr>
      </p:sp>
      <p:sp>
        <p:nvSpPr>
          <p:cNvPr id="73" name="result 70"/>
          <p:cNvSpPr/>
          <p:nvPr/>
        </p:nvSpPr>
        <p:spPr>
          <a:xfrm>
            <a:off x="2497676" y="5705856"/>
            <a:ext cx="118872" cy="118872"/>
          </a:xfrm>
          <a:prstGeom prst="ellipse">
            <a:avLst/>
          </a:prstGeom>
          <a:solidFill>
            <a:srgbClr val="FEE08B"/>
          </a:solidFill>
          <a:ln w="6350">
            <a:solidFill>
              <a:srgbClr val="FEE08B"/>
            </a:solidFill>
            <a:prstDash val="solid"/>
          </a:ln>
        </p:spPr>
      </p:sp>
      <p:sp>
        <p:nvSpPr>
          <p:cNvPr id="74" name="result 71"/>
          <p:cNvSpPr/>
          <p:nvPr/>
        </p:nvSpPr>
        <p:spPr>
          <a:xfrm>
            <a:off x="2497676" y="5564124"/>
            <a:ext cx="118872" cy="118872"/>
          </a:xfrm>
          <a:prstGeom prst="ellipse">
            <a:avLst/>
          </a:prstGeom>
          <a:solidFill>
            <a:srgbClr val="FEE08B"/>
          </a:solidFill>
          <a:ln w="6350">
            <a:solidFill>
              <a:srgbClr val="FEE08B"/>
            </a:solidFill>
            <a:prstDash val="solid"/>
          </a:ln>
        </p:spPr>
      </p:sp>
      <p:sp>
        <p:nvSpPr>
          <p:cNvPr id="75" name="result 72"/>
          <p:cNvSpPr/>
          <p:nvPr/>
        </p:nvSpPr>
        <p:spPr>
          <a:xfrm>
            <a:off x="2497676" y="5422392"/>
            <a:ext cx="118872" cy="118872"/>
          </a:xfrm>
          <a:prstGeom prst="ellipse">
            <a:avLst/>
          </a:prstGeom>
          <a:solidFill>
            <a:srgbClr val="FEE08B"/>
          </a:solidFill>
          <a:ln w="6350">
            <a:solidFill>
              <a:srgbClr val="FEE08B"/>
            </a:solidFill>
            <a:prstDash val="solid"/>
          </a:ln>
        </p:spPr>
      </p:sp>
      <p:sp>
        <p:nvSpPr>
          <p:cNvPr id="76" name="result 73"/>
          <p:cNvSpPr/>
          <p:nvPr/>
        </p:nvSpPr>
        <p:spPr>
          <a:xfrm>
            <a:off x="2497676" y="5280660"/>
            <a:ext cx="118872" cy="118872"/>
          </a:xfrm>
          <a:prstGeom prst="ellipse">
            <a:avLst/>
          </a:prstGeom>
          <a:solidFill>
            <a:srgbClr val="FEE08B"/>
          </a:solidFill>
          <a:ln w="6350">
            <a:solidFill>
              <a:srgbClr val="FEE08B"/>
            </a:solidFill>
            <a:prstDash val="solid"/>
          </a:ln>
        </p:spPr>
      </p:sp>
      <p:sp>
        <p:nvSpPr>
          <p:cNvPr id="77" name="result 74"/>
          <p:cNvSpPr/>
          <p:nvPr/>
        </p:nvSpPr>
        <p:spPr>
          <a:xfrm>
            <a:off x="2497676" y="5138928"/>
            <a:ext cx="118872" cy="118872"/>
          </a:xfrm>
          <a:prstGeom prst="ellipse">
            <a:avLst/>
          </a:prstGeom>
          <a:solidFill>
            <a:srgbClr val="FEE08B"/>
          </a:solidFill>
          <a:ln w="6350">
            <a:solidFill>
              <a:srgbClr val="FEE08B"/>
            </a:solidFill>
            <a:prstDash val="solid"/>
          </a:ln>
        </p:spPr>
      </p:sp>
      <p:sp>
        <p:nvSpPr>
          <p:cNvPr id="78" name="result 75"/>
          <p:cNvSpPr/>
          <p:nvPr/>
        </p:nvSpPr>
        <p:spPr>
          <a:xfrm>
            <a:off x="2497676" y="4997196"/>
            <a:ext cx="118872" cy="118872"/>
          </a:xfrm>
          <a:prstGeom prst="ellipse">
            <a:avLst/>
          </a:prstGeom>
          <a:solidFill>
            <a:srgbClr val="FEE08B"/>
          </a:solidFill>
          <a:ln w="6350">
            <a:solidFill>
              <a:srgbClr val="FEE08B"/>
            </a:solidFill>
            <a:prstDash val="solid"/>
          </a:ln>
        </p:spPr>
      </p:sp>
      <p:sp>
        <p:nvSpPr>
          <p:cNvPr id="79" name="result 76"/>
          <p:cNvSpPr/>
          <p:nvPr/>
        </p:nvSpPr>
        <p:spPr>
          <a:xfrm>
            <a:off x="2497676" y="4855464"/>
            <a:ext cx="118872" cy="118872"/>
          </a:xfrm>
          <a:prstGeom prst="ellipse">
            <a:avLst/>
          </a:prstGeom>
          <a:solidFill>
            <a:srgbClr val="FEE08B"/>
          </a:solidFill>
          <a:ln w="6350">
            <a:solidFill>
              <a:srgbClr val="FEE08B"/>
            </a:solidFill>
            <a:prstDash val="solid"/>
          </a:ln>
        </p:spPr>
      </p:sp>
      <p:sp>
        <p:nvSpPr>
          <p:cNvPr id="80" name="result 77"/>
          <p:cNvSpPr/>
          <p:nvPr/>
        </p:nvSpPr>
        <p:spPr>
          <a:xfrm>
            <a:off x="2688959" y="5847588"/>
            <a:ext cx="118872" cy="118872"/>
          </a:xfrm>
          <a:prstGeom prst="ellipse">
            <a:avLst/>
          </a:prstGeom>
          <a:solidFill>
            <a:srgbClr val="FEE08B"/>
          </a:solidFill>
          <a:ln w="6350">
            <a:solidFill>
              <a:srgbClr val="FEE08B"/>
            </a:solidFill>
            <a:prstDash val="solid"/>
          </a:ln>
        </p:spPr>
      </p:sp>
      <p:sp>
        <p:nvSpPr>
          <p:cNvPr id="81" name="result 78"/>
          <p:cNvSpPr/>
          <p:nvPr/>
        </p:nvSpPr>
        <p:spPr>
          <a:xfrm>
            <a:off x="2688959" y="5705856"/>
            <a:ext cx="118872" cy="118872"/>
          </a:xfrm>
          <a:prstGeom prst="ellipse">
            <a:avLst/>
          </a:prstGeom>
          <a:solidFill>
            <a:srgbClr val="FEE08B"/>
          </a:solidFill>
          <a:ln w="6350">
            <a:solidFill>
              <a:srgbClr val="FEE08B"/>
            </a:solidFill>
            <a:prstDash val="solid"/>
          </a:ln>
        </p:spPr>
      </p:sp>
      <p:sp>
        <p:nvSpPr>
          <p:cNvPr id="82" name="result 79"/>
          <p:cNvSpPr/>
          <p:nvPr/>
        </p:nvSpPr>
        <p:spPr>
          <a:xfrm>
            <a:off x="2688959" y="5564124"/>
            <a:ext cx="118872" cy="118872"/>
          </a:xfrm>
          <a:prstGeom prst="ellipse">
            <a:avLst/>
          </a:prstGeom>
          <a:solidFill>
            <a:srgbClr val="FDAE61"/>
          </a:solidFill>
          <a:ln w="6350">
            <a:solidFill>
              <a:srgbClr val="FDAE61"/>
            </a:solidFill>
            <a:prstDash val="solid"/>
          </a:ln>
        </p:spPr>
      </p:sp>
      <p:sp>
        <p:nvSpPr>
          <p:cNvPr id="83" name="result 80"/>
          <p:cNvSpPr/>
          <p:nvPr/>
        </p:nvSpPr>
        <p:spPr>
          <a:xfrm>
            <a:off x="2688959" y="5422392"/>
            <a:ext cx="118872" cy="118872"/>
          </a:xfrm>
          <a:prstGeom prst="ellipse">
            <a:avLst/>
          </a:prstGeom>
          <a:solidFill>
            <a:srgbClr val="FDAE61"/>
          </a:solidFill>
          <a:ln w="6350">
            <a:solidFill>
              <a:srgbClr val="FDAE61"/>
            </a:solidFill>
            <a:prstDash val="solid"/>
          </a:ln>
        </p:spPr>
      </p:sp>
      <p:sp>
        <p:nvSpPr>
          <p:cNvPr id="84" name="result 81"/>
          <p:cNvSpPr/>
          <p:nvPr/>
        </p:nvSpPr>
        <p:spPr>
          <a:xfrm>
            <a:off x="2880242" y="5847588"/>
            <a:ext cx="118872" cy="118872"/>
          </a:xfrm>
          <a:prstGeom prst="ellipse">
            <a:avLst/>
          </a:prstGeom>
          <a:solidFill>
            <a:srgbClr val="FDAE61"/>
          </a:solidFill>
          <a:ln w="6350">
            <a:solidFill>
              <a:srgbClr val="FDAE61"/>
            </a:solidFill>
            <a:prstDash val="solid"/>
          </a:ln>
        </p:spPr>
      </p:sp>
      <p:sp>
        <p:nvSpPr>
          <p:cNvPr id="85" name="result 82"/>
          <p:cNvSpPr/>
          <p:nvPr/>
        </p:nvSpPr>
        <p:spPr>
          <a:xfrm>
            <a:off x="2880242" y="5705856"/>
            <a:ext cx="118872" cy="118872"/>
          </a:xfrm>
          <a:prstGeom prst="ellipse">
            <a:avLst/>
          </a:prstGeom>
          <a:solidFill>
            <a:srgbClr val="FDAE61"/>
          </a:solidFill>
          <a:ln w="6350">
            <a:solidFill>
              <a:srgbClr val="FDAE61"/>
            </a:solidFill>
            <a:prstDash val="solid"/>
          </a:ln>
        </p:spPr>
      </p:sp>
      <p:sp>
        <p:nvSpPr>
          <p:cNvPr id="86" name="result 83"/>
          <p:cNvSpPr/>
          <p:nvPr/>
        </p:nvSpPr>
        <p:spPr>
          <a:xfrm>
            <a:off x="2880242" y="5564124"/>
            <a:ext cx="118872" cy="118872"/>
          </a:xfrm>
          <a:prstGeom prst="ellipse">
            <a:avLst/>
          </a:prstGeom>
          <a:solidFill>
            <a:srgbClr val="FDAE61"/>
          </a:solidFill>
          <a:ln w="6350">
            <a:solidFill>
              <a:srgbClr val="FDAE61"/>
            </a:solidFill>
            <a:prstDash val="solid"/>
          </a:ln>
        </p:spPr>
      </p:sp>
      <p:sp>
        <p:nvSpPr>
          <p:cNvPr id="87" name="result 84"/>
          <p:cNvSpPr/>
          <p:nvPr/>
        </p:nvSpPr>
        <p:spPr>
          <a:xfrm>
            <a:off x="2880242" y="5422392"/>
            <a:ext cx="118872" cy="118872"/>
          </a:xfrm>
          <a:prstGeom prst="ellipse">
            <a:avLst/>
          </a:prstGeom>
          <a:solidFill>
            <a:srgbClr val="FDAE61"/>
          </a:solidFill>
          <a:ln w="6350">
            <a:solidFill>
              <a:srgbClr val="FDAE61"/>
            </a:solidFill>
            <a:prstDash val="solid"/>
          </a:ln>
        </p:spPr>
      </p:sp>
      <p:sp>
        <p:nvSpPr>
          <p:cNvPr id="88" name="result 85"/>
          <p:cNvSpPr/>
          <p:nvPr/>
        </p:nvSpPr>
        <p:spPr>
          <a:xfrm>
            <a:off x="2880242" y="5280660"/>
            <a:ext cx="118872" cy="118872"/>
          </a:xfrm>
          <a:prstGeom prst="ellipse">
            <a:avLst/>
          </a:prstGeom>
          <a:solidFill>
            <a:srgbClr val="FDAE61"/>
          </a:solidFill>
          <a:ln w="6350">
            <a:solidFill>
              <a:srgbClr val="FDAE61"/>
            </a:solidFill>
            <a:prstDash val="solid"/>
          </a:ln>
        </p:spPr>
      </p:sp>
      <p:sp>
        <p:nvSpPr>
          <p:cNvPr id="89" name="result 86"/>
          <p:cNvSpPr/>
          <p:nvPr/>
        </p:nvSpPr>
        <p:spPr>
          <a:xfrm>
            <a:off x="3071525" y="5847588"/>
            <a:ext cx="118872" cy="118872"/>
          </a:xfrm>
          <a:prstGeom prst="ellipse">
            <a:avLst/>
          </a:prstGeom>
          <a:solidFill>
            <a:srgbClr val="FDAE61"/>
          </a:solidFill>
          <a:ln w="6350">
            <a:solidFill>
              <a:srgbClr val="FDAE61"/>
            </a:solidFill>
            <a:prstDash val="solid"/>
          </a:ln>
        </p:spPr>
      </p:sp>
      <p:sp>
        <p:nvSpPr>
          <p:cNvPr id="90" name="result 87"/>
          <p:cNvSpPr/>
          <p:nvPr/>
        </p:nvSpPr>
        <p:spPr>
          <a:xfrm>
            <a:off x="3071525" y="5705856"/>
            <a:ext cx="118872" cy="118872"/>
          </a:xfrm>
          <a:prstGeom prst="ellipse">
            <a:avLst/>
          </a:prstGeom>
          <a:solidFill>
            <a:srgbClr val="FDAE61"/>
          </a:solidFill>
          <a:ln w="6350">
            <a:solidFill>
              <a:srgbClr val="FDAE61"/>
            </a:solidFill>
            <a:prstDash val="solid"/>
          </a:ln>
        </p:spPr>
      </p:sp>
      <p:sp>
        <p:nvSpPr>
          <p:cNvPr id="91" name="result 88"/>
          <p:cNvSpPr/>
          <p:nvPr/>
        </p:nvSpPr>
        <p:spPr>
          <a:xfrm>
            <a:off x="3071525" y="5564124"/>
            <a:ext cx="118872" cy="118872"/>
          </a:xfrm>
          <a:prstGeom prst="ellipse">
            <a:avLst/>
          </a:prstGeom>
          <a:solidFill>
            <a:srgbClr val="FDAE61"/>
          </a:solidFill>
          <a:ln w="6350">
            <a:solidFill>
              <a:srgbClr val="FDAE61"/>
            </a:solidFill>
            <a:prstDash val="solid"/>
          </a:ln>
        </p:spPr>
      </p:sp>
      <p:sp>
        <p:nvSpPr>
          <p:cNvPr id="92" name="result 89"/>
          <p:cNvSpPr/>
          <p:nvPr/>
        </p:nvSpPr>
        <p:spPr>
          <a:xfrm>
            <a:off x="3071525" y="5422392"/>
            <a:ext cx="118872" cy="118872"/>
          </a:xfrm>
          <a:prstGeom prst="ellipse">
            <a:avLst/>
          </a:prstGeom>
          <a:solidFill>
            <a:srgbClr val="FDAE61"/>
          </a:solidFill>
          <a:ln w="6350">
            <a:solidFill>
              <a:srgbClr val="FDAE61"/>
            </a:solidFill>
            <a:prstDash val="solid"/>
          </a:ln>
        </p:spPr>
      </p:sp>
      <p:sp>
        <p:nvSpPr>
          <p:cNvPr id="93" name="result 90"/>
          <p:cNvSpPr/>
          <p:nvPr/>
        </p:nvSpPr>
        <p:spPr>
          <a:xfrm>
            <a:off x="3071525" y="5280660"/>
            <a:ext cx="118872" cy="118872"/>
          </a:xfrm>
          <a:prstGeom prst="ellipse">
            <a:avLst/>
          </a:prstGeom>
          <a:solidFill>
            <a:srgbClr val="FDAE61"/>
          </a:solidFill>
          <a:ln w="6350">
            <a:solidFill>
              <a:srgbClr val="FDAE61"/>
            </a:solidFill>
            <a:prstDash val="solid"/>
          </a:ln>
        </p:spPr>
      </p:sp>
      <p:sp>
        <p:nvSpPr>
          <p:cNvPr id="94" name="result 91"/>
          <p:cNvSpPr/>
          <p:nvPr/>
        </p:nvSpPr>
        <p:spPr>
          <a:xfrm>
            <a:off x="3071525" y="5138928"/>
            <a:ext cx="118872" cy="118872"/>
          </a:xfrm>
          <a:prstGeom prst="ellipse">
            <a:avLst/>
          </a:prstGeom>
          <a:solidFill>
            <a:srgbClr val="FDAE61"/>
          </a:solidFill>
          <a:ln w="6350">
            <a:solidFill>
              <a:srgbClr val="FDAE61"/>
            </a:solidFill>
            <a:prstDash val="solid"/>
          </a:ln>
        </p:spPr>
      </p:sp>
      <p:sp>
        <p:nvSpPr>
          <p:cNvPr id="95" name="result 92"/>
          <p:cNvSpPr/>
          <p:nvPr/>
        </p:nvSpPr>
        <p:spPr>
          <a:xfrm>
            <a:off x="3071525" y="4997196"/>
            <a:ext cx="118872" cy="118872"/>
          </a:xfrm>
          <a:prstGeom prst="ellipse">
            <a:avLst/>
          </a:prstGeom>
          <a:solidFill>
            <a:srgbClr val="FDAE61"/>
          </a:solidFill>
          <a:ln w="6350">
            <a:solidFill>
              <a:srgbClr val="FDAE61"/>
            </a:solidFill>
            <a:prstDash val="solid"/>
          </a:ln>
        </p:spPr>
      </p:sp>
      <p:sp>
        <p:nvSpPr>
          <p:cNvPr id="96" name="result 93"/>
          <p:cNvSpPr/>
          <p:nvPr/>
        </p:nvSpPr>
        <p:spPr>
          <a:xfrm>
            <a:off x="3071525" y="4855464"/>
            <a:ext cx="118872" cy="118872"/>
          </a:xfrm>
          <a:prstGeom prst="ellipse">
            <a:avLst/>
          </a:prstGeom>
          <a:solidFill>
            <a:srgbClr val="FDAE61"/>
          </a:solidFill>
          <a:ln w="6350">
            <a:solidFill>
              <a:srgbClr val="FDAE61"/>
            </a:solidFill>
            <a:prstDash val="solid"/>
          </a:ln>
        </p:spPr>
      </p:sp>
      <p:sp>
        <p:nvSpPr>
          <p:cNvPr id="97" name="result 94"/>
          <p:cNvSpPr/>
          <p:nvPr/>
        </p:nvSpPr>
        <p:spPr>
          <a:xfrm>
            <a:off x="3071525" y="4713732"/>
            <a:ext cx="118872" cy="118872"/>
          </a:xfrm>
          <a:prstGeom prst="ellipse">
            <a:avLst/>
          </a:prstGeom>
          <a:solidFill>
            <a:srgbClr val="FDAE61"/>
          </a:solidFill>
          <a:ln w="6350">
            <a:solidFill>
              <a:srgbClr val="FDAE61"/>
            </a:solidFill>
            <a:prstDash val="solid"/>
          </a:ln>
        </p:spPr>
      </p:sp>
      <p:sp>
        <p:nvSpPr>
          <p:cNvPr id="98" name="result 95"/>
          <p:cNvSpPr/>
          <p:nvPr/>
        </p:nvSpPr>
        <p:spPr>
          <a:xfrm>
            <a:off x="3262808" y="5847588"/>
            <a:ext cx="118872" cy="118872"/>
          </a:xfrm>
          <a:prstGeom prst="ellipse">
            <a:avLst/>
          </a:prstGeom>
          <a:solidFill>
            <a:srgbClr val="FDAE61"/>
          </a:solidFill>
          <a:ln w="6350">
            <a:solidFill>
              <a:srgbClr val="FDAE61"/>
            </a:solidFill>
            <a:prstDash val="solid"/>
          </a:ln>
        </p:spPr>
      </p:sp>
      <p:sp>
        <p:nvSpPr>
          <p:cNvPr id="99" name="result 96"/>
          <p:cNvSpPr/>
          <p:nvPr/>
        </p:nvSpPr>
        <p:spPr>
          <a:xfrm>
            <a:off x="3262808" y="5705856"/>
            <a:ext cx="118872" cy="118872"/>
          </a:xfrm>
          <a:prstGeom prst="ellipse">
            <a:avLst/>
          </a:prstGeom>
          <a:solidFill>
            <a:srgbClr val="FDAE61"/>
          </a:solidFill>
          <a:ln w="6350">
            <a:solidFill>
              <a:srgbClr val="FDAE61"/>
            </a:solidFill>
            <a:prstDash val="solid"/>
          </a:ln>
        </p:spPr>
      </p:sp>
      <p:sp>
        <p:nvSpPr>
          <p:cNvPr id="100" name="result 97"/>
          <p:cNvSpPr/>
          <p:nvPr/>
        </p:nvSpPr>
        <p:spPr>
          <a:xfrm>
            <a:off x="3262808" y="5564124"/>
            <a:ext cx="118872" cy="118872"/>
          </a:xfrm>
          <a:prstGeom prst="ellipse">
            <a:avLst/>
          </a:prstGeom>
          <a:solidFill>
            <a:srgbClr val="FDAE61"/>
          </a:solidFill>
          <a:ln w="6350">
            <a:solidFill>
              <a:srgbClr val="FDAE61"/>
            </a:solidFill>
            <a:prstDash val="solid"/>
          </a:ln>
        </p:spPr>
      </p:sp>
      <p:sp>
        <p:nvSpPr>
          <p:cNvPr id="101" name="result 98"/>
          <p:cNvSpPr/>
          <p:nvPr/>
        </p:nvSpPr>
        <p:spPr>
          <a:xfrm>
            <a:off x="3454091" y="5847588"/>
            <a:ext cx="118872" cy="118872"/>
          </a:xfrm>
          <a:prstGeom prst="ellipse">
            <a:avLst/>
          </a:prstGeom>
          <a:solidFill>
            <a:srgbClr val="FDAE61"/>
          </a:solidFill>
          <a:ln w="6350">
            <a:solidFill>
              <a:srgbClr val="FDAE61"/>
            </a:solidFill>
            <a:prstDash val="solid"/>
          </a:ln>
        </p:spPr>
      </p:sp>
      <p:sp>
        <p:nvSpPr>
          <p:cNvPr id="102" name="result 99"/>
          <p:cNvSpPr/>
          <p:nvPr/>
        </p:nvSpPr>
        <p:spPr>
          <a:xfrm>
            <a:off x="3454091" y="5705856"/>
            <a:ext cx="118872" cy="118872"/>
          </a:xfrm>
          <a:prstGeom prst="ellipse">
            <a:avLst/>
          </a:prstGeom>
          <a:solidFill>
            <a:srgbClr val="FDAE61"/>
          </a:solidFill>
          <a:ln w="6350">
            <a:solidFill>
              <a:srgbClr val="FDAE61"/>
            </a:solidFill>
            <a:prstDash val="solid"/>
          </a:ln>
        </p:spPr>
      </p:sp>
      <p:sp>
        <p:nvSpPr>
          <p:cNvPr id="103" name="result 100"/>
          <p:cNvSpPr/>
          <p:nvPr/>
        </p:nvSpPr>
        <p:spPr>
          <a:xfrm>
            <a:off x="3454091" y="5564124"/>
            <a:ext cx="118872" cy="118872"/>
          </a:xfrm>
          <a:prstGeom prst="ellipse">
            <a:avLst/>
          </a:prstGeom>
          <a:solidFill>
            <a:srgbClr val="FDAE61"/>
          </a:solidFill>
          <a:ln w="6350">
            <a:solidFill>
              <a:srgbClr val="FDAE61"/>
            </a:solidFill>
            <a:prstDash val="solid"/>
          </a:ln>
        </p:spPr>
      </p:sp>
      <p:sp>
        <p:nvSpPr>
          <p:cNvPr id="104" name="result 101"/>
          <p:cNvSpPr/>
          <p:nvPr/>
        </p:nvSpPr>
        <p:spPr>
          <a:xfrm>
            <a:off x="3454091" y="5422392"/>
            <a:ext cx="118872" cy="118872"/>
          </a:xfrm>
          <a:prstGeom prst="ellipse">
            <a:avLst/>
          </a:prstGeom>
          <a:solidFill>
            <a:srgbClr val="FDAE61"/>
          </a:solidFill>
          <a:ln w="6350">
            <a:solidFill>
              <a:srgbClr val="FDAE61"/>
            </a:solidFill>
            <a:prstDash val="solid"/>
          </a:ln>
        </p:spPr>
      </p:sp>
      <p:sp>
        <p:nvSpPr>
          <p:cNvPr id="105" name="result 102"/>
          <p:cNvSpPr/>
          <p:nvPr/>
        </p:nvSpPr>
        <p:spPr>
          <a:xfrm>
            <a:off x="3645374" y="5847588"/>
            <a:ext cx="118872" cy="118872"/>
          </a:xfrm>
          <a:prstGeom prst="ellipse">
            <a:avLst/>
          </a:prstGeom>
          <a:solidFill>
            <a:srgbClr val="FDAE61"/>
          </a:solidFill>
          <a:ln w="6350">
            <a:solidFill>
              <a:srgbClr val="FDAE61"/>
            </a:solidFill>
            <a:prstDash val="solid"/>
          </a:ln>
        </p:spPr>
      </p:sp>
      <p:sp>
        <p:nvSpPr>
          <p:cNvPr id="106" name="result 103"/>
          <p:cNvSpPr/>
          <p:nvPr/>
        </p:nvSpPr>
        <p:spPr>
          <a:xfrm>
            <a:off x="3645374" y="5705856"/>
            <a:ext cx="118872" cy="118872"/>
          </a:xfrm>
          <a:prstGeom prst="ellipse">
            <a:avLst/>
          </a:prstGeom>
          <a:solidFill>
            <a:srgbClr val="FDAE61"/>
          </a:solidFill>
          <a:ln w="6350">
            <a:solidFill>
              <a:srgbClr val="FDAE61"/>
            </a:solidFill>
            <a:prstDash val="solid"/>
          </a:ln>
        </p:spPr>
      </p:sp>
      <p:sp>
        <p:nvSpPr>
          <p:cNvPr id="107" name="result 104"/>
          <p:cNvSpPr/>
          <p:nvPr/>
        </p:nvSpPr>
        <p:spPr>
          <a:xfrm>
            <a:off x="3836657" y="5847588"/>
            <a:ext cx="118872" cy="118872"/>
          </a:xfrm>
          <a:prstGeom prst="ellipse">
            <a:avLst/>
          </a:prstGeom>
          <a:solidFill>
            <a:srgbClr val="FDAE61"/>
          </a:solidFill>
          <a:ln w="6350">
            <a:solidFill>
              <a:srgbClr val="FDAE61"/>
            </a:solidFill>
            <a:prstDash val="solid"/>
          </a:ln>
        </p:spPr>
      </p:sp>
      <p:sp>
        <p:nvSpPr>
          <p:cNvPr id="108" name="result 105"/>
          <p:cNvSpPr/>
          <p:nvPr/>
        </p:nvSpPr>
        <p:spPr>
          <a:xfrm>
            <a:off x="3836657" y="5705856"/>
            <a:ext cx="118872" cy="118872"/>
          </a:xfrm>
          <a:prstGeom prst="ellipse">
            <a:avLst/>
          </a:prstGeom>
          <a:solidFill>
            <a:srgbClr val="FDAE61"/>
          </a:solidFill>
          <a:ln w="6350">
            <a:solidFill>
              <a:srgbClr val="FDAE61"/>
            </a:solidFill>
            <a:prstDash val="solid"/>
          </a:ln>
        </p:spPr>
      </p:sp>
      <p:sp>
        <p:nvSpPr>
          <p:cNvPr id="109" name="result 106"/>
          <p:cNvSpPr/>
          <p:nvPr/>
        </p:nvSpPr>
        <p:spPr>
          <a:xfrm>
            <a:off x="3836657" y="5564124"/>
            <a:ext cx="118872" cy="118872"/>
          </a:xfrm>
          <a:prstGeom prst="ellipse">
            <a:avLst/>
          </a:prstGeom>
          <a:solidFill>
            <a:srgbClr val="FDAE61"/>
          </a:solidFill>
          <a:ln w="6350">
            <a:solidFill>
              <a:srgbClr val="FDAE61"/>
            </a:solidFill>
            <a:prstDash val="solid"/>
          </a:ln>
        </p:spPr>
      </p:sp>
      <p:sp>
        <p:nvSpPr>
          <p:cNvPr id="110" name="result 107"/>
          <p:cNvSpPr/>
          <p:nvPr/>
        </p:nvSpPr>
        <p:spPr>
          <a:xfrm>
            <a:off x="4027940" y="5847588"/>
            <a:ext cx="118872" cy="118872"/>
          </a:xfrm>
          <a:prstGeom prst="ellipse">
            <a:avLst/>
          </a:prstGeom>
          <a:solidFill>
            <a:srgbClr val="FDAE61"/>
          </a:solidFill>
          <a:ln w="6350">
            <a:solidFill>
              <a:srgbClr val="FDAE61"/>
            </a:solidFill>
            <a:prstDash val="solid"/>
          </a:ln>
        </p:spPr>
      </p:sp>
      <p:sp>
        <p:nvSpPr>
          <p:cNvPr id="111" name="result 108"/>
          <p:cNvSpPr/>
          <p:nvPr/>
        </p:nvSpPr>
        <p:spPr>
          <a:xfrm>
            <a:off x="4219223" y="5847588"/>
            <a:ext cx="118872" cy="118872"/>
          </a:xfrm>
          <a:prstGeom prst="ellipse">
            <a:avLst/>
          </a:prstGeom>
          <a:solidFill>
            <a:srgbClr val="FDAE61"/>
          </a:solidFill>
          <a:ln w="6350">
            <a:solidFill>
              <a:srgbClr val="FDAE61"/>
            </a:solidFill>
            <a:prstDash val="solid"/>
          </a:ln>
        </p:spPr>
      </p:sp>
      <p:sp>
        <p:nvSpPr>
          <p:cNvPr id="112" name="result 109"/>
          <p:cNvSpPr/>
          <p:nvPr/>
        </p:nvSpPr>
        <p:spPr>
          <a:xfrm>
            <a:off x="4601789" y="5847588"/>
            <a:ext cx="118872" cy="118872"/>
          </a:xfrm>
          <a:prstGeom prst="ellipse">
            <a:avLst/>
          </a:prstGeom>
          <a:solidFill>
            <a:srgbClr val="F46D43"/>
          </a:solidFill>
          <a:ln w="6350">
            <a:solidFill>
              <a:srgbClr val="F46D43"/>
            </a:solidFill>
            <a:prstDash val="solid"/>
          </a:ln>
        </p:spPr>
      </p:sp>
      <p:sp>
        <p:nvSpPr>
          <p:cNvPr id="113" name="result 110"/>
          <p:cNvSpPr/>
          <p:nvPr/>
        </p:nvSpPr>
        <p:spPr>
          <a:xfrm>
            <a:off x="4793072" y="5847588"/>
            <a:ext cx="118872" cy="118872"/>
          </a:xfrm>
          <a:prstGeom prst="ellipse">
            <a:avLst/>
          </a:prstGeom>
          <a:solidFill>
            <a:srgbClr val="F46D43"/>
          </a:solidFill>
          <a:ln w="6350">
            <a:solidFill>
              <a:srgbClr val="F46D43"/>
            </a:solidFill>
            <a:prstDash val="solid"/>
          </a:ln>
        </p:spPr>
      </p:sp>
      <p:sp>
        <p:nvSpPr>
          <p:cNvPr id="114" name="result 111"/>
          <p:cNvSpPr/>
          <p:nvPr/>
        </p:nvSpPr>
        <p:spPr>
          <a:xfrm>
            <a:off x="5175638" y="5847588"/>
            <a:ext cx="118872" cy="118872"/>
          </a:xfrm>
          <a:prstGeom prst="ellipse">
            <a:avLst/>
          </a:prstGeom>
          <a:solidFill>
            <a:srgbClr val="F46D43"/>
          </a:solidFill>
          <a:ln w="6350">
            <a:solidFill>
              <a:srgbClr val="F46D43"/>
            </a:solidFill>
            <a:prstDash val="solid"/>
          </a:ln>
        </p:spPr>
      </p:sp>
      <p:sp>
        <p:nvSpPr>
          <p:cNvPr id="115" name="result 112"/>
          <p:cNvSpPr/>
          <p:nvPr/>
        </p:nvSpPr>
        <p:spPr>
          <a:xfrm>
            <a:off x="5558204" y="5847588"/>
            <a:ext cx="118872" cy="118872"/>
          </a:xfrm>
          <a:prstGeom prst="ellipse">
            <a:avLst/>
          </a:prstGeom>
          <a:solidFill>
            <a:srgbClr val="F46D43"/>
          </a:solidFill>
          <a:ln w="6350">
            <a:solidFill>
              <a:srgbClr val="F46D43"/>
            </a:solidFill>
            <a:prstDash val="solid"/>
          </a:ln>
        </p:spPr>
      </p:sp>
      <p:sp>
        <p:nvSpPr>
          <p:cNvPr id="116" name="result 113"/>
          <p:cNvSpPr/>
          <p:nvPr/>
        </p:nvSpPr>
        <p:spPr>
          <a:xfrm>
            <a:off x="5940770" y="5847588"/>
            <a:ext cx="118872" cy="118872"/>
          </a:xfrm>
          <a:prstGeom prst="ellipse">
            <a:avLst/>
          </a:prstGeom>
          <a:solidFill>
            <a:srgbClr val="D73027"/>
          </a:solidFill>
          <a:ln w="6350">
            <a:solidFill>
              <a:srgbClr val="D73027"/>
            </a:solidFill>
            <a:prstDash val="solid"/>
          </a:ln>
        </p:spPr>
      </p:sp>
      <p:sp>
        <p:nvSpPr>
          <p:cNvPr id="117" name="result 114"/>
          <p:cNvSpPr/>
          <p:nvPr/>
        </p:nvSpPr>
        <p:spPr>
          <a:xfrm>
            <a:off x="5940770" y="5705856"/>
            <a:ext cx="118872" cy="118872"/>
          </a:xfrm>
          <a:prstGeom prst="ellipse">
            <a:avLst/>
          </a:prstGeom>
          <a:solidFill>
            <a:srgbClr val="D73027"/>
          </a:solidFill>
          <a:ln w="6350">
            <a:solidFill>
              <a:srgbClr val="D73027"/>
            </a:solidFill>
            <a:prstDash val="solid"/>
          </a:ln>
        </p:spPr>
      </p:sp>
      <p:sp>
        <p:nvSpPr>
          <p:cNvPr id="118" name="result 115"/>
          <p:cNvSpPr/>
          <p:nvPr/>
        </p:nvSpPr>
        <p:spPr>
          <a:xfrm>
            <a:off x="5940770" y="5564124"/>
            <a:ext cx="118872" cy="118872"/>
          </a:xfrm>
          <a:prstGeom prst="ellipse">
            <a:avLst/>
          </a:prstGeom>
          <a:solidFill>
            <a:srgbClr val="D73027"/>
          </a:solidFill>
          <a:ln w="6350">
            <a:solidFill>
              <a:srgbClr val="D73027"/>
            </a:solidFill>
            <a:prstDash val="solid"/>
          </a:ln>
        </p:spPr>
      </p:sp>
      <p:sp>
        <p:nvSpPr>
          <p:cNvPr id="119" name="result 116"/>
          <p:cNvSpPr/>
          <p:nvPr/>
        </p:nvSpPr>
        <p:spPr>
          <a:xfrm>
            <a:off x="5940770" y="5422392"/>
            <a:ext cx="118872" cy="118872"/>
          </a:xfrm>
          <a:prstGeom prst="ellipse">
            <a:avLst/>
          </a:prstGeom>
          <a:solidFill>
            <a:srgbClr val="D73027"/>
          </a:solidFill>
          <a:ln w="6350">
            <a:solidFill>
              <a:srgbClr val="D73027"/>
            </a:solidFill>
            <a:prstDash val="solid"/>
          </a:ln>
        </p:spPr>
      </p:sp>
      <p:sp>
        <p:nvSpPr>
          <p:cNvPr id="120" name="result 117"/>
          <p:cNvSpPr/>
          <p:nvPr/>
        </p:nvSpPr>
        <p:spPr>
          <a:xfrm>
            <a:off x="5940770" y="5280660"/>
            <a:ext cx="118872" cy="118872"/>
          </a:xfrm>
          <a:prstGeom prst="ellipse">
            <a:avLst/>
          </a:prstGeom>
          <a:solidFill>
            <a:srgbClr val="D73027"/>
          </a:solidFill>
          <a:ln w="6350">
            <a:solidFill>
              <a:srgbClr val="D73027"/>
            </a:solidFill>
            <a:prstDash val="solid"/>
          </a:ln>
        </p:spPr>
      </p:sp>
      <p:sp>
        <p:nvSpPr>
          <p:cNvPr id="121" name="result 118"/>
          <p:cNvSpPr/>
          <p:nvPr/>
        </p:nvSpPr>
        <p:spPr>
          <a:xfrm>
            <a:off x="6132053" y="5847588"/>
            <a:ext cx="118872" cy="118872"/>
          </a:xfrm>
          <a:prstGeom prst="ellipse">
            <a:avLst/>
          </a:prstGeom>
          <a:solidFill>
            <a:srgbClr val="D73027"/>
          </a:solidFill>
          <a:ln w="6350">
            <a:solidFill>
              <a:srgbClr val="D73027"/>
            </a:solidFill>
            <a:prstDash val="solid"/>
          </a:ln>
        </p:spPr>
      </p:sp>
      <p:sp>
        <p:nvSpPr>
          <p:cNvPr id="122" name="result 119"/>
          <p:cNvSpPr/>
          <p:nvPr/>
        </p:nvSpPr>
        <p:spPr>
          <a:xfrm>
            <a:off x="6132053" y="5705856"/>
            <a:ext cx="118872" cy="118872"/>
          </a:xfrm>
          <a:prstGeom prst="ellipse">
            <a:avLst/>
          </a:prstGeom>
          <a:solidFill>
            <a:srgbClr val="D73027"/>
          </a:solidFill>
          <a:ln w="6350">
            <a:solidFill>
              <a:srgbClr val="D73027"/>
            </a:solidFill>
            <a:prstDash val="solid"/>
          </a:ln>
        </p:spPr>
      </p:sp>
      <p:sp>
        <p:nvSpPr>
          <p:cNvPr id="123" name="result 120"/>
          <p:cNvSpPr/>
          <p:nvPr/>
        </p:nvSpPr>
        <p:spPr>
          <a:xfrm>
            <a:off x="6132053" y="5564124"/>
            <a:ext cx="118872" cy="118872"/>
          </a:xfrm>
          <a:prstGeom prst="ellipse">
            <a:avLst/>
          </a:prstGeom>
          <a:solidFill>
            <a:srgbClr val="D73027"/>
          </a:solidFill>
          <a:ln w="6350">
            <a:solidFill>
              <a:srgbClr val="D73027"/>
            </a:solidFill>
            <a:prstDash val="solid"/>
          </a:ln>
        </p:spPr>
      </p:sp>
      <p:sp>
        <p:nvSpPr>
          <p:cNvPr id="124" name="result 121"/>
          <p:cNvSpPr/>
          <p:nvPr/>
        </p:nvSpPr>
        <p:spPr>
          <a:xfrm>
            <a:off x="6132053" y="5422392"/>
            <a:ext cx="118872" cy="118872"/>
          </a:xfrm>
          <a:prstGeom prst="ellipse">
            <a:avLst/>
          </a:prstGeom>
          <a:solidFill>
            <a:srgbClr val="D73027"/>
          </a:solidFill>
          <a:ln w="6350">
            <a:solidFill>
              <a:srgbClr val="D73027"/>
            </a:solidFill>
            <a:prstDash val="solid"/>
          </a:ln>
        </p:spPr>
      </p:sp>
      <p:sp>
        <p:nvSpPr>
          <p:cNvPr id="125" name="result 122"/>
          <p:cNvSpPr/>
          <p:nvPr/>
        </p:nvSpPr>
        <p:spPr>
          <a:xfrm>
            <a:off x="6323336" y="5847588"/>
            <a:ext cx="118872" cy="118872"/>
          </a:xfrm>
          <a:prstGeom prst="ellipse">
            <a:avLst/>
          </a:prstGeom>
          <a:solidFill>
            <a:srgbClr val="D73027"/>
          </a:solidFill>
          <a:ln w="6350">
            <a:solidFill>
              <a:srgbClr val="D73027"/>
            </a:solidFill>
            <a:prstDash val="solid"/>
          </a:ln>
        </p:spPr>
      </p:sp>
      <p:sp>
        <p:nvSpPr>
          <p:cNvPr id="126" name="result 123"/>
          <p:cNvSpPr/>
          <p:nvPr/>
        </p:nvSpPr>
        <p:spPr>
          <a:xfrm>
            <a:off x="7088468" y="5847588"/>
            <a:ext cx="118872" cy="118872"/>
          </a:xfrm>
          <a:prstGeom prst="ellipse">
            <a:avLst/>
          </a:prstGeom>
          <a:solidFill>
            <a:srgbClr val="D73027"/>
          </a:solidFill>
          <a:ln w="6350">
            <a:solidFill>
              <a:srgbClr val="D73027"/>
            </a:solidFill>
            <a:prstDash val="solid"/>
          </a:ln>
        </p:spPr>
      </p:sp>
      <p:sp>
        <p:nvSpPr>
          <p:cNvPr id="127" name="result 124"/>
          <p:cNvSpPr/>
          <p:nvPr/>
        </p:nvSpPr>
        <p:spPr>
          <a:xfrm>
            <a:off x="7279751" y="5847588"/>
            <a:ext cx="118872" cy="118872"/>
          </a:xfrm>
          <a:prstGeom prst="ellipse">
            <a:avLst/>
          </a:prstGeom>
          <a:solidFill>
            <a:srgbClr val="D73027"/>
          </a:solidFill>
          <a:ln w="6350">
            <a:solidFill>
              <a:srgbClr val="D73027"/>
            </a:solidFill>
            <a:prstDash val="solid"/>
          </a:ln>
        </p:spPr>
      </p:sp>
      <p:sp>
        <p:nvSpPr>
          <p:cNvPr id="128" name="result 125"/>
          <p:cNvSpPr/>
          <p:nvPr/>
        </p:nvSpPr>
        <p:spPr>
          <a:xfrm>
            <a:off x="7279751" y="5705856"/>
            <a:ext cx="118872" cy="118872"/>
          </a:xfrm>
          <a:prstGeom prst="ellipse">
            <a:avLst/>
          </a:prstGeom>
          <a:solidFill>
            <a:srgbClr val="D73027"/>
          </a:solidFill>
          <a:ln w="6350">
            <a:solidFill>
              <a:srgbClr val="D73027"/>
            </a:solidFill>
            <a:prstDash val="solid"/>
          </a:ln>
        </p:spPr>
      </p:sp>
      <p:sp>
        <p:nvSpPr>
          <p:cNvPr id="129" name="result 126"/>
          <p:cNvSpPr/>
          <p:nvPr/>
        </p:nvSpPr>
        <p:spPr>
          <a:xfrm>
            <a:off x="7853600" y="5847588"/>
            <a:ext cx="118872" cy="118872"/>
          </a:xfrm>
          <a:prstGeom prst="ellipse">
            <a:avLst/>
          </a:prstGeom>
          <a:solidFill>
            <a:srgbClr val="D73027"/>
          </a:solidFill>
          <a:ln w="6350">
            <a:solidFill>
              <a:srgbClr val="D73027"/>
            </a:solidFill>
            <a:prstDash val="solid"/>
          </a:ln>
        </p:spPr>
      </p:sp>
      <p:sp>
        <p:nvSpPr>
          <p:cNvPr id="130" name="result 127"/>
          <p:cNvSpPr/>
          <p:nvPr/>
        </p:nvSpPr>
        <p:spPr>
          <a:xfrm>
            <a:off x="8044883" y="5847588"/>
            <a:ext cx="118872" cy="118872"/>
          </a:xfrm>
          <a:prstGeom prst="ellipse">
            <a:avLst/>
          </a:prstGeom>
          <a:solidFill>
            <a:srgbClr val="D73027"/>
          </a:solidFill>
          <a:ln w="6350">
            <a:solidFill>
              <a:srgbClr val="D73027"/>
            </a:solidFill>
            <a:prstDash val="solid"/>
          </a:ln>
        </p:spPr>
      </p:sp>
      <p:sp>
        <p:nvSpPr>
          <p:cNvPr id="131" name="result 128"/>
          <p:cNvSpPr/>
          <p:nvPr/>
        </p:nvSpPr>
        <p:spPr>
          <a:xfrm>
            <a:off x="8427449" y="5847588"/>
            <a:ext cx="118872" cy="118872"/>
          </a:xfrm>
          <a:prstGeom prst="ellipse">
            <a:avLst/>
          </a:prstGeom>
          <a:solidFill>
            <a:srgbClr val="D73027"/>
          </a:solidFill>
          <a:ln w="6350">
            <a:solidFill>
              <a:srgbClr val="D73027"/>
            </a:solidFill>
            <a:prstDash val="solid"/>
          </a:ln>
        </p:spPr>
      </p:sp>
      <p:sp>
        <p:nvSpPr>
          <p:cNvPr id="132" name="result 129"/>
          <p:cNvSpPr/>
          <p:nvPr/>
        </p:nvSpPr>
        <p:spPr>
          <a:xfrm>
            <a:off x="8810015" y="5847588"/>
            <a:ext cx="118872" cy="118872"/>
          </a:xfrm>
          <a:prstGeom prst="ellipse">
            <a:avLst/>
          </a:prstGeom>
          <a:solidFill>
            <a:srgbClr val="7A0177"/>
          </a:solidFill>
          <a:ln w="6350">
            <a:solidFill>
              <a:srgbClr val="7A0177"/>
            </a:solidFill>
            <a:prstDash val="solid"/>
          </a:ln>
        </p:spPr>
      </p:sp>
      <p:sp>
        <p:nvSpPr>
          <p:cNvPr id="133" name="result 130"/>
          <p:cNvSpPr/>
          <p:nvPr/>
        </p:nvSpPr>
        <p:spPr>
          <a:xfrm>
            <a:off x="9383864" y="5847588"/>
            <a:ext cx="118872" cy="118872"/>
          </a:xfrm>
          <a:prstGeom prst="ellipse">
            <a:avLst/>
          </a:prstGeom>
          <a:solidFill>
            <a:srgbClr val="7A0177"/>
          </a:solidFill>
          <a:ln w="6350">
            <a:solidFill>
              <a:srgbClr val="7A0177"/>
            </a:solidFill>
            <a:prstDash val="solid"/>
          </a:ln>
        </p:spPr>
      </p:sp>
      <p:sp>
        <p:nvSpPr>
          <p:cNvPr id="134" name="result 131"/>
          <p:cNvSpPr/>
          <p:nvPr/>
        </p:nvSpPr>
        <p:spPr>
          <a:xfrm>
            <a:off x="11296695" y="5847588"/>
            <a:ext cx="118872" cy="118872"/>
          </a:xfrm>
          <a:prstGeom prst="ellipse">
            <a:avLst/>
          </a:prstGeom>
          <a:solidFill>
            <a:srgbClr val="7A0177"/>
          </a:solidFill>
          <a:ln w="6350">
            <a:solidFill>
              <a:srgbClr val="7A0177"/>
            </a:solidFill>
            <a:prstDash val="solid"/>
          </a:ln>
        </p:spPr>
      </p:sp>
      <p:sp>
        <p:nvSpPr>
          <p:cNvPr id="135" name="Text 133"/>
          <p:cNvSpPr txBox="1"/>
          <p:nvPr/>
        </p:nvSpPr>
        <p:spPr>
          <a:xfrm>
            <a:off x="182880" y="6035040"/>
            <a:ext cx="731520" cy="274320"/>
          </a:xfrm>
          <a:prstGeom prst="rect">
            <a:avLst/>
          </a:prstGeom>
          <a:noFill/>
          <a:ln/>
        </p:spPr>
        <p:txBody>
          <a:bodyPr wrap="square" lIns="0" tIns="0" rIns="0" bIns="0" rtlCol="0" anchor="t"/>
          <a:lstStyle/>
          <a:p>
            <a:pPr algn="ctr" indent="0" marL="0">
              <a:buNone/>
            </a:pPr>
            <a:r>
              <a:rPr lang="en-US" sz="1100" dirty="0">
                <a:solidFill>
                  <a:srgbClr val="AEB8CC"/>
                </a:solidFill>
              </a:rPr>
              <a:t>1×</a:t>
            </a:r>
            <a:endParaRPr lang="en-US" sz="1100" dirty="0"/>
          </a:p>
        </p:txBody>
      </p:sp>
      <p:sp>
        <p:nvSpPr>
          <p:cNvPr id="136" name="Text 134"/>
          <p:cNvSpPr txBox="1"/>
          <p:nvPr/>
        </p:nvSpPr>
        <p:spPr>
          <a:xfrm>
            <a:off x="2095710" y="6035040"/>
            <a:ext cx="731520" cy="274320"/>
          </a:xfrm>
          <a:prstGeom prst="rect">
            <a:avLst/>
          </a:prstGeom>
          <a:noFill/>
          <a:ln/>
        </p:spPr>
        <p:txBody>
          <a:bodyPr wrap="square" lIns="0" tIns="0" rIns="0" bIns="0" rtlCol="0" anchor="t"/>
          <a:lstStyle/>
          <a:p>
            <a:pPr algn="ctr" indent="0" marL="0">
              <a:buNone/>
            </a:pPr>
            <a:r>
              <a:rPr lang="en-US" sz="1100" dirty="0">
                <a:solidFill>
                  <a:srgbClr val="AEB8CC"/>
                </a:solidFill>
              </a:rPr>
              <a:t>10×</a:t>
            </a:r>
            <a:endParaRPr lang="en-US" sz="1100" dirty="0"/>
          </a:p>
        </p:txBody>
      </p:sp>
      <p:sp>
        <p:nvSpPr>
          <p:cNvPr id="137" name="Text 135"/>
          <p:cNvSpPr txBox="1"/>
          <p:nvPr/>
        </p:nvSpPr>
        <p:spPr>
          <a:xfrm>
            <a:off x="4008540" y="6035040"/>
            <a:ext cx="731520" cy="274320"/>
          </a:xfrm>
          <a:prstGeom prst="rect">
            <a:avLst/>
          </a:prstGeom>
          <a:noFill/>
          <a:ln/>
        </p:spPr>
        <p:txBody>
          <a:bodyPr wrap="square" lIns="0" tIns="0" rIns="0" bIns="0" rtlCol="0" anchor="t"/>
          <a:lstStyle/>
          <a:p>
            <a:pPr algn="ctr" indent="0" marL="0">
              <a:buNone/>
            </a:pPr>
            <a:r>
              <a:rPr lang="en-US" sz="1100" dirty="0">
                <a:solidFill>
                  <a:srgbClr val="AEB8CC"/>
                </a:solidFill>
              </a:rPr>
              <a:t>10²×</a:t>
            </a:r>
            <a:endParaRPr lang="en-US" sz="1100" dirty="0"/>
          </a:p>
        </p:txBody>
      </p:sp>
      <p:sp>
        <p:nvSpPr>
          <p:cNvPr id="138" name="Text 136"/>
          <p:cNvSpPr txBox="1"/>
          <p:nvPr/>
        </p:nvSpPr>
        <p:spPr>
          <a:xfrm>
            <a:off x="5921371" y="6035040"/>
            <a:ext cx="731520" cy="274320"/>
          </a:xfrm>
          <a:prstGeom prst="rect">
            <a:avLst/>
          </a:prstGeom>
          <a:noFill/>
          <a:ln/>
        </p:spPr>
        <p:txBody>
          <a:bodyPr wrap="square" lIns="0" tIns="0" rIns="0" bIns="0" rtlCol="0" anchor="t"/>
          <a:lstStyle/>
          <a:p>
            <a:pPr algn="ctr" indent="0" marL="0">
              <a:buNone/>
            </a:pPr>
            <a:r>
              <a:rPr lang="en-US" sz="1100" dirty="0">
                <a:solidFill>
                  <a:srgbClr val="AEB8CC"/>
                </a:solidFill>
              </a:rPr>
              <a:t>10³×</a:t>
            </a:r>
            <a:endParaRPr lang="en-US" sz="1100" dirty="0"/>
          </a:p>
        </p:txBody>
      </p:sp>
      <p:sp>
        <p:nvSpPr>
          <p:cNvPr id="139" name="Text 137"/>
          <p:cNvSpPr txBox="1"/>
          <p:nvPr/>
        </p:nvSpPr>
        <p:spPr>
          <a:xfrm>
            <a:off x="7834201" y="6035040"/>
            <a:ext cx="731520" cy="274320"/>
          </a:xfrm>
          <a:prstGeom prst="rect">
            <a:avLst/>
          </a:prstGeom>
          <a:noFill/>
          <a:ln/>
        </p:spPr>
        <p:txBody>
          <a:bodyPr wrap="square" lIns="0" tIns="0" rIns="0" bIns="0" rtlCol="0" anchor="t"/>
          <a:lstStyle/>
          <a:p>
            <a:pPr algn="ctr" indent="0" marL="0">
              <a:buNone/>
            </a:pPr>
            <a:r>
              <a:rPr lang="en-US" sz="1100" dirty="0">
                <a:solidFill>
                  <a:srgbClr val="AEB8CC"/>
                </a:solidFill>
              </a:rPr>
              <a:t>10⁴×</a:t>
            </a:r>
            <a:endParaRPr lang="en-US" sz="1100" dirty="0"/>
          </a:p>
        </p:txBody>
      </p:sp>
      <p:sp>
        <p:nvSpPr>
          <p:cNvPr id="140" name="Text 138"/>
          <p:cNvSpPr txBox="1"/>
          <p:nvPr/>
        </p:nvSpPr>
        <p:spPr>
          <a:xfrm>
            <a:off x="9747031" y="6035040"/>
            <a:ext cx="731520" cy="274320"/>
          </a:xfrm>
          <a:prstGeom prst="rect">
            <a:avLst/>
          </a:prstGeom>
          <a:noFill/>
          <a:ln/>
        </p:spPr>
        <p:txBody>
          <a:bodyPr wrap="square" lIns="0" tIns="0" rIns="0" bIns="0" rtlCol="0" anchor="t"/>
          <a:lstStyle/>
          <a:p>
            <a:pPr algn="ctr" indent="0" marL="0">
              <a:buNone/>
            </a:pPr>
            <a:r>
              <a:rPr lang="en-US" sz="1100" dirty="0">
                <a:solidFill>
                  <a:srgbClr val="AEB8CC"/>
                </a:solidFill>
              </a:rPr>
              <a:t>10⁵×</a:t>
            </a:r>
            <a:endParaRPr lang="en-US" sz="1100" dirty="0"/>
          </a:p>
        </p:txBody>
      </p:sp>
      <p:sp>
        <p:nvSpPr>
          <p:cNvPr id="141" name="Text 139"/>
          <p:cNvSpPr txBox="1"/>
          <p:nvPr/>
        </p:nvSpPr>
        <p:spPr>
          <a:xfrm>
            <a:off x="548640" y="6336792"/>
            <a:ext cx="11094415" cy="274320"/>
          </a:xfrm>
          <a:prstGeom prst="rect">
            <a:avLst/>
          </a:prstGeom>
          <a:noFill/>
          <a:ln/>
        </p:spPr>
        <p:txBody>
          <a:bodyPr wrap="square" lIns="0" tIns="0" rIns="0" bIns="0" rtlCol="0" anchor="t"/>
          <a:lstStyle/>
          <a:p>
            <a:pPr indent="0" marL="0">
              <a:buNone/>
            </a:pPr>
            <a:r>
              <a:rPr lang="en-US" sz="1100" i="1" dirty="0">
                <a:solidFill>
                  <a:srgbClr val="AEB8CC"/>
                </a:solidFill>
              </a:rPr>
              <a:t>Each dot is one of the 131 test variants (run22), on a log scale of time relative to hand-written arm64 assembler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Where this started: Keith Shortridge, ADASS 2019</a:t>
            </a:r>
            <a:endParaRPr lang="en-US" sz="3200" dirty="0"/>
          </a:p>
        </p:txBody>
      </p:sp>
      <p:pic>
        <p:nvPicPr>
          <p:cNvPr id="3" name="2019 poster banner" descr="Banner of Keith Shortridge's ADASS 2019 poster: 'This code is over 1,000,000 times faster than that code', with his photo">    </p:cNvPr>
          <p:cNvPicPr>
            <a:picLocks noChangeAspect="1"/>
          </p:cNvPicPr>
          <p:nvPr/>
        </p:nvPicPr>
        <p:blipFill>
          <a:blip r:embed="rId1"/>
          <a:stretch>
            <a:fillRect/>
          </a:stretch>
        </p:blipFill>
        <p:spPr>
          <a:xfrm>
            <a:off x="548640" y="1143000"/>
            <a:ext cx="11094415" cy="1724381"/>
          </a:xfrm>
          <a:prstGeom prst="rect">
            <a:avLst/>
          </a:prstGeom>
        </p:spPr>
      </p:pic>
      <p:sp>
        <p:nvSpPr>
          <p:cNvPr id="4" name="Text 1"/>
          <p:cNvSpPr txBox="1"/>
          <p:nvPr/>
        </p:nvSpPr>
        <p:spPr>
          <a:xfrm>
            <a:off x="548640" y="6016752"/>
            <a:ext cx="11094415" cy="274320"/>
          </a:xfrm>
          <a:prstGeom prst="rect">
            <a:avLst/>
          </a:prstGeom>
          <a:noFill/>
          <a:ln/>
        </p:spPr>
        <p:txBody>
          <a:bodyPr wrap="square" lIns="0" tIns="0" rIns="0" bIns="0" rtlCol="0" anchor="ctr"/>
          <a:lstStyle/>
          <a:p>
            <a:pPr indent="0" marL="0">
              <a:buNone/>
            </a:pPr>
            <a:r>
              <a:rPr lang="en-US" sz="1100" dirty="0">
                <a:solidFill>
                  <a:srgbClr val="5A6275"/>
                </a:solidFill>
              </a:rPr>
              <a:t>Source: K. Shortridge, ADASS 2019, paper P9-17, poster and full write-up (Nov 2019) · </a:t>
            </a:r>
            <a:pPr indent="0" marL="0">
              <a:buNone/>
            </a:pPr>
            <a:r>
              <a:rPr lang="en-US" sz="1100" u="sng" dirty="0">
                <a:solidFill>
                  <a:schemeClr val="accent5"/>
                </a:solidFill>
                <a:hlinkClick r:id="rId2" invalidUrl="" action="" tgtFrame="" tooltip="" history="1" highlightClick="0" endSnd="0">
                  <a:extLst>
                    <a:ext uri="{A12FA001-AC4F-418D-AE19-62706E023703}">
                      <ahyp:hlinkClr xmlns:ahyp="http://schemas.microsoft.com/office/drawing/2018/hyperlinkcolor" val="tx"/>
                    </a:ext>
                  </a:extLst>
                </a:hlinkClick>
              </a:rPr>
              <a:t>github.com/KnaveAndVarlet/ADASS2019</a:t>
            </a:r>
            <a:endParaRPr lang="en-US" sz="1100" dirty="0"/>
          </a:p>
        </p:txBody>
      </p:sp>
      <p:pic>
        <p:nvPicPr>
          <p:cNvPr id="5" name="2019 results table" descr="Keith Shortridge's 2019 colour-coded table of relative times by language and compiler option">    </p:cNvPr>
          <p:cNvPicPr>
            <a:picLocks noChangeAspect="1"/>
          </p:cNvPicPr>
          <p:nvPr/>
        </p:nvPicPr>
        <p:blipFill>
          <a:blip r:embed="rId3"/>
          <a:stretch>
            <a:fillRect/>
          </a:stretch>
        </p:blipFill>
        <p:spPr>
          <a:xfrm>
            <a:off x="8637144" y="3141701"/>
            <a:ext cx="3005912" cy="2756179"/>
          </a:xfrm>
          <a:prstGeom prst="rect">
            <a:avLst/>
          </a:prstGeom>
        </p:spPr>
      </p:pic>
      <p:sp>
        <p:nvSpPr>
          <p:cNvPr id="6" name="Text 2"/>
          <p:cNvSpPr txBox="1"/>
          <p:nvPr/>
        </p:nvSpPr>
        <p:spPr>
          <a:xfrm>
            <a:off x="548640" y="3141701"/>
            <a:ext cx="7722744" cy="16002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12 languages, one deliberately trivial kernel</a:t>
            </a:r>
            <a:endParaRPr lang="en-US" sz="1600" dirty="0"/>
          </a:p>
          <a:p>
            <a:pPr marL="342900" indent="-342900">
              <a:spcAft>
                <a:spcPts val="600"/>
              </a:spcAft>
              <a:buSzPct val="100000"/>
              <a:buChar char="•"/>
            </a:pPr>
            <a:r>
              <a:rPr lang="en-US" sz="1600" dirty="0">
                <a:solidFill>
                  <a:schemeClr val="tx1"/>
                </a:solidFill>
              </a:rPr>
              <a:t>Fastest to slowest: more than a million-fold</a:t>
            </a:r>
            <a:endParaRPr lang="en-US" sz="1600" dirty="0"/>
          </a:p>
          <a:p>
            <a:pPr marL="342900" indent="-342900">
              <a:spcAft>
                <a:spcPts val="600"/>
              </a:spcAft>
              <a:buSzPct val="100000"/>
              <a:buChar char="•"/>
            </a:pPr>
            <a:r>
              <a:rPr lang="en-US" sz="1600" dirty="0">
                <a:solidFill>
                  <a:schemeClr val="tx1"/>
                </a:solidFill>
              </a:rPr>
              <a:t>Compiler options alone: nearly 500× in one program</a:t>
            </a:r>
            <a:endParaRPr lang="en-US" sz="1600" dirty="0"/>
          </a:p>
          <a:p>
            <a:pPr marL="342900" indent="-342900">
              <a:spcAft>
                <a:spcPts val="600"/>
              </a:spcAft>
              <a:buSzPct val="100000"/>
              <a:buChar char="•"/>
            </a:pPr>
            <a:r>
              <a:rPr lang="en-US" sz="1600" dirty="0">
                <a:solidFill>
                  <a:schemeClr val="tx1"/>
                </a:solidFill>
              </a:rPr>
              <a:t>Conference feedback went straight back in: numba, a Julia tweak, Rust idioms</a:t>
            </a:r>
            <a:endParaRPr lang="en-US" sz="1600" dirty="0"/>
          </a:p>
        </p:txBody>
      </p:sp>
      <p:sp>
        <p:nvSpPr>
          <p:cNvPr id="7" name="kernel code card"/>
          <p:cNvSpPr/>
          <p:nvPr/>
        </p:nvSpPr>
        <p:spPr>
          <a:xfrm>
            <a:off x="548640" y="4833341"/>
            <a:ext cx="7722744" cy="1064539"/>
          </a:xfrm>
          <a:prstGeom prst="roundRect">
            <a:avLst>
              <a:gd name="adj" fmla="val 8590"/>
            </a:avLst>
          </a:prstGeom>
          <a:solidFill>
            <a:schemeClr val="tx2"/>
          </a:solidFill>
          <a:ln w="12700">
            <a:solidFill>
              <a:schemeClr val="tx2"/>
            </a:solidFill>
            <a:prstDash val="solid"/>
          </a:ln>
        </p:spPr>
      </p:sp>
      <p:sp>
        <p:nvSpPr>
          <p:cNvPr id="8" name="Text 4"/>
          <p:cNvSpPr txBox="1"/>
          <p:nvPr/>
        </p:nvSpPr>
        <p:spPr>
          <a:xfrm>
            <a:off x="777240" y="4833341"/>
            <a:ext cx="7265544" cy="1064539"/>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for (int iy = 0; iy &lt; ny; iy++)</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for (int ix = 0; ix &lt; nx; ix++)</a:t>
            </a:r>
            <a:endParaRPr lang="en-US" sz="1400" dirty="0"/>
          </a:p>
          <a:p>
            <a:pPr indent="0" marL="0">
              <a:buNone/>
            </a:pPr>
            <a:r>
              <a:rPr lang="en-US" sz="1400" dirty="0">
                <a:solidFill>
                  <a:srgbClr val="FEE08B"/>
                </a:solidFill>
                <a:latin typeface="Courier New" pitchFamily="34" charset="0"/>
                <a:ea typeface="Courier New" pitchFamily="34" charset="-122"/>
                <a:cs typeface="Courier New" pitchFamily="34" charset="-120"/>
              </a:rPr>
              <a:t>    Out[iy][ix] = In[iy][ix] + ix + iy;</a:t>
            </a:r>
            <a:endParaRPr lang="en-US" sz="1400" dirty="0"/>
          </a:p>
          <a:p>
            <a:pPr indent="0" marL="0">
              <a:buNone/>
            </a:pPr>
            <a:r>
              <a:rPr lang="en-US" sz="1400" dirty="0">
                <a:solidFill>
                  <a:srgbClr val="AEB8CC"/>
                </a:solidFill>
                <a:latin typeface="Courier New" pitchFamily="34" charset="0"/>
                <a:ea typeface="Courier New" pitchFamily="34" charset="-122"/>
                <a:cs typeface="Courier New" pitchFamily="34" charset="-120"/>
              </a:rPr>
              <a:t>// 2000 × 10 floats: it times how a language reaches an element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Where I came in: 2019 → 2024</a:t>
            </a:r>
            <a:endParaRPr lang="en-US" sz="3200" dirty="0"/>
          </a:p>
        </p:txBody>
      </p:sp>
      <p:sp>
        <p:nvSpPr>
          <p:cNvPr id="3" name="timeline axis"/>
          <p:cNvSpPr/>
          <p:nvPr/>
        </p:nvSpPr>
        <p:spPr>
          <a:xfrm>
            <a:off x="2275789" y="1600200"/>
            <a:ext cx="7640117" cy="0"/>
          </a:xfrm>
          <a:prstGeom prst="line">
            <a:avLst/>
          </a:prstGeom>
          <a:noFill/>
          <a:ln w="19050">
            <a:solidFill>
              <a:srgbClr val="5A6275"/>
            </a:solidFill>
            <a:prstDash val="solid"/>
          </a:ln>
        </p:spPr>
      </p:sp>
      <p:sp>
        <p:nvSpPr>
          <p:cNvPr id="4" name="milestone 2019"/>
          <p:cNvSpPr/>
          <p:nvPr/>
        </p:nvSpPr>
        <p:spPr>
          <a:xfrm>
            <a:off x="2092909" y="1417320"/>
            <a:ext cx="365760" cy="365760"/>
          </a:xfrm>
          <a:prstGeom prst="ellipse">
            <a:avLst/>
          </a:prstGeom>
          <a:solidFill>
            <a:schemeClr val="tx2"/>
          </a:solidFill>
          <a:ln w="25400">
            <a:solidFill>
              <a:schemeClr val="bg1"/>
            </a:solidFill>
            <a:prstDash val="solid"/>
          </a:ln>
        </p:spPr>
      </p:sp>
      <p:sp>
        <p:nvSpPr>
          <p:cNvPr id="5" name="Text 3"/>
          <p:cNvSpPr txBox="1"/>
          <p:nvPr/>
        </p:nvSpPr>
        <p:spPr>
          <a:xfrm>
            <a:off x="548640" y="1874520"/>
            <a:ext cx="3454298" cy="365760"/>
          </a:xfrm>
          <a:prstGeom prst="rect">
            <a:avLst/>
          </a:prstGeom>
          <a:noFill/>
          <a:ln/>
        </p:spPr>
        <p:txBody>
          <a:bodyPr wrap="square" lIns="0" tIns="0" rIns="0" bIns="0" rtlCol="0" anchor="t"/>
          <a:lstStyle/>
          <a:p>
            <a:pPr algn="ctr" indent="0" marL="0">
              <a:buNone/>
            </a:pPr>
            <a:r>
              <a:rPr lang="en-US" sz="1800" b="1" dirty="0">
                <a:solidFill>
                  <a:schemeClr val="tx2"/>
                </a:solidFill>
                <a:latin typeface="+mj-lt" pitchFamily="34" charset="0"/>
                <a:ea typeface="+mj-lt" pitchFamily="34" charset="-122"/>
                <a:cs typeface="+mj-lt" pitchFamily="34" charset="-120"/>
              </a:rPr>
              <a:t>2019</a:t>
            </a:r>
            <a:endParaRPr lang="en-US" sz="1800" dirty="0"/>
          </a:p>
        </p:txBody>
      </p:sp>
      <p:sp>
        <p:nvSpPr>
          <p:cNvPr id="6" name="milestone card 2019"/>
          <p:cNvSpPr/>
          <p:nvPr/>
        </p:nvSpPr>
        <p:spPr>
          <a:xfrm>
            <a:off x="548640" y="2331720"/>
            <a:ext cx="3454298" cy="1965960"/>
          </a:xfrm>
          <a:prstGeom prst="roundRect">
            <a:avLst>
              <a:gd name="adj" fmla="val 4651"/>
            </a:avLst>
          </a:prstGeom>
          <a:solidFill>
            <a:schemeClr val="bg2"/>
          </a:solidFill>
          <a:ln w="12700">
            <a:solidFill>
              <a:schemeClr val="bg2"/>
            </a:solidFill>
            <a:prstDash val="solid"/>
          </a:ln>
        </p:spPr>
      </p:sp>
      <p:sp>
        <p:nvSpPr>
          <p:cNvPr id="7" name="Text 5"/>
          <p:cNvSpPr txBox="1"/>
          <p:nvPr/>
        </p:nvSpPr>
        <p:spPr>
          <a:xfrm>
            <a:off x="731520" y="2468880"/>
            <a:ext cx="3088538" cy="173736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PDL and numpy one-liners</a:t>
            </a:r>
            <a:endParaRPr lang="en-US" sz="1700" dirty="0"/>
          </a:p>
          <a:p>
            <a:pPr indent="0" marL="0">
              <a:spcAft>
                <a:spcPts val="600"/>
              </a:spcAft>
              <a:buNone/>
            </a:pPr>
            <a:r>
              <a:rPr lang="en-US" sz="1500" dirty="0">
                <a:solidFill>
                  <a:schemeClr val="tx1"/>
                </a:solidFill>
              </a:rPr>
              <a:t>I sent Keith the one-line “arrays” forms for PDL and numpy; he credits both in his write-up. He already doubted his PDL raw test.</a:t>
            </a:r>
            <a:endParaRPr lang="en-US" sz="1700" dirty="0"/>
          </a:p>
        </p:txBody>
      </p:sp>
      <p:sp>
        <p:nvSpPr>
          <p:cNvPr id="8" name="milestone 2022"/>
          <p:cNvSpPr/>
          <p:nvPr/>
        </p:nvSpPr>
        <p:spPr>
          <a:xfrm>
            <a:off x="5912968" y="1417320"/>
            <a:ext cx="365760" cy="365760"/>
          </a:xfrm>
          <a:prstGeom prst="ellipse">
            <a:avLst/>
          </a:prstGeom>
          <a:solidFill>
            <a:schemeClr val="tx2"/>
          </a:solidFill>
          <a:ln w="25400">
            <a:solidFill>
              <a:schemeClr val="bg1"/>
            </a:solidFill>
            <a:prstDash val="solid"/>
          </a:ln>
        </p:spPr>
      </p:sp>
      <p:sp>
        <p:nvSpPr>
          <p:cNvPr id="9" name="Text 7"/>
          <p:cNvSpPr txBox="1"/>
          <p:nvPr/>
        </p:nvSpPr>
        <p:spPr>
          <a:xfrm>
            <a:off x="4368698" y="1874520"/>
            <a:ext cx="3454298" cy="365760"/>
          </a:xfrm>
          <a:prstGeom prst="rect">
            <a:avLst/>
          </a:prstGeom>
          <a:noFill/>
          <a:ln/>
        </p:spPr>
        <p:txBody>
          <a:bodyPr wrap="square" lIns="0" tIns="0" rIns="0" bIns="0" rtlCol="0" anchor="t"/>
          <a:lstStyle/>
          <a:p>
            <a:pPr algn="ctr" indent="0" marL="0">
              <a:buNone/>
            </a:pPr>
            <a:r>
              <a:rPr lang="en-US" sz="1800" b="1" dirty="0">
                <a:solidFill>
                  <a:schemeClr val="tx2"/>
                </a:solidFill>
                <a:latin typeface="+mj-lt" pitchFamily="34" charset="0"/>
                <a:ea typeface="+mj-lt" pitchFamily="34" charset="-122"/>
                <a:cs typeface="+mj-lt" pitchFamily="34" charset="-120"/>
              </a:rPr>
              <a:t>2022</a:t>
            </a:r>
            <a:endParaRPr lang="en-US" sz="1800" dirty="0"/>
          </a:p>
        </p:txBody>
      </p:sp>
      <p:sp>
        <p:nvSpPr>
          <p:cNvPr id="10" name="milestone card 2022"/>
          <p:cNvSpPr/>
          <p:nvPr/>
        </p:nvSpPr>
        <p:spPr>
          <a:xfrm>
            <a:off x="4368698" y="2331720"/>
            <a:ext cx="3454298" cy="1965960"/>
          </a:xfrm>
          <a:prstGeom prst="roundRect">
            <a:avLst>
              <a:gd name="adj" fmla="val 4651"/>
            </a:avLst>
          </a:prstGeom>
          <a:solidFill>
            <a:schemeClr val="bg2"/>
          </a:solidFill>
          <a:ln w="12700">
            <a:solidFill>
              <a:schemeClr val="bg2"/>
            </a:solidFill>
            <a:prstDash val="solid"/>
          </a:ln>
        </p:spPr>
      </p:sp>
      <p:sp>
        <p:nvSpPr>
          <p:cNvPr id="11" name="Text 9"/>
          <p:cNvSpPr txBox="1"/>
          <p:nvPr/>
        </p:nvSpPr>
        <p:spPr>
          <a:xfrm>
            <a:off x="4551578" y="2468880"/>
            <a:ext cx="3088538" cy="173736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Keith writes arm64 assembler</a:t>
            </a:r>
            <a:endParaRPr lang="en-US" sz="1700" dirty="0"/>
          </a:p>
          <a:p>
            <a:pPr indent="0" marL="0">
              <a:spcAft>
                <a:spcPts val="600"/>
              </a:spcAft>
              <a:buNone/>
            </a:pPr>
            <a:r>
              <a:rPr lang="en-US" sz="1500" dirty="0">
                <a:solidFill>
                  <a:schemeClr val="tx1"/>
                </a:solidFill>
              </a:rPr>
              <a:t>A hand-written NEON kernel for Apple Silicon (August 2022).</a:t>
            </a:r>
            <a:endParaRPr lang="en-US" sz="1700" dirty="0"/>
          </a:p>
        </p:txBody>
      </p:sp>
      <p:sp>
        <p:nvSpPr>
          <p:cNvPr id="12" name="milestone Jan 2024"/>
          <p:cNvSpPr/>
          <p:nvPr/>
        </p:nvSpPr>
        <p:spPr>
          <a:xfrm>
            <a:off x="9733026" y="1417320"/>
            <a:ext cx="365760" cy="365760"/>
          </a:xfrm>
          <a:prstGeom prst="ellipse">
            <a:avLst/>
          </a:prstGeom>
          <a:solidFill>
            <a:schemeClr val="tx2"/>
          </a:solidFill>
          <a:ln w="25400">
            <a:solidFill>
              <a:schemeClr val="bg1"/>
            </a:solidFill>
            <a:prstDash val="solid"/>
          </a:ln>
        </p:spPr>
      </p:sp>
      <p:sp>
        <p:nvSpPr>
          <p:cNvPr id="13" name="Text 11"/>
          <p:cNvSpPr txBox="1"/>
          <p:nvPr/>
        </p:nvSpPr>
        <p:spPr>
          <a:xfrm>
            <a:off x="8188757" y="1874520"/>
            <a:ext cx="3454298" cy="365760"/>
          </a:xfrm>
          <a:prstGeom prst="rect">
            <a:avLst/>
          </a:prstGeom>
          <a:noFill/>
          <a:ln/>
        </p:spPr>
        <p:txBody>
          <a:bodyPr wrap="square" lIns="0" tIns="0" rIns="0" bIns="0" rtlCol="0" anchor="t"/>
          <a:lstStyle/>
          <a:p>
            <a:pPr algn="ctr" indent="0" marL="0">
              <a:buNone/>
            </a:pPr>
            <a:r>
              <a:rPr lang="en-US" sz="1800" b="1" dirty="0">
                <a:solidFill>
                  <a:schemeClr val="tx2"/>
                </a:solidFill>
                <a:latin typeface="+mj-lt" pitchFamily="34" charset="0"/>
                <a:ea typeface="+mj-lt" pitchFamily="34" charset="-122"/>
                <a:cs typeface="+mj-lt" pitchFamily="34" charset="-120"/>
              </a:rPr>
              <a:t>Jan 2024</a:t>
            </a:r>
            <a:endParaRPr lang="en-US" sz="1800" dirty="0"/>
          </a:p>
        </p:txBody>
      </p:sp>
      <p:sp>
        <p:nvSpPr>
          <p:cNvPr id="14" name="milestone card Jan 2024"/>
          <p:cNvSpPr/>
          <p:nvPr/>
        </p:nvSpPr>
        <p:spPr>
          <a:xfrm>
            <a:off x="8188757" y="2331720"/>
            <a:ext cx="3454298" cy="1965960"/>
          </a:xfrm>
          <a:prstGeom prst="roundRect">
            <a:avLst>
              <a:gd name="adj" fmla="val 4651"/>
            </a:avLst>
          </a:prstGeom>
          <a:solidFill>
            <a:schemeClr val="bg2"/>
          </a:solidFill>
          <a:ln w="12700">
            <a:solidFill>
              <a:schemeClr val="bg2"/>
            </a:solidFill>
            <a:prstDash val="solid"/>
          </a:ln>
        </p:spPr>
      </p:sp>
      <p:sp>
        <p:nvSpPr>
          <p:cNvPr id="15" name="Text 13"/>
          <p:cNvSpPr txBox="1"/>
          <p:nvPr/>
        </p:nvSpPr>
        <p:spPr>
          <a:xfrm>
            <a:off x="8371637" y="2468880"/>
            <a:ext cx="3088538" cy="173736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PDL::PP and compiler flags</a:t>
            </a:r>
            <a:endParaRPr lang="en-US" sz="1700" dirty="0"/>
          </a:p>
          <a:p>
            <a:pPr indent="0" marL="0">
              <a:spcAft>
                <a:spcPts val="600"/>
              </a:spcAft>
              <a:buNone/>
            </a:pPr>
            <a:r>
              <a:rPr lang="en-US" sz="1500" dirty="0">
                <a:solidFill>
                  <a:schemeClr val="tx1"/>
                </a:solidFill>
              </a:rPr>
              <a:t>No optimise 9.3 s, -O1 2.9 s, -O2/-O3 2.2 s on my M1. Keith sends the assembler kernel: the 1.00 reference for 2026.</a:t>
            </a:r>
            <a:endParaRPr lang="en-US" sz="1700" dirty="0"/>
          </a:p>
        </p:txBody>
      </p:sp>
      <p:sp>
        <p:nvSpPr>
          <p:cNvPr id="16" name="PDL one-liner card"/>
          <p:cNvSpPr/>
          <p:nvPr/>
        </p:nvSpPr>
        <p:spPr>
          <a:xfrm>
            <a:off x="548640" y="4526280"/>
            <a:ext cx="6583680" cy="1600200"/>
          </a:xfrm>
          <a:prstGeom prst="roundRect">
            <a:avLst>
              <a:gd name="adj" fmla="val 5714"/>
            </a:avLst>
          </a:prstGeom>
          <a:solidFill>
            <a:schemeClr val="tx2"/>
          </a:solidFill>
          <a:ln w="12700">
            <a:solidFill>
              <a:schemeClr val="tx2"/>
            </a:solidFill>
            <a:prstDash val="solid"/>
          </a:ln>
        </p:spPr>
      </p:sp>
      <p:sp>
        <p:nvSpPr>
          <p:cNvPr id="17" name="Text 15"/>
          <p:cNvSpPr txBox="1"/>
          <p:nvPr/>
        </p:nvSpPr>
        <p:spPr>
          <a:xfrm>
            <a:off x="777240" y="4526280"/>
            <a:ext cx="6217920" cy="1600200"/>
          </a:xfrm>
          <a:prstGeom prst="rect">
            <a:avLst/>
          </a:prstGeom>
          <a:noFill/>
          <a:ln/>
        </p:spPr>
        <p:txBody>
          <a:bodyPr wrap="square" lIns="0" tIns="0" rIns="0" bIns="0" rtlCol="0" anchor="ctr"/>
          <a:lstStyle/>
          <a:p>
            <a:pPr indent="0" marL="0">
              <a:buNone/>
            </a:pPr>
            <a:r>
              <a:rPr lang="en-US" sz="1500" dirty="0">
                <a:solidFill>
                  <a:srgbClr val="AEB8CC"/>
                </a:solidFill>
                <a:latin typeface="Courier New" pitchFamily="34" charset="0"/>
                <a:ea typeface="Courier New" pitchFamily="34" charset="-122"/>
                <a:cs typeface="Courier New" pitchFamily="34" charset="-120"/>
              </a:rPr>
              <a:t># PDL “arrays”, 2019</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$Out .= $In + sequence($Nx)</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 sequence($Ny)-&gt;dummy(0,1);</a:t>
            </a:r>
            <a:endParaRPr lang="en-US" sz="1500" dirty="0"/>
          </a:p>
        </p:txBody>
      </p:sp>
      <p:sp>
        <p:nvSpPr>
          <p:cNvPr id="18" name="Text 16"/>
          <p:cNvSpPr txBox="1"/>
          <p:nvPr/>
        </p:nvSpPr>
        <p:spPr>
          <a:xfrm>
            <a:off x="7498080" y="4526280"/>
            <a:ext cx="4144975" cy="1188720"/>
          </a:xfrm>
          <a:prstGeom prst="rect">
            <a:avLst/>
          </a:prstGeom>
          <a:noFill/>
          <a:ln/>
        </p:spPr>
        <p:txBody>
          <a:bodyPr wrap="square" lIns="0" tIns="0" rIns="0" bIns="0" rtlCol="0" anchor="t"/>
          <a:lstStyle/>
          <a:p>
            <a:pPr indent="0" marL="0">
              <a:spcAft>
                <a:spcPts val="400"/>
              </a:spcAft>
              <a:buNone/>
            </a:pPr>
            <a:r>
              <a:rPr lang="en-US" sz="1800" i="1" dirty="0">
                <a:solidFill>
                  <a:schemeClr val="tx2"/>
                </a:solidFill>
              </a:rPr>
              <a:t>“The improvements you get over C are marginal and not worth the effort.”</a:t>
            </a:r>
            <a:endParaRPr lang="en-US" sz="1800" dirty="0"/>
          </a:p>
          <a:p>
            <a:pPr indent="0" marL="0">
              <a:spcAft>
                <a:spcPts val="400"/>
              </a:spcAft>
              <a:buNone/>
            </a:pPr>
            <a:r>
              <a:rPr lang="en-US" sz="1200" dirty="0">
                <a:solidFill>
                  <a:srgbClr val="5A6275"/>
                </a:solidFill>
              </a:rPr>
              <a:t>Keith, on his assembler kernel (email, Jan 2024)</a:t>
            </a:r>
            <a:endParaRPr lang="en-US" sz="1800" dirty="0"/>
          </a:p>
        </p:txBody>
      </p:sp>
      <p:sp>
        <p:nvSpPr>
          <p:cNvPr id="19" name="Text 17"/>
          <p:cNvSpPr txBox="1"/>
          <p:nvPr/>
        </p:nvSpPr>
        <p:spPr>
          <a:xfrm>
            <a:off x="7498080" y="5806440"/>
            <a:ext cx="4144975" cy="320040"/>
          </a:xfrm>
          <a:prstGeom prst="rect">
            <a:avLst/>
          </a:prstGeom>
          <a:noFill/>
          <a:ln/>
        </p:spPr>
        <p:txBody>
          <a:bodyPr wrap="square" lIns="0" tIns="0" rIns="0" bIns="0" rtlCol="0" anchor="t"/>
          <a:lstStyle/>
          <a:p>
            <a:pPr indent="0" marL="0">
              <a:buNone/>
            </a:pPr>
            <a:r>
              <a:rPr lang="en-US" sz="1200" dirty="0">
                <a:solidFill>
                  <a:srgbClr val="5A6275"/>
                </a:solidFill>
              </a:rPr>
              <a:t>Declared bias: I wrote PDL (1996).</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Then Claude Code: seven days in April 2026</a:t>
            </a:r>
            <a:endParaRPr lang="en-US" sz="3200" dirty="0"/>
          </a:p>
        </p:txBody>
      </p:sp>
      <p:graphicFrame>
        <p:nvGraphicFramePr>
          <p:cNvPr id="3" name="tests passing by day" descr=""/>
          <p:cNvGraphicFramePr/>
          <p:nvPr/>
        </p:nvGraphicFramePr>
        <p:xfrm>
          <a:off x="548640" y="1188720"/>
          <a:ext cx="6035040" cy="3566160"/>
        </p:xfrm>
        <a:graphic xmlns:a="http://schemas.openxmlformats.org/drawingml/2006/main">
          <a:graphicData uri="http://schemas.openxmlformats.org/drawingml/2006/chart">
            <c:chart xmlns:c="http://schemas.openxmlformats.org/drawingml/2006/chart" r:id="rId1"/>
          </a:graphicData>
        </a:graphic>
      </p:graphicFrame>
      <p:sp>
        <p:nvSpPr>
          <p:cNvPr id="4" name="stat days"/>
          <p:cNvSpPr/>
          <p:nvPr/>
        </p:nvSpPr>
        <p:spPr>
          <a:xfrm>
            <a:off x="548640" y="4937760"/>
            <a:ext cx="1371600" cy="1234440"/>
          </a:xfrm>
          <a:prstGeom prst="roundRect">
            <a:avLst>
              <a:gd name="adj" fmla="val 7407"/>
            </a:avLst>
          </a:prstGeom>
          <a:solidFill>
            <a:schemeClr val="bg2"/>
          </a:solidFill>
          <a:ln w="12700">
            <a:solidFill>
              <a:schemeClr val="bg2"/>
            </a:solidFill>
            <a:prstDash val="solid"/>
          </a:ln>
        </p:spPr>
      </p:sp>
      <p:sp>
        <p:nvSpPr>
          <p:cNvPr id="5" name="Text 2"/>
          <p:cNvSpPr txBox="1"/>
          <p:nvPr/>
        </p:nvSpPr>
        <p:spPr>
          <a:xfrm>
            <a:off x="548640" y="5029200"/>
            <a:ext cx="1371600" cy="640080"/>
          </a:xfrm>
          <a:prstGeom prst="rect">
            <a:avLst/>
          </a:prstGeom>
          <a:noFill/>
          <a:ln/>
        </p:spPr>
        <p:txBody>
          <a:bodyPr wrap="square" lIns="0" tIns="0" rIns="0" bIns="0" rtlCol="0" anchor="ctr"/>
          <a:lstStyle/>
          <a:p>
            <a:pPr algn="ctr" indent="0" marL="0">
              <a:buNone/>
            </a:pPr>
            <a:r>
              <a:rPr lang="en-US" sz="3000" b="1" dirty="0">
                <a:solidFill>
                  <a:schemeClr val="tx2"/>
                </a:solidFill>
                <a:latin typeface="+mj-lt" pitchFamily="34" charset="0"/>
                <a:ea typeface="+mj-lt" pitchFamily="34" charset="-122"/>
                <a:cs typeface="+mj-lt" pitchFamily="34" charset="-120"/>
              </a:rPr>
              <a:t>7</a:t>
            </a:r>
            <a:endParaRPr lang="en-US" sz="3000" dirty="0"/>
          </a:p>
        </p:txBody>
      </p:sp>
      <p:sp>
        <p:nvSpPr>
          <p:cNvPr id="6" name="Text 3"/>
          <p:cNvSpPr txBox="1"/>
          <p:nvPr/>
        </p:nvSpPr>
        <p:spPr>
          <a:xfrm>
            <a:off x="548640" y="5669280"/>
            <a:ext cx="1371600" cy="365760"/>
          </a:xfrm>
          <a:prstGeom prst="rect">
            <a:avLst/>
          </a:prstGeom>
          <a:noFill/>
          <a:ln/>
        </p:spPr>
        <p:txBody>
          <a:bodyPr wrap="square" lIns="0" tIns="0" rIns="0" bIns="0" rtlCol="0" anchor="t"/>
          <a:lstStyle/>
          <a:p>
            <a:pPr algn="ctr" indent="0" marL="0">
              <a:buNone/>
            </a:pPr>
            <a:r>
              <a:rPr lang="en-US" sz="1200" dirty="0">
                <a:solidFill>
                  <a:srgbClr val="5A6275"/>
                </a:solidFill>
              </a:rPr>
              <a:t>days</a:t>
            </a:r>
            <a:endParaRPr lang="en-US" sz="1200" dirty="0"/>
          </a:p>
        </p:txBody>
      </p:sp>
      <p:sp>
        <p:nvSpPr>
          <p:cNvPr id="7" name="stat benchmark runs"/>
          <p:cNvSpPr/>
          <p:nvPr/>
        </p:nvSpPr>
        <p:spPr>
          <a:xfrm>
            <a:off x="2103120" y="4937760"/>
            <a:ext cx="1371600" cy="1234440"/>
          </a:xfrm>
          <a:prstGeom prst="roundRect">
            <a:avLst>
              <a:gd name="adj" fmla="val 7407"/>
            </a:avLst>
          </a:prstGeom>
          <a:solidFill>
            <a:schemeClr val="bg2"/>
          </a:solidFill>
          <a:ln w="12700">
            <a:solidFill>
              <a:schemeClr val="bg2"/>
            </a:solidFill>
            <a:prstDash val="solid"/>
          </a:ln>
        </p:spPr>
      </p:sp>
      <p:sp>
        <p:nvSpPr>
          <p:cNvPr id="8" name="Text 5"/>
          <p:cNvSpPr txBox="1"/>
          <p:nvPr/>
        </p:nvSpPr>
        <p:spPr>
          <a:xfrm>
            <a:off x="2103120" y="5029200"/>
            <a:ext cx="1371600" cy="640080"/>
          </a:xfrm>
          <a:prstGeom prst="rect">
            <a:avLst/>
          </a:prstGeom>
          <a:noFill/>
          <a:ln/>
        </p:spPr>
        <p:txBody>
          <a:bodyPr wrap="square" lIns="0" tIns="0" rIns="0" bIns="0" rtlCol="0" anchor="ctr"/>
          <a:lstStyle/>
          <a:p>
            <a:pPr algn="ctr" indent="0" marL="0">
              <a:buNone/>
            </a:pPr>
            <a:r>
              <a:rPr lang="en-US" sz="3000" b="1" dirty="0">
                <a:solidFill>
                  <a:schemeClr val="tx2"/>
                </a:solidFill>
                <a:latin typeface="+mj-lt" pitchFamily="34" charset="0"/>
                <a:ea typeface="+mj-lt" pitchFamily="34" charset="-122"/>
                <a:cs typeface="+mj-lt" pitchFamily="34" charset="-120"/>
              </a:rPr>
              <a:t>23</a:t>
            </a:r>
            <a:endParaRPr lang="en-US" sz="3000" dirty="0"/>
          </a:p>
        </p:txBody>
      </p:sp>
      <p:sp>
        <p:nvSpPr>
          <p:cNvPr id="9" name="Text 6"/>
          <p:cNvSpPr txBox="1"/>
          <p:nvPr/>
        </p:nvSpPr>
        <p:spPr>
          <a:xfrm>
            <a:off x="2103120" y="5669280"/>
            <a:ext cx="1371600" cy="365760"/>
          </a:xfrm>
          <a:prstGeom prst="rect">
            <a:avLst/>
          </a:prstGeom>
          <a:noFill/>
          <a:ln/>
        </p:spPr>
        <p:txBody>
          <a:bodyPr wrap="square" lIns="0" tIns="0" rIns="0" bIns="0" rtlCol="0" anchor="t"/>
          <a:lstStyle/>
          <a:p>
            <a:pPr algn="ctr" indent="0" marL="0">
              <a:buNone/>
            </a:pPr>
            <a:r>
              <a:rPr lang="en-US" sz="1200" dirty="0">
                <a:solidFill>
                  <a:srgbClr val="5A6275"/>
                </a:solidFill>
              </a:rPr>
              <a:t>benchmark runs</a:t>
            </a:r>
            <a:endParaRPr lang="en-US" sz="1200" dirty="0"/>
          </a:p>
        </p:txBody>
      </p:sp>
      <p:sp>
        <p:nvSpPr>
          <p:cNvPr id="10" name="stat of my prompts"/>
          <p:cNvSpPr/>
          <p:nvPr/>
        </p:nvSpPr>
        <p:spPr>
          <a:xfrm>
            <a:off x="3657600" y="4937760"/>
            <a:ext cx="1371600" cy="1234440"/>
          </a:xfrm>
          <a:prstGeom prst="roundRect">
            <a:avLst>
              <a:gd name="adj" fmla="val 7407"/>
            </a:avLst>
          </a:prstGeom>
          <a:solidFill>
            <a:schemeClr val="bg2"/>
          </a:solidFill>
          <a:ln w="12700">
            <a:solidFill>
              <a:schemeClr val="bg2"/>
            </a:solidFill>
            <a:prstDash val="solid"/>
          </a:ln>
        </p:spPr>
      </p:sp>
      <p:sp>
        <p:nvSpPr>
          <p:cNvPr id="11" name="Text 8"/>
          <p:cNvSpPr txBox="1"/>
          <p:nvPr/>
        </p:nvSpPr>
        <p:spPr>
          <a:xfrm>
            <a:off x="3657600" y="5029200"/>
            <a:ext cx="1371600" cy="640080"/>
          </a:xfrm>
          <a:prstGeom prst="rect">
            <a:avLst/>
          </a:prstGeom>
          <a:noFill/>
          <a:ln/>
        </p:spPr>
        <p:txBody>
          <a:bodyPr wrap="square" lIns="0" tIns="0" rIns="0" bIns="0" rtlCol="0" anchor="ctr"/>
          <a:lstStyle/>
          <a:p>
            <a:pPr algn="ctr" indent="0" marL="0">
              <a:buNone/>
            </a:pPr>
            <a:r>
              <a:rPr lang="en-US" sz="3000" b="1" dirty="0">
                <a:solidFill>
                  <a:schemeClr val="tx2"/>
                </a:solidFill>
                <a:latin typeface="+mj-lt" pitchFamily="34" charset="0"/>
                <a:ea typeface="+mj-lt" pitchFamily="34" charset="-122"/>
                <a:cs typeface="+mj-lt" pitchFamily="34" charset="-120"/>
              </a:rPr>
              <a:t>~1,060</a:t>
            </a:r>
            <a:endParaRPr lang="en-US" sz="3000" dirty="0"/>
          </a:p>
        </p:txBody>
      </p:sp>
      <p:sp>
        <p:nvSpPr>
          <p:cNvPr id="12" name="Text 9"/>
          <p:cNvSpPr txBox="1"/>
          <p:nvPr/>
        </p:nvSpPr>
        <p:spPr>
          <a:xfrm>
            <a:off x="3657600" y="5669280"/>
            <a:ext cx="1371600" cy="365760"/>
          </a:xfrm>
          <a:prstGeom prst="rect">
            <a:avLst/>
          </a:prstGeom>
          <a:noFill/>
          <a:ln/>
        </p:spPr>
        <p:txBody>
          <a:bodyPr wrap="square" lIns="0" tIns="0" rIns="0" bIns="0" rtlCol="0" anchor="t"/>
          <a:lstStyle/>
          <a:p>
            <a:pPr algn="ctr" indent="0" marL="0">
              <a:buNone/>
            </a:pPr>
            <a:r>
              <a:rPr lang="en-US" sz="1200" dirty="0">
                <a:solidFill>
                  <a:srgbClr val="5A6275"/>
                </a:solidFill>
              </a:rPr>
              <a:t>of my prompts</a:t>
            </a:r>
            <a:endParaRPr lang="en-US" sz="1200" dirty="0"/>
          </a:p>
        </p:txBody>
      </p:sp>
      <p:sp>
        <p:nvSpPr>
          <p:cNvPr id="13" name="stat language families"/>
          <p:cNvSpPr/>
          <p:nvPr/>
        </p:nvSpPr>
        <p:spPr>
          <a:xfrm>
            <a:off x="5212080" y="4937760"/>
            <a:ext cx="1371600" cy="1234440"/>
          </a:xfrm>
          <a:prstGeom prst="roundRect">
            <a:avLst>
              <a:gd name="adj" fmla="val 7407"/>
            </a:avLst>
          </a:prstGeom>
          <a:solidFill>
            <a:schemeClr val="bg2"/>
          </a:solidFill>
          <a:ln w="12700">
            <a:solidFill>
              <a:schemeClr val="bg2"/>
            </a:solidFill>
            <a:prstDash val="solid"/>
          </a:ln>
        </p:spPr>
      </p:sp>
      <p:sp>
        <p:nvSpPr>
          <p:cNvPr id="14" name="Text 11"/>
          <p:cNvSpPr txBox="1"/>
          <p:nvPr/>
        </p:nvSpPr>
        <p:spPr>
          <a:xfrm>
            <a:off x="5212080" y="5029200"/>
            <a:ext cx="1371600" cy="640080"/>
          </a:xfrm>
          <a:prstGeom prst="rect">
            <a:avLst/>
          </a:prstGeom>
          <a:noFill/>
          <a:ln/>
        </p:spPr>
        <p:txBody>
          <a:bodyPr wrap="square" lIns="0" tIns="0" rIns="0" bIns="0" rtlCol="0" anchor="ctr"/>
          <a:lstStyle/>
          <a:p>
            <a:pPr algn="ctr" indent="0" marL="0">
              <a:buNone/>
            </a:pPr>
            <a:r>
              <a:rPr lang="en-US" sz="3000" b="1" dirty="0">
                <a:solidFill>
                  <a:schemeClr val="tx2"/>
                </a:solidFill>
                <a:latin typeface="+mj-lt" pitchFamily="34" charset="0"/>
                <a:ea typeface="+mj-lt" pitchFamily="34" charset="-122"/>
                <a:cs typeface="+mj-lt" pitchFamily="34" charset="-120"/>
              </a:rPr>
              <a:t>29</a:t>
            </a:r>
            <a:endParaRPr lang="en-US" sz="3000" dirty="0"/>
          </a:p>
        </p:txBody>
      </p:sp>
      <p:sp>
        <p:nvSpPr>
          <p:cNvPr id="15" name="Text 12"/>
          <p:cNvSpPr txBox="1"/>
          <p:nvPr/>
        </p:nvSpPr>
        <p:spPr>
          <a:xfrm>
            <a:off x="5212080" y="5669280"/>
            <a:ext cx="1371600" cy="365760"/>
          </a:xfrm>
          <a:prstGeom prst="rect">
            <a:avLst/>
          </a:prstGeom>
          <a:noFill/>
          <a:ln/>
        </p:spPr>
        <p:txBody>
          <a:bodyPr wrap="square" lIns="0" tIns="0" rIns="0" bIns="0" rtlCol="0" anchor="t"/>
          <a:lstStyle/>
          <a:p>
            <a:pPr algn="ctr" indent="0" marL="0">
              <a:buNone/>
            </a:pPr>
            <a:r>
              <a:rPr lang="en-US" sz="1200" dirty="0">
                <a:solidFill>
                  <a:srgbClr val="5A6275"/>
                </a:solidFill>
              </a:rPr>
              <a:t>language families</a:t>
            </a:r>
            <a:endParaRPr lang="en-US" sz="1200" dirty="0"/>
          </a:p>
        </p:txBody>
      </p:sp>
      <p:sp>
        <p:nvSpPr>
          <p:cNvPr id="16" name="Text 13"/>
          <p:cNvSpPr txBox="1"/>
          <p:nvPr/>
        </p:nvSpPr>
        <p:spPr>
          <a:xfrm>
            <a:off x="6949440" y="1234440"/>
            <a:ext cx="4693615" cy="4937760"/>
          </a:xfrm>
          <a:prstGeom prst="rect">
            <a:avLst/>
          </a:prstGeom>
          <a:noFill/>
          <a:ln/>
        </p:spPr>
        <p:txBody>
          <a:bodyPr wrap="square" lIns="0" tIns="0" rIns="0" bIns="0" rtlCol="0" anchor="t"/>
          <a:lstStyle/>
          <a:p>
            <a:pPr indent="0" marL="0">
              <a:spcAft>
                <a:spcPts val="500"/>
              </a:spcAft>
              <a:buNone/>
            </a:pPr>
            <a:r>
              <a:rPr lang="en-US" sz="1500" b="1" dirty="0">
                <a:solidFill>
                  <a:schemeClr val="tx2"/>
                </a:solidFill>
              </a:rPr>
              <a:t>25 Apr</a:t>
            </a:r>
            <a:endParaRPr lang="en-US" sz="1500" dirty="0"/>
          </a:p>
          <a:p>
            <a:pPr indent="0" marL="0">
              <a:spcAft>
                <a:spcPts val="500"/>
              </a:spcAft>
              <a:buNone/>
            </a:pPr>
            <a:r>
              <a:rPr lang="en-US" sz="1500" dirty="0">
                <a:solidFill>
                  <a:schemeClr val="tx1"/>
                </a:solidFill>
              </a:rPr>
              <a:t>Cloned the 2019 suite: 58 of 104 tests pass. “The goal is maximum coverage.”</a:t>
            </a:r>
            <a:endParaRPr lang="en-US" sz="1500" dirty="0"/>
          </a:p>
          <a:p>
            <a:pPr indent="0" marL="0">
              <a:spcAft>
                <a:spcPts val="500"/>
              </a:spcAft>
              <a:buNone/>
            </a:pPr>
            <a:r>
              <a:rPr lang="en-US" sz="1500" b="1" dirty="0">
                <a:solidFill>
                  <a:schemeClr val="tx2"/>
                </a:solidFill>
              </a:rPr>
              <a:t>26–27 Apr</a:t>
            </a:r>
            <a:endParaRPr lang="en-US" sz="1500" dirty="0"/>
          </a:p>
          <a:p>
            <a:pPr indent="0" marL="0">
              <a:spcAft>
                <a:spcPts val="500"/>
              </a:spcAft>
              <a:buNone/>
            </a:pPr>
            <a:r>
              <a:rPr lang="en-US" sz="1500" dirty="0">
                <a:solidFill>
                  <a:schemeClr val="tx1"/>
                </a:solidFill>
              </a:rPr>
              <a:t>Assembler becomes 1.00. PDL::PP, Ruby (YJIT from source), Bun, Deno</a:t>
            </a:r>
            <a:endParaRPr lang="en-US" sz="1500" dirty="0"/>
          </a:p>
          <a:p>
            <a:pPr indent="0" marL="0">
              <a:spcAft>
                <a:spcPts val="500"/>
              </a:spcAft>
              <a:buNone/>
            </a:pPr>
            <a:r>
              <a:rPr lang="en-US" sz="1500" b="1" dirty="0">
                <a:solidFill>
                  <a:schemeClr val="tx2"/>
                </a:solidFill>
              </a:rPr>
              <a:t>28–29 Apr: “a bit mad”</a:t>
            </a:r>
            <a:endParaRPr lang="en-US" sz="1500" dirty="0"/>
          </a:p>
          <a:p>
            <a:pPr indent="0" marL="0">
              <a:spcAft>
                <a:spcPts val="500"/>
              </a:spcAft>
              <a:buNone/>
            </a:pPr>
            <a:r>
              <a:rPr lang="en-US" sz="1500" dirty="0">
                <a:solidFill>
                  <a:schemeClr val="tx1"/>
                </a:solidFill>
              </a:rPr>
              <a:t>Go, LuaJIT, C#, Crystal, OCaml, J, PyPy, Zig, SBCL, Haskell… INTERCAL: “PROGRAMMER IS OVERLY POLITE”</a:t>
            </a:r>
            <a:endParaRPr lang="en-US" sz="1500" dirty="0"/>
          </a:p>
          <a:p>
            <a:pPr indent="0" marL="0">
              <a:spcAft>
                <a:spcPts val="500"/>
              </a:spcAft>
              <a:buNone/>
            </a:pPr>
            <a:r>
              <a:rPr lang="en-US" sz="1500" i="1" dirty="0">
                <a:solidFill>
                  <a:schemeClr val="tx2"/>
                </a:solidFill>
              </a:rPr>
              <a:t>“Do #1 to #7 please and then we will stop :)”</a:t>
            </a:r>
            <a:endParaRPr lang="en-US" sz="1500" dirty="0"/>
          </a:p>
          <a:p>
            <a:pPr indent="0" marL="0">
              <a:spcAft>
                <a:spcPts val="500"/>
              </a:spcAft>
              <a:buNone/>
            </a:pPr>
            <a:r>
              <a:rPr lang="en-US" sz="1500" b="1" dirty="0">
                <a:solidFill>
                  <a:schemeClr val="tx2"/>
                </a:solidFill>
              </a:rPr>
              <a:t>29 Apr – 1 May</a:t>
            </a:r>
            <a:endParaRPr lang="en-US" sz="1500" dirty="0"/>
          </a:p>
          <a:p>
            <a:pPr indent="0" marL="0">
              <a:spcAft>
                <a:spcPts val="500"/>
              </a:spcAft>
              <a:buNone/>
            </a:pPr>
            <a:r>
              <a:rPr lang="en-US" sz="1500" dirty="0">
                <a:solidFill>
                  <a:schemeClr val="tx1"/>
                </a:solidFill>
              </a:rPr>
              <a:t>Report, audit rounds, PDL fix, run22 frozen, one-command toolchain rebuild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The 2026 suite at a glance</a:t>
            </a:r>
            <a:endParaRPr lang="en-US" sz="3200" dirty="0"/>
          </a:p>
        </p:txBody>
      </p:sp>
      <p:sp>
        <p:nvSpPr>
          <p:cNvPr id="3" name="Text 1"/>
          <p:cNvSpPr txBox="1"/>
          <p:nvPr/>
        </p:nvSpPr>
        <p:spPr>
          <a:xfrm>
            <a:off x="548640" y="1280160"/>
            <a:ext cx="3840480" cy="822960"/>
          </a:xfrm>
          <a:prstGeom prst="rect">
            <a:avLst/>
          </a:prstGeom>
          <a:noFill/>
          <a:ln/>
        </p:spPr>
        <p:txBody>
          <a:bodyPr wrap="square" lIns="0" tIns="0" rIns="0" bIns="0" rtlCol="0" anchor="b"/>
          <a:lstStyle/>
          <a:p>
            <a:pPr indent="0" marL="0">
              <a:buNone/>
            </a:pPr>
            <a:r>
              <a:rPr lang="en-US" sz="4800" b="1" dirty="0">
                <a:solidFill>
                  <a:schemeClr val="tx2"/>
                </a:solidFill>
                <a:latin typeface="+mj-lt" pitchFamily="34" charset="0"/>
                <a:ea typeface="+mj-lt" pitchFamily="34" charset="-122"/>
                <a:cs typeface="+mj-lt" pitchFamily="34" charset="-120"/>
              </a:rPr>
              <a:t>29</a:t>
            </a:r>
            <a:endParaRPr lang="en-US" sz="4800" dirty="0"/>
          </a:p>
        </p:txBody>
      </p:sp>
      <p:sp>
        <p:nvSpPr>
          <p:cNvPr id="4" name="Text 2"/>
          <p:cNvSpPr txBox="1"/>
          <p:nvPr/>
        </p:nvSpPr>
        <p:spPr>
          <a:xfrm>
            <a:off x="548640" y="2148840"/>
            <a:ext cx="3840480" cy="640080"/>
          </a:xfrm>
          <a:prstGeom prst="rect">
            <a:avLst/>
          </a:prstGeom>
          <a:noFill/>
          <a:ln/>
        </p:spPr>
        <p:txBody>
          <a:bodyPr wrap="square" lIns="0" tIns="0" rIns="0" bIns="0" rtlCol="0" anchor="t"/>
          <a:lstStyle/>
          <a:p>
            <a:pPr indent="0" marL="0">
              <a:buNone/>
            </a:pPr>
            <a:r>
              <a:rPr lang="en-US" sz="1600" b="1" dirty="0">
                <a:solidFill>
                  <a:schemeClr val="tx1"/>
                </a:solidFill>
              </a:rPr>
              <a:t>language families</a:t>
            </a:r>
            <a:endParaRPr lang="en-US" sz="1600" dirty="0"/>
          </a:p>
          <a:p>
            <a:pPr indent="0" marL="0">
              <a:buNone/>
            </a:pPr>
            <a:r>
              <a:rPr lang="en-US" sz="1400" dirty="0">
                <a:solidFill>
                  <a:srgbClr val="5A6275"/>
                </a:solidFill>
              </a:rPr>
              <a:t>16 new since 2019</a:t>
            </a:r>
            <a:endParaRPr lang="en-US" sz="1600" dirty="0"/>
          </a:p>
        </p:txBody>
      </p:sp>
      <p:sp>
        <p:nvSpPr>
          <p:cNvPr id="5" name="Text 3"/>
          <p:cNvSpPr txBox="1"/>
          <p:nvPr/>
        </p:nvSpPr>
        <p:spPr>
          <a:xfrm>
            <a:off x="548640" y="2880360"/>
            <a:ext cx="3840480" cy="822960"/>
          </a:xfrm>
          <a:prstGeom prst="rect">
            <a:avLst/>
          </a:prstGeom>
          <a:noFill/>
          <a:ln/>
        </p:spPr>
        <p:txBody>
          <a:bodyPr wrap="square" lIns="0" tIns="0" rIns="0" bIns="0" rtlCol="0" anchor="b"/>
          <a:lstStyle/>
          <a:p>
            <a:pPr indent="0" marL="0">
              <a:buNone/>
            </a:pPr>
            <a:r>
              <a:rPr lang="en-US" sz="4800" b="1" dirty="0">
                <a:solidFill>
                  <a:schemeClr val="tx2"/>
                </a:solidFill>
                <a:latin typeface="+mj-lt" pitchFamily="34" charset="0"/>
                <a:ea typeface="+mj-lt" pitchFamily="34" charset="-122"/>
                <a:cs typeface="+mj-lt" pitchFamily="34" charset="-120"/>
              </a:rPr>
              <a:t>131</a:t>
            </a:r>
            <a:endParaRPr lang="en-US" sz="4800" dirty="0"/>
          </a:p>
        </p:txBody>
      </p:sp>
      <p:sp>
        <p:nvSpPr>
          <p:cNvPr id="6" name="Text 4"/>
          <p:cNvSpPr txBox="1"/>
          <p:nvPr/>
        </p:nvSpPr>
        <p:spPr>
          <a:xfrm>
            <a:off x="548640" y="3749040"/>
            <a:ext cx="3840480" cy="640080"/>
          </a:xfrm>
          <a:prstGeom prst="rect">
            <a:avLst/>
          </a:prstGeom>
          <a:noFill/>
          <a:ln/>
        </p:spPr>
        <p:txBody>
          <a:bodyPr wrap="square" lIns="0" tIns="0" rIns="0" bIns="0" rtlCol="0" anchor="t"/>
          <a:lstStyle/>
          <a:p>
            <a:pPr indent="0" marL="0">
              <a:buNone/>
            </a:pPr>
            <a:r>
              <a:rPr lang="en-US" sz="1600" b="1" dirty="0">
                <a:solidFill>
                  <a:schemeClr val="tx1"/>
                </a:solidFill>
              </a:rPr>
              <a:t>variants</a:t>
            </a:r>
            <a:endParaRPr lang="en-US" sz="1600" dirty="0"/>
          </a:p>
          <a:p>
            <a:pPr indent="0" marL="0">
              <a:buNone/>
            </a:pPr>
            <a:r>
              <a:rPr lang="en-US" sz="1400" dirty="0">
                <a:solidFill>
                  <a:srgbClr val="5A6275"/>
                </a:solidFill>
              </a:rPr>
              <a:t>131 / 131 pass (run22)</a:t>
            </a:r>
            <a:endParaRPr lang="en-US" sz="1600" dirty="0"/>
          </a:p>
        </p:txBody>
      </p:sp>
      <p:sp>
        <p:nvSpPr>
          <p:cNvPr id="7" name="Text 5"/>
          <p:cNvSpPr txBox="1"/>
          <p:nvPr/>
        </p:nvSpPr>
        <p:spPr>
          <a:xfrm>
            <a:off x="548640" y="4480560"/>
            <a:ext cx="3840480" cy="822960"/>
          </a:xfrm>
          <a:prstGeom prst="rect">
            <a:avLst/>
          </a:prstGeom>
          <a:noFill/>
          <a:ln/>
        </p:spPr>
        <p:txBody>
          <a:bodyPr wrap="square" lIns="0" tIns="0" rIns="0" bIns="0" rtlCol="0" anchor="b"/>
          <a:lstStyle/>
          <a:p>
            <a:pPr indent="0" marL="0">
              <a:buNone/>
            </a:pPr>
            <a:r>
              <a:rPr lang="en-US" sz="4800" b="1" dirty="0">
                <a:solidFill>
                  <a:schemeClr val="tx2"/>
                </a:solidFill>
                <a:latin typeface="+mj-lt" pitchFamily="34" charset="0"/>
                <a:ea typeface="+mj-lt" pitchFamily="34" charset="-122"/>
                <a:cs typeface="+mj-lt" pitchFamily="34" charset="-120"/>
              </a:rPr>
              <a:t>4.8 × 10⁵</a:t>
            </a:r>
            <a:endParaRPr lang="en-US" sz="4800" dirty="0"/>
          </a:p>
        </p:txBody>
      </p:sp>
      <p:sp>
        <p:nvSpPr>
          <p:cNvPr id="8" name="Text 6"/>
          <p:cNvSpPr txBox="1"/>
          <p:nvPr/>
        </p:nvSpPr>
        <p:spPr>
          <a:xfrm>
            <a:off x="548640" y="5349240"/>
            <a:ext cx="3840480" cy="640080"/>
          </a:xfrm>
          <a:prstGeom prst="rect">
            <a:avLst/>
          </a:prstGeom>
          <a:noFill/>
          <a:ln/>
        </p:spPr>
        <p:txBody>
          <a:bodyPr wrap="square" lIns="0" tIns="0" rIns="0" bIns="0" rtlCol="0" anchor="t"/>
          <a:lstStyle/>
          <a:p>
            <a:pPr indent="0" marL="0">
              <a:buNone/>
            </a:pPr>
            <a:r>
              <a:rPr lang="en-US" sz="1600" b="1" dirty="0">
                <a:solidFill>
                  <a:schemeClr val="tx1"/>
                </a:solidFill>
              </a:rPr>
              <a:t>range</a:t>
            </a:r>
            <a:endParaRPr lang="en-US" sz="1600" dirty="0"/>
          </a:p>
          <a:p>
            <a:pPr indent="0" marL="0">
              <a:buNone/>
            </a:pPr>
            <a:r>
              <a:rPr lang="en-US" sz="1400" dirty="0">
                <a:solidFill>
                  <a:srgbClr val="5A6275"/>
                </a:solidFill>
              </a:rPr>
              <a:t>1.00 up to the R reference class at 481,009</a:t>
            </a:r>
            <a:endParaRPr lang="en-US" sz="1600" dirty="0"/>
          </a:p>
        </p:txBody>
      </p:sp>
      <p:pic>
        <p:nvPicPr>
          <p:cNvPr id="9" name="fig6 histogram" descr="Histogram of all 131 relative times on a log scale, coloured by the eight tiers">    </p:cNvPr>
          <p:cNvPicPr>
            <a:picLocks noChangeAspect="1"/>
          </p:cNvPicPr>
          <p:nvPr/>
        </p:nvPicPr>
        <p:blipFill>
          <a:blip r:embed="rId1"/>
          <a:stretch>
            <a:fillRect/>
          </a:stretch>
        </p:blipFill>
        <p:spPr>
          <a:xfrm>
            <a:off x="4754880" y="1234440"/>
            <a:ext cx="6888175" cy="3733087"/>
          </a:xfrm>
          <a:prstGeom prst="rect">
            <a:avLst/>
          </a:prstGeom>
        </p:spPr>
      </p:pic>
      <p:sp>
        <p:nvSpPr>
          <p:cNvPr id="10" name="Text 7"/>
          <p:cNvSpPr txBox="1"/>
          <p:nvPr/>
        </p:nvSpPr>
        <p:spPr>
          <a:xfrm>
            <a:off x="4754880" y="5058967"/>
            <a:ext cx="6888175" cy="548640"/>
          </a:xfrm>
          <a:prstGeom prst="rect">
            <a:avLst/>
          </a:prstGeom>
          <a:noFill/>
          <a:ln/>
        </p:spPr>
        <p:txBody>
          <a:bodyPr wrap="square" lIns="0" tIns="0" rIns="0" bIns="0" rtlCol="0" anchor="t"/>
          <a:lstStyle/>
          <a:p>
            <a:pPr indent="0" marL="0">
              <a:buNone/>
            </a:pPr>
            <a:r>
              <a:rPr lang="en-US" sz="1400" i="1" dirty="0">
                <a:solidFill>
                  <a:srgbClr val="5A6275"/>
                </a:solidFill>
              </a:rPr>
              <a:t>1.00 = Keith's hand-written arm64 NEON kernel. Tier 3 (2.5–7×) is the crowd: 41 of 131.</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Same Python source, three orders of magnitude</a:t>
            </a:r>
            <a:endParaRPr lang="en-US" sz="3200" dirty="0"/>
          </a:p>
        </p:txBody>
      </p:sp>
      <p:graphicFrame>
        <p:nvGraphicFramePr>
          <p:cNvPr id="3" name="python runtime ladder" descr=""/>
          <p:cNvGraphicFramePr/>
          <p:nvPr/>
        </p:nvGraphicFramePr>
        <p:xfrm>
          <a:off x="548640" y="1188720"/>
          <a:ext cx="7589520" cy="4937760"/>
        </p:xfrm>
        <a:graphic xmlns:a="http://schemas.openxmlformats.org/drawingml/2006/main">
          <a:graphicData uri="http://schemas.openxmlformats.org/drawingml/2006/chart">
            <c:chart xmlns:c="http://schemas.openxmlformats.org/drawingml/2006/chart" r:id="rId1"/>
          </a:graphicData>
        </a:graphic>
      </p:graphicFrame>
      <p:sp>
        <p:nvSpPr>
          <p:cNvPr id="4" name="decorator callout"/>
          <p:cNvSpPr/>
          <p:nvPr/>
        </p:nvSpPr>
        <p:spPr>
          <a:xfrm>
            <a:off x="8503920" y="1280160"/>
            <a:ext cx="3139135" cy="2240280"/>
          </a:xfrm>
          <a:prstGeom prst="roundRect">
            <a:avLst>
              <a:gd name="adj" fmla="val 4082"/>
            </a:avLst>
          </a:prstGeom>
          <a:solidFill>
            <a:schemeClr val="bg2"/>
          </a:solidFill>
          <a:ln w="12700">
            <a:solidFill>
              <a:schemeClr val="bg2"/>
            </a:solidFill>
            <a:prstDash val="solid"/>
          </a:ln>
        </p:spPr>
      </p:sp>
      <p:sp>
        <p:nvSpPr>
          <p:cNvPr id="5" name="Text 2"/>
          <p:cNvSpPr txBox="1"/>
          <p:nvPr/>
        </p:nvSpPr>
        <p:spPr>
          <a:xfrm>
            <a:off x="8732520" y="1371600"/>
            <a:ext cx="2681935" cy="914400"/>
          </a:xfrm>
          <a:prstGeom prst="rect">
            <a:avLst/>
          </a:prstGeom>
          <a:noFill/>
          <a:ln/>
        </p:spPr>
        <p:txBody>
          <a:bodyPr wrap="square" lIns="0" tIns="0" rIns="0" bIns="0" rtlCol="0" anchor="ctr"/>
          <a:lstStyle/>
          <a:p>
            <a:pPr indent="0" marL="0">
              <a:buNone/>
            </a:pPr>
            <a:r>
              <a:rPr lang="en-US" sz="5400" b="1" dirty="0">
                <a:solidFill>
                  <a:srgbClr val="1A9850"/>
                </a:solidFill>
                <a:latin typeface="+mj-lt" pitchFamily="34" charset="0"/>
                <a:ea typeface="+mj-lt" pitchFamily="34" charset="-122"/>
                <a:cs typeface="+mj-lt" pitchFamily="34" charset="-120"/>
              </a:rPr>
              <a:t>915×</a:t>
            </a:r>
            <a:endParaRPr lang="en-US" sz="5400" dirty="0"/>
          </a:p>
        </p:txBody>
      </p:sp>
      <p:sp>
        <p:nvSpPr>
          <p:cNvPr id="6" name="Text 3"/>
          <p:cNvSpPr txBox="1"/>
          <p:nvPr/>
        </p:nvSpPr>
        <p:spPr>
          <a:xfrm>
            <a:off x="8732520" y="2331720"/>
            <a:ext cx="2681935" cy="1005840"/>
          </a:xfrm>
          <a:prstGeom prst="rect">
            <a:avLst/>
          </a:prstGeom>
          <a:noFill/>
          <a:ln/>
        </p:spPr>
        <p:txBody>
          <a:bodyPr wrap="square" lIns="0" tIns="0" rIns="0" bIns="0" rtlCol="0" anchor="t"/>
          <a:lstStyle/>
          <a:p>
            <a:pPr indent="0" marL="0">
              <a:buNone/>
            </a:pPr>
            <a:r>
              <a:rPr lang="en-US" sz="1600" dirty="0">
                <a:solidFill>
                  <a:schemeClr val="tx1"/>
                </a:solidFill>
              </a:rPr>
              <a:t>from one decorator: numpy element loop 2,883 → numba 3.15</a:t>
            </a:r>
            <a:endParaRPr lang="en-US" sz="1600" dirty="0"/>
          </a:p>
        </p:txBody>
      </p:sp>
      <p:sp>
        <p:nvSpPr>
          <p:cNvPr id="7" name="interpreter callout"/>
          <p:cNvSpPr/>
          <p:nvPr/>
        </p:nvSpPr>
        <p:spPr>
          <a:xfrm>
            <a:off x="8503920" y="3749040"/>
            <a:ext cx="3139135" cy="2240280"/>
          </a:xfrm>
          <a:prstGeom prst="roundRect">
            <a:avLst>
              <a:gd name="adj" fmla="val 4082"/>
            </a:avLst>
          </a:prstGeom>
          <a:solidFill>
            <a:schemeClr val="bg2"/>
          </a:solidFill>
          <a:ln w="12700">
            <a:solidFill>
              <a:schemeClr val="bg2"/>
            </a:solidFill>
            <a:prstDash val="solid"/>
          </a:ln>
        </p:spPr>
      </p:sp>
      <p:sp>
        <p:nvSpPr>
          <p:cNvPr id="8" name="Text 5"/>
          <p:cNvSpPr txBox="1"/>
          <p:nvPr/>
        </p:nvSpPr>
        <p:spPr>
          <a:xfrm>
            <a:off x="8732520" y="3840480"/>
            <a:ext cx="2681935" cy="914400"/>
          </a:xfrm>
          <a:prstGeom prst="rect">
            <a:avLst/>
          </a:prstGeom>
          <a:noFill/>
          <a:ln/>
        </p:spPr>
        <p:txBody>
          <a:bodyPr wrap="square" lIns="0" tIns="0" rIns="0" bIns="0" rtlCol="0" anchor="ctr"/>
          <a:lstStyle/>
          <a:p>
            <a:pPr indent="0" marL="0">
              <a:buNone/>
            </a:pPr>
            <a:r>
              <a:rPr lang="en-US" sz="5400" b="1" dirty="0">
                <a:solidFill>
                  <a:srgbClr val="3B6FB6"/>
                </a:solidFill>
                <a:latin typeface="+mj-lt" pitchFamily="34" charset="0"/>
                <a:ea typeface="+mj-lt" pitchFamily="34" charset="-122"/>
                <a:cs typeface="+mj-lt" pitchFamily="34" charset="-120"/>
              </a:rPr>
              <a:t>17.8×</a:t>
            </a:r>
            <a:endParaRPr lang="en-US" sz="5400" dirty="0"/>
          </a:p>
        </p:txBody>
      </p:sp>
      <p:sp>
        <p:nvSpPr>
          <p:cNvPr id="9" name="Text 6"/>
          <p:cNvSpPr txBox="1"/>
          <p:nvPr/>
        </p:nvSpPr>
        <p:spPr>
          <a:xfrm>
            <a:off x="8732520" y="4800600"/>
            <a:ext cx="2681935" cy="1005840"/>
          </a:xfrm>
          <a:prstGeom prst="rect">
            <a:avLst/>
          </a:prstGeom>
          <a:noFill/>
          <a:ln/>
        </p:spPr>
        <p:txBody>
          <a:bodyPr wrap="square" lIns="0" tIns="0" rIns="0" bIns="0" rtlCol="0" anchor="t"/>
          <a:lstStyle/>
          <a:p>
            <a:pPr indent="0" marL="0">
              <a:buNone/>
            </a:pPr>
            <a:r>
              <a:rPr lang="en-US" sz="1600" dirty="0">
                <a:solidFill>
                  <a:schemeClr val="tx1"/>
                </a:solidFill>
              </a:rPr>
              <a:t>from swapping the interpreter: CPython lists 644 → PyPy 36.2</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Runtime and idiom matter more than language</a:t>
            </a:r>
            <a:endParaRPr lang="en-US" sz="3200" dirty="0"/>
          </a:p>
        </p:txBody>
      </p:sp>
      <p:sp>
        <p:nvSpPr>
          <p:cNvPr id="3" name="Text 1"/>
          <p:cNvSpPr txBox="1"/>
          <p:nvPr/>
        </p:nvSpPr>
        <p:spPr>
          <a:xfrm>
            <a:off x="548640" y="1188720"/>
            <a:ext cx="5486400" cy="41148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Within one language: 2–3 orders of magnitude</a:t>
            </a:r>
            <a:endParaRPr lang="en-US" sz="2000" dirty="0"/>
          </a:p>
        </p:txBody>
      </p:sp>
      <p:sp>
        <p:nvSpPr>
          <p:cNvPr id="4" name="pair Octave"/>
          <p:cNvSpPr/>
          <p:nvPr/>
        </p:nvSpPr>
        <p:spPr>
          <a:xfrm>
            <a:off x="548640" y="1828800"/>
            <a:ext cx="5486400" cy="868680"/>
          </a:xfrm>
          <a:prstGeom prst="roundRect">
            <a:avLst>
              <a:gd name="adj" fmla="val 10526"/>
            </a:avLst>
          </a:prstGeom>
          <a:solidFill>
            <a:schemeClr val="bg2"/>
          </a:solidFill>
          <a:ln w="12700">
            <a:solidFill>
              <a:schemeClr val="bg2"/>
            </a:solidFill>
            <a:prstDash val="solid"/>
          </a:ln>
        </p:spPr>
      </p:sp>
      <p:sp>
        <p:nvSpPr>
          <p:cNvPr id="5" name="Text 3"/>
          <p:cNvSpPr txBox="1"/>
          <p:nvPr/>
        </p:nvSpPr>
        <p:spPr>
          <a:xfrm>
            <a:off x="731520" y="1828800"/>
            <a:ext cx="1005840" cy="868680"/>
          </a:xfrm>
          <a:prstGeom prst="rect">
            <a:avLst/>
          </a:prstGeom>
          <a:noFill/>
          <a:ln/>
        </p:spPr>
        <p:txBody>
          <a:bodyPr wrap="square" lIns="0" tIns="0" rIns="0" bIns="0" rtlCol="0" anchor="ctr"/>
          <a:lstStyle/>
          <a:p>
            <a:pPr indent="0" marL="0">
              <a:buNone/>
            </a:pPr>
            <a:r>
              <a:rPr lang="en-US" sz="1600" b="1" dirty="0">
                <a:solidFill>
                  <a:schemeClr val="tx2"/>
                </a:solidFill>
              </a:rPr>
              <a:t>Octave</a:t>
            </a:r>
            <a:endParaRPr lang="en-US" sz="1600" dirty="0"/>
          </a:p>
        </p:txBody>
      </p:sp>
      <p:sp>
        <p:nvSpPr>
          <p:cNvPr id="6" name="chip loop 46,705"/>
          <p:cNvSpPr/>
          <p:nvPr/>
        </p:nvSpPr>
        <p:spPr>
          <a:xfrm>
            <a:off x="1783080" y="1965960"/>
            <a:ext cx="1463040" cy="594360"/>
          </a:xfrm>
          <a:prstGeom prst="roundRect">
            <a:avLst>
              <a:gd name="adj" fmla="val 12308"/>
            </a:avLst>
          </a:prstGeom>
          <a:solidFill>
            <a:srgbClr val="7A0177"/>
          </a:solidFill>
          <a:ln w="12700">
            <a:solidFill>
              <a:srgbClr val="7A0177"/>
            </a:solidFill>
            <a:prstDash val="solid"/>
          </a:ln>
        </p:spPr>
      </p:sp>
      <p:sp>
        <p:nvSpPr>
          <p:cNvPr id="7" name="Text 5"/>
          <p:cNvSpPr txBox="1"/>
          <p:nvPr/>
        </p:nvSpPr>
        <p:spPr>
          <a:xfrm>
            <a:off x="1783080" y="1965960"/>
            <a:ext cx="1463040" cy="594360"/>
          </a:xfrm>
          <a:prstGeom prst="rect">
            <a:avLst/>
          </a:prstGeom>
          <a:noFill/>
          <a:ln/>
        </p:spPr>
        <p:txBody>
          <a:bodyPr wrap="square" lIns="0" tIns="0" rIns="0" bIns="0" rtlCol="0" anchor="ctr"/>
          <a:lstStyle/>
          <a:p>
            <a:pPr algn="ctr" indent="0" marL="0">
              <a:buNone/>
            </a:pPr>
            <a:r>
              <a:rPr lang="en-US" sz="1300" b="1" dirty="0">
                <a:solidFill>
                  <a:srgbClr val="FFFFFF"/>
                </a:solidFill>
              </a:rPr>
              <a:t>loop 46,705</a:t>
            </a:r>
            <a:endParaRPr lang="en-US" sz="1300" dirty="0"/>
          </a:p>
        </p:txBody>
      </p:sp>
      <p:sp>
        <p:nvSpPr>
          <p:cNvPr id="8" name="Text 6"/>
          <p:cNvSpPr txBox="1"/>
          <p:nvPr/>
        </p:nvSpPr>
        <p:spPr>
          <a:xfrm>
            <a:off x="3291840" y="1828800"/>
            <a:ext cx="320040" cy="868680"/>
          </a:xfrm>
          <a:prstGeom prst="rect">
            <a:avLst/>
          </a:prstGeom>
          <a:noFill/>
          <a:ln/>
        </p:spPr>
        <p:txBody>
          <a:bodyPr wrap="square" lIns="0" tIns="0" rIns="0" bIns="0" rtlCol="0" anchor="ctr"/>
          <a:lstStyle/>
          <a:p>
            <a:pPr algn="ctr" indent="0" marL="0">
              <a:buNone/>
            </a:pPr>
            <a:r>
              <a:rPr lang="en-US" sz="2000" dirty="0">
                <a:solidFill>
                  <a:srgbClr val="5A6275"/>
                </a:solidFill>
              </a:rPr>
              <a:t>→</a:t>
            </a:r>
            <a:endParaRPr lang="en-US" sz="2000" dirty="0"/>
          </a:p>
        </p:txBody>
      </p:sp>
      <p:sp>
        <p:nvSpPr>
          <p:cNvPr id="9" name="chip vectorised 57.5"/>
          <p:cNvSpPr/>
          <p:nvPr/>
        </p:nvSpPr>
        <p:spPr>
          <a:xfrm>
            <a:off x="3657600" y="1965960"/>
            <a:ext cx="1463040" cy="594360"/>
          </a:xfrm>
          <a:prstGeom prst="roundRect">
            <a:avLst>
              <a:gd name="adj" fmla="val 12308"/>
            </a:avLst>
          </a:prstGeom>
          <a:solidFill>
            <a:srgbClr val="FDAE61"/>
          </a:solidFill>
          <a:ln w="12700">
            <a:solidFill>
              <a:srgbClr val="FDAE61"/>
            </a:solidFill>
            <a:prstDash val="solid"/>
          </a:ln>
        </p:spPr>
      </p:sp>
      <p:sp>
        <p:nvSpPr>
          <p:cNvPr id="10" name="Text 8"/>
          <p:cNvSpPr txBox="1"/>
          <p:nvPr/>
        </p:nvSpPr>
        <p:spPr>
          <a:xfrm>
            <a:off x="3657600" y="1965960"/>
            <a:ext cx="1463040" cy="594360"/>
          </a:xfrm>
          <a:prstGeom prst="rect">
            <a:avLst/>
          </a:prstGeom>
          <a:noFill/>
          <a:ln/>
        </p:spPr>
        <p:txBody>
          <a:bodyPr wrap="square" lIns="0" tIns="0" rIns="0" bIns="0" rtlCol="0" anchor="ctr"/>
          <a:lstStyle/>
          <a:p>
            <a:pPr algn="ctr" indent="0" marL="0">
              <a:buNone/>
            </a:pPr>
            <a:r>
              <a:rPr lang="en-US" sz="1300" b="1" dirty="0">
                <a:solidFill>
                  <a:srgbClr val="1B1F2B"/>
                </a:solidFill>
              </a:rPr>
              <a:t>vectorised 57.5</a:t>
            </a:r>
            <a:endParaRPr lang="en-US" sz="1300" dirty="0"/>
          </a:p>
        </p:txBody>
      </p:sp>
      <p:sp>
        <p:nvSpPr>
          <p:cNvPr id="11" name="Text 9"/>
          <p:cNvSpPr txBox="1"/>
          <p:nvPr/>
        </p:nvSpPr>
        <p:spPr>
          <a:xfrm>
            <a:off x="5166360" y="1828800"/>
            <a:ext cx="777240" cy="868680"/>
          </a:xfrm>
          <a:prstGeom prst="rect">
            <a:avLst/>
          </a:prstGeom>
          <a:noFill/>
          <a:ln/>
        </p:spPr>
        <p:txBody>
          <a:bodyPr wrap="square" lIns="0" tIns="0" rIns="0" bIns="0" rtlCol="0" anchor="ctr"/>
          <a:lstStyle/>
          <a:p>
            <a:pPr algn="r" indent="0" marL="0">
              <a:buNone/>
            </a:pPr>
            <a:r>
              <a:rPr lang="en-US" sz="1700" b="1" dirty="0">
                <a:solidFill>
                  <a:schemeClr val="tx2"/>
                </a:solidFill>
              </a:rPr>
              <a:t>813×</a:t>
            </a:r>
            <a:endParaRPr lang="en-US" sz="1700" dirty="0"/>
          </a:p>
        </p:txBody>
      </p:sp>
      <p:sp>
        <p:nvSpPr>
          <p:cNvPr id="12" name="pair PDL"/>
          <p:cNvSpPr/>
          <p:nvPr/>
        </p:nvSpPr>
        <p:spPr>
          <a:xfrm>
            <a:off x="548640" y="2880360"/>
            <a:ext cx="5486400" cy="868680"/>
          </a:xfrm>
          <a:prstGeom prst="roundRect">
            <a:avLst>
              <a:gd name="adj" fmla="val 10526"/>
            </a:avLst>
          </a:prstGeom>
          <a:solidFill>
            <a:schemeClr val="bg2"/>
          </a:solidFill>
          <a:ln w="12700">
            <a:solidFill>
              <a:schemeClr val="bg2"/>
            </a:solidFill>
            <a:prstDash val="solid"/>
          </a:ln>
        </p:spPr>
      </p:sp>
      <p:sp>
        <p:nvSpPr>
          <p:cNvPr id="13" name="Text 11"/>
          <p:cNvSpPr txBox="1"/>
          <p:nvPr/>
        </p:nvSpPr>
        <p:spPr>
          <a:xfrm>
            <a:off x="731520" y="2880360"/>
            <a:ext cx="1005840" cy="868680"/>
          </a:xfrm>
          <a:prstGeom prst="rect">
            <a:avLst/>
          </a:prstGeom>
          <a:noFill/>
          <a:ln/>
        </p:spPr>
        <p:txBody>
          <a:bodyPr wrap="square" lIns="0" tIns="0" rIns="0" bIns="0" rtlCol="0" anchor="ctr"/>
          <a:lstStyle/>
          <a:p>
            <a:pPr indent="0" marL="0">
              <a:buNone/>
            </a:pPr>
            <a:r>
              <a:rPr lang="en-US" sz="1600" b="1" dirty="0">
                <a:solidFill>
                  <a:schemeClr val="tx2"/>
                </a:solidFill>
              </a:rPr>
              <a:t>PDL</a:t>
            </a:r>
            <a:endParaRPr lang="en-US" sz="1600" dirty="0"/>
          </a:p>
        </p:txBody>
      </p:sp>
      <p:sp>
        <p:nvSpPr>
          <p:cNvPr id="14" name="chip raw 9,207"/>
          <p:cNvSpPr/>
          <p:nvPr/>
        </p:nvSpPr>
        <p:spPr>
          <a:xfrm>
            <a:off x="1783080" y="3017520"/>
            <a:ext cx="1463040" cy="594360"/>
          </a:xfrm>
          <a:prstGeom prst="roundRect">
            <a:avLst>
              <a:gd name="adj" fmla="val 12308"/>
            </a:avLst>
          </a:prstGeom>
          <a:solidFill>
            <a:srgbClr val="D73027"/>
          </a:solidFill>
          <a:ln w="12700">
            <a:solidFill>
              <a:srgbClr val="D73027"/>
            </a:solidFill>
            <a:prstDash val="solid"/>
          </a:ln>
        </p:spPr>
      </p:sp>
      <p:sp>
        <p:nvSpPr>
          <p:cNvPr id="15" name="Text 13"/>
          <p:cNvSpPr txBox="1"/>
          <p:nvPr/>
        </p:nvSpPr>
        <p:spPr>
          <a:xfrm>
            <a:off x="1783080" y="3017520"/>
            <a:ext cx="1463040" cy="594360"/>
          </a:xfrm>
          <a:prstGeom prst="rect">
            <a:avLst/>
          </a:prstGeom>
          <a:noFill/>
          <a:ln/>
        </p:spPr>
        <p:txBody>
          <a:bodyPr wrap="square" lIns="0" tIns="0" rIns="0" bIns="0" rtlCol="0" anchor="ctr"/>
          <a:lstStyle/>
          <a:p>
            <a:pPr algn="ctr" indent="0" marL="0">
              <a:buNone/>
            </a:pPr>
            <a:r>
              <a:rPr lang="en-US" sz="1300" b="1" dirty="0">
                <a:solidFill>
                  <a:srgbClr val="FFFFFF"/>
                </a:solidFill>
              </a:rPr>
              <a:t>raw 9,207</a:t>
            </a:r>
            <a:endParaRPr lang="en-US" sz="1300" dirty="0"/>
          </a:p>
        </p:txBody>
      </p:sp>
      <p:sp>
        <p:nvSpPr>
          <p:cNvPr id="16" name="Text 14"/>
          <p:cNvSpPr txBox="1"/>
          <p:nvPr/>
        </p:nvSpPr>
        <p:spPr>
          <a:xfrm>
            <a:off x="3291840" y="2880360"/>
            <a:ext cx="320040" cy="868680"/>
          </a:xfrm>
          <a:prstGeom prst="rect">
            <a:avLst/>
          </a:prstGeom>
          <a:noFill/>
          <a:ln/>
        </p:spPr>
        <p:txBody>
          <a:bodyPr wrap="square" lIns="0" tIns="0" rIns="0" bIns="0" rtlCol="0" anchor="ctr"/>
          <a:lstStyle/>
          <a:p>
            <a:pPr algn="ctr" indent="0" marL="0">
              <a:buNone/>
            </a:pPr>
            <a:r>
              <a:rPr lang="en-US" sz="2000" dirty="0">
                <a:solidFill>
                  <a:srgbClr val="5A6275"/>
                </a:solidFill>
              </a:rPr>
              <a:t>→</a:t>
            </a:r>
            <a:endParaRPr lang="en-US" sz="2000" dirty="0"/>
          </a:p>
        </p:txBody>
      </p:sp>
      <p:sp>
        <p:nvSpPr>
          <p:cNvPr id="17" name="chip PDL::PP 5.47"/>
          <p:cNvSpPr/>
          <p:nvPr/>
        </p:nvSpPr>
        <p:spPr>
          <a:xfrm>
            <a:off x="3657600" y="3017520"/>
            <a:ext cx="1463040" cy="594360"/>
          </a:xfrm>
          <a:prstGeom prst="roundRect">
            <a:avLst>
              <a:gd name="adj" fmla="val 12308"/>
            </a:avLst>
          </a:prstGeom>
          <a:solidFill>
            <a:srgbClr val="A6D96A"/>
          </a:solidFill>
          <a:ln w="12700">
            <a:solidFill>
              <a:srgbClr val="A6D96A"/>
            </a:solidFill>
            <a:prstDash val="solid"/>
          </a:ln>
        </p:spPr>
      </p:sp>
      <p:sp>
        <p:nvSpPr>
          <p:cNvPr id="18" name="Text 16"/>
          <p:cNvSpPr txBox="1"/>
          <p:nvPr/>
        </p:nvSpPr>
        <p:spPr>
          <a:xfrm>
            <a:off x="3657600" y="3017520"/>
            <a:ext cx="1463040" cy="594360"/>
          </a:xfrm>
          <a:prstGeom prst="rect">
            <a:avLst/>
          </a:prstGeom>
          <a:noFill/>
          <a:ln/>
        </p:spPr>
        <p:txBody>
          <a:bodyPr wrap="square" lIns="0" tIns="0" rIns="0" bIns="0" rtlCol="0" anchor="ctr"/>
          <a:lstStyle/>
          <a:p>
            <a:pPr algn="ctr" indent="0" marL="0">
              <a:buNone/>
            </a:pPr>
            <a:r>
              <a:rPr lang="en-US" sz="1300" b="1" dirty="0">
                <a:solidFill>
                  <a:srgbClr val="1B1F2B"/>
                </a:solidFill>
              </a:rPr>
              <a:t>PDL::PP 5.47</a:t>
            </a:r>
            <a:endParaRPr lang="en-US" sz="1300" dirty="0"/>
          </a:p>
        </p:txBody>
      </p:sp>
      <p:sp>
        <p:nvSpPr>
          <p:cNvPr id="19" name="Text 17"/>
          <p:cNvSpPr txBox="1"/>
          <p:nvPr/>
        </p:nvSpPr>
        <p:spPr>
          <a:xfrm>
            <a:off x="5166360" y="2880360"/>
            <a:ext cx="777240" cy="868680"/>
          </a:xfrm>
          <a:prstGeom prst="rect">
            <a:avLst/>
          </a:prstGeom>
          <a:noFill/>
          <a:ln/>
        </p:spPr>
        <p:txBody>
          <a:bodyPr wrap="square" lIns="0" tIns="0" rIns="0" bIns="0" rtlCol="0" anchor="ctr"/>
          <a:lstStyle/>
          <a:p>
            <a:pPr algn="r" indent="0" marL="0">
              <a:buNone/>
            </a:pPr>
            <a:r>
              <a:rPr lang="en-US" sz="1700" b="1" dirty="0">
                <a:solidFill>
                  <a:schemeClr val="tx2"/>
                </a:solidFill>
              </a:rPr>
              <a:t>1,683×</a:t>
            </a:r>
            <a:endParaRPr lang="en-US" sz="1700" dirty="0"/>
          </a:p>
        </p:txBody>
      </p:sp>
      <p:sp>
        <p:nvSpPr>
          <p:cNvPr id="20" name="pair Python"/>
          <p:cNvSpPr/>
          <p:nvPr/>
        </p:nvSpPr>
        <p:spPr>
          <a:xfrm>
            <a:off x="548640" y="3931920"/>
            <a:ext cx="5486400" cy="868680"/>
          </a:xfrm>
          <a:prstGeom prst="roundRect">
            <a:avLst>
              <a:gd name="adj" fmla="val 10526"/>
            </a:avLst>
          </a:prstGeom>
          <a:solidFill>
            <a:schemeClr val="bg2"/>
          </a:solidFill>
          <a:ln w="12700">
            <a:solidFill>
              <a:schemeClr val="bg2"/>
            </a:solidFill>
            <a:prstDash val="solid"/>
          </a:ln>
        </p:spPr>
      </p:sp>
      <p:sp>
        <p:nvSpPr>
          <p:cNvPr id="21" name="Text 19"/>
          <p:cNvSpPr txBox="1"/>
          <p:nvPr/>
        </p:nvSpPr>
        <p:spPr>
          <a:xfrm>
            <a:off x="731520" y="3931920"/>
            <a:ext cx="1005840" cy="868680"/>
          </a:xfrm>
          <a:prstGeom prst="rect">
            <a:avLst/>
          </a:prstGeom>
          <a:noFill/>
          <a:ln/>
        </p:spPr>
        <p:txBody>
          <a:bodyPr wrap="square" lIns="0" tIns="0" rIns="0" bIns="0" rtlCol="0" anchor="ctr"/>
          <a:lstStyle/>
          <a:p>
            <a:pPr indent="0" marL="0">
              <a:buNone/>
            </a:pPr>
            <a:r>
              <a:rPr lang="en-US" sz="1600" b="1" dirty="0">
                <a:solidFill>
                  <a:schemeClr val="tx2"/>
                </a:solidFill>
              </a:rPr>
              <a:t>Python</a:t>
            </a:r>
            <a:endParaRPr lang="en-US" sz="1600" dirty="0"/>
          </a:p>
        </p:txBody>
      </p:sp>
      <p:sp>
        <p:nvSpPr>
          <p:cNvPr id="22" name="chip numpy loop 2,883"/>
          <p:cNvSpPr/>
          <p:nvPr/>
        </p:nvSpPr>
        <p:spPr>
          <a:xfrm>
            <a:off x="1783080" y="4069080"/>
            <a:ext cx="1463040" cy="594360"/>
          </a:xfrm>
          <a:prstGeom prst="roundRect">
            <a:avLst>
              <a:gd name="adj" fmla="val 12308"/>
            </a:avLst>
          </a:prstGeom>
          <a:solidFill>
            <a:srgbClr val="D73027"/>
          </a:solidFill>
          <a:ln w="12700">
            <a:solidFill>
              <a:srgbClr val="D73027"/>
            </a:solidFill>
            <a:prstDash val="solid"/>
          </a:ln>
        </p:spPr>
      </p:sp>
      <p:sp>
        <p:nvSpPr>
          <p:cNvPr id="23" name="Text 21"/>
          <p:cNvSpPr txBox="1"/>
          <p:nvPr/>
        </p:nvSpPr>
        <p:spPr>
          <a:xfrm>
            <a:off x="1783080" y="4069080"/>
            <a:ext cx="1463040" cy="594360"/>
          </a:xfrm>
          <a:prstGeom prst="rect">
            <a:avLst/>
          </a:prstGeom>
          <a:noFill/>
          <a:ln/>
        </p:spPr>
        <p:txBody>
          <a:bodyPr wrap="square" lIns="0" tIns="0" rIns="0" bIns="0" rtlCol="0" anchor="ctr"/>
          <a:lstStyle/>
          <a:p>
            <a:pPr algn="ctr" indent="0" marL="0">
              <a:buNone/>
            </a:pPr>
            <a:r>
              <a:rPr lang="en-US" sz="1300" b="1" dirty="0">
                <a:solidFill>
                  <a:srgbClr val="FFFFFF"/>
                </a:solidFill>
              </a:rPr>
              <a:t>numpy loop 2,883</a:t>
            </a:r>
            <a:endParaRPr lang="en-US" sz="1300" dirty="0"/>
          </a:p>
        </p:txBody>
      </p:sp>
      <p:sp>
        <p:nvSpPr>
          <p:cNvPr id="24" name="Text 22"/>
          <p:cNvSpPr txBox="1"/>
          <p:nvPr/>
        </p:nvSpPr>
        <p:spPr>
          <a:xfrm>
            <a:off x="3291840" y="3931920"/>
            <a:ext cx="320040" cy="868680"/>
          </a:xfrm>
          <a:prstGeom prst="rect">
            <a:avLst/>
          </a:prstGeom>
          <a:noFill/>
          <a:ln/>
        </p:spPr>
        <p:txBody>
          <a:bodyPr wrap="square" lIns="0" tIns="0" rIns="0" bIns="0" rtlCol="0" anchor="ctr"/>
          <a:lstStyle/>
          <a:p>
            <a:pPr algn="ctr" indent="0" marL="0">
              <a:buNone/>
            </a:pPr>
            <a:r>
              <a:rPr lang="en-US" sz="2000" dirty="0">
                <a:solidFill>
                  <a:srgbClr val="5A6275"/>
                </a:solidFill>
              </a:rPr>
              <a:t>→</a:t>
            </a:r>
            <a:endParaRPr lang="en-US" sz="2000" dirty="0"/>
          </a:p>
        </p:txBody>
      </p:sp>
      <p:sp>
        <p:nvSpPr>
          <p:cNvPr id="25" name="chip numba 3.15"/>
          <p:cNvSpPr/>
          <p:nvPr/>
        </p:nvSpPr>
        <p:spPr>
          <a:xfrm>
            <a:off x="3657600" y="4069080"/>
            <a:ext cx="1463040" cy="594360"/>
          </a:xfrm>
          <a:prstGeom prst="roundRect">
            <a:avLst>
              <a:gd name="adj" fmla="val 12308"/>
            </a:avLst>
          </a:prstGeom>
          <a:solidFill>
            <a:srgbClr val="A6D96A"/>
          </a:solidFill>
          <a:ln w="12700">
            <a:solidFill>
              <a:srgbClr val="A6D96A"/>
            </a:solidFill>
            <a:prstDash val="solid"/>
          </a:ln>
        </p:spPr>
      </p:sp>
      <p:sp>
        <p:nvSpPr>
          <p:cNvPr id="26" name="Text 24"/>
          <p:cNvSpPr txBox="1"/>
          <p:nvPr/>
        </p:nvSpPr>
        <p:spPr>
          <a:xfrm>
            <a:off x="3657600" y="4069080"/>
            <a:ext cx="1463040" cy="594360"/>
          </a:xfrm>
          <a:prstGeom prst="rect">
            <a:avLst/>
          </a:prstGeom>
          <a:noFill/>
          <a:ln/>
        </p:spPr>
        <p:txBody>
          <a:bodyPr wrap="square" lIns="0" tIns="0" rIns="0" bIns="0" rtlCol="0" anchor="ctr"/>
          <a:lstStyle/>
          <a:p>
            <a:pPr algn="ctr" indent="0" marL="0">
              <a:buNone/>
            </a:pPr>
            <a:r>
              <a:rPr lang="en-US" sz="1300" b="1" dirty="0">
                <a:solidFill>
                  <a:srgbClr val="1B1F2B"/>
                </a:solidFill>
              </a:rPr>
              <a:t>numba 3.15</a:t>
            </a:r>
            <a:endParaRPr lang="en-US" sz="1300" dirty="0"/>
          </a:p>
        </p:txBody>
      </p:sp>
      <p:sp>
        <p:nvSpPr>
          <p:cNvPr id="27" name="Text 25"/>
          <p:cNvSpPr txBox="1"/>
          <p:nvPr/>
        </p:nvSpPr>
        <p:spPr>
          <a:xfrm>
            <a:off x="5166360" y="3931920"/>
            <a:ext cx="777240" cy="868680"/>
          </a:xfrm>
          <a:prstGeom prst="rect">
            <a:avLst/>
          </a:prstGeom>
          <a:noFill/>
          <a:ln/>
        </p:spPr>
        <p:txBody>
          <a:bodyPr wrap="square" lIns="0" tIns="0" rIns="0" bIns="0" rtlCol="0" anchor="ctr"/>
          <a:lstStyle/>
          <a:p>
            <a:pPr algn="r" indent="0" marL="0">
              <a:buNone/>
            </a:pPr>
            <a:r>
              <a:rPr lang="en-US" sz="1700" b="1" dirty="0">
                <a:solidFill>
                  <a:schemeClr val="tx2"/>
                </a:solidFill>
              </a:rPr>
              <a:t>915×</a:t>
            </a:r>
            <a:endParaRPr lang="en-US" sz="1700" dirty="0"/>
          </a:p>
        </p:txBody>
      </p:sp>
      <p:sp>
        <p:nvSpPr>
          <p:cNvPr id="28" name="pair Ruby"/>
          <p:cNvSpPr/>
          <p:nvPr/>
        </p:nvSpPr>
        <p:spPr>
          <a:xfrm>
            <a:off x="548640" y="4983480"/>
            <a:ext cx="5486400" cy="868680"/>
          </a:xfrm>
          <a:prstGeom prst="roundRect">
            <a:avLst>
              <a:gd name="adj" fmla="val 10526"/>
            </a:avLst>
          </a:prstGeom>
          <a:solidFill>
            <a:schemeClr val="bg2"/>
          </a:solidFill>
          <a:ln w="12700">
            <a:solidFill>
              <a:schemeClr val="bg2"/>
            </a:solidFill>
            <a:prstDash val="solid"/>
          </a:ln>
        </p:spPr>
      </p:sp>
      <p:sp>
        <p:nvSpPr>
          <p:cNvPr id="29" name="Text 27"/>
          <p:cNvSpPr txBox="1"/>
          <p:nvPr/>
        </p:nvSpPr>
        <p:spPr>
          <a:xfrm>
            <a:off x="731520" y="4983480"/>
            <a:ext cx="1005840" cy="868680"/>
          </a:xfrm>
          <a:prstGeom prst="rect">
            <a:avLst/>
          </a:prstGeom>
          <a:noFill/>
          <a:ln/>
        </p:spPr>
        <p:txBody>
          <a:bodyPr wrap="square" lIns="0" tIns="0" rIns="0" bIns="0" rtlCol="0" anchor="ctr"/>
          <a:lstStyle/>
          <a:p>
            <a:pPr indent="0" marL="0">
              <a:buNone/>
            </a:pPr>
            <a:r>
              <a:rPr lang="en-US" sz="1600" b="1" dirty="0">
                <a:solidFill>
                  <a:schemeClr val="tx2"/>
                </a:solidFill>
              </a:rPr>
              <a:t>Ruby</a:t>
            </a:r>
            <a:endParaRPr lang="en-US" sz="1600" dirty="0"/>
          </a:p>
        </p:txBody>
      </p:sp>
      <p:sp>
        <p:nvSpPr>
          <p:cNvPr id="30" name="chip 3.3 755"/>
          <p:cNvSpPr/>
          <p:nvPr/>
        </p:nvSpPr>
        <p:spPr>
          <a:xfrm>
            <a:off x="1783080" y="5120640"/>
            <a:ext cx="1463040" cy="594360"/>
          </a:xfrm>
          <a:prstGeom prst="roundRect">
            <a:avLst>
              <a:gd name="adj" fmla="val 12308"/>
            </a:avLst>
          </a:prstGeom>
          <a:solidFill>
            <a:srgbClr val="D73027"/>
          </a:solidFill>
          <a:ln w="12700">
            <a:solidFill>
              <a:srgbClr val="D73027"/>
            </a:solidFill>
            <a:prstDash val="solid"/>
          </a:ln>
        </p:spPr>
      </p:sp>
      <p:sp>
        <p:nvSpPr>
          <p:cNvPr id="31" name="Text 29"/>
          <p:cNvSpPr txBox="1"/>
          <p:nvPr/>
        </p:nvSpPr>
        <p:spPr>
          <a:xfrm>
            <a:off x="1783080" y="5120640"/>
            <a:ext cx="1463040" cy="594360"/>
          </a:xfrm>
          <a:prstGeom prst="rect">
            <a:avLst/>
          </a:prstGeom>
          <a:noFill/>
          <a:ln/>
        </p:spPr>
        <p:txBody>
          <a:bodyPr wrap="square" lIns="0" tIns="0" rIns="0" bIns="0" rtlCol="0" anchor="ctr"/>
          <a:lstStyle/>
          <a:p>
            <a:pPr algn="ctr" indent="0" marL="0">
              <a:buNone/>
            </a:pPr>
            <a:r>
              <a:rPr lang="en-US" sz="1300" b="1" dirty="0">
                <a:solidFill>
                  <a:srgbClr val="FFFFFF"/>
                </a:solidFill>
              </a:rPr>
              <a:t>3.3 755</a:t>
            </a:r>
            <a:endParaRPr lang="en-US" sz="1300" dirty="0"/>
          </a:p>
        </p:txBody>
      </p:sp>
      <p:sp>
        <p:nvSpPr>
          <p:cNvPr id="32" name="Text 30"/>
          <p:cNvSpPr txBox="1"/>
          <p:nvPr/>
        </p:nvSpPr>
        <p:spPr>
          <a:xfrm>
            <a:off x="3291840" y="4983480"/>
            <a:ext cx="320040" cy="868680"/>
          </a:xfrm>
          <a:prstGeom prst="rect">
            <a:avLst/>
          </a:prstGeom>
          <a:noFill/>
          <a:ln/>
        </p:spPr>
        <p:txBody>
          <a:bodyPr wrap="square" lIns="0" tIns="0" rIns="0" bIns="0" rtlCol="0" anchor="ctr"/>
          <a:lstStyle/>
          <a:p>
            <a:pPr algn="ctr" indent="0" marL="0">
              <a:buNone/>
            </a:pPr>
            <a:r>
              <a:rPr lang="en-US" sz="2000" dirty="0">
                <a:solidFill>
                  <a:srgbClr val="5A6275"/>
                </a:solidFill>
              </a:rPr>
              <a:t>→</a:t>
            </a:r>
            <a:endParaRPr lang="en-US" sz="2000" dirty="0"/>
          </a:p>
        </p:txBody>
      </p:sp>
      <p:sp>
        <p:nvSpPr>
          <p:cNvPr id="33" name="chip + YJIT 284"/>
          <p:cNvSpPr/>
          <p:nvPr/>
        </p:nvSpPr>
        <p:spPr>
          <a:xfrm>
            <a:off x="3657600" y="5120640"/>
            <a:ext cx="1463040" cy="594360"/>
          </a:xfrm>
          <a:prstGeom prst="roundRect">
            <a:avLst>
              <a:gd name="adj" fmla="val 12308"/>
            </a:avLst>
          </a:prstGeom>
          <a:solidFill>
            <a:srgbClr val="F46D43"/>
          </a:solidFill>
          <a:ln w="12700">
            <a:solidFill>
              <a:srgbClr val="F46D43"/>
            </a:solidFill>
            <a:prstDash val="solid"/>
          </a:ln>
        </p:spPr>
      </p:sp>
      <p:sp>
        <p:nvSpPr>
          <p:cNvPr id="34" name="Text 32"/>
          <p:cNvSpPr txBox="1"/>
          <p:nvPr/>
        </p:nvSpPr>
        <p:spPr>
          <a:xfrm>
            <a:off x="3657600" y="5120640"/>
            <a:ext cx="1463040" cy="594360"/>
          </a:xfrm>
          <a:prstGeom prst="rect">
            <a:avLst/>
          </a:prstGeom>
          <a:noFill/>
          <a:ln/>
        </p:spPr>
        <p:txBody>
          <a:bodyPr wrap="square" lIns="0" tIns="0" rIns="0" bIns="0" rtlCol="0" anchor="ctr"/>
          <a:lstStyle/>
          <a:p>
            <a:pPr algn="ctr" indent="0" marL="0">
              <a:buNone/>
            </a:pPr>
            <a:r>
              <a:rPr lang="en-US" sz="1300" b="1" dirty="0">
                <a:solidFill>
                  <a:srgbClr val="1B1F2B"/>
                </a:solidFill>
              </a:rPr>
              <a:t>+ YJIT 284</a:t>
            </a:r>
            <a:endParaRPr lang="en-US" sz="1300" dirty="0"/>
          </a:p>
        </p:txBody>
      </p:sp>
      <p:sp>
        <p:nvSpPr>
          <p:cNvPr id="35" name="Text 33"/>
          <p:cNvSpPr txBox="1"/>
          <p:nvPr/>
        </p:nvSpPr>
        <p:spPr>
          <a:xfrm>
            <a:off x="5166360" y="4983480"/>
            <a:ext cx="777240" cy="868680"/>
          </a:xfrm>
          <a:prstGeom prst="rect">
            <a:avLst/>
          </a:prstGeom>
          <a:noFill/>
          <a:ln/>
        </p:spPr>
        <p:txBody>
          <a:bodyPr wrap="square" lIns="0" tIns="0" rIns="0" bIns="0" rtlCol="0" anchor="ctr"/>
          <a:lstStyle/>
          <a:p>
            <a:pPr algn="r" indent="0" marL="0">
              <a:buNone/>
            </a:pPr>
            <a:r>
              <a:rPr lang="en-US" sz="1700" b="1" dirty="0">
                <a:solidFill>
                  <a:schemeClr val="tx2"/>
                </a:solidFill>
              </a:rPr>
              <a:t>2.7×</a:t>
            </a:r>
            <a:endParaRPr lang="en-US" sz="1700" dirty="0"/>
          </a:p>
        </p:txBody>
      </p:sp>
      <p:sp>
        <p:nvSpPr>
          <p:cNvPr id="36" name="Text 34"/>
          <p:cNvSpPr txBox="1"/>
          <p:nvPr/>
        </p:nvSpPr>
        <p:spPr>
          <a:xfrm>
            <a:off x="6492240" y="1188720"/>
            <a:ext cx="5150815" cy="41148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Across compiled languages: under 10×</a:t>
            </a:r>
            <a:endParaRPr lang="en-US" sz="2000" dirty="0"/>
          </a:p>
        </p:txBody>
      </p:sp>
      <p:graphicFrame>
        <p:nvGraphicFramePr>
          <p:cNvPr id="37" name="compiled languages" descr=""/>
          <p:cNvGraphicFramePr/>
          <p:nvPr/>
        </p:nvGraphicFramePr>
        <p:xfrm>
          <a:off x="6492240" y="1691640"/>
          <a:ext cx="5150815" cy="45262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Runtimes new to the suite (not new technology)</a:t>
            </a:r>
            <a:endParaRPr lang="en-US" sz="3200" dirty="0"/>
          </a:p>
        </p:txBody>
      </p:sp>
      <p:sp>
        <p:nvSpPr>
          <p:cNvPr id="3" name="column In Keith's 2019 study"/>
          <p:cNvSpPr/>
          <p:nvPr/>
        </p:nvSpPr>
        <p:spPr>
          <a:xfrm>
            <a:off x="548640" y="1234440"/>
            <a:ext cx="3515258" cy="3657600"/>
          </a:xfrm>
          <a:prstGeom prst="roundRect">
            <a:avLst>
              <a:gd name="adj" fmla="val 2601"/>
            </a:avLst>
          </a:prstGeom>
          <a:solidFill>
            <a:schemeClr val="bg2"/>
          </a:solidFill>
          <a:ln w="12700">
            <a:solidFill>
              <a:schemeClr val="bg2"/>
            </a:solidFill>
            <a:prstDash val="solid"/>
          </a:ln>
        </p:spPr>
      </p:sp>
      <p:sp>
        <p:nvSpPr>
          <p:cNvPr id="4" name="Text 2"/>
          <p:cNvSpPr txBox="1"/>
          <p:nvPr/>
        </p:nvSpPr>
        <p:spPr>
          <a:xfrm>
            <a:off x="731520" y="1371600"/>
            <a:ext cx="3149498" cy="41148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In Keith's 2019 study</a:t>
            </a:r>
            <a:endParaRPr lang="en-US" sz="1700" dirty="0"/>
          </a:p>
        </p:txBody>
      </p:sp>
      <p:sp>
        <p:nvSpPr>
          <p:cNvPr id="5" name="Text 3"/>
          <p:cNvSpPr txBox="1"/>
          <p:nvPr/>
        </p:nvSpPr>
        <p:spPr>
          <a:xfrm>
            <a:off x="731520" y="1920240"/>
            <a:ext cx="2143658" cy="457200"/>
          </a:xfrm>
          <a:prstGeom prst="rect">
            <a:avLst/>
          </a:prstGeom>
          <a:noFill/>
          <a:ln/>
        </p:spPr>
        <p:txBody>
          <a:bodyPr wrap="square" lIns="0" tIns="0" rIns="0" bIns="0" rtlCol="0" anchor="ctr"/>
          <a:lstStyle/>
          <a:p>
            <a:pPr indent="0" marL="0">
              <a:buNone/>
            </a:pPr>
            <a:r>
              <a:rPr lang="en-US" sz="1500" dirty="0">
                <a:solidFill>
                  <a:schemeClr val="tx1"/>
                </a:solidFill>
              </a:rPr>
              <a:t>Java (HotSpot JIT)</a:t>
            </a:r>
            <a:endParaRPr lang="en-US" sz="1500" dirty="0"/>
          </a:p>
        </p:txBody>
      </p:sp>
      <p:sp>
        <p:nvSpPr>
          <p:cNvPr id="6" name="chip 3.70"/>
          <p:cNvSpPr/>
          <p:nvPr/>
        </p:nvSpPr>
        <p:spPr>
          <a:xfrm>
            <a:off x="2966618" y="1965960"/>
            <a:ext cx="914400" cy="384048"/>
          </a:xfrm>
          <a:prstGeom prst="roundRect">
            <a:avLst>
              <a:gd name="adj" fmla="val 19048"/>
            </a:avLst>
          </a:prstGeom>
          <a:solidFill>
            <a:srgbClr val="A6D96A"/>
          </a:solidFill>
          <a:ln w="12700">
            <a:solidFill>
              <a:srgbClr val="A6D96A"/>
            </a:solidFill>
            <a:prstDash val="solid"/>
          </a:ln>
        </p:spPr>
      </p:sp>
      <p:sp>
        <p:nvSpPr>
          <p:cNvPr id="7" name="Text 5"/>
          <p:cNvSpPr txBox="1"/>
          <p:nvPr/>
        </p:nvSpPr>
        <p:spPr>
          <a:xfrm>
            <a:off x="2966618" y="1965960"/>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3.70</a:t>
            </a:r>
            <a:endParaRPr lang="en-US" sz="1300" dirty="0"/>
          </a:p>
        </p:txBody>
      </p:sp>
      <p:sp>
        <p:nvSpPr>
          <p:cNvPr id="8" name="Text 6"/>
          <p:cNvSpPr txBox="1"/>
          <p:nvPr/>
        </p:nvSpPr>
        <p:spPr>
          <a:xfrm>
            <a:off x="731520" y="2487168"/>
            <a:ext cx="2143658" cy="457200"/>
          </a:xfrm>
          <a:prstGeom prst="rect">
            <a:avLst/>
          </a:prstGeom>
          <a:noFill/>
          <a:ln/>
        </p:spPr>
        <p:txBody>
          <a:bodyPr wrap="square" lIns="0" tIns="0" rIns="0" bIns="0" rtlCol="0" anchor="ctr"/>
          <a:lstStyle/>
          <a:p>
            <a:pPr indent="0" marL="0">
              <a:buNone/>
            </a:pPr>
            <a:r>
              <a:rPr lang="en-US" sz="1500" dirty="0">
                <a:solidFill>
                  <a:schemeClr val="tx1"/>
                </a:solidFill>
              </a:rPr>
              <a:t>Node.js (V8)</a:t>
            </a:r>
            <a:endParaRPr lang="en-US" sz="1500" dirty="0"/>
          </a:p>
        </p:txBody>
      </p:sp>
      <p:sp>
        <p:nvSpPr>
          <p:cNvPr id="9" name="chip 25.9"/>
          <p:cNvSpPr/>
          <p:nvPr/>
        </p:nvSpPr>
        <p:spPr>
          <a:xfrm>
            <a:off x="2966618" y="2532888"/>
            <a:ext cx="914400" cy="384048"/>
          </a:xfrm>
          <a:prstGeom prst="roundRect">
            <a:avLst>
              <a:gd name="adj" fmla="val 19048"/>
            </a:avLst>
          </a:prstGeom>
          <a:solidFill>
            <a:srgbClr val="FDAE61"/>
          </a:solidFill>
          <a:ln w="12700">
            <a:solidFill>
              <a:srgbClr val="FDAE61"/>
            </a:solidFill>
            <a:prstDash val="solid"/>
          </a:ln>
        </p:spPr>
      </p:sp>
      <p:sp>
        <p:nvSpPr>
          <p:cNvPr id="10" name="Text 8"/>
          <p:cNvSpPr txBox="1"/>
          <p:nvPr/>
        </p:nvSpPr>
        <p:spPr>
          <a:xfrm>
            <a:off x="2966618" y="2532888"/>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25.9</a:t>
            </a:r>
            <a:endParaRPr lang="en-US" sz="1300" dirty="0"/>
          </a:p>
        </p:txBody>
      </p:sp>
      <p:sp>
        <p:nvSpPr>
          <p:cNvPr id="11" name="Text 9"/>
          <p:cNvSpPr txBox="1"/>
          <p:nvPr/>
        </p:nvSpPr>
        <p:spPr>
          <a:xfrm>
            <a:off x="731520" y="3054096"/>
            <a:ext cx="2143658" cy="457200"/>
          </a:xfrm>
          <a:prstGeom prst="rect">
            <a:avLst/>
          </a:prstGeom>
          <a:noFill/>
          <a:ln/>
        </p:spPr>
        <p:txBody>
          <a:bodyPr wrap="square" lIns="0" tIns="0" rIns="0" bIns="0" rtlCol="0" anchor="ctr"/>
          <a:lstStyle/>
          <a:p>
            <a:pPr indent="0" marL="0">
              <a:buNone/>
            </a:pPr>
            <a:r>
              <a:rPr lang="en-US" sz="1500" dirty="0">
                <a:solidFill>
                  <a:schemeClr val="tx1"/>
                </a:solidFill>
              </a:rPr>
              <a:t>Julia</a:t>
            </a:r>
            <a:endParaRPr lang="en-US" sz="1500" dirty="0"/>
          </a:p>
        </p:txBody>
      </p:sp>
      <p:sp>
        <p:nvSpPr>
          <p:cNvPr id="12" name="chip 1.17"/>
          <p:cNvSpPr/>
          <p:nvPr/>
        </p:nvSpPr>
        <p:spPr>
          <a:xfrm>
            <a:off x="2966618" y="3099816"/>
            <a:ext cx="914400" cy="384048"/>
          </a:xfrm>
          <a:prstGeom prst="roundRect">
            <a:avLst>
              <a:gd name="adj" fmla="val 19048"/>
            </a:avLst>
          </a:prstGeom>
          <a:solidFill>
            <a:srgbClr val="66BD63"/>
          </a:solidFill>
          <a:ln w="12700">
            <a:solidFill>
              <a:srgbClr val="66BD63"/>
            </a:solidFill>
            <a:prstDash val="solid"/>
          </a:ln>
        </p:spPr>
      </p:sp>
      <p:sp>
        <p:nvSpPr>
          <p:cNvPr id="13" name="Text 11"/>
          <p:cNvSpPr txBox="1"/>
          <p:nvPr/>
        </p:nvSpPr>
        <p:spPr>
          <a:xfrm>
            <a:off x="2966618" y="3099816"/>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1.17</a:t>
            </a:r>
            <a:endParaRPr lang="en-US" sz="1300" dirty="0"/>
          </a:p>
        </p:txBody>
      </p:sp>
      <p:sp>
        <p:nvSpPr>
          <p:cNvPr id="14" name="Text 12"/>
          <p:cNvSpPr txBox="1"/>
          <p:nvPr/>
        </p:nvSpPr>
        <p:spPr>
          <a:xfrm>
            <a:off x="731520" y="3621024"/>
            <a:ext cx="2143658" cy="457200"/>
          </a:xfrm>
          <a:prstGeom prst="rect">
            <a:avLst/>
          </a:prstGeom>
          <a:noFill/>
          <a:ln/>
        </p:spPr>
        <p:txBody>
          <a:bodyPr wrap="square" lIns="0" tIns="0" rIns="0" bIns="0" rtlCol="0" anchor="ctr"/>
          <a:lstStyle/>
          <a:p>
            <a:pPr indent="0" marL="0">
              <a:buNone/>
            </a:pPr>
            <a:r>
              <a:rPr lang="en-US" sz="1500" dirty="0">
                <a:solidFill>
                  <a:schemeClr val="tx1"/>
                </a:solidFill>
              </a:rPr>
              <a:t>numba</a:t>
            </a:r>
            <a:endParaRPr lang="en-US" sz="1500" dirty="0"/>
          </a:p>
        </p:txBody>
      </p:sp>
      <p:sp>
        <p:nvSpPr>
          <p:cNvPr id="15" name="chip 3.15"/>
          <p:cNvSpPr/>
          <p:nvPr/>
        </p:nvSpPr>
        <p:spPr>
          <a:xfrm>
            <a:off x="2966618" y="3666744"/>
            <a:ext cx="914400" cy="384048"/>
          </a:xfrm>
          <a:prstGeom prst="roundRect">
            <a:avLst>
              <a:gd name="adj" fmla="val 19048"/>
            </a:avLst>
          </a:prstGeom>
          <a:solidFill>
            <a:srgbClr val="A6D96A"/>
          </a:solidFill>
          <a:ln w="12700">
            <a:solidFill>
              <a:srgbClr val="A6D96A"/>
            </a:solidFill>
            <a:prstDash val="solid"/>
          </a:ln>
        </p:spPr>
      </p:sp>
      <p:sp>
        <p:nvSpPr>
          <p:cNvPr id="16" name="Text 14"/>
          <p:cNvSpPr txBox="1"/>
          <p:nvPr/>
        </p:nvSpPr>
        <p:spPr>
          <a:xfrm>
            <a:off x="2966618" y="3666744"/>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3.15</a:t>
            </a:r>
            <a:endParaRPr lang="en-US" sz="1300" dirty="0"/>
          </a:p>
        </p:txBody>
      </p:sp>
      <p:sp>
        <p:nvSpPr>
          <p:cNvPr id="17" name="column Old technology, first time here"/>
          <p:cNvSpPr/>
          <p:nvPr/>
        </p:nvSpPr>
        <p:spPr>
          <a:xfrm>
            <a:off x="4338218" y="1234440"/>
            <a:ext cx="3515258" cy="3657600"/>
          </a:xfrm>
          <a:prstGeom prst="roundRect">
            <a:avLst>
              <a:gd name="adj" fmla="val 2601"/>
            </a:avLst>
          </a:prstGeom>
          <a:solidFill>
            <a:schemeClr val="bg2"/>
          </a:solidFill>
          <a:ln w="12700">
            <a:solidFill>
              <a:schemeClr val="bg2"/>
            </a:solidFill>
            <a:prstDash val="solid"/>
          </a:ln>
        </p:spPr>
      </p:sp>
      <p:sp>
        <p:nvSpPr>
          <p:cNvPr id="18" name="Text 16"/>
          <p:cNvSpPr txBox="1"/>
          <p:nvPr/>
        </p:nvSpPr>
        <p:spPr>
          <a:xfrm>
            <a:off x="4521098" y="1371600"/>
            <a:ext cx="3149498" cy="41148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Old technology, first time here</a:t>
            </a:r>
            <a:endParaRPr lang="en-US" sz="1700" dirty="0"/>
          </a:p>
        </p:txBody>
      </p:sp>
      <p:sp>
        <p:nvSpPr>
          <p:cNvPr id="19" name="Text 17"/>
          <p:cNvSpPr txBox="1"/>
          <p:nvPr/>
        </p:nvSpPr>
        <p:spPr>
          <a:xfrm>
            <a:off x="4521098" y="1920240"/>
            <a:ext cx="2143658" cy="457200"/>
          </a:xfrm>
          <a:prstGeom prst="rect">
            <a:avLst/>
          </a:prstGeom>
          <a:noFill/>
          <a:ln/>
        </p:spPr>
        <p:txBody>
          <a:bodyPr wrap="square" lIns="0" tIns="0" rIns="0" bIns="0" rtlCol="0" anchor="ctr"/>
          <a:lstStyle/>
          <a:p>
            <a:pPr indent="0" marL="0">
              <a:buNone/>
            </a:pPr>
            <a:r>
              <a:rPr lang="en-US" sz="1500" dirty="0">
                <a:solidFill>
                  <a:schemeClr val="tx1"/>
                </a:solidFill>
              </a:rPr>
              <a:t>LuaJIT (2005)</a:t>
            </a:r>
            <a:endParaRPr lang="en-US" sz="1500" dirty="0"/>
          </a:p>
        </p:txBody>
      </p:sp>
      <p:sp>
        <p:nvSpPr>
          <p:cNvPr id="20" name="chip 7.59"/>
          <p:cNvSpPr/>
          <p:nvPr/>
        </p:nvSpPr>
        <p:spPr>
          <a:xfrm>
            <a:off x="6756197" y="1965960"/>
            <a:ext cx="914400" cy="384048"/>
          </a:xfrm>
          <a:prstGeom prst="roundRect">
            <a:avLst>
              <a:gd name="adj" fmla="val 19048"/>
            </a:avLst>
          </a:prstGeom>
          <a:solidFill>
            <a:srgbClr val="FEE08B"/>
          </a:solidFill>
          <a:ln w="12700">
            <a:solidFill>
              <a:srgbClr val="FEE08B"/>
            </a:solidFill>
            <a:prstDash val="solid"/>
          </a:ln>
        </p:spPr>
      </p:sp>
      <p:sp>
        <p:nvSpPr>
          <p:cNvPr id="21" name="Text 19"/>
          <p:cNvSpPr txBox="1"/>
          <p:nvPr/>
        </p:nvSpPr>
        <p:spPr>
          <a:xfrm>
            <a:off x="6756197" y="1965960"/>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7.59</a:t>
            </a:r>
            <a:endParaRPr lang="en-US" sz="1300" dirty="0"/>
          </a:p>
        </p:txBody>
      </p:sp>
      <p:sp>
        <p:nvSpPr>
          <p:cNvPr id="22" name="Text 20"/>
          <p:cNvSpPr txBox="1"/>
          <p:nvPr/>
        </p:nvSpPr>
        <p:spPr>
          <a:xfrm>
            <a:off x="4521098" y="2487168"/>
            <a:ext cx="2143658" cy="457200"/>
          </a:xfrm>
          <a:prstGeom prst="rect">
            <a:avLst/>
          </a:prstGeom>
          <a:noFill/>
          <a:ln/>
        </p:spPr>
        <p:txBody>
          <a:bodyPr wrap="square" lIns="0" tIns="0" rIns="0" bIns="0" rtlCol="0" anchor="ctr"/>
          <a:lstStyle/>
          <a:p>
            <a:pPr indent="0" marL="0">
              <a:buNone/>
            </a:pPr>
            <a:r>
              <a:rPr lang="en-US" sz="1500" dirty="0">
                <a:solidFill>
                  <a:schemeClr val="tx1"/>
                </a:solidFill>
              </a:rPr>
              <a:t>PyPy (2007)</a:t>
            </a:r>
            <a:endParaRPr lang="en-US" sz="1500" dirty="0"/>
          </a:p>
        </p:txBody>
      </p:sp>
      <p:sp>
        <p:nvSpPr>
          <p:cNvPr id="23" name="chip 36.2"/>
          <p:cNvSpPr/>
          <p:nvPr/>
        </p:nvSpPr>
        <p:spPr>
          <a:xfrm>
            <a:off x="6756197" y="2532888"/>
            <a:ext cx="914400" cy="384048"/>
          </a:xfrm>
          <a:prstGeom prst="roundRect">
            <a:avLst>
              <a:gd name="adj" fmla="val 19048"/>
            </a:avLst>
          </a:prstGeom>
          <a:solidFill>
            <a:srgbClr val="FDAE61"/>
          </a:solidFill>
          <a:ln w="12700">
            <a:solidFill>
              <a:srgbClr val="FDAE61"/>
            </a:solidFill>
            <a:prstDash val="solid"/>
          </a:ln>
        </p:spPr>
      </p:sp>
      <p:sp>
        <p:nvSpPr>
          <p:cNvPr id="24" name="Text 22"/>
          <p:cNvSpPr txBox="1"/>
          <p:nvPr/>
        </p:nvSpPr>
        <p:spPr>
          <a:xfrm>
            <a:off x="6756197" y="2532888"/>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36.2</a:t>
            </a:r>
            <a:endParaRPr lang="en-US" sz="1300" dirty="0"/>
          </a:p>
        </p:txBody>
      </p:sp>
      <p:sp>
        <p:nvSpPr>
          <p:cNvPr id="25" name="Text 23"/>
          <p:cNvSpPr txBox="1"/>
          <p:nvPr/>
        </p:nvSpPr>
        <p:spPr>
          <a:xfrm>
            <a:off x="4521098" y="3054096"/>
            <a:ext cx="2143658" cy="457200"/>
          </a:xfrm>
          <a:prstGeom prst="rect">
            <a:avLst/>
          </a:prstGeom>
          <a:noFill/>
          <a:ln/>
        </p:spPr>
        <p:txBody>
          <a:bodyPr wrap="square" lIns="0" tIns="0" rIns="0" bIns="0" rtlCol="0" anchor="ctr"/>
          <a:lstStyle/>
          <a:p>
            <a:pPr indent="0" marL="0">
              <a:buNone/>
            </a:pPr>
            <a:r>
              <a:rPr lang="en-US" sz="1500" dirty="0">
                <a:solidFill>
                  <a:schemeClr val="tx1"/>
                </a:solidFill>
              </a:rPr>
              <a:t>C# .NET JIT</a:t>
            </a:r>
            <a:endParaRPr lang="en-US" sz="1500" dirty="0"/>
          </a:p>
        </p:txBody>
      </p:sp>
      <p:sp>
        <p:nvSpPr>
          <p:cNvPr id="26" name="chip 5.31"/>
          <p:cNvSpPr/>
          <p:nvPr/>
        </p:nvSpPr>
        <p:spPr>
          <a:xfrm>
            <a:off x="6756197" y="3099816"/>
            <a:ext cx="914400" cy="384048"/>
          </a:xfrm>
          <a:prstGeom prst="roundRect">
            <a:avLst>
              <a:gd name="adj" fmla="val 19048"/>
            </a:avLst>
          </a:prstGeom>
          <a:solidFill>
            <a:srgbClr val="A6D96A"/>
          </a:solidFill>
          <a:ln w="12700">
            <a:solidFill>
              <a:srgbClr val="A6D96A"/>
            </a:solidFill>
            <a:prstDash val="solid"/>
          </a:ln>
        </p:spPr>
      </p:sp>
      <p:sp>
        <p:nvSpPr>
          <p:cNvPr id="27" name="Text 25"/>
          <p:cNvSpPr txBox="1"/>
          <p:nvPr/>
        </p:nvSpPr>
        <p:spPr>
          <a:xfrm>
            <a:off x="6756197" y="3099816"/>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5.31</a:t>
            </a:r>
            <a:endParaRPr lang="en-US" sz="1300" dirty="0"/>
          </a:p>
        </p:txBody>
      </p:sp>
      <p:sp>
        <p:nvSpPr>
          <p:cNvPr id="28" name="Text 26"/>
          <p:cNvSpPr txBox="1"/>
          <p:nvPr/>
        </p:nvSpPr>
        <p:spPr>
          <a:xfrm>
            <a:off x="4521098" y="3621024"/>
            <a:ext cx="2143658" cy="457200"/>
          </a:xfrm>
          <a:prstGeom prst="rect">
            <a:avLst/>
          </a:prstGeom>
          <a:noFill/>
          <a:ln/>
        </p:spPr>
        <p:txBody>
          <a:bodyPr wrap="square" lIns="0" tIns="0" rIns="0" bIns="0" rtlCol="0" anchor="ctr"/>
          <a:lstStyle/>
          <a:p>
            <a:pPr indent="0" marL="0">
              <a:buNone/>
            </a:pPr>
            <a:r>
              <a:rPr lang="en-US" sz="1500" dirty="0">
                <a:solidFill>
                  <a:schemeClr val="tx1"/>
                </a:solidFill>
              </a:rPr>
              <a:t>SBCL typed</a:t>
            </a:r>
            <a:endParaRPr lang="en-US" sz="1500" dirty="0"/>
          </a:p>
        </p:txBody>
      </p:sp>
      <p:sp>
        <p:nvSpPr>
          <p:cNvPr id="29" name="chip 10.6"/>
          <p:cNvSpPr/>
          <p:nvPr/>
        </p:nvSpPr>
        <p:spPr>
          <a:xfrm>
            <a:off x="6756197" y="3666744"/>
            <a:ext cx="914400" cy="384048"/>
          </a:xfrm>
          <a:prstGeom prst="roundRect">
            <a:avLst>
              <a:gd name="adj" fmla="val 19048"/>
            </a:avLst>
          </a:prstGeom>
          <a:solidFill>
            <a:srgbClr val="FEE08B"/>
          </a:solidFill>
          <a:ln w="12700">
            <a:solidFill>
              <a:srgbClr val="FEE08B"/>
            </a:solidFill>
            <a:prstDash val="solid"/>
          </a:ln>
        </p:spPr>
      </p:sp>
      <p:sp>
        <p:nvSpPr>
          <p:cNvPr id="30" name="Text 28"/>
          <p:cNvSpPr txBox="1"/>
          <p:nvPr/>
        </p:nvSpPr>
        <p:spPr>
          <a:xfrm>
            <a:off x="6756197" y="3666744"/>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10.6</a:t>
            </a:r>
            <a:endParaRPr lang="en-US" sz="1300" dirty="0"/>
          </a:p>
        </p:txBody>
      </p:sp>
      <p:sp>
        <p:nvSpPr>
          <p:cNvPr id="31" name="Text 29"/>
          <p:cNvSpPr txBox="1"/>
          <p:nvPr/>
        </p:nvSpPr>
        <p:spPr>
          <a:xfrm>
            <a:off x="4521098" y="4187952"/>
            <a:ext cx="2143658" cy="457200"/>
          </a:xfrm>
          <a:prstGeom prst="rect">
            <a:avLst/>
          </a:prstGeom>
          <a:noFill/>
          <a:ln/>
        </p:spPr>
        <p:txBody>
          <a:bodyPr wrap="square" lIns="0" tIns="0" rIns="0" bIns="0" rtlCol="0" anchor="ctr"/>
          <a:lstStyle/>
          <a:p>
            <a:pPr indent="0" marL="0">
              <a:buNone/>
            </a:pPr>
            <a:r>
              <a:rPr lang="en-US" sz="1500" dirty="0">
                <a:solidFill>
                  <a:schemeClr val="tx1"/>
                </a:solidFill>
              </a:rPr>
              <a:t>J</a:t>
            </a:r>
            <a:endParaRPr lang="en-US" sz="1500" dirty="0"/>
          </a:p>
        </p:txBody>
      </p:sp>
      <p:sp>
        <p:nvSpPr>
          <p:cNvPr id="32" name="chip 8.24"/>
          <p:cNvSpPr/>
          <p:nvPr/>
        </p:nvSpPr>
        <p:spPr>
          <a:xfrm>
            <a:off x="6756197" y="4233672"/>
            <a:ext cx="914400" cy="384048"/>
          </a:xfrm>
          <a:prstGeom prst="roundRect">
            <a:avLst>
              <a:gd name="adj" fmla="val 19048"/>
            </a:avLst>
          </a:prstGeom>
          <a:solidFill>
            <a:srgbClr val="FEE08B"/>
          </a:solidFill>
          <a:ln w="12700">
            <a:solidFill>
              <a:srgbClr val="FEE08B"/>
            </a:solidFill>
            <a:prstDash val="solid"/>
          </a:ln>
        </p:spPr>
      </p:sp>
      <p:sp>
        <p:nvSpPr>
          <p:cNvPr id="33" name="Text 31"/>
          <p:cNvSpPr txBox="1"/>
          <p:nvPr/>
        </p:nvSpPr>
        <p:spPr>
          <a:xfrm>
            <a:off x="6756197" y="4233672"/>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8.24</a:t>
            </a:r>
            <a:endParaRPr lang="en-US" sz="1300" dirty="0"/>
          </a:p>
        </p:txBody>
      </p:sp>
      <p:sp>
        <p:nvSpPr>
          <p:cNvPr id="34" name="column Genuinely post-2019"/>
          <p:cNvSpPr/>
          <p:nvPr/>
        </p:nvSpPr>
        <p:spPr>
          <a:xfrm>
            <a:off x="8127797" y="1234440"/>
            <a:ext cx="3515258" cy="3657600"/>
          </a:xfrm>
          <a:prstGeom prst="roundRect">
            <a:avLst>
              <a:gd name="adj" fmla="val 2601"/>
            </a:avLst>
          </a:prstGeom>
          <a:solidFill>
            <a:schemeClr val="bg2"/>
          </a:solidFill>
          <a:ln w="12700">
            <a:solidFill>
              <a:schemeClr val="bg2"/>
            </a:solidFill>
            <a:prstDash val="solid"/>
          </a:ln>
        </p:spPr>
      </p:sp>
      <p:sp>
        <p:nvSpPr>
          <p:cNvPr id="35" name="Text 33"/>
          <p:cNvSpPr txBox="1"/>
          <p:nvPr/>
        </p:nvSpPr>
        <p:spPr>
          <a:xfrm>
            <a:off x="8310677" y="1371600"/>
            <a:ext cx="3149498" cy="41148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Genuinely post-2019</a:t>
            </a:r>
            <a:endParaRPr lang="en-US" sz="1700" dirty="0"/>
          </a:p>
        </p:txBody>
      </p:sp>
      <p:sp>
        <p:nvSpPr>
          <p:cNvPr id="36" name="Text 34"/>
          <p:cNvSpPr txBox="1"/>
          <p:nvPr/>
        </p:nvSpPr>
        <p:spPr>
          <a:xfrm>
            <a:off x="8310677" y="1920240"/>
            <a:ext cx="2143658" cy="457200"/>
          </a:xfrm>
          <a:prstGeom prst="rect">
            <a:avLst/>
          </a:prstGeom>
          <a:noFill/>
          <a:ln/>
        </p:spPr>
        <p:txBody>
          <a:bodyPr wrap="square" lIns="0" tIns="0" rIns="0" bIns="0" rtlCol="0" anchor="ctr"/>
          <a:lstStyle/>
          <a:p>
            <a:pPr indent="0" marL="0">
              <a:buNone/>
            </a:pPr>
            <a:r>
              <a:rPr lang="en-US" sz="1500" dirty="0">
                <a:solidFill>
                  <a:schemeClr val="tx1"/>
                </a:solidFill>
              </a:rPr>
              <a:t>Deno (2020)</a:t>
            </a:r>
            <a:endParaRPr lang="en-US" sz="1500" dirty="0"/>
          </a:p>
        </p:txBody>
      </p:sp>
      <p:sp>
        <p:nvSpPr>
          <p:cNvPr id="37" name="chip 24.4"/>
          <p:cNvSpPr/>
          <p:nvPr/>
        </p:nvSpPr>
        <p:spPr>
          <a:xfrm>
            <a:off x="10545775" y="1965960"/>
            <a:ext cx="914400" cy="384048"/>
          </a:xfrm>
          <a:prstGeom prst="roundRect">
            <a:avLst>
              <a:gd name="adj" fmla="val 19048"/>
            </a:avLst>
          </a:prstGeom>
          <a:solidFill>
            <a:srgbClr val="FDAE61"/>
          </a:solidFill>
          <a:ln w="12700">
            <a:solidFill>
              <a:srgbClr val="FDAE61"/>
            </a:solidFill>
            <a:prstDash val="solid"/>
          </a:ln>
        </p:spPr>
      </p:sp>
      <p:sp>
        <p:nvSpPr>
          <p:cNvPr id="38" name="Text 36"/>
          <p:cNvSpPr txBox="1"/>
          <p:nvPr/>
        </p:nvSpPr>
        <p:spPr>
          <a:xfrm>
            <a:off x="10545775" y="1965960"/>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24.4</a:t>
            </a:r>
            <a:endParaRPr lang="en-US" sz="1300" dirty="0"/>
          </a:p>
        </p:txBody>
      </p:sp>
      <p:sp>
        <p:nvSpPr>
          <p:cNvPr id="39" name="Text 37"/>
          <p:cNvSpPr txBox="1"/>
          <p:nvPr/>
        </p:nvSpPr>
        <p:spPr>
          <a:xfrm>
            <a:off x="8310677" y="2487168"/>
            <a:ext cx="2143658" cy="457200"/>
          </a:xfrm>
          <a:prstGeom prst="rect">
            <a:avLst/>
          </a:prstGeom>
          <a:noFill/>
          <a:ln/>
        </p:spPr>
        <p:txBody>
          <a:bodyPr wrap="square" lIns="0" tIns="0" rIns="0" bIns="0" rtlCol="0" anchor="ctr"/>
          <a:lstStyle/>
          <a:p>
            <a:pPr indent="0" marL="0">
              <a:buNone/>
            </a:pPr>
            <a:r>
              <a:rPr lang="en-US" sz="1500" dirty="0">
                <a:solidFill>
                  <a:schemeClr val="tx1"/>
                </a:solidFill>
              </a:rPr>
              <a:t>Ruby YJIT (2021)</a:t>
            </a:r>
            <a:endParaRPr lang="en-US" sz="1500" dirty="0"/>
          </a:p>
        </p:txBody>
      </p:sp>
      <p:sp>
        <p:nvSpPr>
          <p:cNvPr id="40" name="chip 284"/>
          <p:cNvSpPr/>
          <p:nvPr/>
        </p:nvSpPr>
        <p:spPr>
          <a:xfrm>
            <a:off x="10545775" y="2532888"/>
            <a:ext cx="914400" cy="384048"/>
          </a:xfrm>
          <a:prstGeom prst="roundRect">
            <a:avLst>
              <a:gd name="adj" fmla="val 19048"/>
            </a:avLst>
          </a:prstGeom>
          <a:solidFill>
            <a:srgbClr val="F46D43"/>
          </a:solidFill>
          <a:ln w="12700">
            <a:solidFill>
              <a:srgbClr val="F46D43"/>
            </a:solidFill>
            <a:prstDash val="solid"/>
          </a:ln>
        </p:spPr>
      </p:sp>
      <p:sp>
        <p:nvSpPr>
          <p:cNvPr id="41" name="Text 39"/>
          <p:cNvSpPr txBox="1"/>
          <p:nvPr/>
        </p:nvSpPr>
        <p:spPr>
          <a:xfrm>
            <a:off x="10545775" y="2532888"/>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284</a:t>
            </a:r>
            <a:endParaRPr lang="en-US" sz="1300" dirty="0"/>
          </a:p>
        </p:txBody>
      </p:sp>
      <p:sp>
        <p:nvSpPr>
          <p:cNvPr id="42" name="Text 40"/>
          <p:cNvSpPr txBox="1"/>
          <p:nvPr/>
        </p:nvSpPr>
        <p:spPr>
          <a:xfrm>
            <a:off x="8310677" y="3054096"/>
            <a:ext cx="2143658" cy="457200"/>
          </a:xfrm>
          <a:prstGeom prst="rect">
            <a:avLst/>
          </a:prstGeom>
          <a:noFill/>
          <a:ln/>
        </p:spPr>
        <p:txBody>
          <a:bodyPr wrap="square" lIns="0" tIns="0" rIns="0" bIns="0" rtlCol="0" anchor="ctr"/>
          <a:lstStyle/>
          <a:p>
            <a:pPr indent="0" marL="0">
              <a:buNone/>
            </a:pPr>
            <a:r>
              <a:rPr lang="en-US" sz="1500" dirty="0">
                <a:solidFill>
                  <a:schemeClr val="tx1"/>
                </a:solidFill>
              </a:rPr>
              <a:t>Bun (2023)</a:t>
            </a:r>
            <a:endParaRPr lang="en-US" sz="1500" dirty="0"/>
          </a:p>
        </p:txBody>
      </p:sp>
      <p:sp>
        <p:nvSpPr>
          <p:cNvPr id="43" name="chip 12.3"/>
          <p:cNvSpPr/>
          <p:nvPr/>
        </p:nvSpPr>
        <p:spPr>
          <a:xfrm>
            <a:off x="10545775" y="3099816"/>
            <a:ext cx="914400" cy="384048"/>
          </a:xfrm>
          <a:prstGeom prst="roundRect">
            <a:avLst>
              <a:gd name="adj" fmla="val 19048"/>
            </a:avLst>
          </a:prstGeom>
          <a:solidFill>
            <a:srgbClr val="FEE08B"/>
          </a:solidFill>
          <a:ln w="12700">
            <a:solidFill>
              <a:srgbClr val="FEE08B"/>
            </a:solidFill>
            <a:prstDash val="solid"/>
          </a:ln>
        </p:spPr>
      </p:sp>
      <p:sp>
        <p:nvSpPr>
          <p:cNvPr id="44" name="Text 42"/>
          <p:cNvSpPr txBox="1"/>
          <p:nvPr/>
        </p:nvSpPr>
        <p:spPr>
          <a:xfrm>
            <a:off x="10545775" y="3099816"/>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12.3</a:t>
            </a:r>
            <a:endParaRPr lang="en-US" sz="1300" dirty="0"/>
          </a:p>
        </p:txBody>
      </p:sp>
      <p:sp>
        <p:nvSpPr>
          <p:cNvPr id="45" name="Text 43"/>
          <p:cNvSpPr txBox="1"/>
          <p:nvPr/>
        </p:nvSpPr>
        <p:spPr>
          <a:xfrm>
            <a:off x="8310677" y="3621024"/>
            <a:ext cx="2143658" cy="457200"/>
          </a:xfrm>
          <a:prstGeom prst="rect">
            <a:avLst/>
          </a:prstGeom>
          <a:noFill/>
          <a:ln/>
        </p:spPr>
        <p:txBody>
          <a:bodyPr wrap="square" lIns="0" tIns="0" rIns="0" bIns="0" rtlCol="0" anchor="ctr"/>
          <a:lstStyle/>
          <a:p>
            <a:pPr indent="0" marL="0">
              <a:buNone/>
            </a:pPr>
            <a:r>
              <a:rPr lang="en-US" sz="1500" dirty="0">
                <a:solidFill>
                  <a:schemeClr val="tx1"/>
                </a:solidFill>
              </a:rPr>
              <a:t>.NET native AOT (2023)</a:t>
            </a:r>
            <a:endParaRPr lang="en-US" sz="1500" dirty="0"/>
          </a:p>
        </p:txBody>
      </p:sp>
      <p:sp>
        <p:nvSpPr>
          <p:cNvPr id="46" name="chip 5.39"/>
          <p:cNvSpPr/>
          <p:nvPr/>
        </p:nvSpPr>
        <p:spPr>
          <a:xfrm>
            <a:off x="10545775" y="3666744"/>
            <a:ext cx="914400" cy="384048"/>
          </a:xfrm>
          <a:prstGeom prst="roundRect">
            <a:avLst>
              <a:gd name="adj" fmla="val 19048"/>
            </a:avLst>
          </a:prstGeom>
          <a:solidFill>
            <a:srgbClr val="A6D96A"/>
          </a:solidFill>
          <a:ln w="12700">
            <a:solidFill>
              <a:srgbClr val="A6D96A"/>
            </a:solidFill>
            <a:prstDash val="solid"/>
          </a:ln>
        </p:spPr>
      </p:sp>
      <p:sp>
        <p:nvSpPr>
          <p:cNvPr id="47" name="Text 45"/>
          <p:cNvSpPr txBox="1"/>
          <p:nvPr/>
        </p:nvSpPr>
        <p:spPr>
          <a:xfrm>
            <a:off x="10545775" y="3666744"/>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5.39</a:t>
            </a:r>
            <a:endParaRPr lang="en-US" sz="1300" dirty="0"/>
          </a:p>
        </p:txBody>
      </p:sp>
      <p:sp>
        <p:nvSpPr>
          <p:cNvPr id="48" name="Text 46"/>
          <p:cNvSpPr txBox="1"/>
          <p:nvPr/>
        </p:nvSpPr>
        <p:spPr>
          <a:xfrm>
            <a:off x="548640" y="5120640"/>
            <a:ext cx="11094415" cy="822960"/>
          </a:xfrm>
          <a:prstGeom prst="rect">
            <a:avLst/>
          </a:prstGeom>
          <a:noFill/>
          <a:ln/>
        </p:spPr>
        <p:txBody>
          <a:bodyPr wrap="square" lIns="0" tIns="0" rIns="0" bIns="0" rtlCol="0" anchor="t"/>
          <a:lstStyle/>
          <a:p>
            <a:pPr indent="0" marL="0">
              <a:buNone/>
            </a:pPr>
            <a:r>
              <a:rPr lang="en-US" sz="1700" b="1" dirty="0">
                <a:solidFill>
                  <a:schemeClr val="tx2"/>
                </a:solidFill>
              </a:rPr>
              <a:t>LuaJIT at 7.59 beats safe Rust -O3 (12.0) and Swift -O (18.1). </a:t>
            </a:r>
            <a:pPr indent="0" marL="0">
              <a:buNone/>
            </a:pPr>
            <a:r>
              <a:rPr lang="en-US" sz="1700" dirty="0">
                <a:solidFill>
                  <a:schemeClr val="tx1"/>
                </a:solidFill>
              </a:rPr>
              <a:t>Bun is about 2× Node. Julia runs the same loop shape as Python's list loop at 1.17 against 644.</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Three small surprises</a:t>
            </a:r>
            <a:endParaRPr lang="en-US" sz="3200" dirty="0"/>
          </a:p>
        </p:txBody>
      </p:sp>
      <p:sp>
        <p:nvSpPr>
          <p:cNvPr id="3" name="surprise PyPy + numpy"/>
          <p:cNvSpPr/>
          <p:nvPr/>
        </p:nvSpPr>
        <p:spPr>
          <a:xfrm>
            <a:off x="548640" y="1234440"/>
            <a:ext cx="3515258" cy="3931920"/>
          </a:xfrm>
          <a:prstGeom prst="roundRect">
            <a:avLst>
              <a:gd name="adj" fmla="val 2601"/>
            </a:avLst>
          </a:prstGeom>
          <a:solidFill>
            <a:schemeClr val="bg2"/>
          </a:solidFill>
          <a:ln w="12700">
            <a:solidFill>
              <a:schemeClr val="bg2"/>
            </a:solidFill>
            <a:prstDash val="solid"/>
          </a:ln>
        </p:spPr>
      </p:sp>
      <p:sp>
        <p:nvSpPr>
          <p:cNvPr id="4" name="Text 2"/>
          <p:cNvSpPr txBox="1"/>
          <p:nvPr/>
        </p:nvSpPr>
        <p:spPr>
          <a:xfrm>
            <a:off x="777240" y="1417320"/>
            <a:ext cx="3058058" cy="45720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1. PyPy + numpy</a:t>
            </a:r>
            <a:endParaRPr lang="en-US" sz="2000" dirty="0"/>
          </a:p>
        </p:txBody>
      </p:sp>
      <p:sp>
        <p:nvSpPr>
          <p:cNvPr id="5" name="chip 22,015"/>
          <p:cNvSpPr/>
          <p:nvPr/>
        </p:nvSpPr>
        <p:spPr>
          <a:xfrm>
            <a:off x="777240" y="2011680"/>
            <a:ext cx="3058058" cy="822960"/>
          </a:xfrm>
          <a:prstGeom prst="roundRect">
            <a:avLst>
              <a:gd name="adj" fmla="val 8889"/>
            </a:avLst>
          </a:prstGeom>
          <a:solidFill>
            <a:srgbClr val="7A0177"/>
          </a:solidFill>
          <a:ln w="12700">
            <a:solidFill>
              <a:srgbClr val="7A0177"/>
            </a:solidFill>
            <a:prstDash val="solid"/>
          </a:ln>
        </p:spPr>
      </p:sp>
      <p:sp>
        <p:nvSpPr>
          <p:cNvPr id="6" name="Text 4"/>
          <p:cNvSpPr txBox="1"/>
          <p:nvPr/>
        </p:nvSpPr>
        <p:spPr>
          <a:xfrm>
            <a:off x="777240" y="2011680"/>
            <a:ext cx="3058058" cy="822960"/>
          </a:xfrm>
          <a:prstGeom prst="rect">
            <a:avLst/>
          </a:prstGeom>
          <a:noFill/>
          <a:ln/>
        </p:spPr>
        <p:txBody>
          <a:bodyPr wrap="square" lIns="0" tIns="0" rIns="0" bIns="0" rtlCol="0" anchor="ctr"/>
          <a:lstStyle/>
          <a:p>
            <a:pPr algn="ctr" indent="0" marL="0">
              <a:buNone/>
            </a:pPr>
            <a:r>
              <a:rPr lang="en-US" sz="2600" b="1" dirty="0">
                <a:solidFill>
                  <a:srgbClr val="FFFFFF"/>
                </a:solidFill>
              </a:rPr>
              <a:t>22,015</a:t>
            </a:r>
            <a:endParaRPr lang="en-US" sz="2600" dirty="0"/>
          </a:p>
        </p:txBody>
      </p:sp>
      <p:sp>
        <p:nvSpPr>
          <p:cNvPr id="7" name="Text 5"/>
          <p:cNvSpPr txBox="1"/>
          <p:nvPr/>
        </p:nvSpPr>
        <p:spPr>
          <a:xfrm>
            <a:off x="777240" y="3063240"/>
            <a:ext cx="3058058" cy="1920240"/>
          </a:xfrm>
          <a:prstGeom prst="rect">
            <a:avLst/>
          </a:prstGeom>
          <a:noFill/>
          <a:ln/>
        </p:spPr>
        <p:txBody>
          <a:bodyPr wrap="square" lIns="0" tIns="0" rIns="0" bIns="0" rtlCol="0" anchor="t"/>
          <a:lstStyle/>
          <a:p>
            <a:pPr indent="0" marL="0">
              <a:buNone/>
            </a:pPr>
            <a:r>
              <a:rPr lang="en-US" sz="1800" dirty="0">
                <a:solidFill>
                  <a:schemeClr val="tx1"/>
                </a:solidFill>
              </a:rPr>
              <a:t>609× slower than PyPy on plain lists, and 7.6× slower than CPython + numpy. Every numpy call crosses PyPy's C-extension layer. Use one or the other.</a:t>
            </a:r>
            <a:endParaRPr lang="en-US" sz="1800" dirty="0"/>
          </a:p>
        </p:txBody>
      </p:sp>
      <p:sp>
        <p:nvSpPr>
          <p:cNvPr id="8" name="surprise PDL raw, done properly"/>
          <p:cNvSpPr/>
          <p:nvPr/>
        </p:nvSpPr>
        <p:spPr>
          <a:xfrm>
            <a:off x="4338218" y="1234440"/>
            <a:ext cx="3515258" cy="3931920"/>
          </a:xfrm>
          <a:prstGeom prst="roundRect">
            <a:avLst>
              <a:gd name="adj" fmla="val 2601"/>
            </a:avLst>
          </a:prstGeom>
          <a:solidFill>
            <a:schemeClr val="bg2"/>
          </a:solidFill>
          <a:ln w="12700">
            <a:solidFill>
              <a:schemeClr val="bg2"/>
            </a:solidFill>
            <a:prstDash val="solid"/>
          </a:ln>
        </p:spPr>
      </p:sp>
      <p:sp>
        <p:nvSpPr>
          <p:cNvPr id="9" name="Text 7"/>
          <p:cNvSpPr txBox="1"/>
          <p:nvPr/>
        </p:nvSpPr>
        <p:spPr>
          <a:xfrm>
            <a:off x="4566818" y="1417320"/>
            <a:ext cx="3058058" cy="45720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2. PDL raw, done properly</a:t>
            </a:r>
            <a:endParaRPr lang="en-US" sz="2000" dirty="0"/>
          </a:p>
        </p:txBody>
      </p:sp>
      <p:sp>
        <p:nvSpPr>
          <p:cNvPr id="10" name="chip 103,570 → 9,207"/>
          <p:cNvSpPr/>
          <p:nvPr/>
        </p:nvSpPr>
        <p:spPr>
          <a:xfrm>
            <a:off x="4566818" y="2011680"/>
            <a:ext cx="3058058" cy="822960"/>
          </a:xfrm>
          <a:prstGeom prst="roundRect">
            <a:avLst>
              <a:gd name="adj" fmla="val 8889"/>
            </a:avLst>
          </a:prstGeom>
          <a:solidFill>
            <a:srgbClr val="D73027"/>
          </a:solidFill>
          <a:ln w="12700">
            <a:solidFill>
              <a:srgbClr val="D73027"/>
            </a:solidFill>
            <a:prstDash val="solid"/>
          </a:ln>
        </p:spPr>
      </p:sp>
      <p:sp>
        <p:nvSpPr>
          <p:cNvPr id="11" name="Text 9"/>
          <p:cNvSpPr txBox="1"/>
          <p:nvPr/>
        </p:nvSpPr>
        <p:spPr>
          <a:xfrm>
            <a:off x="4566818" y="2011680"/>
            <a:ext cx="3058058" cy="822960"/>
          </a:xfrm>
          <a:prstGeom prst="rect">
            <a:avLst/>
          </a:prstGeom>
          <a:noFill/>
          <a:ln/>
        </p:spPr>
        <p:txBody>
          <a:bodyPr wrap="square" lIns="0" tIns="0" rIns="0" bIns="0" rtlCol="0" anchor="ctr"/>
          <a:lstStyle/>
          <a:p>
            <a:pPr algn="ctr" indent="0" marL="0">
              <a:buNone/>
            </a:pPr>
            <a:r>
              <a:rPr lang="en-US" sz="2600" b="1" dirty="0">
                <a:solidFill>
                  <a:srgbClr val="FFFFFF"/>
                </a:solidFill>
              </a:rPr>
              <a:t>103,570 → 9,207</a:t>
            </a:r>
            <a:endParaRPr lang="en-US" sz="2600" dirty="0"/>
          </a:p>
        </p:txBody>
      </p:sp>
      <p:sp>
        <p:nvSpPr>
          <p:cNvPr id="12" name="Text 10"/>
          <p:cNvSpPr txBox="1"/>
          <p:nvPr/>
        </p:nvSpPr>
        <p:spPr>
          <a:xfrm>
            <a:off x="4566818" y="3063240"/>
            <a:ext cx="3058058" cy="1920240"/>
          </a:xfrm>
          <a:prstGeom prst="rect">
            <a:avLst/>
          </a:prstGeom>
          <a:noFill/>
          <a:ln/>
        </p:spPr>
        <p:txBody>
          <a:bodyPr wrap="square" lIns="0" tIns="0" rIns="0" bIns="0" rtlCol="0" anchor="t"/>
          <a:lstStyle/>
          <a:p>
            <a:pPr indent="0" marL="0">
              <a:buNone/>
            </a:pPr>
            <a:r>
              <a:rPr lang="en-US" sz="1800" dirty="0">
                <a:solidFill>
                  <a:schemeClr val="tx1"/>
                </a:solidFill>
              </a:rPr>
              <a:t>-&gt;at / -&gt;set instead of -&gt;slice: about 11× faster. Flagged by Keith in 2019, fixed in 2026. The LLM ran the old code and reported “PDL is just slow”.</a:t>
            </a:r>
            <a:endParaRPr lang="en-US" sz="1800" dirty="0"/>
          </a:p>
        </p:txBody>
      </p:sp>
      <p:sp>
        <p:nvSpPr>
          <p:cNvPr id="13" name="surprise SBCL type declarations"/>
          <p:cNvSpPr/>
          <p:nvPr/>
        </p:nvSpPr>
        <p:spPr>
          <a:xfrm>
            <a:off x="8127797" y="1234440"/>
            <a:ext cx="3515258" cy="3931920"/>
          </a:xfrm>
          <a:prstGeom prst="roundRect">
            <a:avLst>
              <a:gd name="adj" fmla="val 2601"/>
            </a:avLst>
          </a:prstGeom>
          <a:solidFill>
            <a:schemeClr val="bg2"/>
          </a:solidFill>
          <a:ln w="12700">
            <a:solidFill>
              <a:schemeClr val="bg2"/>
            </a:solidFill>
            <a:prstDash val="solid"/>
          </a:ln>
        </p:spPr>
      </p:sp>
      <p:sp>
        <p:nvSpPr>
          <p:cNvPr id="14" name="Text 12"/>
          <p:cNvSpPr txBox="1"/>
          <p:nvPr/>
        </p:nvSpPr>
        <p:spPr>
          <a:xfrm>
            <a:off x="8356397" y="1417320"/>
            <a:ext cx="3058058" cy="45720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3. SBCL type declarations</a:t>
            </a:r>
            <a:endParaRPr lang="en-US" sz="2000" dirty="0"/>
          </a:p>
        </p:txBody>
      </p:sp>
      <p:sp>
        <p:nvSpPr>
          <p:cNvPr id="15" name="chip 167 → 10.6"/>
          <p:cNvSpPr/>
          <p:nvPr/>
        </p:nvSpPr>
        <p:spPr>
          <a:xfrm>
            <a:off x="8356397" y="2011680"/>
            <a:ext cx="3058058" cy="822960"/>
          </a:xfrm>
          <a:prstGeom prst="roundRect">
            <a:avLst>
              <a:gd name="adj" fmla="val 8889"/>
            </a:avLst>
          </a:prstGeom>
          <a:solidFill>
            <a:srgbClr val="FEE08B"/>
          </a:solidFill>
          <a:ln w="12700">
            <a:solidFill>
              <a:srgbClr val="FEE08B"/>
            </a:solidFill>
            <a:prstDash val="solid"/>
          </a:ln>
        </p:spPr>
      </p:sp>
      <p:sp>
        <p:nvSpPr>
          <p:cNvPr id="16" name="Text 14"/>
          <p:cNvSpPr txBox="1"/>
          <p:nvPr/>
        </p:nvSpPr>
        <p:spPr>
          <a:xfrm>
            <a:off x="8356397" y="2011680"/>
            <a:ext cx="3058058" cy="822960"/>
          </a:xfrm>
          <a:prstGeom prst="rect">
            <a:avLst/>
          </a:prstGeom>
          <a:noFill/>
          <a:ln/>
        </p:spPr>
        <p:txBody>
          <a:bodyPr wrap="square" lIns="0" tIns="0" rIns="0" bIns="0" rtlCol="0" anchor="ctr"/>
          <a:lstStyle/>
          <a:p>
            <a:pPr algn="ctr" indent="0" marL="0">
              <a:buNone/>
            </a:pPr>
            <a:r>
              <a:rPr lang="en-US" sz="2600" b="1" dirty="0">
                <a:solidFill>
                  <a:srgbClr val="1B1F2B"/>
                </a:solidFill>
              </a:rPr>
              <a:t>167 → 10.6</a:t>
            </a:r>
            <a:endParaRPr lang="en-US" sz="2600" dirty="0"/>
          </a:p>
        </p:txBody>
      </p:sp>
      <p:sp>
        <p:nvSpPr>
          <p:cNvPr id="17" name="Text 15"/>
          <p:cNvSpPr txBox="1"/>
          <p:nvPr/>
        </p:nvSpPr>
        <p:spPr>
          <a:xfrm>
            <a:off x="8356397" y="3063240"/>
            <a:ext cx="3058058" cy="1920240"/>
          </a:xfrm>
          <a:prstGeom prst="rect">
            <a:avLst/>
          </a:prstGeom>
          <a:noFill/>
          <a:ln/>
        </p:spPr>
        <p:txBody>
          <a:bodyPr wrap="square" lIns="0" tIns="0" rIns="0" bIns="0" rtlCol="0" anchor="t"/>
          <a:lstStyle/>
          <a:p>
            <a:pPr indent="0" marL="0">
              <a:buNone/>
            </a:pPr>
            <a:r>
              <a:rPr lang="en-US" sz="1800" dirty="0">
                <a:solidFill>
                  <a:schemeClr val="tx1"/>
                </a:solidFill>
              </a:rPr>
              <a:t>15.7× from type declarations alone. Same lesson as numba: give the compiler the types.</a:t>
            </a:r>
            <a:endParaRPr lang="en-US" sz="1800" dirty="0"/>
          </a:p>
        </p:txBody>
      </p:sp>
      <p:sp>
        <p:nvSpPr>
          <p:cNvPr id="18" name="Text 16"/>
          <p:cNvSpPr txBox="1"/>
          <p:nvPr/>
        </p:nvSpPr>
        <p:spPr>
          <a:xfrm>
            <a:off x="548640" y="5486400"/>
            <a:ext cx="11094415"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Each is a choice of configuration or idiom, not of language.</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What the LLM did well</a:t>
            </a:r>
            <a:endParaRPr lang="en-US" sz="3200" dirty="0"/>
          </a:p>
        </p:txBody>
      </p:sp>
      <p:sp>
        <p:nvSpPr>
          <p:cNvPr id="3" name="icon circle Porting at scale"/>
          <p:cNvSpPr/>
          <p:nvPr/>
        </p:nvSpPr>
        <p:spPr>
          <a:xfrm>
            <a:off x="548640" y="1325880"/>
            <a:ext cx="731520" cy="731520"/>
          </a:xfrm>
          <a:prstGeom prst="ellipse">
            <a:avLst/>
          </a:prstGeom>
          <a:solidFill>
            <a:schemeClr val="tx2"/>
          </a:solidFill>
          <a:ln w="12700">
            <a:solidFill>
              <a:schemeClr val="tx2"/>
            </a:solidFill>
            <a:prstDash val="solid"/>
          </a:ln>
        </p:spPr>
      </p:sp>
      <p:pic>
        <p:nvPicPr>
          <p:cNvPr id="4" name="icon Porting at scale" descr="Porting at scale">    </p:cNvPr>
          <p:cNvPicPr>
            <a:picLocks noChangeAspect="1"/>
          </p:cNvPicPr>
          <p:nvPr/>
        </p:nvPicPr>
        <p:blipFill>
          <a:blip r:embed="rId1"/>
          <a:stretch>
            <a:fillRect/>
          </a:stretch>
        </p:blipFill>
        <p:spPr>
          <a:xfrm>
            <a:off x="731520" y="1508760"/>
            <a:ext cx="365760" cy="365760"/>
          </a:xfrm>
          <a:prstGeom prst="rect">
            <a:avLst/>
          </a:prstGeom>
        </p:spPr>
      </p:pic>
      <p:sp>
        <p:nvSpPr>
          <p:cNvPr id="5" name="Text 2"/>
          <p:cNvSpPr txBox="1"/>
          <p:nvPr/>
        </p:nvSpPr>
        <p:spPr>
          <a:xfrm>
            <a:off x="1554480" y="1280160"/>
            <a:ext cx="10088575" cy="1097280"/>
          </a:xfrm>
          <a:prstGeom prst="rect">
            <a:avLst/>
          </a:prstGeom>
          <a:noFill/>
          <a:ln/>
        </p:spPr>
        <p:txBody>
          <a:bodyPr wrap="square" lIns="0" tIns="0" rIns="0" bIns="0" rtlCol="0" anchor="t"/>
          <a:lstStyle/>
          <a:p>
            <a:pPr indent="0" marL="0">
              <a:spcAft>
                <a:spcPts val="300"/>
              </a:spcAft>
              <a:buNone/>
            </a:pPr>
            <a:r>
              <a:rPr lang="en-US" sz="1900" b="1" dirty="0">
                <a:solidFill>
                  <a:schemeClr val="tx2"/>
                </a:solidFill>
              </a:rPr>
              <a:t>Porting at scale</a:t>
            </a:r>
            <a:endParaRPr lang="en-US" sz="1900" dirty="0"/>
          </a:p>
          <a:p>
            <a:pPr indent="0" marL="0">
              <a:spcAft>
                <a:spcPts val="300"/>
              </a:spcAft>
              <a:buNone/>
            </a:pPr>
            <a:r>
              <a:rPr lang="en-US" sz="1600" dirty="0">
                <a:solidFill>
                  <a:schemeClr val="tx1"/>
                </a:solidFill>
              </a:rPr>
              <a:t>16 new families in about four days, each kernel adapted to the language's idioms. J came out in 9 lines, with no hints from me.</a:t>
            </a:r>
            <a:endParaRPr lang="en-US" sz="1900" dirty="0"/>
          </a:p>
        </p:txBody>
      </p:sp>
      <p:sp>
        <p:nvSpPr>
          <p:cNvPr id="6" name="icon circle Environment wrangling"/>
          <p:cNvSpPr/>
          <p:nvPr/>
        </p:nvSpPr>
        <p:spPr>
          <a:xfrm>
            <a:off x="548640" y="2560320"/>
            <a:ext cx="731520" cy="731520"/>
          </a:xfrm>
          <a:prstGeom prst="ellipse">
            <a:avLst/>
          </a:prstGeom>
          <a:solidFill>
            <a:schemeClr val="tx2"/>
          </a:solidFill>
          <a:ln w="12700">
            <a:solidFill>
              <a:schemeClr val="tx2"/>
            </a:solidFill>
            <a:prstDash val="solid"/>
          </a:ln>
        </p:spPr>
      </p:sp>
      <p:pic>
        <p:nvPicPr>
          <p:cNvPr id="7" name="icon Environment wrangling" descr="Environment wrangling">    </p:cNvPr>
          <p:cNvPicPr>
            <a:picLocks noChangeAspect="1"/>
          </p:cNvPicPr>
          <p:nvPr/>
        </p:nvPicPr>
        <p:blipFill>
          <a:blip r:embed="rId2"/>
          <a:stretch>
            <a:fillRect/>
          </a:stretch>
        </p:blipFill>
        <p:spPr>
          <a:xfrm>
            <a:off x="731520" y="2743200"/>
            <a:ext cx="365760" cy="365760"/>
          </a:xfrm>
          <a:prstGeom prst="rect">
            <a:avLst/>
          </a:prstGeom>
        </p:spPr>
      </p:pic>
      <p:sp>
        <p:nvSpPr>
          <p:cNvPr id="8" name="Text 4"/>
          <p:cNvSpPr txBox="1"/>
          <p:nvPr/>
        </p:nvSpPr>
        <p:spPr>
          <a:xfrm>
            <a:off x="1554480" y="2514600"/>
            <a:ext cx="10088575" cy="1097280"/>
          </a:xfrm>
          <a:prstGeom prst="rect">
            <a:avLst/>
          </a:prstGeom>
          <a:noFill/>
          <a:ln/>
        </p:spPr>
        <p:txBody>
          <a:bodyPr wrap="square" lIns="0" tIns="0" rIns="0" bIns="0" rtlCol="0" anchor="t"/>
          <a:lstStyle/>
          <a:p>
            <a:pPr indent="0" marL="0">
              <a:spcAft>
                <a:spcPts val="300"/>
              </a:spcAft>
              <a:buNone/>
            </a:pPr>
            <a:r>
              <a:rPr lang="en-US" sz="1900" b="1" dirty="0">
                <a:solidFill>
                  <a:schemeClr val="tx2"/>
                </a:solidFill>
              </a:rPr>
              <a:t>Environment wrangling</a:t>
            </a:r>
            <a:endParaRPr lang="en-US" sz="1900" dirty="0"/>
          </a:p>
          <a:p>
            <a:pPr indent="0" marL="0">
              <a:spcAft>
                <a:spcPts val="300"/>
              </a:spcAft>
              <a:buNone/>
            </a:pPr>
            <a:r>
              <a:rPr lang="en-US" sz="1600" dirty="0">
                <a:solidFill>
                  <a:schemeClr val="tx1"/>
                </a:solidFill>
              </a:rPr>
              <a:t>PyPy's python3 symlink hijacked 7 numpy tests; conda's Octave shipped its own perl and python; GHC and Ruby baked install paths into 235 files.</a:t>
            </a:r>
            <a:endParaRPr lang="en-US" sz="1900" dirty="0"/>
          </a:p>
        </p:txBody>
      </p:sp>
      <p:sp>
        <p:nvSpPr>
          <p:cNvPr id="9" name="icon circle The whole pipeline"/>
          <p:cNvSpPr/>
          <p:nvPr/>
        </p:nvSpPr>
        <p:spPr>
          <a:xfrm>
            <a:off x="548640" y="3794760"/>
            <a:ext cx="731520" cy="731520"/>
          </a:xfrm>
          <a:prstGeom prst="ellipse">
            <a:avLst/>
          </a:prstGeom>
          <a:solidFill>
            <a:schemeClr val="tx2"/>
          </a:solidFill>
          <a:ln w="12700">
            <a:solidFill>
              <a:schemeClr val="tx2"/>
            </a:solidFill>
            <a:prstDash val="solid"/>
          </a:ln>
        </p:spPr>
      </p:sp>
      <p:pic>
        <p:nvPicPr>
          <p:cNvPr id="10" name="icon The whole pipeline" descr="The whole pipeline">    </p:cNvPr>
          <p:cNvPicPr>
            <a:picLocks noChangeAspect="1"/>
          </p:cNvPicPr>
          <p:nvPr/>
        </p:nvPicPr>
        <p:blipFill>
          <a:blip r:embed="rId3"/>
          <a:stretch>
            <a:fillRect/>
          </a:stretch>
        </p:blipFill>
        <p:spPr>
          <a:xfrm>
            <a:off x="731520" y="3977640"/>
            <a:ext cx="365760" cy="365760"/>
          </a:xfrm>
          <a:prstGeom prst="rect">
            <a:avLst/>
          </a:prstGeom>
        </p:spPr>
      </p:pic>
      <p:sp>
        <p:nvSpPr>
          <p:cNvPr id="11" name="Text 6"/>
          <p:cNvSpPr txBox="1"/>
          <p:nvPr/>
        </p:nvSpPr>
        <p:spPr>
          <a:xfrm>
            <a:off x="1554480" y="3749040"/>
            <a:ext cx="10088575" cy="1097280"/>
          </a:xfrm>
          <a:prstGeom prst="rect">
            <a:avLst/>
          </a:prstGeom>
          <a:noFill/>
          <a:ln/>
        </p:spPr>
        <p:txBody>
          <a:bodyPr wrap="square" lIns="0" tIns="0" rIns="0" bIns="0" rtlCol="0" anchor="t"/>
          <a:lstStyle/>
          <a:p>
            <a:pPr indent="0" marL="0">
              <a:spcAft>
                <a:spcPts val="300"/>
              </a:spcAft>
              <a:buNone/>
            </a:pPr>
            <a:r>
              <a:rPr lang="en-US" sz="1900" b="1" dirty="0">
                <a:solidFill>
                  <a:schemeClr val="tx2"/>
                </a:solidFill>
              </a:rPr>
              <a:t>The whole pipeline</a:t>
            </a:r>
            <a:endParaRPr lang="en-US" sz="1900" dirty="0"/>
          </a:p>
          <a:p>
            <a:pPr indent="0" marL="0">
              <a:spcAft>
                <a:spcPts val="300"/>
              </a:spcAft>
              <a:buNone/>
            </a:pPr>
            <a:r>
              <a:rPr lang="en-US" sz="1600" dirty="0">
                <a:solidFill>
                  <a:schemeClr val="tx1"/>
                </a:solidFill>
              </a:rPr>
              <a:t>Figures, the 131-row appendix and a 20-page report, all regenerated from one frozen log.</a:t>
            </a:r>
            <a:endParaRPr lang="en-US" sz="1900" dirty="0"/>
          </a:p>
        </p:txBody>
      </p:sp>
      <p:sp>
        <p:nvSpPr>
          <p:cNvPr id="12" name="icon circle Reproducibility"/>
          <p:cNvSpPr/>
          <p:nvPr/>
        </p:nvSpPr>
        <p:spPr>
          <a:xfrm>
            <a:off x="548640" y="5029200"/>
            <a:ext cx="731520" cy="731520"/>
          </a:xfrm>
          <a:prstGeom prst="ellipse">
            <a:avLst/>
          </a:prstGeom>
          <a:solidFill>
            <a:schemeClr val="tx2"/>
          </a:solidFill>
          <a:ln w="12700">
            <a:solidFill>
              <a:schemeClr val="tx2"/>
            </a:solidFill>
            <a:prstDash val="solid"/>
          </a:ln>
        </p:spPr>
      </p:sp>
      <p:pic>
        <p:nvPicPr>
          <p:cNvPr id="13" name="icon Reproducibility" descr="Reproducibility">    </p:cNvPr>
          <p:cNvPicPr>
            <a:picLocks noChangeAspect="1"/>
          </p:cNvPicPr>
          <p:nvPr/>
        </p:nvPicPr>
        <p:blipFill>
          <a:blip r:embed="rId4"/>
          <a:stretch>
            <a:fillRect/>
          </a:stretch>
        </p:blipFill>
        <p:spPr>
          <a:xfrm>
            <a:off x="731520" y="5212080"/>
            <a:ext cx="365760" cy="365760"/>
          </a:xfrm>
          <a:prstGeom prst="rect">
            <a:avLst/>
          </a:prstGeom>
        </p:spPr>
      </p:pic>
      <p:sp>
        <p:nvSpPr>
          <p:cNvPr id="14" name="Text 8"/>
          <p:cNvSpPr txBox="1"/>
          <p:nvPr/>
        </p:nvSpPr>
        <p:spPr>
          <a:xfrm>
            <a:off x="1554480" y="4983480"/>
            <a:ext cx="10088575" cy="1097280"/>
          </a:xfrm>
          <a:prstGeom prst="rect">
            <a:avLst/>
          </a:prstGeom>
          <a:noFill/>
          <a:ln/>
        </p:spPr>
        <p:txBody>
          <a:bodyPr wrap="square" lIns="0" tIns="0" rIns="0" bIns="0" rtlCol="0" anchor="t"/>
          <a:lstStyle/>
          <a:p>
            <a:pPr indent="0" marL="0">
              <a:spcAft>
                <a:spcPts val="300"/>
              </a:spcAft>
              <a:buNone/>
            </a:pPr>
            <a:r>
              <a:rPr lang="en-US" sz="1900" b="1" dirty="0">
                <a:solidFill>
                  <a:schemeClr val="tx2"/>
                </a:solidFill>
              </a:rPr>
              <a:t>Reproducibility</a:t>
            </a:r>
            <a:endParaRPr lang="en-US" sz="1900" dirty="0"/>
          </a:p>
          <a:p>
            <a:pPr indent="0" marL="0">
              <a:spcAft>
                <a:spcPts val="300"/>
              </a:spcAft>
              <a:buNone/>
            </a:pPr>
            <a:r>
              <a:rPr lang="en-US" sz="1600" dirty="0">
                <a:solidFill>
                  <a:schemeClr val="tx1"/>
                </a:solidFill>
              </a:rPr>
              <a:t>One script rebuilds every toolchain in 7.5 minutes; a fresh re-run passed 131/131.</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What it didn't do, and the audit loop</a:t>
            </a:r>
            <a:endParaRPr lang="en-US" sz="3200" dirty="0"/>
          </a:p>
        </p:txBody>
      </p:sp>
      <p:sp>
        <p:nvSpPr>
          <p:cNvPr id="3" name="loop arrow 1"/>
          <p:cNvSpPr/>
          <p:nvPr/>
        </p:nvSpPr>
        <p:spPr>
          <a:xfrm>
            <a:off x="3436269" y="2928823"/>
            <a:ext cx="432374" cy="748894"/>
          </a:xfrm>
          <a:prstGeom prst="line">
            <a:avLst/>
          </a:prstGeom>
          <a:noFill/>
          <a:ln w="25400">
            <a:solidFill>
              <a:srgbClr val="5A6275"/>
            </a:solidFill>
            <a:prstDash val="solid"/>
            <a:tailEnd type="triangle"/>
          </a:ln>
        </p:spPr>
      </p:sp>
      <p:sp>
        <p:nvSpPr>
          <p:cNvPr id="4" name="loop arrow 2"/>
          <p:cNvSpPr/>
          <p:nvPr/>
        </p:nvSpPr>
        <p:spPr>
          <a:xfrm flipH="1">
            <a:off x="2447986" y="4640580"/>
            <a:ext cx="864748" cy="0"/>
          </a:xfrm>
          <a:prstGeom prst="line">
            <a:avLst/>
          </a:prstGeom>
          <a:noFill/>
          <a:ln w="25400">
            <a:solidFill>
              <a:srgbClr val="5A6275"/>
            </a:solidFill>
            <a:prstDash val="solid"/>
            <a:tailEnd type="triangle"/>
          </a:ln>
        </p:spPr>
      </p:sp>
      <p:sp>
        <p:nvSpPr>
          <p:cNvPr id="5" name="loop arrow 3"/>
          <p:cNvSpPr/>
          <p:nvPr/>
        </p:nvSpPr>
        <p:spPr>
          <a:xfrm flipV="1">
            <a:off x="1892077" y="2928823"/>
            <a:ext cx="432374" cy="748894"/>
          </a:xfrm>
          <a:prstGeom prst="line">
            <a:avLst/>
          </a:prstGeom>
          <a:noFill/>
          <a:ln w="25400">
            <a:solidFill>
              <a:srgbClr val="5A6275"/>
            </a:solidFill>
            <a:prstDash val="solid"/>
            <a:tailEnd type="triangle"/>
          </a:ln>
        </p:spPr>
      </p:sp>
      <p:sp>
        <p:nvSpPr>
          <p:cNvPr id="6" name="loop node Write or update"/>
          <p:cNvSpPr/>
          <p:nvPr/>
        </p:nvSpPr>
        <p:spPr>
          <a:xfrm>
            <a:off x="1874520" y="1508760"/>
            <a:ext cx="2011680" cy="914400"/>
          </a:xfrm>
          <a:prstGeom prst="roundRect">
            <a:avLst>
              <a:gd name="adj" fmla="val 10000"/>
            </a:avLst>
          </a:prstGeom>
          <a:solidFill>
            <a:schemeClr val="tx2"/>
          </a:solidFill>
          <a:ln w="12700">
            <a:solidFill>
              <a:schemeClr val="tx2"/>
            </a:solidFill>
            <a:prstDash val="solid"/>
          </a:ln>
        </p:spPr>
      </p:sp>
      <p:sp>
        <p:nvSpPr>
          <p:cNvPr id="7" name="Text 5"/>
          <p:cNvSpPr txBox="1"/>
          <p:nvPr/>
        </p:nvSpPr>
        <p:spPr>
          <a:xfrm>
            <a:off x="1874520" y="1508760"/>
            <a:ext cx="2011680" cy="914400"/>
          </a:xfrm>
          <a:prstGeom prst="rect">
            <a:avLst/>
          </a:prstGeom>
          <a:noFill/>
          <a:ln/>
        </p:spPr>
        <p:txBody>
          <a:bodyPr wrap="square" lIns="0" tIns="0" rIns="0" bIns="0" rtlCol="0" anchor="ctr"/>
          <a:lstStyle/>
          <a:p>
            <a:pPr algn="ctr" indent="0" marL="0">
              <a:buNone/>
            </a:pPr>
            <a:r>
              <a:rPr lang="en-US" sz="1600" b="1" dirty="0">
                <a:solidFill>
                  <a:schemeClr val="bg1"/>
                </a:solidFill>
              </a:rPr>
              <a:t>Write or update</a:t>
            </a:r>
            <a:endParaRPr lang="en-US" sz="1600" dirty="0"/>
          </a:p>
          <a:p>
            <a:pPr algn="ctr" indent="0" marL="0">
              <a:buNone/>
            </a:pPr>
            <a:r>
              <a:rPr lang="en-US" sz="1200" dirty="0">
                <a:solidFill>
                  <a:srgbClr val="AEB8CC"/>
                </a:solidFill>
              </a:rPr>
              <a:t>report and figures</a:t>
            </a:r>
            <a:endParaRPr lang="en-US" sz="1600" dirty="0"/>
          </a:p>
        </p:txBody>
      </p:sp>
      <p:sp>
        <p:nvSpPr>
          <p:cNvPr id="8" name="loop node Criticise"/>
          <p:cNvSpPr/>
          <p:nvPr/>
        </p:nvSpPr>
        <p:spPr>
          <a:xfrm>
            <a:off x="3418713" y="4183380"/>
            <a:ext cx="2011680" cy="914400"/>
          </a:xfrm>
          <a:prstGeom prst="roundRect">
            <a:avLst>
              <a:gd name="adj" fmla="val 10000"/>
            </a:avLst>
          </a:prstGeom>
          <a:solidFill>
            <a:schemeClr val="tx2"/>
          </a:solidFill>
          <a:ln w="12700">
            <a:solidFill>
              <a:schemeClr val="tx2"/>
            </a:solidFill>
            <a:prstDash val="solid"/>
          </a:ln>
        </p:spPr>
      </p:sp>
      <p:sp>
        <p:nvSpPr>
          <p:cNvPr id="9" name="Text 7"/>
          <p:cNvSpPr txBox="1"/>
          <p:nvPr/>
        </p:nvSpPr>
        <p:spPr>
          <a:xfrm>
            <a:off x="3418713" y="4183380"/>
            <a:ext cx="2011680" cy="914400"/>
          </a:xfrm>
          <a:prstGeom prst="rect">
            <a:avLst/>
          </a:prstGeom>
          <a:noFill/>
          <a:ln/>
        </p:spPr>
        <p:txBody>
          <a:bodyPr wrap="square" lIns="0" tIns="0" rIns="0" bIns="0" rtlCol="0" anchor="ctr"/>
          <a:lstStyle/>
          <a:p>
            <a:pPr algn="ctr" indent="0" marL="0">
              <a:buNone/>
            </a:pPr>
            <a:r>
              <a:rPr lang="en-US" sz="1600" b="1" dirty="0">
                <a:solidFill>
                  <a:schemeClr val="bg1"/>
                </a:solidFill>
              </a:rPr>
              <a:t>Criticise</a:t>
            </a:r>
            <a:endParaRPr lang="en-US" sz="1600" dirty="0"/>
          </a:p>
          <a:p>
            <a:pPr algn="ctr" indent="0" marL="0">
              <a:buNone/>
            </a:pPr>
            <a:r>
              <a:rPr lang="en-US" sz="1200" dirty="0">
                <a:solidFill>
                  <a:srgbClr val="AEB8CC"/>
                </a:solidFill>
              </a:rPr>
              <a:t>a second LLM audits</a:t>
            </a:r>
            <a:endParaRPr lang="en-US" sz="1600" dirty="0"/>
          </a:p>
        </p:txBody>
      </p:sp>
      <p:sp>
        <p:nvSpPr>
          <p:cNvPr id="10" name="loop node Re-check"/>
          <p:cNvSpPr/>
          <p:nvPr/>
        </p:nvSpPr>
        <p:spPr>
          <a:xfrm>
            <a:off x="330327" y="4183380"/>
            <a:ext cx="2011680" cy="914400"/>
          </a:xfrm>
          <a:prstGeom prst="roundRect">
            <a:avLst>
              <a:gd name="adj" fmla="val 10000"/>
            </a:avLst>
          </a:prstGeom>
          <a:solidFill>
            <a:schemeClr val="tx2"/>
          </a:solidFill>
          <a:ln w="12700">
            <a:solidFill>
              <a:schemeClr val="tx2"/>
            </a:solidFill>
            <a:prstDash val="solid"/>
          </a:ln>
        </p:spPr>
      </p:sp>
      <p:sp>
        <p:nvSpPr>
          <p:cNvPr id="11" name="Text 9"/>
          <p:cNvSpPr txBox="1"/>
          <p:nvPr/>
        </p:nvSpPr>
        <p:spPr>
          <a:xfrm>
            <a:off x="330327" y="4183380"/>
            <a:ext cx="2011680" cy="914400"/>
          </a:xfrm>
          <a:prstGeom prst="rect">
            <a:avLst/>
          </a:prstGeom>
          <a:noFill/>
          <a:ln/>
        </p:spPr>
        <p:txBody>
          <a:bodyPr wrap="square" lIns="0" tIns="0" rIns="0" bIns="0" rtlCol="0" anchor="ctr"/>
          <a:lstStyle/>
          <a:p>
            <a:pPr algn="ctr" indent="0" marL="0">
              <a:buNone/>
            </a:pPr>
            <a:r>
              <a:rPr lang="en-US" sz="1600" b="1" dirty="0">
                <a:solidFill>
                  <a:schemeClr val="bg1"/>
                </a:solidFill>
              </a:rPr>
              <a:t>Re-check</a:t>
            </a:r>
            <a:endParaRPr lang="en-US" sz="1600" dirty="0"/>
          </a:p>
          <a:p>
            <a:pPr algn="ctr" indent="0" marL="0">
              <a:buNone/>
            </a:pPr>
            <a:r>
              <a:rPr lang="en-US" sz="1200" dirty="0">
                <a:solidFill>
                  <a:srgbClr val="AEB8CC"/>
                </a:solidFill>
              </a:rPr>
              <a:t>every number vs run22.log</a:t>
            </a:r>
            <a:endParaRPr lang="en-US" sz="1600" dirty="0"/>
          </a:p>
        </p:txBody>
      </p:sp>
      <p:sp>
        <p:nvSpPr>
          <p:cNvPr id="12" name="failure Missed the PDL problem"/>
          <p:cNvSpPr/>
          <p:nvPr/>
        </p:nvSpPr>
        <p:spPr>
          <a:xfrm>
            <a:off x="5669280" y="1234440"/>
            <a:ext cx="5973775" cy="1371600"/>
          </a:xfrm>
          <a:prstGeom prst="roundRect">
            <a:avLst>
              <a:gd name="adj" fmla="val 6667"/>
            </a:avLst>
          </a:prstGeom>
          <a:solidFill>
            <a:schemeClr val="bg2"/>
          </a:solidFill>
          <a:ln w="12700">
            <a:solidFill>
              <a:schemeClr val="bg2"/>
            </a:solidFill>
            <a:prstDash val="solid"/>
          </a:ln>
        </p:spPr>
      </p:sp>
      <p:sp>
        <p:nvSpPr>
          <p:cNvPr id="13" name="Text 11"/>
          <p:cNvSpPr txBox="1"/>
          <p:nvPr/>
        </p:nvSpPr>
        <p:spPr>
          <a:xfrm>
            <a:off x="5897880" y="1344168"/>
            <a:ext cx="5516575" cy="1188720"/>
          </a:xfrm>
          <a:prstGeom prst="rect">
            <a:avLst/>
          </a:prstGeom>
          <a:noFill/>
          <a:ln/>
        </p:spPr>
        <p:txBody>
          <a:bodyPr wrap="square" lIns="0" tIns="0" rIns="0" bIns="0" rtlCol="0" anchor="t"/>
          <a:lstStyle/>
          <a:p>
            <a:pPr indent="0" marL="0">
              <a:spcAft>
                <a:spcPts val="300"/>
              </a:spcAft>
              <a:buNone/>
            </a:pPr>
            <a:r>
              <a:rPr lang="en-US" sz="1700" b="1" dirty="0">
                <a:solidFill>
                  <a:schemeClr val="tx2"/>
                </a:solidFill>
              </a:rPr>
              <a:t>Missed the PDL problem</a:t>
            </a:r>
            <a:endParaRPr lang="en-US" sz="1700" dirty="0"/>
          </a:p>
          <a:p>
            <a:pPr indent="0" marL="0">
              <a:spcAft>
                <a:spcPts val="300"/>
              </a:spcAft>
              <a:buNone/>
            </a:pPr>
            <a:r>
              <a:rPr lang="en-US" sz="1400" dirty="0">
                <a:solidFill>
                  <a:schemeClr val="tx1"/>
                </a:solidFill>
              </a:rPr>
              <a:t>Ran the 2019 code faithfully and accepted 103,570 as “PDL is just slow”.</a:t>
            </a:r>
            <a:endParaRPr lang="en-US" sz="1700" dirty="0"/>
          </a:p>
        </p:txBody>
      </p:sp>
      <p:sp>
        <p:nvSpPr>
          <p:cNvPr id="14" name="failure Silent drift"/>
          <p:cNvSpPr/>
          <p:nvPr/>
        </p:nvSpPr>
        <p:spPr>
          <a:xfrm>
            <a:off x="5669280" y="2743200"/>
            <a:ext cx="5973775" cy="1371600"/>
          </a:xfrm>
          <a:prstGeom prst="roundRect">
            <a:avLst>
              <a:gd name="adj" fmla="val 6667"/>
            </a:avLst>
          </a:prstGeom>
          <a:solidFill>
            <a:schemeClr val="bg2"/>
          </a:solidFill>
          <a:ln w="12700">
            <a:solidFill>
              <a:schemeClr val="bg2"/>
            </a:solidFill>
            <a:prstDash val="solid"/>
          </a:ln>
        </p:spPr>
      </p:sp>
      <p:sp>
        <p:nvSpPr>
          <p:cNvPr id="15" name="Text 13"/>
          <p:cNvSpPr txBox="1"/>
          <p:nvPr/>
        </p:nvSpPr>
        <p:spPr>
          <a:xfrm>
            <a:off x="5897880" y="2852928"/>
            <a:ext cx="5516575" cy="1188720"/>
          </a:xfrm>
          <a:prstGeom prst="rect">
            <a:avLst/>
          </a:prstGeom>
          <a:noFill/>
          <a:ln/>
        </p:spPr>
        <p:txBody>
          <a:bodyPr wrap="square" lIns="0" tIns="0" rIns="0" bIns="0" rtlCol="0" anchor="t"/>
          <a:lstStyle/>
          <a:p>
            <a:pPr indent="0" marL="0">
              <a:spcAft>
                <a:spcPts val="300"/>
              </a:spcAft>
              <a:buNone/>
            </a:pPr>
            <a:r>
              <a:rPr lang="en-US" sz="1700" b="1" dirty="0">
                <a:solidFill>
                  <a:schemeClr val="tx2"/>
                </a:solidFill>
              </a:rPr>
              <a:t>Silent drift</a:t>
            </a:r>
            <a:endParaRPr lang="en-US" sz="1700" dirty="0"/>
          </a:p>
          <a:p>
            <a:pPr indent="0" marL="0">
              <a:spcAft>
                <a:spcPts val="300"/>
              </a:spcAft>
              <a:buNone/>
            </a:pPr>
            <a:r>
              <a:rPr lang="en-US" sz="1400" dirty="0">
                <a:solidFill>
                  <a:schemeClr val="tx1"/>
                </a:solidFill>
              </a:rPr>
              <a:t>Fixed the prose but not the table, or the reverse. The audits caught 14 errors in the first four rounds: Crystal 3.21 → 3.67, F# 6.85 → 7.21, an OCaml ratio of “18×” that was 13×.</a:t>
            </a:r>
            <a:endParaRPr lang="en-US" sz="1700" dirty="0"/>
          </a:p>
        </p:txBody>
      </p:sp>
      <p:sp>
        <p:nvSpPr>
          <p:cNvPr id="16" name="failure No sense of what's interesting"/>
          <p:cNvSpPr/>
          <p:nvPr/>
        </p:nvSpPr>
        <p:spPr>
          <a:xfrm>
            <a:off x="5669280" y="4251960"/>
            <a:ext cx="5973775" cy="1371600"/>
          </a:xfrm>
          <a:prstGeom prst="roundRect">
            <a:avLst>
              <a:gd name="adj" fmla="val 6667"/>
            </a:avLst>
          </a:prstGeom>
          <a:solidFill>
            <a:schemeClr val="bg2"/>
          </a:solidFill>
          <a:ln w="12700">
            <a:solidFill>
              <a:schemeClr val="bg2"/>
            </a:solidFill>
            <a:prstDash val="solid"/>
          </a:ln>
        </p:spPr>
      </p:sp>
      <p:sp>
        <p:nvSpPr>
          <p:cNvPr id="17" name="Text 15"/>
          <p:cNvSpPr txBox="1"/>
          <p:nvPr/>
        </p:nvSpPr>
        <p:spPr>
          <a:xfrm>
            <a:off x="5897880" y="4361688"/>
            <a:ext cx="5516575" cy="1188720"/>
          </a:xfrm>
          <a:prstGeom prst="rect">
            <a:avLst/>
          </a:prstGeom>
          <a:noFill/>
          <a:ln/>
        </p:spPr>
        <p:txBody>
          <a:bodyPr wrap="square" lIns="0" tIns="0" rIns="0" bIns="0" rtlCol="0" anchor="t"/>
          <a:lstStyle/>
          <a:p>
            <a:pPr indent="0" marL="0">
              <a:spcAft>
                <a:spcPts val="300"/>
              </a:spcAft>
              <a:buNone/>
            </a:pPr>
            <a:r>
              <a:rPr lang="en-US" sz="1700" b="1" dirty="0">
                <a:solidFill>
                  <a:schemeClr val="tx2"/>
                </a:solidFill>
              </a:rPr>
              <a:t>No sense of what's interesting</a:t>
            </a:r>
            <a:endParaRPr lang="en-US" sz="1700" dirty="0"/>
          </a:p>
          <a:p>
            <a:pPr indent="0" marL="0">
              <a:spcAft>
                <a:spcPts val="300"/>
              </a:spcAft>
              <a:buNone/>
            </a:pPr>
            <a:r>
              <a:rPr lang="en-US" sz="1400" dirty="0">
                <a:solidFill>
                  <a:schemeClr val="tx1"/>
                </a:solidFill>
              </a:rPr>
              <a:t>Asked what to add, it gave a long, flat list; choosing was my job. My verdict on one abstract draft: it “would appeal only to an LLM not a human”.</a:t>
            </a:r>
            <a:endParaRPr lang="en-US" sz="1700" dirty="0"/>
          </a:p>
        </p:txBody>
      </p:sp>
      <p:sp>
        <p:nvSpPr>
          <p:cNvPr id="18" name="Text 16"/>
          <p:cNvSpPr txBox="1"/>
          <p:nvPr/>
        </p:nvSpPr>
        <p:spPr>
          <a:xfrm>
            <a:off x="5669280" y="5806440"/>
            <a:ext cx="5973775" cy="365760"/>
          </a:xfrm>
          <a:prstGeom prst="rect">
            <a:avLst/>
          </a:prstGeom>
          <a:noFill/>
          <a:ln/>
        </p:spPr>
        <p:txBody>
          <a:bodyPr wrap="square" lIns="0" tIns="0" rIns="0" bIns="0" rtlCol="0" anchor="t"/>
          <a:lstStyle/>
          <a:p>
            <a:pPr indent="0" marL="0">
              <a:buNone/>
            </a:pPr>
            <a:r>
              <a:rPr lang="en-US" sz="1200" i="1" dirty="0">
                <a:solidFill>
                  <a:srgbClr val="5A6275"/>
                </a:solidFill>
              </a:rPr>
              <a:t>INTERCAL died of an arm64 bug in its own runtime: a toolchain failure, not the LLM's.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What to tell a working astronomer</a:t>
            </a:r>
            <a:endParaRPr lang="en-US" sz="3200" dirty="0"/>
          </a:p>
        </p:txBody>
      </p:sp>
      <p:sp>
        <p:nvSpPr>
          <p:cNvPr id="3" name="recommendation 1"/>
          <p:cNvSpPr/>
          <p:nvPr/>
        </p:nvSpPr>
        <p:spPr>
          <a:xfrm>
            <a:off x="548640" y="1234440"/>
            <a:ext cx="3515258" cy="2331720"/>
          </a:xfrm>
          <a:prstGeom prst="roundRect">
            <a:avLst>
              <a:gd name="adj" fmla="val 3922"/>
            </a:avLst>
          </a:prstGeom>
          <a:solidFill>
            <a:schemeClr val="bg2"/>
          </a:solidFill>
          <a:ln w="12700">
            <a:solidFill>
              <a:schemeClr val="bg2"/>
            </a:solidFill>
            <a:prstDash val="solid"/>
          </a:ln>
        </p:spPr>
      </p:sp>
      <p:sp>
        <p:nvSpPr>
          <p:cNvPr id="4" name="number 1"/>
          <p:cNvSpPr/>
          <p:nvPr/>
        </p:nvSpPr>
        <p:spPr>
          <a:xfrm>
            <a:off x="777240" y="1463040"/>
            <a:ext cx="548640" cy="548640"/>
          </a:xfrm>
          <a:prstGeom prst="ellipse">
            <a:avLst/>
          </a:prstGeom>
          <a:solidFill>
            <a:srgbClr val="1A9850"/>
          </a:solidFill>
          <a:ln w="12700">
            <a:solidFill>
              <a:srgbClr val="1A9850"/>
            </a:solidFill>
            <a:prstDash val="solid"/>
          </a:ln>
        </p:spPr>
      </p:sp>
      <p:sp>
        <p:nvSpPr>
          <p:cNvPr id="5" name="Text 3"/>
          <p:cNvSpPr txBox="1"/>
          <p:nvPr/>
        </p:nvSpPr>
        <p:spPr>
          <a:xfrm>
            <a:off x="777240" y="14630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6" name="Text 4"/>
          <p:cNvSpPr txBox="1"/>
          <p:nvPr/>
        </p:nvSpPr>
        <p:spPr>
          <a:xfrm>
            <a:off x="777240" y="2148840"/>
            <a:ext cx="3058058" cy="45720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Try @njit first</a:t>
            </a:r>
            <a:endParaRPr lang="en-US" sz="1800" dirty="0"/>
          </a:p>
        </p:txBody>
      </p:sp>
      <p:sp>
        <p:nvSpPr>
          <p:cNvPr id="7" name="Text 5"/>
          <p:cNvSpPr txBox="1"/>
          <p:nvPr/>
        </p:nvSpPr>
        <p:spPr>
          <a:xfrm>
            <a:off x="777240" y="2606040"/>
            <a:ext cx="3058058" cy="822960"/>
          </a:xfrm>
          <a:prstGeom prst="rect">
            <a:avLst/>
          </a:prstGeom>
          <a:noFill/>
          <a:ln/>
        </p:spPr>
        <p:txBody>
          <a:bodyPr wrap="square" lIns="0" tIns="0" rIns="0" bIns="0" rtlCol="0" anchor="t"/>
          <a:lstStyle/>
          <a:p>
            <a:pPr indent="0" marL="0">
              <a:buNone/>
            </a:pPr>
            <a:r>
              <a:rPr lang="en-US" sz="1500" dirty="0">
                <a:solidFill>
                  <a:schemeClr val="tx1"/>
                </a:solidFill>
              </a:rPr>
              <a:t>Before rewriting a hot loop in C, add one numba decorator.</a:t>
            </a:r>
            <a:endParaRPr lang="en-US" sz="1500" dirty="0"/>
          </a:p>
        </p:txBody>
      </p:sp>
      <p:sp>
        <p:nvSpPr>
          <p:cNvPr id="8" name="recommendation 2"/>
          <p:cNvSpPr/>
          <p:nvPr/>
        </p:nvSpPr>
        <p:spPr>
          <a:xfrm>
            <a:off x="4338218" y="1234440"/>
            <a:ext cx="3515258" cy="2331720"/>
          </a:xfrm>
          <a:prstGeom prst="roundRect">
            <a:avLst>
              <a:gd name="adj" fmla="val 3922"/>
            </a:avLst>
          </a:prstGeom>
          <a:solidFill>
            <a:schemeClr val="bg2"/>
          </a:solidFill>
          <a:ln w="12700">
            <a:solidFill>
              <a:schemeClr val="bg2"/>
            </a:solidFill>
            <a:prstDash val="solid"/>
          </a:ln>
        </p:spPr>
      </p:sp>
      <p:sp>
        <p:nvSpPr>
          <p:cNvPr id="9" name="number 2"/>
          <p:cNvSpPr/>
          <p:nvPr/>
        </p:nvSpPr>
        <p:spPr>
          <a:xfrm>
            <a:off x="4566818" y="1463040"/>
            <a:ext cx="548640" cy="548640"/>
          </a:xfrm>
          <a:prstGeom prst="ellipse">
            <a:avLst/>
          </a:prstGeom>
          <a:solidFill>
            <a:srgbClr val="1A9850"/>
          </a:solidFill>
          <a:ln w="12700">
            <a:solidFill>
              <a:srgbClr val="1A9850"/>
            </a:solidFill>
            <a:prstDash val="solid"/>
          </a:ln>
        </p:spPr>
      </p:sp>
      <p:sp>
        <p:nvSpPr>
          <p:cNvPr id="10" name="Text 8"/>
          <p:cNvSpPr txBox="1"/>
          <p:nvPr/>
        </p:nvSpPr>
        <p:spPr>
          <a:xfrm>
            <a:off x="4566818" y="14630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1" name="Text 9"/>
          <p:cNvSpPr txBox="1"/>
          <p:nvPr/>
        </p:nvSpPr>
        <p:spPr>
          <a:xfrm>
            <a:off x="4566818" y="2148840"/>
            <a:ext cx="3058058" cy="45720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PyPy for pure Python only</a:t>
            </a:r>
            <a:endParaRPr lang="en-US" sz="1800" dirty="0"/>
          </a:p>
        </p:txBody>
      </p:sp>
      <p:sp>
        <p:nvSpPr>
          <p:cNvPr id="12" name="Text 10"/>
          <p:cNvSpPr txBox="1"/>
          <p:nvPr/>
        </p:nvSpPr>
        <p:spPr>
          <a:xfrm>
            <a:off x="4566818" y="2606040"/>
            <a:ext cx="3058058" cy="822960"/>
          </a:xfrm>
          <a:prstGeom prst="rect">
            <a:avLst/>
          </a:prstGeom>
          <a:noFill/>
          <a:ln/>
        </p:spPr>
        <p:txBody>
          <a:bodyPr wrap="square" lIns="0" tIns="0" rIns="0" bIns="0" rtlCol="0" anchor="t"/>
          <a:lstStyle/>
          <a:p>
            <a:pPr indent="0" marL="0">
              <a:buNone/>
            </a:pPr>
            <a:r>
              <a:rPr lang="en-US" sz="1500" dirty="0">
                <a:solidFill>
                  <a:schemeClr val="tx1"/>
                </a:solidFill>
              </a:rPr>
              <a:t>Never with numpy: it is the slowest mainstream setup here.</a:t>
            </a:r>
            <a:endParaRPr lang="en-US" sz="1500" dirty="0"/>
          </a:p>
        </p:txBody>
      </p:sp>
      <p:sp>
        <p:nvSpPr>
          <p:cNvPr id="13" name="recommendation 3"/>
          <p:cNvSpPr/>
          <p:nvPr/>
        </p:nvSpPr>
        <p:spPr>
          <a:xfrm>
            <a:off x="8127797" y="1234440"/>
            <a:ext cx="3515258" cy="2331720"/>
          </a:xfrm>
          <a:prstGeom prst="roundRect">
            <a:avLst>
              <a:gd name="adj" fmla="val 3922"/>
            </a:avLst>
          </a:prstGeom>
          <a:solidFill>
            <a:schemeClr val="bg2"/>
          </a:solidFill>
          <a:ln w="12700">
            <a:solidFill>
              <a:schemeClr val="bg2"/>
            </a:solidFill>
            <a:prstDash val="solid"/>
          </a:ln>
        </p:spPr>
      </p:sp>
      <p:sp>
        <p:nvSpPr>
          <p:cNvPr id="14" name="number 3"/>
          <p:cNvSpPr/>
          <p:nvPr/>
        </p:nvSpPr>
        <p:spPr>
          <a:xfrm>
            <a:off x="8356397" y="1463040"/>
            <a:ext cx="548640" cy="548640"/>
          </a:xfrm>
          <a:prstGeom prst="ellipse">
            <a:avLst/>
          </a:prstGeom>
          <a:solidFill>
            <a:srgbClr val="1A9850"/>
          </a:solidFill>
          <a:ln w="12700">
            <a:solidFill>
              <a:srgbClr val="1A9850"/>
            </a:solidFill>
            <a:prstDash val="solid"/>
          </a:ln>
        </p:spPr>
      </p:sp>
      <p:sp>
        <p:nvSpPr>
          <p:cNvPr id="15" name="Text 13"/>
          <p:cNvSpPr txBox="1"/>
          <p:nvPr/>
        </p:nvSpPr>
        <p:spPr>
          <a:xfrm>
            <a:off x="8356397" y="14630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6" name="Text 14"/>
          <p:cNvSpPr txBox="1"/>
          <p:nvPr/>
        </p:nvSpPr>
        <p:spPr>
          <a:xfrm>
            <a:off x="8356397" y="2148840"/>
            <a:ext cx="3058058" cy="45720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Don't loop over numpy</a:t>
            </a:r>
            <a:endParaRPr lang="en-US" sz="1800" dirty="0"/>
          </a:p>
        </p:txBody>
      </p:sp>
      <p:sp>
        <p:nvSpPr>
          <p:cNvPr id="17" name="Text 15"/>
          <p:cNvSpPr txBox="1"/>
          <p:nvPr/>
        </p:nvSpPr>
        <p:spPr>
          <a:xfrm>
            <a:off x="8356397" y="2606040"/>
            <a:ext cx="3058058" cy="822960"/>
          </a:xfrm>
          <a:prstGeom prst="rect">
            <a:avLst/>
          </a:prstGeom>
          <a:noFill/>
          <a:ln/>
        </p:spPr>
        <p:txBody>
          <a:bodyPr wrap="square" lIns="0" tIns="0" rIns="0" bIns="0" rtlCol="0" anchor="t"/>
          <a:lstStyle/>
          <a:p>
            <a:pPr indent="0" marL="0">
              <a:buNone/>
            </a:pPr>
            <a:r>
              <a:rPr lang="en-US" sz="1500" dirty="0">
                <a:solidFill>
                  <a:schemeClr val="tx1"/>
                </a:solidFill>
              </a:rPr>
              <a:t>Element-by-element numpy is 4.5× slower than plain lists.</a:t>
            </a:r>
            <a:endParaRPr lang="en-US" sz="1500" dirty="0"/>
          </a:p>
        </p:txBody>
      </p:sp>
      <p:sp>
        <p:nvSpPr>
          <p:cNvPr id="18" name="recommendation 4"/>
          <p:cNvSpPr/>
          <p:nvPr/>
        </p:nvSpPr>
        <p:spPr>
          <a:xfrm>
            <a:off x="548640" y="3840480"/>
            <a:ext cx="3515258" cy="2331720"/>
          </a:xfrm>
          <a:prstGeom prst="roundRect">
            <a:avLst>
              <a:gd name="adj" fmla="val 3922"/>
            </a:avLst>
          </a:prstGeom>
          <a:solidFill>
            <a:schemeClr val="bg2"/>
          </a:solidFill>
          <a:ln w="12700">
            <a:solidFill>
              <a:schemeClr val="bg2"/>
            </a:solidFill>
            <a:prstDash val="solid"/>
          </a:ln>
        </p:spPr>
      </p:sp>
      <p:sp>
        <p:nvSpPr>
          <p:cNvPr id="19" name="number 4"/>
          <p:cNvSpPr/>
          <p:nvPr/>
        </p:nvSpPr>
        <p:spPr>
          <a:xfrm>
            <a:off x="777240" y="4069080"/>
            <a:ext cx="548640" cy="548640"/>
          </a:xfrm>
          <a:prstGeom prst="ellipse">
            <a:avLst/>
          </a:prstGeom>
          <a:solidFill>
            <a:srgbClr val="1A9850"/>
          </a:solidFill>
          <a:ln w="12700">
            <a:solidFill>
              <a:srgbClr val="1A9850"/>
            </a:solidFill>
            <a:prstDash val="solid"/>
          </a:ln>
        </p:spPr>
      </p:sp>
      <p:sp>
        <p:nvSpPr>
          <p:cNvPr id="20" name="Text 18"/>
          <p:cNvSpPr txBox="1"/>
          <p:nvPr/>
        </p:nvSpPr>
        <p:spPr>
          <a:xfrm>
            <a:off x="777240" y="40690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21" name="Text 19"/>
          <p:cNvSpPr txBox="1"/>
          <p:nvPr/>
        </p:nvSpPr>
        <p:spPr>
          <a:xfrm>
            <a:off x="777240" y="4754880"/>
            <a:ext cx="3058058" cy="45720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PDL: -&gt;at, -&gt;set, or PP</a:t>
            </a:r>
            <a:endParaRPr lang="en-US" sz="1800" dirty="0"/>
          </a:p>
        </p:txBody>
      </p:sp>
      <p:sp>
        <p:nvSpPr>
          <p:cNvPr id="22" name="Text 20"/>
          <p:cNvSpPr txBox="1"/>
          <p:nvPr/>
        </p:nvSpPr>
        <p:spPr>
          <a:xfrm>
            <a:off x="777240" y="5212080"/>
            <a:ext cx="3058058" cy="822960"/>
          </a:xfrm>
          <a:prstGeom prst="rect">
            <a:avLst/>
          </a:prstGeom>
          <a:noFill/>
          <a:ln/>
        </p:spPr>
        <p:txBody>
          <a:bodyPr wrap="square" lIns="0" tIns="0" rIns="0" bIns="0" rtlCol="0" anchor="t"/>
          <a:lstStyle/>
          <a:p>
            <a:pPr indent="0" marL="0">
              <a:buNone/>
            </a:pPr>
            <a:r>
              <a:rPr lang="en-US" sz="1500" dirty="0">
                <a:solidFill>
                  <a:schemeClr val="tx1"/>
                </a:solidFill>
              </a:rPr>
              <a:t>For speed, broadcast or use PDL::PP. Don't slice single elements.</a:t>
            </a:r>
            <a:endParaRPr lang="en-US" sz="1500" dirty="0"/>
          </a:p>
        </p:txBody>
      </p:sp>
      <p:sp>
        <p:nvSpPr>
          <p:cNvPr id="23" name="recommendation 5"/>
          <p:cNvSpPr/>
          <p:nvPr/>
        </p:nvSpPr>
        <p:spPr>
          <a:xfrm>
            <a:off x="4338218" y="3840480"/>
            <a:ext cx="3515258" cy="2331720"/>
          </a:xfrm>
          <a:prstGeom prst="roundRect">
            <a:avLst>
              <a:gd name="adj" fmla="val 3922"/>
            </a:avLst>
          </a:prstGeom>
          <a:solidFill>
            <a:schemeClr val="bg2"/>
          </a:solidFill>
          <a:ln w="12700">
            <a:solidFill>
              <a:schemeClr val="bg2"/>
            </a:solidFill>
            <a:prstDash val="solid"/>
          </a:ln>
        </p:spPr>
      </p:sp>
      <p:sp>
        <p:nvSpPr>
          <p:cNvPr id="24" name="number 5"/>
          <p:cNvSpPr/>
          <p:nvPr/>
        </p:nvSpPr>
        <p:spPr>
          <a:xfrm>
            <a:off x="4566818" y="4069080"/>
            <a:ext cx="548640" cy="548640"/>
          </a:xfrm>
          <a:prstGeom prst="ellipse">
            <a:avLst/>
          </a:prstGeom>
          <a:solidFill>
            <a:srgbClr val="1A9850"/>
          </a:solidFill>
          <a:ln w="12700">
            <a:solidFill>
              <a:srgbClr val="1A9850"/>
            </a:solidFill>
            <a:prstDash val="solid"/>
          </a:ln>
        </p:spPr>
      </p:sp>
      <p:sp>
        <p:nvSpPr>
          <p:cNvPr id="25" name="Text 23"/>
          <p:cNvSpPr txBox="1"/>
          <p:nvPr/>
        </p:nvSpPr>
        <p:spPr>
          <a:xfrm>
            <a:off x="4566818" y="40690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5</a:t>
            </a:r>
            <a:endParaRPr lang="en-US" sz="2000" dirty="0"/>
          </a:p>
        </p:txBody>
      </p:sp>
      <p:sp>
        <p:nvSpPr>
          <p:cNvPr id="26" name="Text 24"/>
          <p:cNvSpPr txBox="1"/>
          <p:nvPr/>
        </p:nvSpPr>
        <p:spPr>
          <a:xfrm>
            <a:off x="4566818" y="4754880"/>
            <a:ext cx="3058058" cy="45720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Apple Silicon is fine</a:t>
            </a:r>
            <a:endParaRPr lang="en-US" sz="1800" dirty="0"/>
          </a:p>
        </p:txBody>
      </p:sp>
      <p:sp>
        <p:nvSpPr>
          <p:cNvPr id="27" name="Text 25"/>
          <p:cNvSpPr txBox="1"/>
          <p:nvPr/>
        </p:nvSpPr>
        <p:spPr>
          <a:xfrm>
            <a:off x="4566818" y="5212080"/>
            <a:ext cx="3058058" cy="822960"/>
          </a:xfrm>
          <a:prstGeom prst="rect">
            <a:avLst/>
          </a:prstGeom>
          <a:noFill/>
          <a:ln/>
        </p:spPr>
        <p:txBody>
          <a:bodyPr wrap="square" lIns="0" tIns="0" rIns="0" bIns="0" rtlCol="0" anchor="t"/>
          <a:lstStyle/>
          <a:p>
            <a:pPr indent="0" marL="0">
              <a:buNone/>
            </a:pPr>
            <a:r>
              <a:rPr lang="en-US" sz="1500" dirty="0">
                <a:solidFill>
                  <a:schemeClr val="tx1"/>
                </a:solidFill>
              </a:rPr>
              <a:t>No language here pays an arm64 penalty.</a:t>
            </a:r>
            <a:endParaRPr lang="en-US" sz="1500" dirty="0"/>
          </a:p>
        </p:txBody>
      </p:sp>
      <p:sp>
        <p:nvSpPr>
          <p:cNvPr id="28" name="recommendation 6"/>
          <p:cNvSpPr/>
          <p:nvPr/>
        </p:nvSpPr>
        <p:spPr>
          <a:xfrm>
            <a:off x="8127797" y="3840480"/>
            <a:ext cx="3515258" cy="2331720"/>
          </a:xfrm>
          <a:prstGeom prst="roundRect">
            <a:avLst>
              <a:gd name="adj" fmla="val 3922"/>
            </a:avLst>
          </a:prstGeom>
          <a:solidFill>
            <a:schemeClr val="bg2"/>
          </a:solidFill>
          <a:ln w="12700">
            <a:solidFill>
              <a:schemeClr val="bg2"/>
            </a:solidFill>
            <a:prstDash val="solid"/>
          </a:ln>
        </p:spPr>
      </p:sp>
      <p:sp>
        <p:nvSpPr>
          <p:cNvPr id="29" name="number 6"/>
          <p:cNvSpPr/>
          <p:nvPr/>
        </p:nvSpPr>
        <p:spPr>
          <a:xfrm>
            <a:off x="8356397" y="4069080"/>
            <a:ext cx="548640" cy="548640"/>
          </a:xfrm>
          <a:prstGeom prst="ellipse">
            <a:avLst/>
          </a:prstGeom>
          <a:solidFill>
            <a:srgbClr val="1A9850"/>
          </a:solidFill>
          <a:ln w="12700">
            <a:solidFill>
              <a:srgbClr val="1A9850"/>
            </a:solidFill>
            <a:prstDash val="solid"/>
          </a:ln>
        </p:spPr>
      </p:sp>
      <p:sp>
        <p:nvSpPr>
          <p:cNvPr id="30" name="Text 28"/>
          <p:cNvSpPr txBox="1"/>
          <p:nvPr/>
        </p:nvSpPr>
        <p:spPr>
          <a:xfrm>
            <a:off x="8356397" y="40690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6</a:t>
            </a:r>
            <a:endParaRPr lang="en-US" sz="2000" dirty="0"/>
          </a:p>
        </p:txBody>
      </p:sp>
      <p:sp>
        <p:nvSpPr>
          <p:cNvPr id="31" name="Text 29"/>
          <p:cNvSpPr txBox="1"/>
          <p:nvPr/>
        </p:nvSpPr>
        <p:spPr>
          <a:xfrm>
            <a:off x="8356397" y="4754880"/>
            <a:ext cx="3058058" cy="45720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Audit your LLM co-author</a:t>
            </a:r>
            <a:endParaRPr lang="en-US" sz="1800" dirty="0"/>
          </a:p>
        </p:txBody>
      </p:sp>
      <p:sp>
        <p:nvSpPr>
          <p:cNvPr id="32" name="Text 30"/>
          <p:cNvSpPr txBox="1"/>
          <p:nvPr/>
        </p:nvSpPr>
        <p:spPr>
          <a:xfrm>
            <a:off x="8356397" y="5212080"/>
            <a:ext cx="3058058" cy="822960"/>
          </a:xfrm>
          <a:prstGeom prst="rect">
            <a:avLst/>
          </a:prstGeom>
          <a:noFill/>
          <a:ln/>
        </p:spPr>
        <p:txBody>
          <a:bodyPr wrap="square" lIns="0" tIns="0" rIns="0" bIns="0" rtlCol="0" anchor="t"/>
          <a:lstStyle/>
          <a:p>
            <a:pPr indent="0" marL="0">
              <a:buNone/>
            </a:pPr>
            <a:r>
              <a:rPr lang="en-US" sz="1500" dirty="0">
                <a:solidFill>
                  <a:schemeClr val="tx1"/>
                </a:solidFill>
              </a:rPr>
              <a:t>An audit loop, plus your own domain expertise.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4415" cy="1371600"/>
          </a:xfrm>
          <a:prstGeom prst="rect">
            <a:avLst/>
          </a:prstGeom>
          <a:noFill/>
          <a:ln/>
        </p:spPr>
        <p:txBody>
          <a:bodyPr wrap="square" lIns="0" tIns="0" rIns="0" bIns="0" rtlCol="0" anchor="b"/>
          <a:lstStyle/>
          <a:p>
            <a:pPr algn="l" indent="0" marL="0">
              <a:buNone/>
            </a:pPr>
            <a:r>
              <a:rPr lang="en-US" sz="4400" b="1" dirty="0">
                <a:solidFill>
                  <a:schemeClr val="bg1"/>
                </a:solidFill>
                <a:latin typeface="+mj-lt" pitchFamily="34" charset="0"/>
                <a:ea typeface="+mj-lt" pitchFamily="34" charset="-122"/>
                <a:cs typeface="+mj-lt" pitchFamily="34" charset="-120"/>
              </a:rPr>
              <a:t>Thank you, Keith</a:t>
            </a:r>
            <a:endParaRPr lang="en-US" sz="4400" dirty="0"/>
          </a:p>
        </p:txBody>
      </p:sp>
      <p:sp>
        <p:nvSpPr>
          <p:cNvPr id="3" name="Text 0"/>
          <p:cNvSpPr/>
          <p:nvPr>
            <p:ph idx="101" type="body" hasCustomPrompt="1"/>
          </p:nvPr>
        </p:nvSpPr>
        <p:spPr>
          <a:xfrm>
            <a:off x="548640" y="2286000"/>
            <a:ext cx="11094415" cy="1463040"/>
          </a:xfrm>
          <a:prstGeom prst="rect">
            <a:avLst/>
          </a:prstGeom>
          <a:noFill/>
          <a:ln/>
        </p:spPr>
        <p:txBody>
          <a:bodyPr wrap="square" lIns="0" tIns="0" rIns="0" bIns="0" rtlCol="0" anchor="t"/>
          <a:lstStyle/>
          <a:p>
            <a:pPr indent="0" marL="0">
              <a:buNone/>
            </a:pPr>
            <a:r>
              <a:rPr lang="en-US" sz="2000" dirty="0">
                <a:solidFill>
                  <a:schemeClr val="bg2"/>
                </a:solidFill>
              </a:rPr>
              <a:t>and thank you all. Questions?</a:t>
            </a:r>
            <a:endParaRPr lang="en-US" sz="2000" dirty="0"/>
          </a:p>
          <a:p>
            <a:pPr indent="0" marL="0">
              <a:buNone/>
            </a:pPr>
            <a:r>
              <a:rPr lang="en-US" sz="1000" dirty="0">
                <a:solidFill>
                  <a:schemeClr val="bg2"/>
                </a:solidFill>
              </a:rPr>
              <a:t> </a:t>
            </a:r>
            <a:endParaRPr lang="en-US" sz="2000" dirty="0"/>
          </a:p>
          <a:p>
            <a:pPr indent="0" marL="0">
              <a:buNone/>
            </a:pPr>
            <a:r>
              <a:rPr lang="en-US" sz="1600" dirty="0">
                <a:solidFill>
                  <a:srgbClr val="AEB8CC"/>
                </a:solidFill>
              </a:rPr>
              <a:t>Original suite: </a:t>
            </a:r>
            <a:pPr indent="0" marL="0">
              <a:buNone/>
            </a:pPr>
            <a:r>
              <a:rPr lang="en-US" sz="1600" u="sng" dirty="0">
                <a:solidFill>
                  <a:srgbClr val="AEB8CC"/>
                </a:solidFill>
                <a:hlinkClick r:id="rId1" invalidUrl="" action="" tgtFrame="" tooltip="" history="1" highlightClick="0" endSnd="0">
                  <a:extLst>
                    <a:ext uri="{A12FA001-AC4F-418D-AE19-62706E023703}">
                      <ahyp:hlinkClr xmlns:ahyp="http://schemas.microsoft.com/office/drawing/2018/hyperlinkcolor" val="tx"/>
                    </a:ext>
                  </a:extLst>
                </a:hlinkClick>
              </a:rPr>
              <a:t>github.com/KnaveAndVarlet/ADASS2019</a:t>
            </a:r>
            <a:endParaRPr lang="en-US" sz="2000" dirty="0"/>
          </a:p>
          <a:p>
            <a:pPr indent="0" marL="0">
              <a:buNone/>
            </a:pPr>
            <a:r>
              <a:rPr lang="en-US" sz="1600" dirty="0">
                <a:solidFill>
                  <a:srgbClr val="AEB8CC"/>
                </a:solidFill>
              </a:rPr>
              <a:t>2026 suite, report, logs and this talk: </a:t>
            </a:r>
            <a:pPr indent="0" marL="0">
              <a:buNone/>
            </a:pPr>
            <a:r>
              <a:rPr lang="en-US" sz="1600" u="sng" dirty="0">
                <a:solidFill>
                  <a:srgbClr val="AEB8CC"/>
                </a:solidFill>
                <a:hlinkClick r:id="rId2" invalidUrl="" action="" tgtFrame="" tooltip="" history="1" highlightClick="0" endSnd="0">
                  <a:extLst>
                    <a:ext uri="{A12FA001-AC4F-418D-AE19-62706E023703}">
                      <ahyp:hlinkClr xmlns:ahyp="http://schemas.microsoft.com/office/drawing/2018/hyperlinkcolor" val="tx"/>
                    </a:ext>
                  </a:extLst>
                </a:hlinkClick>
              </a:rPr>
              <a:t>github.com/karlglazebrook/ADASS2026</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Backup: reproducibility, run22 vs run23</a:t>
            </a:r>
            <a:endParaRPr lang="en-US" sz="3200" dirty="0"/>
          </a:p>
        </p:txBody>
      </p:sp>
      <p:pic>
        <p:nvPicPr>
          <p:cNvPr id="3" name="run22 vs run23" descr="Comparison of relative times between run22 (April) and run23 (May, after a full toolchain rebuild)">    </p:cNvPr>
          <p:cNvPicPr>
            <a:picLocks noChangeAspect="1"/>
          </p:cNvPicPr>
          <p:nvPr/>
        </p:nvPicPr>
        <p:blipFill>
          <a:blip r:embed="rId1"/>
          <a:srcRect l="0" r="0" t="0" b="0"/>
          <a:stretch/>
        </p:blipFill>
        <p:spPr>
          <a:xfrm>
            <a:off x="548640" y="1188720"/>
            <a:ext cx="11094415" cy="4480560"/>
          </a:xfrm>
          <a:prstGeom prst="rect">
            <a:avLst/>
          </a:prstGeom>
        </p:spPr>
      </p:pic>
      <p:sp>
        <p:nvSpPr>
          <p:cNvPr id="4" name="Text 1"/>
          <p:cNvSpPr txBox="1"/>
          <p:nvPr/>
        </p:nvSpPr>
        <p:spPr>
          <a:xfrm>
            <a:off x="548640" y="5760720"/>
            <a:ext cx="11094415" cy="548640"/>
          </a:xfrm>
          <a:prstGeom prst="rect">
            <a:avLst/>
          </a:prstGeom>
          <a:noFill/>
          <a:ln/>
        </p:spPr>
        <p:txBody>
          <a:bodyPr wrap="square" lIns="0" tIns="0" rIns="0" bIns="0" rtlCol="0" anchor="t"/>
          <a:lstStyle/>
          <a:p>
            <a:pPr indent="0" marL="0">
              <a:buNone/>
            </a:pPr>
            <a:r>
              <a:rPr lang="en-US" sz="1400" dirty="0">
                <a:solidFill>
                  <a:srgbClr val="5A6275"/>
                </a:solidFill>
              </a:rPr>
              <a:t>After a full toolchain rebuild all 131 tests passed again. The fast tiers agree within noise; slow entries moved (Octave loop −44%, Rust unoptimised +30%, Ruby Numo +22–25%).</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Backup: 2019 vs 2026, and caveats</a:t>
            </a:r>
            <a:endParaRPr lang="en-US" sz="3200" dirty="0"/>
          </a:p>
        </p:txBody>
      </p:sp>
      <p:pic>
        <p:nvPicPr>
          <p:cNvPr id="3" name="fig5 2019 vs 2026" descr="Relative times in Shortridge 2019 against the 2026 reprise">    </p:cNvPr>
          <p:cNvPicPr>
            <a:picLocks noChangeAspect="1"/>
          </p:cNvPicPr>
          <p:nvPr/>
        </p:nvPicPr>
        <p:blipFill>
          <a:blip r:embed="rId1"/>
          <a:stretch>
            <a:fillRect/>
          </a:stretch>
        </p:blipFill>
        <p:spPr>
          <a:xfrm>
            <a:off x="548640" y="1188720"/>
            <a:ext cx="6126837" cy="4937760"/>
          </a:xfrm>
          <a:prstGeom prst="rect">
            <a:avLst/>
          </a:prstGeom>
        </p:spPr>
      </p:pic>
      <p:sp>
        <p:nvSpPr>
          <p:cNvPr id="4" name="Text 1"/>
          <p:cNvSpPr txBox="1"/>
          <p:nvPr/>
        </p:nvSpPr>
        <p:spPr>
          <a:xfrm>
            <a:off x="7041237" y="1280160"/>
            <a:ext cx="4601818" cy="47548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Different hardware: x86 with AVX in 2019, arm64 with NEON now</a:t>
            </a:r>
            <a:endParaRPr lang="en-US" sz="1600" dirty="0"/>
          </a:p>
          <a:p>
            <a:pPr marL="342900" indent="-342900">
              <a:spcAft>
                <a:spcPts val="1000"/>
              </a:spcAft>
              <a:buSzPct val="100000"/>
              <a:buChar char="•"/>
            </a:pPr>
            <a:r>
              <a:rPr lang="en-US" sz="1600" dirty="0">
                <a:solidFill>
                  <a:schemeClr val="tx1"/>
                </a:solidFill>
              </a:rPr>
              <a:t>The assembler reference drifts about 10% between runs, rescaling everything</a:t>
            </a:r>
            <a:endParaRPr lang="en-US" sz="1600" dirty="0"/>
          </a:p>
          <a:p>
            <a:pPr marL="342900" indent="-342900">
              <a:spcAft>
                <a:spcPts val="1000"/>
              </a:spcAft>
              <a:buSzPct val="100000"/>
              <a:buChar char="•"/>
            </a:pPr>
            <a:r>
              <a:rPr lang="en-US" sz="1600" dirty="0">
                <a:solidFill>
                  <a:schemeClr val="tx1"/>
                </a:solidFill>
              </a:rPr>
              <a:t>Python 2.7 runs under Rosetta (x86_64 conda build)</a:t>
            </a:r>
            <a:endParaRPr lang="en-US" sz="1600" dirty="0"/>
          </a:p>
          <a:p>
            <a:pPr marL="342900" indent="-342900">
              <a:spcAft>
                <a:spcPts val="1000"/>
              </a:spcAft>
              <a:buSzPct val="100000"/>
              <a:buChar char="•"/>
            </a:pPr>
            <a:r>
              <a:rPr lang="en-US" sz="1600" dirty="0">
                <a:solidFill>
                  <a:schemeClr val="tx1"/>
                </a:solidFill>
              </a:rPr>
              <a:t>All numbers from one frozen run: run22, 30 April 2026</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Backup: every family at a glance</a:t>
            </a:r>
            <a:endParaRPr lang="en-US" sz="3200" dirty="0"/>
          </a:p>
        </p:txBody>
      </p:sp>
      <p:pic>
        <p:nvPicPr>
          <p:cNvPr id="3" name="fig3 families" descr="Per-family best variant with min-max range and geometric mean">    </p:cNvPr>
          <p:cNvPicPr>
            <a:picLocks noChangeAspect="1"/>
          </p:cNvPicPr>
          <p:nvPr/>
        </p:nvPicPr>
        <p:blipFill>
          <a:blip r:embed="rId1"/>
          <a:stretch>
            <a:fillRect/>
          </a:stretch>
        </p:blipFill>
        <p:spPr>
          <a:xfrm>
            <a:off x="548640" y="1188720"/>
            <a:ext cx="5051816" cy="5029200"/>
          </a:xfrm>
          <a:prstGeom prst="rect">
            <a:avLst/>
          </a:prstGeom>
        </p:spPr>
      </p:pic>
      <p:sp>
        <p:nvSpPr>
          <p:cNvPr id="4" name="Text 1"/>
          <p:cNvSpPr txBox="1"/>
          <p:nvPr/>
        </p:nvSpPr>
        <p:spPr>
          <a:xfrm>
            <a:off x="5966216" y="1280160"/>
            <a:ext cx="5676839" cy="1371600"/>
          </a:xfrm>
          <a:prstGeom prst="rect">
            <a:avLst/>
          </a:prstGeom>
          <a:noFill/>
          <a:ln/>
        </p:spPr>
        <p:txBody>
          <a:bodyPr wrap="square" lIns="0" tIns="0" rIns="0" bIns="0" rtlCol="0" anchor="t"/>
          <a:lstStyle/>
          <a:p>
            <a:pPr indent="0" marL="0">
              <a:buNone/>
            </a:pPr>
            <a:r>
              <a:rPr lang="en-US" sz="1600" dirty="0">
                <a:solidFill>
                  <a:srgbClr val="5A6275"/>
                </a:solidFill>
              </a:rPr>
              <a:t>Bar = best variant; whisker = range across that family's variants; diamond = geometric mean.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DASS 2026 Tiers">
  <a:themeElements>
    <a:clrScheme name="ADASS 2026 Tiers">
      <a:dk1>
        <a:srgbClr val="1B1F2B"/>
      </a:dk1>
      <a:lt1>
        <a:srgbClr val="FFFFFF"/>
      </a:lt1>
      <a:dk2>
        <a:srgbClr val="14213D"/>
      </a:dk2>
      <a:lt2>
        <a:srgbClr val="EEF1F6"/>
      </a:lt2>
      <a:accent1>
        <a:srgbClr val="1A9850"/>
      </a:accent1>
      <a:accent2>
        <a:srgbClr val="FDAE61"/>
      </a:accent2>
      <a:accent3>
        <a:srgbClr val="D73027"/>
      </a:accent3>
      <a:accent4>
        <a:srgbClr val="7A0177"/>
      </a:accent4>
      <a:accent5>
        <a:srgbClr val="3B6FB6"/>
      </a:accent5>
      <a:accent6>
        <a:srgbClr val="FEE08B"/>
      </a:accent6>
      <a:hlink>
        <a:srgbClr val="3B6FB6"/>
      </a:hlink>
      <a:folHlink>
        <a:srgbClr val="7A0177"/>
      </a:folHlink>
    </a:clrScheme>
    <a:fontScheme name="ADASS 2026 Tie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Same Source, Three Orders of Magnitude</dc:title>
  <dc:subject>PptxGenJS Presentation</dc:subject>
  <dc:creator>Karl Glazebrook</dc:creator>
  <cp:lastModifiedBy>Karl Glazebrook</cp:lastModifiedBy>
  <cp:revision>1</cp:revision>
  <dcterms:created xsi:type="dcterms:W3CDTF">2026-10-30T03:52:52Z</dcterms:created>
  <dcterms:modified xsi:type="dcterms:W3CDTF">2026-10-30T03:52:52Z</dcterms:modified>
</cp:coreProperties>
</file>